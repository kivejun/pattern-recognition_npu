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PATTERN RECOGNITION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9659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模式识别课程实验汇报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04672" y="2862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Bayes 分类器 · Fisher 判别 · K-L 变换 · 图像识别 · 聚类分析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2560320" cy="694944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4160520"/>
            <a:ext cx="73152" cy="6949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4306824"/>
            <a:ext cx="224942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1024128" y="4617720"/>
            <a:ext cx="22494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请填写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749040" y="4160520"/>
            <a:ext cx="2560320" cy="694944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4160520"/>
            <a:ext cx="73152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0208" y="4306824"/>
            <a:ext cx="224942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3950208" y="4617720"/>
            <a:ext cx="22494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请填写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675120" y="4160520"/>
            <a:ext cx="2560320" cy="694944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4160520"/>
            <a:ext cx="73152" cy="6949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4306824"/>
            <a:ext cx="224942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6876288" y="4617720"/>
            <a:ext cx="22494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请填写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686800" y="731520"/>
            <a:ext cx="4389120" cy="438912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TALK ROADMAP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汇报结构：从分类到聚类的完整方法链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184708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508760"/>
            <a:ext cx="73152" cy="1261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55064"/>
            <a:ext cx="15361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Bayes 分类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932688" y="1965960"/>
            <a:ext cx="153619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概率密度估计与风险决策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2606040" y="2121408"/>
            <a:ext cx="3383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99232" y="1508760"/>
            <a:ext cx="184708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99232" y="1508760"/>
            <a:ext cx="73152" cy="12618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655064"/>
            <a:ext cx="15361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Fisher / Parzen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3200400" y="1965960"/>
            <a:ext cx="153619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非参数估计与直接判别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873752" y="2121408"/>
            <a:ext cx="3383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66944" y="1508760"/>
            <a:ext cx="184708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66944" y="1508760"/>
            <a:ext cx="73152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1655064"/>
            <a:ext cx="15361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K-L 特征提取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5468112" y="1965960"/>
            <a:ext cx="153619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协方差特征分解与降维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7141464" y="2121408"/>
            <a:ext cx="3383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34656" y="1508760"/>
            <a:ext cx="184708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34656" y="1508760"/>
            <a:ext cx="73152" cy="12618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655064"/>
            <a:ext cx="15361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K-L 图像应用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7735824" y="1965960"/>
            <a:ext cx="153619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高维图像压缩与识别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9409176" y="2121408"/>
            <a:ext cx="3383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02368" y="1508760"/>
            <a:ext cx="184708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02368" y="1508760"/>
            <a:ext cx="73152" cy="1261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03536" y="1655064"/>
            <a:ext cx="15361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聚类分析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10003536" y="1965960"/>
            <a:ext cx="153619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无监督样本结构发现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914400" y="3703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4400" y="370332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5568" y="3849624"/>
            <a:ext cx="17465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理论知识</a:t>
            </a:r>
            <a:endParaRPr lang="en-US" sz="1140" dirty="0"/>
          </a:p>
        </p:txBody>
      </p:sp>
      <p:sp>
        <p:nvSpPr>
          <p:cNvPr id="37" name="Text 35"/>
          <p:cNvSpPr/>
          <p:nvPr/>
        </p:nvSpPr>
        <p:spPr>
          <a:xfrm>
            <a:off x="1115568" y="4160520"/>
            <a:ext cx="1746504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先讲课程概念和公式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3474720" y="3703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74720" y="3703320"/>
            <a:ext cx="73152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75888" y="3849624"/>
            <a:ext cx="17465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</a:t>
            </a:r>
            <a:endParaRPr lang="en-US" sz="1140" dirty="0"/>
          </a:p>
        </p:txBody>
      </p:sp>
      <p:sp>
        <p:nvSpPr>
          <p:cNvPr id="41" name="Text 39"/>
          <p:cNvSpPr/>
          <p:nvPr/>
        </p:nvSpPr>
        <p:spPr>
          <a:xfrm>
            <a:off x="3675888" y="4160520"/>
            <a:ext cx="1746504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说明数据、特征与参数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6035040" y="3703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35040" y="370332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3849624"/>
            <a:ext cx="17465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</a:t>
            </a:r>
            <a:endParaRPr lang="en-US" sz="1140" dirty="0"/>
          </a:p>
        </p:txBody>
      </p:sp>
      <p:sp>
        <p:nvSpPr>
          <p:cNvPr id="45" name="Text 43"/>
          <p:cNvSpPr/>
          <p:nvPr/>
        </p:nvSpPr>
        <p:spPr>
          <a:xfrm>
            <a:off x="6236208" y="4160520"/>
            <a:ext cx="1746504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展示指标与图像结果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8595360" y="3703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595360" y="3703320"/>
            <a:ext cx="73152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96528" y="3849624"/>
            <a:ext cx="17465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140" dirty="0"/>
          </a:p>
        </p:txBody>
      </p:sp>
      <p:sp>
        <p:nvSpPr>
          <p:cNvPr id="49" name="Text 47"/>
          <p:cNvSpPr/>
          <p:nvPr/>
        </p:nvSpPr>
        <p:spPr>
          <a:xfrm>
            <a:off x="8796528" y="4160520"/>
            <a:ext cx="1746504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解释现象与课程联系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&amp; SETUP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数据与实验环境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02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5715000" cy="2240280"/>
        </p:xfrm>
        <a:graphic>
          <a:graphicData uri="http://schemas.openxmlformats.org/drawingml/2006/table">
            <a:tbl>
              <a:tblPr/>
              <a:tblGrid>
                <a:gridCol w="1645920"/>
                <a:gridCol w="2240280"/>
                <a:gridCol w="1828800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实验用途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规模/说明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FEMALE / MALE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实验一、二、三、五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女 + 50 男训练样本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test1 / test2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分类器泛化测试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 / 300 个测试样本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飞机图像数据集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实验四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 类，2530 训练图，636 测试图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234440"/>
          <a:ext cx="4434840" cy="2423160"/>
        </p:xfrm>
        <a:graphic>
          <a:graphicData uri="http://schemas.openxmlformats.org/drawingml/2006/table">
            <a:tbl>
              <a:tblPr/>
              <a:tblGrid>
                <a:gridCol w="1417320"/>
                <a:gridCol w="301752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3.11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实验脚本运行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NumPy / SciPy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数值计算与矩阵运算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scikit-learn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PCA、评估指标、分级聚类辅助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Matplotlib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分类边界、投影、聚类图输出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68680" y="431596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033272" y="4471416"/>
            <a:ext cx="187452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51560" y="4937760"/>
            <a:ext cx="1874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已完成实验任务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3337560" y="431596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502152" y="4471416"/>
            <a:ext cx="187452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520440" y="4937760"/>
            <a:ext cx="1874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汇报中使用图表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5806440" y="431596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971032" y="4471416"/>
            <a:ext cx="187452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2D/1024D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989320" y="4937760"/>
            <a:ext cx="1874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低维与图像高维特征</a:t>
            </a:r>
            <a:endParaRPr lang="en-US" sz="780" dirty="0"/>
          </a:p>
        </p:txBody>
      </p:sp>
      <p:sp>
        <p:nvSpPr>
          <p:cNvPr id="21" name="Shape 17"/>
          <p:cNvSpPr/>
          <p:nvPr/>
        </p:nvSpPr>
        <p:spPr>
          <a:xfrm>
            <a:off x="8275320" y="431596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439912" y="4471416"/>
            <a:ext cx="187452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分类+聚类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8458200" y="4937760"/>
            <a:ext cx="1874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监督与无监督覆盖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1645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9875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实验一：Bayes 性别分类器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2816352"/>
            <a:ext cx="8686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用身高/体重数据进行最小错误率与最小风险决策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" y="3657600"/>
            <a:ext cx="256032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6355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BAYES CLASSIFIER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实验一理论：概率决策框架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" y="123444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23444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380744"/>
            <a:ext cx="302666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后验概率决策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86968" y="1691640"/>
            <a:ext cx="3026664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P(ωi|x) 最大的类别，本质是把观测特征映射到类别后验。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434840" y="123444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23444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1380744"/>
            <a:ext cx="302666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高斯参数估计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636008" y="1691640"/>
            <a:ext cx="3026664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在正态假设下估计均值 μ 与协方差 Σ，得到二次判别函数。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183880" y="123444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3880" y="12344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1380744"/>
            <a:ext cx="25237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风险敏感决策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8385048" y="1691640"/>
            <a:ext cx="2523744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用损失表刻画不同错误代价，选择条件风险最小的动作。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14400" y="3154680"/>
            <a:ext cx="1001268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511296"/>
            <a:ext cx="9646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g_i(x) = -1/2 ln|Σ_i| - 1/2(x-μ_i)^TΣ_i^{-1}(x-μ_i) + ln P(ω_i)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4892040"/>
            <a:ext cx="9601200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课程相关：参数估计、先验概率、贝叶斯判别函数、最小风险决策</a:t>
            </a:r>
            <a:endParaRPr lang="en-US" sz="1020" dirty="0"/>
          </a:p>
          <a:p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实验目的：观察特征、先验、协方差假设和风险表对分类性能的影响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 DESIGN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实验一设置：数据、特征与实现流程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32588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39903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25880" y="1307592"/>
            <a:ext cx="3520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读取数据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1581912"/>
            <a:ext cx="3520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FEMALE/MALE 作为训练集；test1/test2 作为测试集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40487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25880" y="2313432"/>
            <a:ext cx="3520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选择特征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25880" y="2587752"/>
            <a:ext cx="3520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身高、体重、身高+体重三组对比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22960" y="333756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1071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25880" y="3319272"/>
            <a:ext cx="3520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估计分布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25880" y="3593592"/>
            <a:ext cx="3520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最大似然估计 μ、σ 或 Σ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22960" y="4343400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1655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25880" y="4325112"/>
            <a:ext cx="3520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分类评估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25880" y="4599432"/>
            <a:ext cx="3520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准确率、召回率、混淆矩阵、错误分析</a:t>
            </a:r>
            <a:endParaRPr lang="en-US" sz="82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417320"/>
          <a:ext cx="5074920" cy="2468880"/>
        </p:xfrm>
        <a:graphic>
          <a:graphicData uri="http://schemas.openxmlformats.org/drawingml/2006/table">
            <a:tbl>
              <a:tblPr/>
              <a:tblGrid>
                <a:gridCol w="1463040"/>
                <a:gridCol w="361188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设置项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取值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先验概率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0.5/0.5，0.75/0.25，0.9/0.1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协方差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完整协方差 / 对角协方差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λ(M|F)=2，λ(F|M)=1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非参数补充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Parzen 窗、kNN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989320" y="4370832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989320" y="4370832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90488" y="4517136"/>
            <a:ext cx="416966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实现要点</a:t>
            </a:r>
            <a:endParaRPr lang="en-US" sz="1140" dirty="0"/>
          </a:p>
        </p:txBody>
      </p:sp>
      <p:sp>
        <p:nvSpPr>
          <p:cNvPr id="30" name="Text 27"/>
          <p:cNvSpPr/>
          <p:nvPr/>
        </p:nvSpPr>
        <p:spPr>
          <a:xfrm>
            <a:off x="6190488" y="4828032"/>
            <a:ext cx="4169664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所有分类器统一输出 train、test1、test2 上的性能，便于横向比较。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 VISUALS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实验一结果：数据分布与 Bayes 决策边界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3232" y="123444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0" descr="F:\Pattern-Recognition_npu\slides\pattern-recognition-report\figures\experiment1\data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271016"/>
            <a:ext cx="5093208" cy="37673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17920" y="123444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1" descr="F:\Pattern-Recognition_npu\slides\pattern-recognition-report\figures\experiment1\bayes_2d_bounda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54496" y="1271016"/>
            <a:ext cx="5093208" cy="37673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68680" y="5358384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033272" y="5513832"/>
            <a:ext cx="16916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88.00%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051560" y="5980176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 Bayes 训练准确率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3108960" y="5358384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273552" y="5513832"/>
            <a:ext cx="16916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97.14%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291840" y="5980176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test1 准确率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5349240" y="5358384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513832" y="5513832"/>
            <a:ext cx="16916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89.33%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5532120" y="5980176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test2 准确率</a:t>
            </a:r>
            <a:endParaRPr lang="en-US" sz="780" dirty="0"/>
          </a:p>
        </p:txBody>
      </p:sp>
      <p:sp>
        <p:nvSpPr>
          <p:cNvPr id="23" name="Shape 19"/>
          <p:cNvSpPr/>
          <p:nvPr/>
        </p:nvSpPr>
        <p:spPr>
          <a:xfrm>
            <a:off x="7589520" y="5358384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754112" y="5513832"/>
            <a:ext cx="16916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90.33%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772400" y="5980176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对角协方差 test2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实验一分析：先验与风险改变决策偏向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06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6080760" cy="2487168"/>
        </p:xfrm>
        <a:graphic>
          <a:graphicData uri="http://schemas.openxmlformats.org/drawingml/2006/table">
            <a:tbl>
              <a:tblPr/>
              <a:tblGrid>
                <a:gridCol w="2423160"/>
                <a:gridCol w="1097280"/>
                <a:gridCol w="1097280"/>
                <a:gridCol w="1097280"/>
              </a:tblGrid>
              <a:tr h="414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test1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test2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 Bayes 完整协方差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88.00%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97.14%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89.33%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 Bayes 对角协方差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88.00%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97.14%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90.33%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最小风险 Bayes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84.00%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94.29%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84.33%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Parzen Bayes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87.00%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97.14%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90.33%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kNN，k=5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89.00%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90.33%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406640" y="1207008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2" name="Image 0" descr="F:\Pattern-Recognition_npu\slides\pattern-recognition-report\figures\experiment1\bayes_test2_confu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43216" y="1243584"/>
            <a:ext cx="3172968" cy="23957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4343400"/>
            <a:ext cx="1014984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身高和体重组合能利用互补信息，整体比单特征更稳定</a:t>
            </a:r>
            <a:endParaRPr lang="en-US" sz="1020" dirty="0"/>
          </a:p>
          <a:p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test2 中男生比例更高，若人为设置女生先验过大，会显著降低整体准确率</a:t>
            </a:r>
            <a:endParaRPr lang="en-US" sz="1020" dirty="0"/>
          </a:p>
          <a:p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最小风险决策体现“错误代价不同”时的分类器设计思想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1645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9875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实验二：非参数估计与 Fisher 判别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2816352"/>
            <a:ext cx="8686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比较概率密度估计方法与直接设计线性分类器的方法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" y="3657600"/>
            <a:ext cx="256032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6355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NONPARAMETRIC &amp; LINEAR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实验二理论：Parzen、Fisher 与留一法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" y="12344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23444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380744"/>
            <a:ext cx="29809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Parzen 窗估计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86968" y="1691640"/>
            <a:ext cx="2980944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不预设概率密度形式，用高斯核叠加估计类别条件密度。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434840" y="12344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234440"/>
            <a:ext cx="73152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1380744"/>
            <a:ext cx="29809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Fisher 线性判别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636008" y="1691640"/>
            <a:ext cx="2980944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最大化类间离散度与类内离散度之比，得到线性投影方向。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183880" y="12344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3880" y="123444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1380744"/>
            <a:ext cx="25237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留一法估计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8385048" y="1691640"/>
            <a:ext cx="2523744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每次留出一个样本验证，适合小样本泛化误差估计。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005840" y="3246120"/>
            <a:ext cx="9784080" cy="109728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3611880"/>
            <a:ext cx="94640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J(w)=wᵀS_b w / wᵀS_w w,    w=S_w⁻¹(μ₁-μ₂)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4892040"/>
            <a:ext cx="98755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课程重点：参数估计与非参数估计的差别；概率模型与判别模型的差别</a:t>
            </a:r>
            <a:endParaRPr lang="en-US" sz="1020" dirty="0"/>
          </a:p>
          <a:p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实验问题：非参数 Bayes 和 Fisher 是否能达到高斯 Bayes 的性能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 COMPARISON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实验二结果：线性边界与投影分布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23444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0" descr="F:\Pattern-Recognition_npu\slides\pattern-recognition-report\figures\experiment2\fisher_bayes_bounda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" y="1271016"/>
            <a:ext cx="5184648" cy="39044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63640" y="123444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1" descr="F:\Pattern-Recognition_npu\slides\pattern-recognition-report\figures\experiment2\fisher_projec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0216" y="1271016"/>
            <a:ext cx="5001768" cy="39044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05840" y="544068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5440680"/>
            <a:ext cx="73152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207008" y="5586984"/>
            <a:ext cx="43525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 1</a:t>
            </a:r>
            <a:endParaRPr lang="en-US" sz="1140" dirty="0"/>
          </a:p>
        </p:txBody>
      </p:sp>
      <p:sp>
        <p:nvSpPr>
          <p:cNvPr id="17" name="Text 13"/>
          <p:cNvSpPr/>
          <p:nvPr/>
        </p:nvSpPr>
        <p:spPr>
          <a:xfrm>
            <a:off x="1207008" y="5897880"/>
            <a:ext cx="4352544" cy="-27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Fisher 给出简单线性边界，Bayes 边界受密度估计影响。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6355080" y="544068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55080" y="5440680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56248" y="5586984"/>
            <a:ext cx="43525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 2</a:t>
            </a:r>
            <a:endParaRPr lang="en-US" sz="1140" dirty="0"/>
          </a:p>
        </p:txBody>
      </p:sp>
      <p:sp>
        <p:nvSpPr>
          <p:cNvPr id="21" name="Text 17"/>
          <p:cNvSpPr/>
          <p:nvPr/>
        </p:nvSpPr>
        <p:spPr>
          <a:xfrm>
            <a:off x="6556248" y="5897880"/>
            <a:ext cx="4352544" cy="-27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投影后男女样本主体分离，但边界区域仍有重叠。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实验二结果：错误率对比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09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10424160" cy="1920240"/>
        </p:xfrm>
        <a:graphic>
          <a:graphicData uri="http://schemas.openxmlformats.org/drawingml/2006/table">
            <a:tbl>
              <a:tblPr/>
              <a:tblGrid>
                <a:gridCol w="2286000"/>
                <a:gridCol w="1874520"/>
                <a:gridCol w="1965960"/>
                <a:gridCol w="1965960"/>
                <a:gridCol w="196596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训练错误率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test1 错误率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test2 错误率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留一法错误率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Gaussian Bayes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2.86%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10.67%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Parzen Bayes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13.00%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2.86%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9.67%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14.00%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Fisher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2.86%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9.67%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13.00%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097280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Gaussian Bayes test2 acc.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3017520" y="4014216"/>
            <a:ext cx="219456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17520" y="4014216"/>
            <a:ext cx="19604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21808" y="3968496"/>
            <a:ext cx="594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89.33%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97280" y="4407408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Parzen Bayes test2 acc.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3017520" y="4443984"/>
            <a:ext cx="219456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017520" y="4443984"/>
            <a:ext cx="198234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21808" y="4398264"/>
            <a:ext cx="594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90.33%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97280" y="4837176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Fisher test2 acc.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3017520" y="4873752"/>
            <a:ext cx="219456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17520" y="4873752"/>
            <a:ext cx="198234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21808" y="4828032"/>
            <a:ext cx="594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90.33%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492240" y="3886200"/>
            <a:ext cx="4251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92240" y="3886200"/>
            <a:ext cx="73152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93408" y="4032504"/>
            <a:ext cx="394106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140" dirty="0"/>
          </a:p>
        </p:txBody>
      </p:sp>
      <p:sp>
        <p:nvSpPr>
          <p:cNvPr id="26" name="Text 23"/>
          <p:cNvSpPr/>
          <p:nvPr/>
        </p:nvSpPr>
        <p:spPr>
          <a:xfrm>
            <a:off x="6693408" y="4343400"/>
            <a:ext cx="3941064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三种方法表现接近。Fisher 用更简单的线性边界取得与非参数 Bayes 相当的 test2 准确率。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实验二分析：模型复杂度与泛化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32588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1325880"/>
            <a:ext cx="73152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472184"/>
            <a:ext cx="27523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 Bayes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1024128" y="1783080"/>
            <a:ext cx="275234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形式清晰、样本效率高，但依赖正态分布假设。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480560" y="132588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325880"/>
            <a:ext cx="73152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472184"/>
            <a:ext cx="27523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Parzen Bayes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681728" y="1783080"/>
            <a:ext cx="275234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密度形式灵活，但窗口宽度 h 和样本规模影响明显。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138160" y="132588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32588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1472184"/>
            <a:ext cx="25237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Fisher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8339328" y="1783080"/>
            <a:ext cx="252374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不估计密度，直接寻找判别方向，解释性强。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14400" y="3749040"/>
            <a:ext cx="9966960" cy="1188720"/>
          </a:xfrm>
          <a:prstGeom prst="roundRect">
            <a:avLst>
              <a:gd name="adj" fmla="val 6154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114800"/>
            <a:ext cx="93268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留一法结果与 test2 错误率接近，说明它能在训练样本有限时给出较稳健的泛化误差估计。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1645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9875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实验三：K-L 变换进行特征提取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2816352"/>
            <a:ext cx="8686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从无监督主成分方向理解身高体重样本的主要变化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" y="3657600"/>
            <a:ext cx="256032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6355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EXTRACTION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实验三理论：K-L/PCA 与 Fisher 的差别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77240" y="123444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234440"/>
            <a:ext cx="73152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1380744"/>
            <a:ext cx="416966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K-L / PCA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978408" y="1691640"/>
            <a:ext cx="416966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对协方差矩阵做特征分解，保留总体方差最大的方向。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623560" y="123444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23560" y="1234440"/>
            <a:ext cx="73152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4728" y="1380744"/>
            <a:ext cx="416966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Fisher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5824728" y="1691640"/>
            <a:ext cx="416966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利用类别标签，寻找最有利于分类的投影方向。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14400" y="3063240"/>
            <a:ext cx="992124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429000"/>
            <a:ext cx="9418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Σuᵢ = λᵢuᵢ,      zᵢ = uᵢᵀ(x-μ)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4846320"/>
            <a:ext cx="98755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的目标是表示数据，不是直接优化分类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当最大方差方向与类别差异方向一致时，PCA 也能得到较好分类效果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 DESIGN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实验三设置：二维特征的主方向分析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12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34440"/>
          <a:ext cx="4251960" cy="2606040"/>
        </p:xfrm>
        <a:graphic>
          <a:graphicData uri="http://schemas.openxmlformats.org/drawingml/2006/table">
            <a:tbl>
              <a:tblPr/>
              <a:tblGrid>
                <a:gridCol w="1645920"/>
                <a:gridCol w="26060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数值/说明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FEMALE + MALE，共 100 个训练样本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身高、体重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第一主成分解释率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87.52%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(0.6269, 0.7791)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类均值方向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(0.6514, 0.7587)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532120" y="1097280"/>
            <a:ext cx="52578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2" name="Image 0" descr="F:\Pattern-Recognition_npu\slides\pattern-recognition-report\figures\experiment3\kl_direc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68696" y="1133856"/>
            <a:ext cx="5184648" cy="39959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14400" y="4645152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645152"/>
            <a:ext cx="73152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15568" y="4791456"/>
            <a:ext cx="36667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设置说明</a:t>
            </a:r>
            <a:endParaRPr lang="en-US" sz="1140" dirty="0"/>
          </a:p>
        </p:txBody>
      </p:sp>
      <p:sp>
        <p:nvSpPr>
          <p:cNvPr id="16" name="Text 12"/>
          <p:cNvSpPr/>
          <p:nvPr/>
        </p:nvSpPr>
        <p:spPr>
          <a:xfrm>
            <a:off x="1115568" y="5102352"/>
            <a:ext cx="366674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分别使用 PCA 第一主成分、类均值差方向、Fisher 和 Bayes 进行分类比较。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实验三结果：投影分布与分类性能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9808" y="118872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0" descr="F:\Pattern-Recognition_npu\slides\pattern-recognition-report\figures\experiment3\pca_proj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" y="1225296"/>
            <a:ext cx="5047488" cy="3355848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25880"/>
          <a:ext cx="4800600" cy="2240280"/>
        </p:xfrm>
        <a:graphic>
          <a:graphicData uri="http://schemas.openxmlformats.org/drawingml/2006/table">
            <a:tbl>
              <a:tblPr/>
              <a:tblGrid>
                <a:gridCol w="2057400"/>
                <a:gridCol w="914400"/>
                <a:gridCol w="914400"/>
                <a:gridCol w="91440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test1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K-L PCA 第一主成分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86.00%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100.00%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89.67%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类均值方向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86.00%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100.00%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89.67%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Fisher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88.00%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97.14%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90.33%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Gaussian Bayes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88.00%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97.14%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89.33%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291072" y="4069080"/>
            <a:ext cx="45720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第一主成分已经能较好区分男女样本</a:t>
            </a:r>
            <a:endParaRPr lang="en-US" sz="1020" dirty="0"/>
          </a:p>
          <a:p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Fisher 在 test2 上略优，体现监督判别方向的优势</a:t>
            </a:r>
            <a:endParaRPr lang="en-US" sz="10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实验三分析：最大方差不等于最佳分类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32588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132588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472184"/>
            <a:ext cx="284378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PCA 有效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1024128" y="1783080"/>
            <a:ext cx="2843784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本数据中身高和体重的主要变化方向与性别差异方向接近。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480560" y="132588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325880"/>
            <a:ext cx="73152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472184"/>
            <a:ext cx="284378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Fisher 略优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681728" y="1783080"/>
            <a:ext cx="2843784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Fisher 直接利用类别标签，目标就是提高类别分离度。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138160" y="132588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32588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1472184"/>
            <a:ext cx="256946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一般规律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8339328" y="1783080"/>
            <a:ext cx="2569464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无监督降维需要和监督分类器共同评价。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920240" y="3108960"/>
            <a:ext cx="8046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3" name="Image 0" descr="F:\Pattern-Recognition_npu\slides\pattern-recognition-report\figures\experiment3\mean_proj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56816" y="3145536"/>
            <a:ext cx="7973568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1645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9875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实验四：K-L 变换的图像识别应用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2816352"/>
            <a:ext cx="8686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K-L/PCA 从二维样本扩展到高维飞机图像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" y="3657600"/>
            <a:ext cx="256032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6355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RECOGNITION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实验四理论：高维图像的低维表示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32588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39903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25880" y="1307592"/>
            <a:ext cx="3337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图像预处理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1581912"/>
            <a:ext cx="3337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灰度化、缩放到 32×32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40487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25880" y="2313432"/>
            <a:ext cx="3337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25880" y="2587752"/>
            <a:ext cx="3337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每张图像展开为 1024 维向量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22960" y="333756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1071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25880" y="3319272"/>
            <a:ext cx="3337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K-L 降维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25880" y="3593592"/>
            <a:ext cx="3337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提取前 k 个主成分作为图像特征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22960" y="4343400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1655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25880" y="4325112"/>
            <a:ext cx="3337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低维分类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25880" y="4599432"/>
            <a:ext cx="3337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NearestCentroid 与 1NN 对比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806440" y="1417320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709928"/>
            <a:ext cx="4114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 = U_kᵀ(x-μ)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788920"/>
          <a:ext cx="4526280" cy="1920240"/>
        </p:xfrm>
        <a:graphic>
          <a:graphicData uri="http://schemas.openxmlformats.org/drawingml/2006/table">
            <a:tbl>
              <a:tblPr/>
              <a:tblGrid>
                <a:gridCol w="150876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设置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类别数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 类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2530 张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测试集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636 张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主成分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/ 16 / 32 / 64 / 128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 RESULTS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实验四结果：样本图像与 PCA 主成分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23444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0" descr="F:\Pattern-Recognition_npu\slides\pattern-recognition-report\figures\experiment4\sample_imag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" y="1271016"/>
            <a:ext cx="5138928" cy="39044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63640" y="123444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1" descr="F:\Pattern-Recognition_npu\slides\pattern-recognition-report\figures\experiment4\pca_componen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0216" y="1271016"/>
            <a:ext cx="5001768" cy="39044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05840" y="5413248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170432" y="5568696"/>
            <a:ext cx="17830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1024→64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188720" y="6035040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维度压缩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3520440" y="5413248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685032" y="5568696"/>
            <a:ext cx="17830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89.88%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703320" y="6035040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维解释方差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6035040" y="5413248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199632" y="5568696"/>
            <a:ext cx="17830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217920" y="6035040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飞机类别数</a:t>
            </a:r>
            <a:endParaRPr lang="en-US" sz="780" dirty="0"/>
          </a:p>
        </p:txBody>
      </p:sp>
      <p:sp>
        <p:nvSpPr>
          <p:cNvPr id="23" name="Shape 19"/>
          <p:cNvSpPr/>
          <p:nvPr/>
        </p:nvSpPr>
        <p:spPr>
          <a:xfrm>
            <a:off x="8549640" y="5413248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8714232" y="5568696"/>
            <a:ext cx="17830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636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8732520" y="6035040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测试图像数</a:t>
            </a:r>
            <a:endParaRPr lang="en-US" sz="7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实验四结果：主成分数与识别准确率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77240" y="1188720"/>
            <a:ext cx="53035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0" descr="F:\Pattern-Recognition_npu\slides\pattern-recognition-report\figures\experiment4\accuracy_vs_compon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225296"/>
            <a:ext cx="5230368" cy="3995928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17320"/>
          <a:ext cx="4526280" cy="2148840"/>
        </p:xfrm>
        <a:graphic>
          <a:graphicData uri="http://schemas.openxmlformats.org/drawingml/2006/table">
            <a:tbl>
              <a:tblPr/>
              <a:tblGrid>
                <a:gridCol w="1965960"/>
                <a:gridCol w="914400"/>
                <a:gridCol w="822960"/>
                <a:gridCol w="8229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主成分数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测试集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PCA+NearestCentroid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20.47%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19.97%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PCA+1NN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54.09%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PCA+1NN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53.93%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PCA+1NN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52.99%</a:t>
                      </a:r>
                      <a:endParaRPr lang="en-US" sz="7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492240" y="4069080"/>
            <a:ext cx="448056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1NN 明显优于最近质心，说明飞机类别内部变化复杂</a:t>
            </a:r>
            <a:endParaRPr lang="en-US" sz="980" dirty="0"/>
          </a:p>
          <a:p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主成分数增加到 32 后收益变小，后续成分可能包含背景和噪声</a:t>
            </a:r>
            <a:endParaRPr lang="en-US" sz="9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实验四分析：PCA 能压缩，但不是完整识别方案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234440"/>
            <a:ext cx="53035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0" descr="F:\Pattern-Recognition_npu\slides\pattern-recognition-report\figures\experiment4\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" y="1271016"/>
            <a:ext cx="5230368" cy="39959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37960" y="141732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37960" y="1417320"/>
            <a:ext cx="73152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39128" y="1563624"/>
            <a:ext cx="3575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混淆原因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6739128" y="1874520"/>
            <a:ext cx="3575304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低分辨率灰度图中，部分飞机外形相近，姿态和背景也会干扰。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537960" y="278892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37960" y="2788920"/>
            <a:ext cx="73152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39128" y="2935224"/>
            <a:ext cx="3575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方法局限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6739128" y="3246120"/>
            <a:ext cx="3575304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是无监督降维，优先保留总体方差，不保证保留最强判别信息。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6537960" y="416052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37960" y="416052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39128" y="4306824"/>
            <a:ext cx="3575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</a:t>
            </a:r>
            <a:endParaRPr lang="en-US" sz="1140" dirty="0"/>
          </a:p>
        </p:txBody>
      </p:sp>
      <p:sp>
        <p:nvSpPr>
          <p:cNvPr id="23" name="Text 20"/>
          <p:cNvSpPr/>
          <p:nvPr/>
        </p:nvSpPr>
        <p:spPr>
          <a:xfrm>
            <a:off x="6739128" y="4617720"/>
            <a:ext cx="3575304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可结合 HOG/SIFT/ORB、数据增强或 CNN 提升识别性能。</a:t>
            </a:r>
            <a:endParaRPr lang="en-US" sz="9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1645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9875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实验五：C 均值与分级聚类分析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2816352"/>
            <a:ext cx="8686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不使用类别标签，观察身高体重样本的自然结构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" y="3657600"/>
            <a:ext cx="256032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6355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实验五理论：从监督分类到无监督聚类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77240" y="123444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234440"/>
            <a:ext cx="73152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1380744"/>
            <a:ext cx="38953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均值聚类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978408" y="1691640"/>
            <a:ext cx="389534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独立编程实现，通过样本分配和中心更新最小化类内平方误差。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486400" y="123444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1234440"/>
            <a:ext cx="73152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1380744"/>
            <a:ext cx="38953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分级聚类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5687568" y="1691640"/>
            <a:ext cx="389534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Ward 方法形成层次结构，用树状图观察样本合并过程。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1005840" y="3154680"/>
            <a:ext cx="969264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502152"/>
            <a:ext cx="93268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 = Σⱼ Σₓ∈ωⱼ ||x - μⱼ||²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14400" y="4846320"/>
            <a:ext cx="98755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聚类不使用性别标签，评价时再与真实标签比较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特征标准化很重要，否则体重/身高尺度会影响距离计算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 DESIGN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实验五设置：两组数据与多种聚类数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20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34440"/>
          <a:ext cx="5074920" cy="2743200"/>
        </p:xfrm>
        <a:graphic>
          <a:graphicData uri="http://schemas.openxmlformats.org/drawingml/2006/table">
            <a:tbl>
              <a:tblPr/>
              <a:tblGrid>
                <a:gridCol w="160020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设置项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数据一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FEMALE + MALE，共 100 个训练样本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数据二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 + test2，共 400 个样本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身高、体重，先标准化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均值类别数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2、3、4、5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初始值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多个随机种子比较稳定性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141732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49047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903720" y="1399032"/>
            <a:ext cx="3611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初始化中心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903720" y="1673352"/>
            <a:ext cx="3611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随机选择 C 个中心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6400800" y="233172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240487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903720" y="2313432"/>
            <a:ext cx="3611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样本分配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903720" y="2587752"/>
            <a:ext cx="3611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分配到最近中心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6400800" y="32461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331927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903720" y="3227832"/>
            <a:ext cx="3611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中心更新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03720" y="3502152"/>
            <a:ext cx="3611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计算各簇均值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6400800" y="4160520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4233672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903720" y="4142232"/>
            <a:ext cx="3611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指标评估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903720" y="4416552"/>
            <a:ext cx="3611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SSE、轮廓系数、ARI、匹配率</a:t>
            </a:r>
            <a:endParaRPr lang="en-US" sz="8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C-MEANS RESULTS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实验五结果：C=2 聚类与初始值影响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234440"/>
            <a:ext cx="516636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0" descr="F:\Pattern-Recognition_npu\slides\pattern-recognition-report\figures\experiment5\cmeans_train_2clust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" y="1271016"/>
            <a:ext cx="5093208" cy="38130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63640" y="1234440"/>
            <a:ext cx="50749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1" descr="F:\Pattern-Recognition_npu\slides\pattern-recognition-report\figures\experiment5\init_vari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0216" y="1271016"/>
            <a:ext cx="5001768" cy="3813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05840" y="534924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170432" y="5504688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85.00%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188720" y="5971032"/>
            <a:ext cx="1737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 C=2 匹配率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3429000" y="534924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593592" y="5504688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85-87%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611880" y="5971032"/>
            <a:ext cx="1737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不同初始值波动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5852160" y="534924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016752" y="5504688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0.5108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035040" y="5971032"/>
            <a:ext cx="1737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轮廓系数</a:t>
            </a:r>
            <a:endParaRPr lang="en-US" sz="780" dirty="0"/>
          </a:p>
        </p:txBody>
      </p:sp>
      <p:sp>
        <p:nvSpPr>
          <p:cNvPr id="23" name="Shape 19"/>
          <p:cNvSpPr/>
          <p:nvPr/>
        </p:nvSpPr>
        <p:spPr>
          <a:xfrm>
            <a:off x="8275320" y="534924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8439912" y="5504688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0.4850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8458200" y="5971032"/>
            <a:ext cx="1737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</a:t>
            </a:r>
            <a:endParaRPr lang="en-US" sz="7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SELECTION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实验五结果：类别数选择与分级聚类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22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23444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0" descr="F:\Pattern-Recognition_npu\slides\pattern-recognition-report\figures\experiment5\cmeans_k_metrics_tr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" y="1271016"/>
            <a:ext cx="5093208" cy="37673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63640" y="1234440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1" descr="F:\Pattern-Recognition_npu\slides\pattern-recognition-report\figures\experiment5\hierarchical_dendrogram_tra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0216" y="1271016"/>
            <a:ext cx="5001768" cy="37673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14400" y="5349240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4924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15568" y="5495544"/>
            <a:ext cx="42611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类别数判断</a:t>
            </a:r>
            <a:endParaRPr lang="en-US" sz="1140" dirty="0"/>
          </a:p>
        </p:txBody>
      </p:sp>
      <p:sp>
        <p:nvSpPr>
          <p:cNvPr id="17" name="Text 13"/>
          <p:cNvSpPr/>
          <p:nvPr/>
        </p:nvSpPr>
        <p:spPr>
          <a:xfrm>
            <a:off x="1115568" y="5806440"/>
            <a:ext cx="4261104" cy="36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随 C 增大下降，但轮廓系数在 C=2 最高，因此两类更合理。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6355080" y="5349240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55080" y="5349240"/>
            <a:ext cx="73152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56248" y="5495544"/>
            <a:ext cx="42611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分级聚类</a:t>
            </a:r>
            <a:endParaRPr lang="en-US" sz="1140" dirty="0"/>
          </a:p>
        </p:txBody>
      </p:sp>
      <p:sp>
        <p:nvSpPr>
          <p:cNvPr id="21" name="Text 17"/>
          <p:cNvSpPr/>
          <p:nvPr/>
        </p:nvSpPr>
        <p:spPr>
          <a:xfrm>
            <a:off x="6556248" y="5806440"/>
            <a:ext cx="4261104" cy="36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Ward 方法匹配率 81.00%，略低于 C 均值，但能展示层次结构。</a:t>
            </a:r>
            <a:endParaRPr lang="en-US" sz="9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COMBINED DATA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实验五分析：加入 test2 后结构保持但边界更复杂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23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188720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0" descr="F:\Pattern-Recognition_npu\slides\pattern-recognition-report\figures\experiment5\cmeans_combined_2clust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" y="1225296"/>
            <a:ext cx="5001768" cy="34472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72200" y="1188720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1" descr="F:\Pattern-Recognition_npu\slides\pattern-recognition-report\figures\experiment5\cmeans_k_metrics_combin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08776" y="1225296"/>
            <a:ext cx="5001768" cy="3447288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5074920"/>
          <a:ext cx="10378440" cy="8686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737360"/>
                <a:gridCol w="1371600"/>
                <a:gridCol w="1371600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轮廓系数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ARI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匹配率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均值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0.5108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0.4850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85.00%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Ward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0.5049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0.3789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81.00%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训练集+test2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均值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0.4850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0.4693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84.50%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训练集+test2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Ward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0.4739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0.4172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82.50%</a:t>
                      </a:r>
                      <a:endParaRPr lang="en-US" sz="6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SYNTHESIS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五个实验的横向总结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24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10744200" cy="3703320"/>
        </p:xfrm>
        <a:graphic>
          <a:graphicData uri="http://schemas.openxmlformats.org/drawingml/2006/table">
            <a:tbl>
              <a:tblPr/>
              <a:tblGrid>
                <a:gridCol w="1508760"/>
                <a:gridCol w="3749040"/>
                <a:gridCol w="1737360"/>
                <a:gridCol w="3749040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课程知识点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监督信息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主要目标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Bayes 分类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后验概率、参数估计、风险决策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使用标签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最小错误率或最小风险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Fisher / Parzen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非参数估计、线性判别、留一法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使用标签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比较概率模型与直接判别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K-L 特征提取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PCA、协方差特征分解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可不使用标签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降维与主方向分析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K-L 图像应用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高维图像特征压缩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使用标签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 PCA 在图像识别中的作用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聚类分析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均值、分级聚类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不使用标签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发现样本自然结构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914400" y="5349240"/>
            <a:ext cx="10149840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5504688"/>
            <a:ext cx="9692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主线：从概率决策到线性判别，从监督分类到无监督聚类，从低维特征到高维图像识别。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200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512064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总体结论与汇报收束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2064" y="1060704"/>
            <a:ext cx="102412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6519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模式识别课程实验汇报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464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23444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123444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380744"/>
            <a:ext cx="28895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特征选择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1024128" y="1691640"/>
            <a:ext cx="2889504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身高+体重比单特征更稳定；图像任务中 PCA 可压缩高维特征。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480560" y="123444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23444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380744"/>
            <a:ext cx="28895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模型假设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681728" y="1691640"/>
            <a:ext cx="2889504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正态假设、窗口宽度、线性边界都会影响最终性能。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138160" y="123444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2344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1380744"/>
            <a:ext cx="25237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评价指标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8339328" y="1691640"/>
            <a:ext cx="2523744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准确率、错误率、召回率、混淆矩阵和聚类指标需要综合分析。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60120" y="3429000"/>
            <a:ext cx="10012680" cy="1143000"/>
          </a:xfrm>
          <a:prstGeom prst="roundRect">
            <a:avLst>
              <a:gd name="adj" fmla="val 6400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3822192"/>
            <a:ext cx="9326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核心体会：模式识别方法没有绝对最优，算法选择必须结合数据分布、任务目标和评价指标。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97280" y="5166360"/>
            <a:ext cx="969264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Bayes 强调概率决策，Fisher 强调判别方向，K-L 强调表示与降维，聚类强调自然结构。</a:t>
            </a:r>
            <a:endParaRPr lang="en-US" sz="10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1148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59536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欢迎老师和同学批评指正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9536" y="3822192"/>
            <a:ext cx="242316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NPU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模式识别课程实验汇报</dc:title>
  <dc:subject>模式识别课程实验汇报</dc:subject>
  <dc:creator>Pattern Recognition Coursework</dc:creator>
  <cp:lastModifiedBy>Pattern Recognition Coursework</cp:lastModifiedBy>
  <cp:revision>1</cp:revision>
  <dcterms:created xsi:type="dcterms:W3CDTF">2026-06-16T16:10:51Z</dcterms:created>
  <dcterms:modified xsi:type="dcterms:W3CDTF">2026-06-16T16:10:51Z</dcterms:modified>
</cp:coreProperties>
</file>