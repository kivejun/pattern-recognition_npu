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1A5F12-4871-3442-D482-C964503A6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564E385-13A8-C748-4855-A0DDFF7EAE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61AB34-248F-4EEB-5388-C1ACEA9F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0478-C94A-4A69-96EC-F046F21B6068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98FD38-3FAB-6243-BE42-4644BFAF9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4231E4-2C5F-AD29-1AEC-ACCA7DD50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603FA-3A2A-42FD-8384-07778194AA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230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0F190D-A0BA-590B-3AEB-691C00722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CE2F18-2FC6-5667-7CB5-6BA1A2FC1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500885-2277-605F-A311-5136D115F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0478-C94A-4A69-96EC-F046F21B6068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110F50-C7C5-34A0-279D-EB9F729AF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A1263E-456E-6D0B-3A3F-6F892ECA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603FA-3A2A-42FD-8384-07778194AA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28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F07F56-6E0D-5ACC-8B7D-54516F38B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928406-918B-E847-FD76-D18326216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D676D6-C45B-9E09-6C26-247654556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0478-C94A-4A69-96EC-F046F21B6068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AC058E-F628-213C-559C-63C544776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B53874-7C5F-B106-FAFF-D66F2145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603FA-3A2A-42FD-8384-07778194AA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380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A65E39-A890-C684-41DE-510B035CC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8D2C3F-A4B0-8069-7CFD-B3531C7C5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AAF919-E0D2-C6B2-A685-E1C06B1CF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9C282F-9B81-1EDE-F393-0A3F7A5C8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0478-C94A-4A69-96EC-F046F21B6068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7CE5F9-F731-1128-0C17-34AA2CF2D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92B528-1B64-EDE0-F9EE-BA0C7EA3A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603FA-3A2A-42FD-8384-07778194AA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352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70619B-429C-D30C-4E32-CDA8029C5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E98604-66C8-2921-7EF3-B97E24511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84C71D-ABD4-D1A3-1299-987A1907F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BEE674-DE34-C273-F120-E3BD8179F4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B16BB5-A92E-FCB8-D1FE-0B2903AAE1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6E9D05-62A5-556B-6C2E-37A4B5391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0478-C94A-4A69-96EC-F046F21B6068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A904BB7-5217-71FC-357B-5D840E71D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8345E1-5740-DD3F-806C-3CFD2509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603FA-3A2A-42FD-8384-07778194AA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7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2DE970-70DB-0E9D-4E76-2435AF740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3B60F84-66C3-9247-7718-ED8E8D5E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0478-C94A-4A69-96EC-F046F21B6068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CA9BCA-E4BB-3402-7AC8-F8F8F5BCA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E73D70-D539-9E5D-92AC-3CDB60C4D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603FA-3A2A-42FD-8384-07778194AA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065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0806E9-3DFE-8564-BD7F-8CF8E6F54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0478-C94A-4A69-96EC-F046F21B6068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CA6A409-DC0C-A894-B374-054BAD55D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E63318-08E2-AC35-E7C8-CCD46513C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603FA-3A2A-42FD-8384-07778194AA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65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B75BF2-C100-B87C-B639-8FB857F13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543E7B-EA83-2D90-ECF2-5F9E69128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C3D6D4-5113-F0A2-7DB3-B2D4D3DB9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D644F8-C510-11B8-BA69-55C71681B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0478-C94A-4A69-96EC-F046F21B6068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C9774A-C7E1-1765-28A1-38C653B4F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6BC968-A610-4C9B-1CF8-8FC1F2063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603FA-3A2A-42FD-8384-07778194AA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905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99410F-3765-5BFB-F944-0B2A1A58F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812B9D9-F713-2ADA-C3C3-B4B3F7AAAB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445B45-CDDE-BA14-194A-E97D37A2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5B73DB-D1A5-E5B9-E250-B88DBBC33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0478-C94A-4A69-96EC-F046F21B6068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B3CBD4-E5C0-E83F-CD0F-991B9B793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4C1B7A-A956-37FA-EA53-6244563F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603FA-3A2A-42FD-8384-07778194AA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518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8115B8-B0D6-6BB1-C5F7-C7ADB77A5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77100B-EB4C-0859-352E-C2F32F775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AF6787-F602-8A3F-25DC-1A77443DC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0478-C94A-4A69-96EC-F046F21B6068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6CAFC5-6D56-D5BD-8102-FDA71007A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FE811F-CCCD-7FB8-D219-6E8807E01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603FA-3A2A-42FD-8384-07778194AA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904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1BECCB3-80C5-81C3-6A4F-9B762634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CC78AF-FD3D-C24D-27CB-5D7DEE4E46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58DDA6-0069-9A5E-B5B9-6EA66DE62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0478-C94A-4A69-96EC-F046F21B6068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063B9C-6A77-DA8A-D3CB-F16D88F10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09FA99-2F8F-FC01-37F3-4114AE7AD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603FA-3A2A-42FD-8384-07778194AA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443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B33D3B-C3F0-BE92-E030-D1C30F8DB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CBD531-E027-BCFC-9E7C-AB7FF447A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3FCFC8-7FDB-B3B9-BF45-1EB9E20314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40478-C94A-4A69-96EC-F046F21B6068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3611E1-A89F-A026-E186-9AC9D9A13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95F5B0-39B5-95B6-B21E-8C0FC9BD9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603FA-3A2A-42FD-8384-07778194AA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033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3A5498A-78A7-33FA-CEBB-C4D30782A5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22485A7D-2920-115F-3493-363BEE44B39E}"/>
              </a:ext>
            </a:extLst>
          </p:cNvPr>
          <p:cNvSpPr/>
          <p:nvPr/>
        </p:nvSpPr>
        <p:spPr>
          <a:xfrm>
            <a:off x="-1016000" y="4381500"/>
            <a:ext cx="6794500" cy="28575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7650FE64-48EB-0A1D-89AD-9B36FFAEC11B}"/>
              </a:ext>
            </a:extLst>
          </p:cNvPr>
          <p:cNvSpPr/>
          <p:nvPr/>
        </p:nvSpPr>
        <p:spPr>
          <a:xfrm>
            <a:off x="8064500" y="-254000"/>
            <a:ext cx="5334000" cy="1968500"/>
          </a:xfrm>
          <a:prstGeom prst="parallelogram">
            <a:avLst>
              <a:gd name="adj" fmla="val 18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940E63-8AAD-2311-85B4-189AC80C2692}"/>
              </a:ext>
            </a:extLst>
          </p:cNvPr>
          <p:cNvSpPr txBox="1"/>
          <p:nvPr/>
        </p:nvSpPr>
        <p:spPr>
          <a:xfrm>
            <a:off x="914400" y="1422400"/>
            <a:ext cx="406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BFE8FF"/>
                </a:solidFill>
                <a:latin typeface="Microsoft YaHei" panose="020B0503020204020204" pitchFamily="34" charset="-122"/>
              </a:rPr>
              <a:t>PATTERN RECOGNITION</a:t>
            </a:r>
            <a:endParaRPr lang="zh-CN" altLang="en-US" sz="800" b="1">
              <a:solidFill>
                <a:srgbClr val="BFE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C7F787A-68DD-995E-7DC6-169FDEC7692B}"/>
              </a:ext>
            </a:extLst>
          </p:cNvPr>
          <p:cNvSpPr txBox="1"/>
          <p:nvPr/>
        </p:nvSpPr>
        <p:spPr>
          <a:xfrm>
            <a:off x="914400" y="2006600"/>
            <a:ext cx="78740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0B19EB-3515-132E-FCB0-CD5C4600F066}"/>
              </a:ext>
            </a:extLst>
          </p:cNvPr>
          <p:cNvSpPr txBox="1"/>
          <p:nvPr/>
        </p:nvSpPr>
        <p:spPr>
          <a:xfrm>
            <a:off x="965200" y="2921000"/>
            <a:ext cx="8763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D9EC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400">
                <a:solidFill>
                  <a:srgbClr val="D9ECFF"/>
                </a:solidFill>
                <a:latin typeface="Microsoft YaHei" panose="020B0503020204020204" pitchFamily="34" charset="-122"/>
              </a:rPr>
              <a:t>分类器 </a:t>
            </a:r>
            <a:r>
              <a:rPr lang="en-US" altLang="zh-CN" sz="1400">
                <a:solidFill>
                  <a:srgbClr val="D9ECFF"/>
                </a:solidFill>
                <a:latin typeface="Microsoft YaHei" panose="020B0503020204020204" pitchFamily="34" charset="-122"/>
              </a:rPr>
              <a:t>· Fisher </a:t>
            </a:r>
            <a:r>
              <a:rPr lang="zh-CN" altLang="en-US" sz="1400">
                <a:solidFill>
                  <a:srgbClr val="D9ECFF"/>
                </a:solidFill>
                <a:latin typeface="Microsoft YaHei" panose="020B0503020204020204" pitchFamily="34" charset="-122"/>
              </a:rPr>
              <a:t>判别 </a:t>
            </a:r>
            <a:r>
              <a:rPr lang="en-US" altLang="zh-CN" sz="1400">
                <a:solidFill>
                  <a:srgbClr val="D9ECFF"/>
                </a:solidFill>
                <a:latin typeface="Microsoft YaHei" panose="020B0503020204020204" pitchFamily="34" charset="-122"/>
              </a:rPr>
              <a:t>· K-L </a:t>
            </a:r>
            <a:r>
              <a:rPr lang="zh-CN" altLang="en-US" sz="1400">
                <a:solidFill>
                  <a:srgbClr val="D9ECFF"/>
                </a:solidFill>
                <a:latin typeface="Microsoft YaHei" panose="020B0503020204020204" pitchFamily="34" charset="-122"/>
              </a:rPr>
              <a:t>变换 </a:t>
            </a:r>
            <a:r>
              <a:rPr lang="en-US" altLang="zh-CN" sz="1400">
                <a:solidFill>
                  <a:srgbClr val="D9EC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400">
                <a:solidFill>
                  <a:srgbClr val="D9ECFF"/>
                </a:solidFill>
                <a:latin typeface="Microsoft YaHei" panose="020B0503020204020204" pitchFamily="34" charset="-122"/>
              </a:rPr>
              <a:t>图像识别 </a:t>
            </a:r>
            <a:r>
              <a:rPr lang="en-US" altLang="zh-CN" sz="1400">
                <a:solidFill>
                  <a:srgbClr val="D9EC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400">
                <a:solidFill>
                  <a:srgbClr val="D9ECFF"/>
                </a:solidFill>
                <a:latin typeface="Microsoft YaHei" panose="020B0503020204020204" pitchFamily="34" charset="-122"/>
              </a:rPr>
              <a:t>聚类分析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BA50587-7B4C-B887-03E9-6C3A24C566C7}"/>
              </a:ext>
            </a:extLst>
          </p:cNvPr>
          <p:cNvSpPr/>
          <p:nvPr/>
        </p:nvSpPr>
        <p:spPr>
          <a:xfrm>
            <a:off x="9144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B2BB515-CA99-504E-D58B-EE6B14D924E1}"/>
              </a:ext>
            </a:extLst>
          </p:cNvPr>
          <p:cNvSpPr/>
          <p:nvPr/>
        </p:nvSpPr>
        <p:spPr>
          <a:xfrm>
            <a:off x="914400" y="4165600"/>
            <a:ext cx="76200" cy="698500"/>
          </a:xfrm>
          <a:prstGeom prst="rect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00C2D9-226D-D5F0-1A72-95507009176B}"/>
              </a:ext>
            </a:extLst>
          </p:cNvPr>
          <p:cNvSpPr txBox="1"/>
          <p:nvPr/>
        </p:nvSpPr>
        <p:spPr>
          <a:xfrm>
            <a:off x="1117600" y="4318000"/>
            <a:ext cx="203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 b="1">
                <a:solidFill>
                  <a:srgbClr val="D9ECFF"/>
                </a:solidFill>
                <a:latin typeface="Microsoft YaHei" panose="020B0503020204020204" pitchFamily="34" charset="-122"/>
              </a:rPr>
              <a:t>姓名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6CBE8C-021A-A432-3528-83509526481D}"/>
              </a:ext>
            </a:extLst>
          </p:cNvPr>
          <p:cNvSpPr txBox="1"/>
          <p:nvPr/>
        </p:nvSpPr>
        <p:spPr>
          <a:xfrm>
            <a:off x="1117600" y="4597400"/>
            <a:ext cx="203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629F4FD-C4F3-4430-4C22-89664F5D4417}"/>
              </a:ext>
            </a:extLst>
          </p:cNvPr>
          <p:cNvSpPr/>
          <p:nvPr/>
        </p:nvSpPr>
        <p:spPr>
          <a:xfrm>
            <a:off x="39243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698181E-B89A-C55D-33F0-6824B80A7B5A}"/>
              </a:ext>
            </a:extLst>
          </p:cNvPr>
          <p:cNvSpPr/>
          <p:nvPr/>
        </p:nvSpPr>
        <p:spPr>
          <a:xfrm>
            <a:off x="3924300" y="4165600"/>
            <a:ext cx="76200" cy="6985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27A59D2-C3F1-8CE8-FD66-5132196822C4}"/>
              </a:ext>
            </a:extLst>
          </p:cNvPr>
          <p:cNvSpPr txBox="1"/>
          <p:nvPr/>
        </p:nvSpPr>
        <p:spPr>
          <a:xfrm>
            <a:off x="4127500" y="4318000"/>
            <a:ext cx="203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 b="1">
                <a:solidFill>
                  <a:srgbClr val="D9ECFF"/>
                </a:solidFill>
                <a:latin typeface="Microsoft YaHei" panose="020B0503020204020204" pitchFamily="34" charset="-122"/>
              </a:rPr>
              <a:t>学号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767C7FF-EA51-CCC7-572E-31EE97C19CD3}"/>
              </a:ext>
            </a:extLst>
          </p:cNvPr>
          <p:cNvSpPr txBox="1"/>
          <p:nvPr/>
        </p:nvSpPr>
        <p:spPr>
          <a:xfrm>
            <a:off x="4127500" y="4597400"/>
            <a:ext cx="203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E95676A-7B6E-51FB-68DC-6C2D46A58E27}"/>
              </a:ext>
            </a:extLst>
          </p:cNvPr>
          <p:cNvSpPr/>
          <p:nvPr/>
        </p:nvSpPr>
        <p:spPr>
          <a:xfrm>
            <a:off x="69342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B2AE77C-91F0-EDFC-29A3-8907A17D99EA}"/>
              </a:ext>
            </a:extLst>
          </p:cNvPr>
          <p:cNvSpPr/>
          <p:nvPr/>
        </p:nvSpPr>
        <p:spPr>
          <a:xfrm>
            <a:off x="6934200" y="4165600"/>
            <a:ext cx="76200" cy="6985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EEF4F19-D0B6-D13F-A900-AA8F9AA7B86D}"/>
              </a:ext>
            </a:extLst>
          </p:cNvPr>
          <p:cNvSpPr txBox="1"/>
          <p:nvPr/>
        </p:nvSpPr>
        <p:spPr>
          <a:xfrm>
            <a:off x="7137400" y="4318000"/>
            <a:ext cx="203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 b="1">
                <a:solidFill>
                  <a:srgbClr val="D9ECFF"/>
                </a:solidFill>
                <a:latin typeface="Microsoft YaHei" panose="020B0503020204020204" pitchFamily="34" charset="-122"/>
              </a:rPr>
              <a:t>班级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3BD4A37-25CC-0B31-829D-6C0A5CBD7EA4}"/>
              </a:ext>
            </a:extLst>
          </p:cNvPr>
          <p:cNvSpPr txBox="1"/>
          <p:nvPr/>
        </p:nvSpPr>
        <p:spPr>
          <a:xfrm>
            <a:off x="7137400" y="4597400"/>
            <a:ext cx="203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</p:spTree>
    <p:extLst>
      <p:ext uri="{BB962C8B-B14F-4D97-AF65-F5344CB8AC3E}">
        <p14:creationId xmlns:p14="http://schemas.microsoft.com/office/powerpoint/2010/main" val="1541497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3A6C5A-5341-9641-0140-E8A9946A94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F20483-0766-4FDA-AECA-F30B086325D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A608251-5AD8-DECC-BD04-86BC8C8DCC1A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77FBFAE0-C04F-D109-F5C6-005295DF7BFA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8447E8-D508-C545-B7D9-E7590E610A45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TALK ROADMAP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A668BD9-03B0-7B50-7AB7-CCEB3AA4E4AD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汇报结构：从分类到聚类的完整方法链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BE90412-E1F5-4B54-3E08-A4E0E0F563D2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CBE5A0D-3912-FC4E-F817-D4CD60C4A66F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DB0DCDF-FC8C-2FA7-C9CC-06393B3BF1C3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0248A09-6C1C-E3FD-AC52-54E3339F0F30}"/>
              </a:ext>
            </a:extLst>
          </p:cNvPr>
          <p:cNvSpPr/>
          <p:nvPr/>
        </p:nvSpPr>
        <p:spPr>
          <a:xfrm>
            <a:off x="711200" y="1498600"/>
            <a:ext cx="18415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0999FEB-01D2-9797-D0E3-AE22BDD6B004}"/>
              </a:ext>
            </a:extLst>
          </p:cNvPr>
          <p:cNvSpPr/>
          <p:nvPr/>
        </p:nvSpPr>
        <p:spPr>
          <a:xfrm>
            <a:off x="711200" y="1498600"/>
            <a:ext cx="76200" cy="1092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1379320-6D35-4E44-5901-E6ABFC19EEFF}"/>
              </a:ext>
            </a:extLst>
          </p:cNvPr>
          <p:cNvSpPr txBox="1"/>
          <p:nvPr/>
        </p:nvSpPr>
        <p:spPr>
          <a:xfrm>
            <a:off x="901700" y="1625600"/>
            <a:ext cx="153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01 Bayes </a:t>
            </a:r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分类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DE929BC-CB20-E55C-FE4E-1AFB428D848B}"/>
              </a:ext>
            </a:extLst>
          </p:cNvPr>
          <p:cNvSpPr txBox="1"/>
          <p:nvPr/>
        </p:nvSpPr>
        <p:spPr>
          <a:xfrm>
            <a:off x="901700" y="1943100"/>
            <a:ext cx="1536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概率密度估计与风险决策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5460908-F4A2-2521-6530-33BDDE5F20D2}"/>
              </a:ext>
            </a:extLst>
          </p:cNvPr>
          <p:cNvSpPr/>
          <p:nvPr/>
        </p:nvSpPr>
        <p:spPr>
          <a:xfrm>
            <a:off x="2971800" y="1498600"/>
            <a:ext cx="18415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6E9E5EB-A25D-F4D4-A2CF-D4FE81FA1EC3}"/>
              </a:ext>
            </a:extLst>
          </p:cNvPr>
          <p:cNvSpPr/>
          <p:nvPr/>
        </p:nvSpPr>
        <p:spPr>
          <a:xfrm>
            <a:off x="2971800" y="1498600"/>
            <a:ext cx="76200" cy="1092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C00BE6A-7BF0-663A-C44F-07C5DF79EAEA}"/>
              </a:ext>
            </a:extLst>
          </p:cNvPr>
          <p:cNvSpPr txBox="1"/>
          <p:nvPr/>
        </p:nvSpPr>
        <p:spPr>
          <a:xfrm>
            <a:off x="3162300" y="1625600"/>
            <a:ext cx="153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02 Fisher/Parzen</a:t>
            </a:r>
            <a:endParaRPr lang="zh-CN" altLang="en-US" sz="10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EBFCCC8-E133-DC9A-DDF5-FFC6A1112A2E}"/>
              </a:ext>
            </a:extLst>
          </p:cNvPr>
          <p:cNvSpPr txBox="1"/>
          <p:nvPr/>
        </p:nvSpPr>
        <p:spPr>
          <a:xfrm>
            <a:off x="3162300" y="1943100"/>
            <a:ext cx="1536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非参数估计与直接判别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2F085A5-A0EF-9A08-CAC3-6651DEF44A14}"/>
              </a:ext>
            </a:extLst>
          </p:cNvPr>
          <p:cNvSpPr/>
          <p:nvPr/>
        </p:nvSpPr>
        <p:spPr>
          <a:xfrm>
            <a:off x="5232400" y="1498600"/>
            <a:ext cx="18415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F221545-AB8E-6625-44F4-3E6BA8255410}"/>
              </a:ext>
            </a:extLst>
          </p:cNvPr>
          <p:cNvSpPr/>
          <p:nvPr/>
        </p:nvSpPr>
        <p:spPr>
          <a:xfrm>
            <a:off x="5232400" y="1498600"/>
            <a:ext cx="76200" cy="1092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8B8627B-F44C-57F8-F736-6960D975D062}"/>
              </a:ext>
            </a:extLst>
          </p:cNvPr>
          <p:cNvSpPr txBox="1"/>
          <p:nvPr/>
        </p:nvSpPr>
        <p:spPr>
          <a:xfrm>
            <a:off x="5422900" y="1625600"/>
            <a:ext cx="153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03 K-L </a:t>
            </a:r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特征提取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0EF5305-BB42-DC55-5721-A4C5930B579E}"/>
              </a:ext>
            </a:extLst>
          </p:cNvPr>
          <p:cNvSpPr txBox="1"/>
          <p:nvPr/>
        </p:nvSpPr>
        <p:spPr>
          <a:xfrm>
            <a:off x="5422900" y="1943100"/>
            <a:ext cx="1536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协方差特征分解与降维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5C1A83A-F092-9D55-88C0-341143413911}"/>
              </a:ext>
            </a:extLst>
          </p:cNvPr>
          <p:cNvSpPr/>
          <p:nvPr/>
        </p:nvSpPr>
        <p:spPr>
          <a:xfrm>
            <a:off x="7493000" y="1498600"/>
            <a:ext cx="18415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D48BCE1-551E-D2E6-A6A6-FBA70DD1A064}"/>
              </a:ext>
            </a:extLst>
          </p:cNvPr>
          <p:cNvSpPr/>
          <p:nvPr/>
        </p:nvSpPr>
        <p:spPr>
          <a:xfrm>
            <a:off x="7493000" y="1498600"/>
            <a:ext cx="76200" cy="10922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6EEA521-899B-6DF3-6F1B-B5A914314014}"/>
              </a:ext>
            </a:extLst>
          </p:cNvPr>
          <p:cNvSpPr txBox="1"/>
          <p:nvPr/>
        </p:nvSpPr>
        <p:spPr>
          <a:xfrm>
            <a:off x="7683500" y="1625600"/>
            <a:ext cx="153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04 K-L </a:t>
            </a:r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图像应用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1627C67-24AA-0776-E6D8-FE8827F43C2D}"/>
              </a:ext>
            </a:extLst>
          </p:cNvPr>
          <p:cNvSpPr txBox="1"/>
          <p:nvPr/>
        </p:nvSpPr>
        <p:spPr>
          <a:xfrm>
            <a:off x="7683500" y="1943100"/>
            <a:ext cx="1536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高维图像压缩与识别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C4799AD-D9DE-02F2-BC05-49F835A52A40}"/>
              </a:ext>
            </a:extLst>
          </p:cNvPr>
          <p:cNvSpPr/>
          <p:nvPr/>
        </p:nvSpPr>
        <p:spPr>
          <a:xfrm>
            <a:off x="9753600" y="1498600"/>
            <a:ext cx="18415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67E237F-A645-863D-0408-EE3098CC620D}"/>
              </a:ext>
            </a:extLst>
          </p:cNvPr>
          <p:cNvSpPr/>
          <p:nvPr/>
        </p:nvSpPr>
        <p:spPr>
          <a:xfrm>
            <a:off x="9753600" y="1498600"/>
            <a:ext cx="76200" cy="1092200"/>
          </a:xfrm>
          <a:prstGeom prst="rect">
            <a:avLst/>
          </a:prstGeom>
          <a:solidFill>
            <a:srgbClr val="2B8A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159A061-64C9-DAC0-CED4-8B25D258160E}"/>
              </a:ext>
            </a:extLst>
          </p:cNvPr>
          <p:cNvSpPr txBox="1"/>
          <p:nvPr/>
        </p:nvSpPr>
        <p:spPr>
          <a:xfrm>
            <a:off x="9944100" y="1625600"/>
            <a:ext cx="153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05 </a:t>
            </a:r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聚类分析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817FDA4-F721-3BF4-E151-1709A8D9BF29}"/>
              </a:ext>
            </a:extLst>
          </p:cNvPr>
          <p:cNvSpPr txBox="1"/>
          <p:nvPr/>
        </p:nvSpPr>
        <p:spPr>
          <a:xfrm>
            <a:off x="9944100" y="1943100"/>
            <a:ext cx="1536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无监督样本结构发现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28599B6E-DEAC-22EA-2D9A-6BADA494BB6B}"/>
              </a:ext>
            </a:extLst>
          </p:cNvPr>
          <p:cNvSpPr/>
          <p:nvPr/>
        </p:nvSpPr>
        <p:spPr>
          <a:xfrm>
            <a:off x="965200" y="3810000"/>
            <a:ext cx="2159000" cy="990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6490342-E528-86C1-79B4-906A7A04DB83}"/>
              </a:ext>
            </a:extLst>
          </p:cNvPr>
          <p:cNvSpPr/>
          <p:nvPr/>
        </p:nvSpPr>
        <p:spPr>
          <a:xfrm>
            <a:off x="965200" y="3810000"/>
            <a:ext cx="76200" cy="9906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D001FCC-28A9-BD5B-64B0-A8622F661C60}"/>
              </a:ext>
            </a:extLst>
          </p:cNvPr>
          <p:cNvSpPr txBox="1"/>
          <p:nvPr/>
        </p:nvSpPr>
        <p:spPr>
          <a:xfrm>
            <a:off x="1155700" y="3937000"/>
            <a:ext cx="1854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理论知识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F5077B3-A48F-B99F-592F-CD792830B002}"/>
              </a:ext>
            </a:extLst>
          </p:cNvPr>
          <p:cNvSpPr txBox="1"/>
          <p:nvPr/>
        </p:nvSpPr>
        <p:spPr>
          <a:xfrm>
            <a:off x="1155700" y="4254500"/>
            <a:ext cx="1854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先讲课程概念、公式和方法思想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4ADF7D9A-8725-4EB5-FEEC-6679E694BE10}"/>
              </a:ext>
            </a:extLst>
          </p:cNvPr>
          <p:cNvSpPr/>
          <p:nvPr/>
        </p:nvSpPr>
        <p:spPr>
          <a:xfrm>
            <a:off x="3530600" y="3810000"/>
            <a:ext cx="2159000" cy="990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F6F40F9-9388-8FAA-FDA2-487B35E3BBFE}"/>
              </a:ext>
            </a:extLst>
          </p:cNvPr>
          <p:cNvSpPr/>
          <p:nvPr/>
        </p:nvSpPr>
        <p:spPr>
          <a:xfrm>
            <a:off x="3530600" y="3810000"/>
            <a:ext cx="76200" cy="9906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F7468D9-166D-36B9-EF01-713273DADB27}"/>
              </a:ext>
            </a:extLst>
          </p:cNvPr>
          <p:cNvSpPr txBox="1"/>
          <p:nvPr/>
        </p:nvSpPr>
        <p:spPr>
          <a:xfrm>
            <a:off x="3721100" y="3937000"/>
            <a:ext cx="1854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实验设置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06FCB4C-A69D-7B8D-EB99-86C45F0B3E00}"/>
              </a:ext>
            </a:extLst>
          </p:cNvPr>
          <p:cNvSpPr txBox="1"/>
          <p:nvPr/>
        </p:nvSpPr>
        <p:spPr>
          <a:xfrm>
            <a:off x="3721100" y="4254500"/>
            <a:ext cx="1854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说明数据、特征、模型参数和指标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DB048AA7-FAF0-EA21-84B5-1D549469187A}"/>
              </a:ext>
            </a:extLst>
          </p:cNvPr>
          <p:cNvSpPr/>
          <p:nvPr/>
        </p:nvSpPr>
        <p:spPr>
          <a:xfrm>
            <a:off x="6096000" y="3810000"/>
            <a:ext cx="2159000" cy="990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138D8B9-D6D5-680E-D53B-D248BB15C107}"/>
              </a:ext>
            </a:extLst>
          </p:cNvPr>
          <p:cNvSpPr/>
          <p:nvPr/>
        </p:nvSpPr>
        <p:spPr>
          <a:xfrm>
            <a:off x="6096000" y="3810000"/>
            <a:ext cx="76200" cy="9906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A5922A9-E520-7DDD-92D9-EEDA9037DC06}"/>
              </a:ext>
            </a:extLst>
          </p:cNvPr>
          <p:cNvSpPr txBox="1"/>
          <p:nvPr/>
        </p:nvSpPr>
        <p:spPr>
          <a:xfrm>
            <a:off x="6286500" y="3937000"/>
            <a:ext cx="1854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实验结果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93CA872-6E6A-D734-9ACF-CF1CA9D5D858}"/>
              </a:ext>
            </a:extLst>
          </p:cNvPr>
          <p:cNvSpPr txBox="1"/>
          <p:nvPr/>
        </p:nvSpPr>
        <p:spPr>
          <a:xfrm>
            <a:off x="6286500" y="4254500"/>
            <a:ext cx="1854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展示准确率、错误率、混淆矩阵和图像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A2C52E71-559B-2AF0-B399-A03DA63F1EC2}"/>
              </a:ext>
            </a:extLst>
          </p:cNvPr>
          <p:cNvSpPr/>
          <p:nvPr/>
        </p:nvSpPr>
        <p:spPr>
          <a:xfrm>
            <a:off x="8661400" y="3810000"/>
            <a:ext cx="2159000" cy="990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134F826-3F1A-B665-DED0-0CEF6910E301}"/>
              </a:ext>
            </a:extLst>
          </p:cNvPr>
          <p:cNvSpPr/>
          <p:nvPr/>
        </p:nvSpPr>
        <p:spPr>
          <a:xfrm>
            <a:off x="8661400" y="3810000"/>
            <a:ext cx="76200" cy="9906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A7790B7-4BB3-765D-6517-F16C6A794A46}"/>
              </a:ext>
            </a:extLst>
          </p:cNvPr>
          <p:cNvSpPr txBox="1"/>
          <p:nvPr/>
        </p:nvSpPr>
        <p:spPr>
          <a:xfrm>
            <a:off x="8851900" y="3937000"/>
            <a:ext cx="1854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分析总结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58B4729-E3A3-4623-04EE-FA81C78E9EA2}"/>
              </a:ext>
            </a:extLst>
          </p:cNvPr>
          <p:cNvSpPr txBox="1"/>
          <p:nvPr/>
        </p:nvSpPr>
        <p:spPr>
          <a:xfrm>
            <a:off x="8851900" y="4254500"/>
            <a:ext cx="1854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解释现象并联系课程理论</a:t>
            </a:r>
          </a:p>
        </p:txBody>
      </p:sp>
    </p:spTree>
    <p:extLst>
      <p:ext uri="{BB962C8B-B14F-4D97-AF65-F5344CB8AC3E}">
        <p14:creationId xmlns:p14="http://schemas.microsoft.com/office/powerpoint/2010/main" val="2564762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B7B1F83-8B43-E57C-D19F-3737EB0149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A34353-0C8F-5575-F712-C422F667623B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293E89B-C40C-E62D-D650-96BD7879FBE2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A502F5A-20D4-F49B-0F26-02C0EC9F4166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2C108-76AB-8D46-56A2-ADC29CC6417E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SOURCE &amp; SETUP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6222E9A-F7EE-28B4-18DA-FC7883F0F96C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数据与实验环境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A47C20D-A3AA-7130-AA89-5698E4D3B4BB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DB6D038-9D61-09B7-AB94-670A32A154F8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04A4E33-C0BF-269C-F9C8-F44D5BB507CA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96ADC2C8-20F2-97EC-4D98-116E00602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828453"/>
              </p:ext>
            </p:extLst>
          </p:nvPr>
        </p:nvGraphicFramePr>
        <p:xfrm>
          <a:off x="736600" y="1333500"/>
          <a:ext cx="5778500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167">
                  <a:extLst>
                    <a:ext uri="{9D8B030D-6E8A-4147-A177-3AD203B41FA5}">
                      <a16:colId xmlns:a16="http://schemas.microsoft.com/office/drawing/2014/main" val="4123340709"/>
                    </a:ext>
                  </a:extLst>
                </a:gridCol>
                <a:gridCol w="1926167">
                  <a:extLst>
                    <a:ext uri="{9D8B030D-6E8A-4147-A177-3AD203B41FA5}">
                      <a16:colId xmlns:a16="http://schemas.microsoft.com/office/drawing/2014/main" val="1713404709"/>
                    </a:ext>
                  </a:extLst>
                </a:gridCol>
                <a:gridCol w="1926167">
                  <a:extLst>
                    <a:ext uri="{9D8B030D-6E8A-4147-A177-3AD203B41FA5}">
                      <a16:colId xmlns:a16="http://schemas.microsoft.com/office/drawing/2014/main" val="244295550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数据集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实验用途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规模</a:t>
                      </a:r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32464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/ MALE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实验一、二、三、五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女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+ 50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男训练样本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10397019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 / test2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分类器泛化测试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35 / 300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个测试样本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80182594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飞机图像数据集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实验四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16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类，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2530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训练图，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636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测试图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117814881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21651ABE-E854-405B-F9AC-9D5F2A7A2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478792"/>
              </p:ext>
            </p:extLst>
          </p:nvPr>
        </p:nvGraphicFramePr>
        <p:xfrm>
          <a:off x="6921500" y="1333500"/>
          <a:ext cx="44450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3867776432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4178052505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工具</a:t>
                      </a:r>
                    </a:p>
                  </a:txBody>
                  <a:tcPr marL="38100" marR="38100" marT="25400" marB="25400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作用</a:t>
                      </a:r>
                    </a:p>
                  </a:txBody>
                  <a:tcPr marL="38100" marR="38100" marT="25400" marB="25400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63733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Python 3.11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实验脚本运行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42565625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NumPy / SciPy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数值计算与矩阵运算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60459446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scikit-learn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、评估指标、分级聚类辅助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49175061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Matplotlib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分类边界、投影、聚类图输出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496456075"/>
                  </a:ext>
                </a:extLst>
              </a:tr>
            </a:tbl>
          </a:graphicData>
        </a:graphic>
      </p:graphicFrame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C93D04E-00B5-1EAF-C72B-5F90A391279B}"/>
              </a:ext>
            </a:extLst>
          </p:cNvPr>
          <p:cNvSpPr/>
          <p:nvPr/>
        </p:nvSpPr>
        <p:spPr>
          <a:xfrm>
            <a:off x="99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FCCC607-28E5-B0C0-4298-CB25611AC490}"/>
              </a:ext>
            </a:extLst>
          </p:cNvPr>
          <p:cNvSpPr txBox="1"/>
          <p:nvPr/>
        </p:nvSpPr>
        <p:spPr>
          <a:xfrm>
            <a:off x="1143000" y="4597400"/>
            <a:ext cx="1752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06BB7"/>
                </a:solidFill>
                <a:latin typeface="Microsoft YaHei" panose="020B0503020204020204" pitchFamily="34" charset="-122"/>
              </a:rPr>
              <a:t>5</a:t>
            </a:r>
            <a:endParaRPr lang="zh-CN" altLang="en-US" sz="20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BA936BF-E03C-1F2F-6A4D-97273CE4A3CC}"/>
              </a:ext>
            </a:extLst>
          </p:cNvPr>
          <p:cNvSpPr txBox="1"/>
          <p:nvPr/>
        </p:nvSpPr>
        <p:spPr>
          <a:xfrm>
            <a:off x="1143000" y="5041900"/>
            <a:ext cx="1752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已完成实验任务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9EF149F-343D-C3E8-37BA-D3FB49AB3F25}"/>
              </a:ext>
            </a:extLst>
          </p:cNvPr>
          <p:cNvSpPr/>
          <p:nvPr/>
        </p:nvSpPr>
        <p:spPr>
          <a:xfrm>
            <a:off x="353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FB6D27-4CDB-B69C-6C6E-285ACCFF7E9E}"/>
              </a:ext>
            </a:extLst>
          </p:cNvPr>
          <p:cNvSpPr txBox="1"/>
          <p:nvPr/>
        </p:nvSpPr>
        <p:spPr>
          <a:xfrm>
            <a:off x="3683000" y="4597400"/>
            <a:ext cx="1752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A7FCC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20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116A7E0-0691-EA95-C333-CD2CA8CD1DAC}"/>
              </a:ext>
            </a:extLst>
          </p:cNvPr>
          <p:cNvSpPr txBox="1"/>
          <p:nvPr/>
        </p:nvSpPr>
        <p:spPr>
          <a:xfrm>
            <a:off x="3683000" y="5041900"/>
            <a:ext cx="1752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汇报中使用图表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45D24E2-A6A9-A13D-33AF-E3D997CB14EA}"/>
              </a:ext>
            </a:extLst>
          </p:cNvPr>
          <p:cNvSpPr/>
          <p:nvPr/>
        </p:nvSpPr>
        <p:spPr>
          <a:xfrm>
            <a:off x="607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CCD5B1-3BB8-70B2-EBA7-625DC391233C}"/>
              </a:ext>
            </a:extLst>
          </p:cNvPr>
          <p:cNvSpPr txBox="1"/>
          <p:nvPr/>
        </p:nvSpPr>
        <p:spPr>
          <a:xfrm>
            <a:off x="6223000" y="4597400"/>
            <a:ext cx="1752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D4A84B"/>
                </a:solidFill>
                <a:latin typeface="Microsoft YaHei" panose="020B0503020204020204" pitchFamily="34" charset="-122"/>
              </a:rPr>
              <a:t>2D/1024D</a:t>
            </a:r>
            <a:endParaRPr lang="zh-CN" altLang="en-US" sz="20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D1E199F-0B9B-CEBA-9BA8-ACFCA689CD0B}"/>
              </a:ext>
            </a:extLst>
          </p:cNvPr>
          <p:cNvSpPr txBox="1"/>
          <p:nvPr/>
        </p:nvSpPr>
        <p:spPr>
          <a:xfrm>
            <a:off x="6223000" y="5041900"/>
            <a:ext cx="1752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低维与图像高维特征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5B61447-CADE-C1A3-BC0F-2E601C51C410}"/>
              </a:ext>
            </a:extLst>
          </p:cNvPr>
          <p:cNvSpPr/>
          <p:nvPr/>
        </p:nvSpPr>
        <p:spPr>
          <a:xfrm>
            <a:off x="861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2EF177C-A192-B524-3D26-5D3431B6ED9D}"/>
              </a:ext>
            </a:extLst>
          </p:cNvPr>
          <p:cNvSpPr txBox="1"/>
          <p:nvPr/>
        </p:nvSpPr>
        <p:spPr>
          <a:xfrm>
            <a:off x="8763000" y="4597400"/>
            <a:ext cx="1752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2F80C9"/>
                </a:solidFill>
                <a:latin typeface="Microsoft YaHei" panose="020B0503020204020204" pitchFamily="34" charset="-122"/>
              </a:rPr>
              <a:t>分类</a:t>
            </a:r>
            <a:r>
              <a:rPr lang="en-US" altLang="zh-CN" sz="2000" b="1">
                <a:solidFill>
                  <a:srgbClr val="2F80C9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2000" b="1">
                <a:solidFill>
                  <a:srgbClr val="2F80C9"/>
                </a:solidFill>
                <a:latin typeface="Microsoft YaHei" panose="020B0503020204020204" pitchFamily="34" charset="-122"/>
              </a:rPr>
              <a:t>聚类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2E277F2-5E05-63CC-17A0-459219DA45BB}"/>
              </a:ext>
            </a:extLst>
          </p:cNvPr>
          <p:cNvSpPr txBox="1"/>
          <p:nvPr/>
        </p:nvSpPr>
        <p:spPr>
          <a:xfrm>
            <a:off x="8763000" y="5041900"/>
            <a:ext cx="1752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监督与无监督覆盖</a:t>
            </a:r>
          </a:p>
        </p:txBody>
      </p:sp>
    </p:spTree>
    <p:extLst>
      <p:ext uri="{BB962C8B-B14F-4D97-AF65-F5344CB8AC3E}">
        <p14:creationId xmlns:p14="http://schemas.microsoft.com/office/powerpoint/2010/main" val="3641117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75568A3-C062-DBE9-D331-AD0E1A577F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03654E39-9C83-E50E-4DEF-3E5D3E70FD60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F9C4417C-A6FE-0F99-998C-668C058167DF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5B757D-A6EA-765E-54D6-9C8BE8088F00}"/>
              </a:ext>
            </a:extLst>
          </p:cNvPr>
          <p:cNvSpPr txBox="1"/>
          <p:nvPr/>
        </p:nvSpPr>
        <p:spPr>
          <a:xfrm>
            <a:off x="889000" y="1168400"/>
            <a:ext cx="165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D4A84B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2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01E1A2-7FE6-5EB9-7FC0-60A6C7A0F13E}"/>
              </a:ext>
            </a:extLst>
          </p:cNvPr>
          <p:cNvSpPr txBox="1"/>
          <p:nvPr/>
        </p:nvSpPr>
        <p:spPr>
          <a:xfrm>
            <a:off x="889000" y="2006600"/>
            <a:ext cx="9652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01BBD6-7BA3-CF9B-0EBA-FE87381C8F68}"/>
              </a:ext>
            </a:extLst>
          </p:cNvPr>
          <p:cNvSpPr txBox="1"/>
          <p:nvPr/>
        </p:nvSpPr>
        <p:spPr>
          <a:xfrm>
            <a:off x="939800" y="29464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D9ECFF"/>
                </a:solidFill>
                <a:latin typeface="Microsoft YaHei" panose="020B0503020204020204" pitchFamily="34" charset="-122"/>
              </a:rPr>
              <a:t>用身高</a:t>
            </a:r>
            <a:r>
              <a:rPr lang="en-US" altLang="zh-CN" sz="1400">
                <a:solidFill>
                  <a:srgbClr val="D9ECF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400">
                <a:solidFill>
                  <a:srgbClr val="D9ECFF"/>
                </a:solidFill>
                <a:latin typeface="Microsoft YaHei" panose="020B0503020204020204" pitchFamily="34" charset="-122"/>
              </a:rPr>
              <a:t>体重数据进行最小错误率与最小风险决策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290BE48-8895-CB2E-9E88-BE14034A0056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68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8461676-F3A8-3A28-F68B-D9CC698D22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C87CD7-1E7A-5AF9-7671-A81CBCDBF8C2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2D9AF45E-B02C-D4B6-06A7-8D09F6C6562A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DB90F67-D72C-C550-DFAE-4F2693A56999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146CF5-0FCD-0982-6A36-F420D148BBD7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BAYES CLASSIFIER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ACB54FD-98E1-9C31-3FB5-A382A7C5183C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实验一理论：概率决策框架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D8D9395-D1E3-B0FF-939C-7AD0644A1D24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7D0CDE3-2960-ED37-D11A-D90C5C91AFAC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76BDC25-63A2-EF2D-89FF-C4C936045905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5544939-0DBF-F364-87CF-EA06C252656C}"/>
              </a:ext>
            </a:extLst>
          </p:cNvPr>
          <p:cNvSpPr/>
          <p:nvPr/>
        </p:nvSpPr>
        <p:spPr>
          <a:xfrm>
            <a:off x="736600" y="1371600"/>
            <a:ext cx="3302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2C1B40-E50F-C014-A666-7EB66093D65A}"/>
              </a:ext>
            </a:extLst>
          </p:cNvPr>
          <p:cNvSpPr/>
          <p:nvPr/>
        </p:nvSpPr>
        <p:spPr>
          <a:xfrm>
            <a:off x="736600" y="1371600"/>
            <a:ext cx="76200" cy="1092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2F329B3-4417-0DA4-FFFE-A5EC14DC2947}"/>
              </a:ext>
            </a:extLst>
          </p:cNvPr>
          <p:cNvSpPr txBox="1"/>
          <p:nvPr/>
        </p:nvSpPr>
        <p:spPr>
          <a:xfrm>
            <a:off x="927100" y="1498600"/>
            <a:ext cx="299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后验概率决策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D4D71EB-6521-D94B-EA1E-921978F318AE}"/>
              </a:ext>
            </a:extLst>
          </p:cNvPr>
          <p:cNvSpPr txBox="1"/>
          <p:nvPr/>
        </p:nvSpPr>
        <p:spPr>
          <a:xfrm>
            <a:off x="927100" y="1816100"/>
            <a:ext cx="2997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选择 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P(ωi|x)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最大的类别，本质是把观测特征映射到类别后验。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7417F9A-78EF-31ED-8A94-B373B644FF0E}"/>
              </a:ext>
            </a:extLst>
          </p:cNvPr>
          <p:cNvSpPr/>
          <p:nvPr/>
        </p:nvSpPr>
        <p:spPr>
          <a:xfrm>
            <a:off x="4445000" y="1371600"/>
            <a:ext cx="3302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8C4D782-1C1B-7999-9B0D-6DA9B2C15B13}"/>
              </a:ext>
            </a:extLst>
          </p:cNvPr>
          <p:cNvSpPr/>
          <p:nvPr/>
        </p:nvSpPr>
        <p:spPr>
          <a:xfrm>
            <a:off x="4445000" y="1371600"/>
            <a:ext cx="76200" cy="1092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929A6FA-01FC-E71A-5821-D61D5342E767}"/>
              </a:ext>
            </a:extLst>
          </p:cNvPr>
          <p:cNvSpPr txBox="1"/>
          <p:nvPr/>
        </p:nvSpPr>
        <p:spPr>
          <a:xfrm>
            <a:off x="4635500" y="1498600"/>
            <a:ext cx="299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高斯参数估计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D9A42C9-0877-465D-A235-EDFC5DD328CE}"/>
              </a:ext>
            </a:extLst>
          </p:cNvPr>
          <p:cNvSpPr txBox="1"/>
          <p:nvPr/>
        </p:nvSpPr>
        <p:spPr>
          <a:xfrm>
            <a:off x="4635500" y="1816100"/>
            <a:ext cx="2997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在正态假设下估计均值 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μ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与协方差 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Σ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，得到二次判别函数。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C62BD47-F757-E314-B147-E78CAE783B58}"/>
              </a:ext>
            </a:extLst>
          </p:cNvPr>
          <p:cNvSpPr/>
          <p:nvPr/>
        </p:nvSpPr>
        <p:spPr>
          <a:xfrm>
            <a:off x="8153400" y="1371600"/>
            <a:ext cx="2921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85AE6E6-D2FF-0403-4A58-C88B66BC39F0}"/>
              </a:ext>
            </a:extLst>
          </p:cNvPr>
          <p:cNvSpPr/>
          <p:nvPr/>
        </p:nvSpPr>
        <p:spPr>
          <a:xfrm>
            <a:off x="8153400" y="1371600"/>
            <a:ext cx="76200" cy="1092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233F76B-D92E-01F2-F2DA-ADEA2E4333F0}"/>
              </a:ext>
            </a:extLst>
          </p:cNvPr>
          <p:cNvSpPr txBox="1"/>
          <p:nvPr/>
        </p:nvSpPr>
        <p:spPr>
          <a:xfrm>
            <a:off x="8343900" y="1498600"/>
            <a:ext cx="2616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风险敏感决策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08A3289-3EF0-B94F-B4B0-E78AA09E6CB1}"/>
              </a:ext>
            </a:extLst>
          </p:cNvPr>
          <p:cNvSpPr txBox="1"/>
          <p:nvPr/>
        </p:nvSpPr>
        <p:spPr>
          <a:xfrm>
            <a:off x="8343900" y="1816100"/>
            <a:ext cx="2616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用损失表刻画不同错误代价，选择条件风险最小的动作。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73528A6-39B9-8C8E-D105-A5B5CFB85264}"/>
              </a:ext>
            </a:extLst>
          </p:cNvPr>
          <p:cNvSpPr/>
          <p:nvPr/>
        </p:nvSpPr>
        <p:spPr>
          <a:xfrm>
            <a:off x="990600" y="3302000"/>
            <a:ext cx="10210800" cy="8890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CA9A2DB-329F-6A97-ECD2-540FD4516E30}"/>
              </a:ext>
            </a:extLst>
          </p:cNvPr>
          <p:cNvSpPr txBox="1"/>
          <p:nvPr/>
        </p:nvSpPr>
        <p:spPr>
          <a:xfrm>
            <a:off x="1270000" y="3632200"/>
            <a:ext cx="9652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nn-NO" altLang="zh-CN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g_i(x) = -1/2 ln|Σ_i| - 1/2(x-μ_i)^TΣ_i^{-1}(x-μ_i) + ln P(ω_i)</a:t>
            </a:r>
            <a:endParaRPr lang="zh-CN" altLang="en-US" sz="16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451D748-7C62-4349-0D7B-45323DADEEF7}"/>
              </a:ext>
            </a:extLst>
          </p:cNvPr>
          <p:cNvSpPr txBox="1"/>
          <p:nvPr/>
        </p:nvSpPr>
        <p:spPr>
          <a:xfrm>
            <a:off x="1016000" y="4851400"/>
            <a:ext cx="9906000" cy="39241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课程相关：参数估计、先验概率、贝叶斯判别函数、最小风险决策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实验目的：观察特征、先验、协方差假设和风险表对分类性能的影响</a:t>
            </a:r>
          </a:p>
        </p:txBody>
      </p:sp>
    </p:spTree>
    <p:extLst>
      <p:ext uri="{BB962C8B-B14F-4D97-AF65-F5344CB8AC3E}">
        <p14:creationId xmlns:p14="http://schemas.microsoft.com/office/powerpoint/2010/main" val="3623844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9453029-8463-E877-1CA5-AE0B2F6200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FFCD74-602E-0885-9548-8916F1127356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A93EEC43-42D9-098E-78C2-21B7FA2FE095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CC7805C6-D627-6FAA-FE0D-88B40A02CA54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0FE506-46DD-0A55-DA32-4FC188DFB734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778E85-3BB8-A020-694D-BBD067301B59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实验一设置：数据、特征与实现流程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740E6ED-A5EA-3F36-D758-119D8EFC099A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A5442FD-9833-0444-CE06-6FA9AEC70DBA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08AD1C9-1524-88D2-5E5F-211A217A15E2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C4762D8-1446-FE4E-D461-7154E1C8DBEB}"/>
              </a:ext>
            </a:extLst>
          </p:cNvPr>
          <p:cNvSpPr/>
          <p:nvPr/>
        </p:nvSpPr>
        <p:spPr>
          <a:xfrm>
            <a:off x="889000" y="14986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38D47FA-D06E-BB03-DDEA-77FA6E68422E}"/>
              </a:ext>
            </a:extLst>
          </p:cNvPr>
          <p:cNvSpPr txBox="1"/>
          <p:nvPr/>
        </p:nvSpPr>
        <p:spPr>
          <a:xfrm>
            <a:off x="901700" y="15875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D731325-B2D8-2681-A725-8D6528435F9C}"/>
              </a:ext>
            </a:extLst>
          </p:cNvPr>
          <p:cNvSpPr txBox="1"/>
          <p:nvPr/>
        </p:nvSpPr>
        <p:spPr>
          <a:xfrm>
            <a:off x="1422400" y="14859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读取数据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13327BC-1156-858C-3F88-4D9D803F447A}"/>
              </a:ext>
            </a:extLst>
          </p:cNvPr>
          <p:cNvSpPr txBox="1"/>
          <p:nvPr/>
        </p:nvSpPr>
        <p:spPr>
          <a:xfrm>
            <a:off x="1422400" y="17526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FEMALE/MALE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作为训练集；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test1/test2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作为测试集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D56F622-654F-63FB-838B-522167519521}"/>
              </a:ext>
            </a:extLst>
          </p:cNvPr>
          <p:cNvSpPr/>
          <p:nvPr/>
        </p:nvSpPr>
        <p:spPr>
          <a:xfrm>
            <a:off x="889000" y="25146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AEE70E4-4428-5050-1C26-E3EA3741436B}"/>
              </a:ext>
            </a:extLst>
          </p:cNvPr>
          <p:cNvSpPr txBox="1"/>
          <p:nvPr/>
        </p:nvSpPr>
        <p:spPr>
          <a:xfrm>
            <a:off x="901700" y="26035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E81C73A-9F9D-2FFD-F38E-2DFF388D05F6}"/>
              </a:ext>
            </a:extLst>
          </p:cNvPr>
          <p:cNvSpPr txBox="1"/>
          <p:nvPr/>
        </p:nvSpPr>
        <p:spPr>
          <a:xfrm>
            <a:off x="1422400" y="25019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选择特征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6DDADE7-B319-0EF6-B158-F37A594E649D}"/>
              </a:ext>
            </a:extLst>
          </p:cNvPr>
          <p:cNvSpPr txBox="1"/>
          <p:nvPr/>
        </p:nvSpPr>
        <p:spPr>
          <a:xfrm>
            <a:off x="1422400" y="27686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身高、体重、身高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体重三组对比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64294A-0046-FFE1-F4CB-A80809A47AAC}"/>
              </a:ext>
            </a:extLst>
          </p:cNvPr>
          <p:cNvSpPr/>
          <p:nvPr/>
        </p:nvSpPr>
        <p:spPr>
          <a:xfrm>
            <a:off x="889000" y="35306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B0FB10C-D90D-1CA8-F400-76A6F56ECAA5}"/>
              </a:ext>
            </a:extLst>
          </p:cNvPr>
          <p:cNvSpPr txBox="1"/>
          <p:nvPr/>
        </p:nvSpPr>
        <p:spPr>
          <a:xfrm>
            <a:off x="901700" y="36195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7C31F30-4BE3-6512-7F4F-0F7DEB737B0E}"/>
              </a:ext>
            </a:extLst>
          </p:cNvPr>
          <p:cNvSpPr txBox="1"/>
          <p:nvPr/>
        </p:nvSpPr>
        <p:spPr>
          <a:xfrm>
            <a:off x="1422400" y="35179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估计分布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39E3236-588D-5CA1-C61B-6298D46E0C23}"/>
              </a:ext>
            </a:extLst>
          </p:cNvPr>
          <p:cNvSpPr txBox="1"/>
          <p:nvPr/>
        </p:nvSpPr>
        <p:spPr>
          <a:xfrm>
            <a:off x="1422400" y="37846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最大似然估计 </a:t>
            </a:r>
            <a:r>
              <a:rPr lang="el-GR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μ</a:t>
            </a:r>
            <a:r>
              <a:rPr lang="zh-CN" altLang="el-GR" sz="8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l-GR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σ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或 </a:t>
            </a:r>
            <a:r>
              <a:rPr lang="el-GR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Σ</a:t>
            </a:r>
            <a:endParaRPr lang="zh-CN" altLang="en-US" sz="8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36D9E83A-B064-C893-4272-06666DAD9C50}"/>
              </a:ext>
            </a:extLst>
          </p:cNvPr>
          <p:cNvSpPr/>
          <p:nvPr/>
        </p:nvSpPr>
        <p:spPr>
          <a:xfrm>
            <a:off x="889000" y="45466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BDF2FBA-1179-2343-AE6A-C9B850CDA989}"/>
              </a:ext>
            </a:extLst>
          </p:cNvPr>
          <p:cNvSpPr txBox="1"/>
          <p:nvPr/>
        </p:nvSpPr>
        <p:spPr>
          <a:xfrm>
            <a:off x="901700" y="46355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8889F13-5B01-E2E9-8CF3-0C3948ED53ED}"/>
              </a:ext>
            </a:extLst>
          </p:cNvPr>
          <p:cNvSpPr txBox="1"/>
          <p:nvPr/>
        </p:nvSpPr>
        <p:spPr>
          <a:xfrm>
            <a:off x="1422400" y="45339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分类评估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B6359A7-4D92-6748-FDAA-F401FFE78758}"/>
              </a:ext>
            </a:extLst>
          </p:cNvPr>
          <p:cNvSpPr txBox="1"/>
          <p:nvPr/>
        </p:nvSpPr>
        <p:spPr>
          <a:xfrm>
            <a:off x="1422400" y="48006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准确率、召回率、混淆矩阵、错误分析</a:t>
            </a: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FF9BCCFC-6204-CBC9-5DD8-B044250AE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119489"/>
              </p:ext>
            </p:extLst>
          </p:nvPr>
        </p:nvGraphicFramePr>
        <p:xfrm>
          <a:off x="5943600" y="1524000"/>
          <a:ext cx="4953000" cy="234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2745995998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273009389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设置项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取值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15215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先验概率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0.5/0.5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0.75/0.25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0.9/0.1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478845237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协方差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45560176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风险表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l-GR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M|F)=2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l-GR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F|M)=1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857587147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非参数补充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窗、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4242670983"/>
                  </a:ext>
                </a:extLst>
              </a:tr>
            </a:tbl>
          </a:graphicData>
        </a:graphic>
      </p:graphicFrame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423697B3-A259-3530-3D62-BBBFEF2EA7AA}"/>
              </a:ext>
            </a:extLst>
          </p:cNvPr>
          <p:cNvSpPr/>
          <p:nvPr/>
        </p:nvSpPr>
        <p:spPr>
          <a:xfrm>
            <a:off x="6197600" y="4521200"/>
            <a:ext cx="4445000" cy="711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B4BB558-295C-F44C-76F0-AC81EA0AB78C}"/>
              </a:ext>
            </a:extLst>
          </p:cNvPr>
          <p:cNvSpPr/>
          <p:nvPr/>
        </p:nvSpPr>
        <p:spPr>
          <a:xfrm>
            <a:off x="6197600" y="4521200"/>
            <a:ext cx="76200" cy="711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5E1D9F6-7402-D4CF-DDB8-777DAA942084}"/>
              </a:ext>
            </a:extLst>
          </p:cNvPr>
          <p:cNvSpPr txBox="1"/>
          <p:nvPr/>
        </p:nvSpPr>
        <p:spPr>
          <a:xfrm>
            <a:off x="6388100" y="4648200"/>
            <a:ext cx="414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实现要点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662FDD7-D3AD-C512-9418-0D667E35C594}"/>
              </a:ext>
            </a:extLst>
          </p:cNvPr>
          <p:cNvSpPr txBox="1"/>
          <p:nvPr/>
        </p:nvSpPr>
        <p:spPr>
          <a:xfrm>
            <a:off x="6388100" y="4965700"/>
            <a:ext cx="4140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所有分类器统一输出 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train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test1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上的性能，便于横向比较。</a:t>
            </a:r>
          </a:p>
        </p:txBody>
      </p:sp>
    </p:spTree>
    <p:extLst>
      <p:ext uri="{BB962C8B-B14F-4D97-AF65-F5344CB8AC3E}">
        <p14:creationId xmlns:p14="http://schemas.microsoft.com/office/powerpoint/2010/main" val="824643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5B99173-161F-53C7-3BB3-5ECC848790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E02E0B-63E8-2451-2DAE-D894A25DC06F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89B5D5B-7C31-9694-1503-BECA38499E46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59AE6371-6BB6-1A67-A860-F2796B1E25CE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BE4C23-6FE1-C207-1DD1-B377DE7F3DB9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RESULT VISUALS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FE18F2-CC89-35F4-A721-DA0BB3497127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实验一结果：数据分布与 </a:t>
            </a:r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决策边界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79BB80C-8D43-7FD3-FA32-2DD44B5BD0AE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06190B6-6138-ADBE-7A1E-652A67C2741F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0586631-1E49-84C2-F1B2-6C7D4561EEA1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0B36504-603C-A08E-7B0C-1062E7C4E6DD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DF680BD-5BA9-2018-93AA-DEFD6298E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847782"/>
            <a:ext cx="4071811" cy="2908436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94D5055-9F16-417D-E2CC-3E24DF2C37A9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E4809BD-54B5-449D-6ADF-27C9A04174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5" y="1847782"/>
            <a:ext cx="4071811" cy="2908436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16B8C98-667F-64CD-662D-82CA3211B8B5}"/>
              </a:ext>
            </a:extLst>
          </p:cNvPr>
          <p:cNvSpPr/>
          <p:nvPr/>
        </p:nvSpPr>
        <p:spPr>
          <a:xfrm>
            <a:off x="1016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EE970F9-23BD-113F-900D-13CD6B5FAE5D}"/>
              </a:ext>
            </a:extLst>
          </p:cNvPr>
          <p:cNvSpPr txBox="1"/>
          <p:nvPr/>
        </p:nvSpPr>
        <p:spPr>
          <a:xfrm>
            <a:off x="1168400" y="55626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06BB7"/>
                </a:solidFill>
                <a:latin typeface="Microsoft YaHei" panose="020B0503020204020204" pitchFamily="34" charset="-122"/>
              </a:rPr>
              <a:t>88.00%</a:t>
            </a:r>
            <a:endParaRPr lang="zh-CN" altLang="en-US" sz="20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049D043-876F-A2BB-34A1-5A2145E1F701}"/>
              </a:ext>
            </a:extLst>
          </p:cNvPr>
          <p:cNvSpPr txBox="1"/>
          <p:nvPr/>
        </p:nvSpPr>
        <p:spPr>
          <a:xfrm>
            <a:off x="1168400" y="60071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二维 </a:t>
            </a:r>
            <a:r>
              <a:rPr lang="en-US" altLang="zh-CN" sz="700">
                <a:solidFill>
                  <a:srgbClr val="6B7F90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训练准确率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2EB2B77-DA89-BC8C-4F7C-254DEE80CE55}"/>
              </a:ext>
            </a:extLst>
          </p:cNvPr>
          <p:cNvSpPr/>
          <p:nvPr/>
        </p:nvSpPr>
        <p:spPr>
          <a:xfrm>
            <a:off x="3302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4D20D6-CFA5-0809-4CE7-3041D90B8B4C}"/>
              </a:ext>
            </a:extLst>
          </p:cNvPr>
          <p:cNvSpPr txBox="1"/>
          <p:nvPr/>
        </p:nvSpPr>
        <p:spPr>
          <a:xfrm>
            <a:off x="3454400" y="55626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A7FCC"/>
                </a:solidFill>
                <a:latin typeface="Microsoft YaHei" panose="020B0503020204020204" pitchFamily="34" charset="-122"/>
              </a:rPr>
              <a:t>97.14%</a:t>
            </a:r>
            <a:endParaRPr lang="zh-CN" altLang="en-US" sz="20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B0E39B1-4CC0-B9C8-3865-D69D6D73C9B7}"/>
              </a:ext>
            </a:extLst>
          </p:cNvPr>
          <p:cNvSpPr txBox="1"/>
          <p:nvPr/>
        </p:nvSpPr>
        <p:spPr>
          <a:xfrm>
            <a:off x="3454400" y="60071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6B7F90"/>
                </a:solidFill>
                <a:latin typeface="Microsoft YaHei" panose="020B0503020204020204" pitchFamily="34" charset="-122"/>
              </a:rPr>
              <a:t>test1 </a:t>
            </a:r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准确率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144F260-F702-4F2E-A849-27B9A52CAB41}"/>
              </a:ext>
            </a:extLst>
          </p:cNvPr>
          <p:cNvSpPr/>
          <p:nvPr/>
        </p:nvSpPr>
        <p:spPr>
          <a:xfrm>
            <a:off x="5588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A8F60C9-6151-F667-2447-4C9D9006607D}"/>
              </a:ext>
            </a:extLst>
          </p:cNvPr>
          <p:cNvSpPr txBox="1"/>
          <p:nvPr/>
        </p:nvSpPr>
        <p:spPr>
          <a:xfrm>
            <a:off x="5740400" y="55626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D4A84B"/>
                </a:solidFill>
                <a:latin typeface="Microsoft YaHei" panose="020B0503020204020204" pitchFamily="34" charset="-122"/>
              </a:rPr>
              <a:t>89.33%</a:t>
            </a:r>
            <a:endParaRPr lang="zh-CN" altLang="en-US" sz="20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384B916-2A09-BE87-A554-BE475EBAEE8E}"/>
              </a:ext>
            </a:extLst>
          </p:cNvPr>
          <p:cNvSpPr txBox="1"/>
          <p:nvPr/>
        </p:nvSpPr>
        <p:spPr>
          <a:xfrm>
            <a:off x="5740400" y="60071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6B7F90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准确率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99EE148-6ECA-C38A-C246-F165B0995311}"/>
              </a:ext>
            </a:extLst>
          </p:cNvPr>
          <p:cNvSpPr/>
          <p:nvPr/>
        </p:nvSpPr>
        <p:spPr>
          <a:xfrm>
            <a:off x="7874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EBA4E1F-08FC-9010-6B1D-73CB0BE6B784}"/>
              </a:ext>
            </a:extLst>
          </p:cNvPr>
          <p:cNvSpPr txBox="1"/>
          <p:nvPr/>
        </p:nvSpPr>
        <p:spPr>
          <a:xfrm>
            <a:off x="8026400" y="55626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2F80C9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20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76888BD-7F80-20FC-31DE-33D9D9736999}"/>
              </a:ext>
            </a:extLst>
          </p:cNvPr>
          <p:cNvSpPr txBox="1"/>
          <p:nvPr/>
        </p:nvSpPr>
        <p:spPr>
          <a:xfrm>
            <a:off x="8026400" y="60071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对角协方差 </a:t>
            </a:r>
            <a:r>
              <a:rPr lang="en-US" altLang="zh-CN" sz="700">
                <a:solidFill>
                  <a:srgbClr val="6B7F90"/>
                </a:solidFill>
                <a:latin typeface="Microsoft YaHei" panose="020B0503020204020204" pitchFamily="34" charset="-122"/>
              </a:rPr>
              <a:t>test2</a:t>
            </a:r>
            <a:endParaRPr lang="zh-CN" altLang="en-US" sz="700">
              <a:solidFill>
                <a:srgbClr val="6B7F9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5386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A0D81C3-035B-279C-41AC-65633C9266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B59D36-BB3C-006D-3667-4103553C97F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5253F926-826A-1D0D-B041-F6E4E4C1C637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6173ADB7-FA41-070D-E0E3-FFB868B2C687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DC9779A-F060-105B-8DE4-11D796D0510C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ANALYSIS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30AE4C-A34B-8DA3-DB29-A129E3C24FD2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实验一分析：先验与风险改变决策偏向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A05DFA1-55C5-9CAF-9E9D-3523FD7ED9C0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49DD07D-735D-542C-D9B8-6FC01C1A5A98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53E4DDF-3489-ABE7-734E-3E0CEEDB00BC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CC0CF4A3-8897-48AC-1301-D88E02404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499101"/>
              </p:ext>
            </p:extLst>
          </p:nvPr>
        </p:nvGraphicFramePr>
        <p:xfrm>
          <a:off x="762000" y="1333500"/>
          <a:ext cx="63500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0">
                  <a:extLst>
                    <a:ext uri="{9D8B030D-6E8A-4147-A177-3AD203B41FA5}">
                      <a16:colId xmlns:a16="http://schemas.microsoft.com/office/drawing/2014/main" val="479335180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988833354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721947360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151524877"/>
                    </a:ext>
                  </a:extLst>
                </a:gridCol>
              </a:tblGrid>
              <a:tr h="402167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100331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834635579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635462717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最小风险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94.29%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687136773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87.00%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833457940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k=5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787504196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7467B00-A7AE-3890-DF79-2BAF150AC0C3}"/>
              </a:ext>
            </a:extLst>
          </p:cNvPr>
          <p:cNvSpPr/>
          <p:nvPr/>
        </p:nvSpPr>
        <p:spPr>
          <a:xfrm>
            <a:off x="7848600" y="1333500"/>
            <a:ext cx="2794000" cy="241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6DDF9F1-1961-0766-B566-52F55A4DB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917" y="1731129"/>
            <a:ext cx="1887366" cy="161774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E7E11D0-7A67-DB17-649D-C2EBF1396B59}"/>
              </a:ext>
            </a:extLst>
          </p:cNvPr>
          <p:cNvSpPr txBox="1"/>
          <p:nvPr/>
        </p:nvSpPr>
        <p:spPr>
          <a:xfrm>
            <a:off x="914400" y="4445000"/>
            <a:ext cx="9906000" cy="59503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身高和体重组合能利用互补信息，整体比单特征更稳定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9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中男生比例更高，若人为设置女生先验过大，会显著降低整体准确率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最小风险决策体现错误代价不同时的分类器设计思想</a:t>
            </a:r>
          </a:p>
        </p:txBody>
      </p:sp>
    </p:spTree>
    <p:extLst>
      <p:ext uri="{BB962C8B-B14F-4D97-AF65-F5344CB8AC3E}">
        <p14:creationId xmlns:p14="http://schemas.microsoft.com/office/powerpoint/2010/main" val="1263174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A481947-F68B-53B4-23D4-73E343707E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70A0976B-AEBF-BE68-0E02-56AEEF36BDA8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43EBF5F-F5D6-BF16-B9AA-E8D103B0A202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D64AFE0-7166-C05E-6D1B-7AB8E07D7FDD}"/>
              </a:ext>
            </a:extLst>
          </p:cNvPr>
          <p:cNvSpPr txBox="1"/>
          <p:nvPr/>
        </p:nvSpPr>
        <p:spPr>
          <a:xfrm>
            <a:off x="889000" y="1168400"/>
            <a:ext cx="165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D4A84B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2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4464A5B-31CC-5CF5-F030-B53E725BB152}"/>
              </a:ext>
            </a:extLst>
          </p:cNvPr>
          <p:cNvSpPr txBox="1"/>
          <p:nvPr/>
        </p:nvSpPr>
        <p:spPr>
          <a:xfrm>
            <a:off x="889000" y="2006600"/>
            <a:ext cx="9652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实验二：非参数估计与 </a:t>
            </a:r>
            <a:r>
              <a:rPr lang="en-US" altLang="zh-CN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判别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4D58DCC-B297-69CA-AEE3-0C274910F321}"/>
              </a:ext>
            </a:extLst>
          </p:cNvPr>
          <p:cNvSpPr txBox="1"/>
          <p:nvPr/>
        </p:nvSpPr>
        <p:spPr>
          <a:xfrm>
            <a:off x="939800" y="29464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D9ECFF"/>
                </a:solidFill>
                <a:latin typeface="Microsoft YaHei" panose="020B0503020204020204" pitchFamily="34" charset="-122"/>
              </a:rPr>
              <a:t>比较概率密度估计方法与直接设计线性分类器的方法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0413A21-DA75-ED16-C874-343A1BA81397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321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9FD8480-8317-60F9-5EB7-A071ED75A0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01275B-1E0F-C355-046D-BFF5AC37D235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59F8DC5F-DF28-728F-75CE-5569F0FD48C3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1B17C45E-81BD-A3FA-C7A2-CB72B2BFD19D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0BF8CE6-DFAD-595D-9FB0-51C8336D8838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NONPARAMETRIC &amp; LINEAR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A70FF3-C4CC-EC47-A043-D02B1644554E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实验二理论：</a:t>
            </a:r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Parzen</a:t>
            </a:r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与留一法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C501083-955C-D87A-3D13-4B31ABA1B02A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9096057-1ED9-52D7-4311-F59F740A8DB3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BF163B-847B-CD76-AEC9-A6D380170E83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7CA6A6F-5169-9391-33C2-E466F7B57FBA}"/>
              </a:ext>
            </a:extLst>
          </p:cNvPr>
          <p:cNvSpPr/>
          <p:nvPr/>
        </p:nvSpPr>
        <p:spPr>
          <a:xfrm>
            <a:off x="736600" y="1371600"/>
            <a:ext cx="3302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6418793-B755-8B13-225C-27BB608E1CD5}"/>
              </a:ext>
            </a:extLst>
          </p:cNvPr>
          <p:cNvSpPr/>
          <p:nvPr/>
        </p:nvSpPr>
        <p:spPr>
          <a:xfrm>
            <a:off x="736600" y="13716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80F664A-CF49-1223-3771-58B77CD292DA}"/>
              </a:ext>
            </a:extLst>
          </p:cNvPr>
          <p:cNvSpPr txBox="1"/>
          <p:nvPr/>
        </p:nvSpPr>
        <p:spPr>
          <a:xfrm>
            <a:off x="927100" y="1498600"/>
            <a:ext cx="299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Parzen </a:t>
            </a:r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窗估计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D042E48-FCE2-2414-BEAA-FD2189B5C469}"/>
              </a:ext>
            </a:extLst>
          </p:cNvPr>
          <p:cNvSpPr txBox="1"/>
          <p:nvPr/>
        </p:nvSpPr>
        <p:spPr>
          <a:xfrm>
            <a:off x="927100" y="1816100"/>
            <a:ext cx="2997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不预设概率密度形式，用高斯核叠加估计类别条件密度。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71FA496-C641-55C7-27A8-C36E39FD0AFF}"/>
              </a:ext>
            </a:extLst>
          </p:cNvPr>
          <p:cNvSpPr/>
          <p:nvPr/>
        </p:nvSpPr>
        <p:spPr>
          <a:xfrm>
            <a:off x="4445000" y="1371600"/>
            <a:ext cx="3302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E4221DE-ACAC-CC03-7CD2-13EB9E158173}"/>
              </a:ext>
            </a:extLst>
          </p:cNvPr>
          <p:cNvSpPr/>
          <p:nvPr/>
        </p:nvSpPr>
        <p:spPr>
          <a:xfrm>
            <a:off x="4445000" y="13716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F742CCA-11E0-A56B-F0C8-B6906E3257CB}"/>
              </a:ext>
            </a:extLst>
          </p:cNvPr>
          <p:cNvSpPr txBox="1"/>
          <p:nvPr/>
        </p:nvSpPr>
        <p:spPr>
          <a:xfrm>
            <a:off x="4635500" y="1498600"/>
            <a:ext cx="299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线性判别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1B6BF06-1EB4-A7B8-BCE2-FB3C1EA1FF5F}"/>
              </a:ext>
            </a:extLst>
          </p:cNvPr>
          <p:cNvSpPr txBox="1"/>
          <p:nvPr/>
        </p:nvSpPr>
        <p:spPr>
          <a:xfrm>
            <a:off x="4635500" y="1816100"/>
            <a:ext cx="2997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最大化类间离散度与类内离散度之比，得到线性投影方向。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2138220-9678-FFF5-ADCE-C248861DDAD6}"/>
              </a:ext>
            </a:extLst>
          </p:cNvPr>
          <p:cNvSpPr/>
          <p:nvPr/>
        </p:nvSpPr>
        <p:spPr>
          <a:xfrm>
            <a:off x="8153400" y="1371600"/>
            <a:ext cx="2921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0FA81D8-3C7E-5EE0-71CC-FB98289FCCBB}"/>
              </a:ext>
            </a:extLst>
          </p:cNvPr>
          <p:cNvSpPr/>
          <p:nvPr/>
        </p:nvSpPr>
        <p:spPr>
          <a:xfrm>
            <a:off x="8153400" y="1371600"/>
            <a:ext cx="76200" cy="1143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AD85E81-F8B6-4DF6-3FE9-E66CD36E539E}"/>
              </a:ext>
            </a:extLst>
          </p:cNvPr>
          <p:cNvSpPr txBox="1"/>
          <p:nvPr/>
        </p:nvSpPr>
        <p:spPr>
          <a:xfrm>
            <a:off x="8343900" y="1498600"/>
            <a:ext cx="2616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留一法估计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E83E866-311E-880B-D5AF-3B51AE374EA8}"/>
              </a:ext>
            </a:extLst>
          </p:cNvPr>
          <p:cNvSpPr txBox="1"/>
          <p:nvPr/>
        </p:nvSpPr>
        <p:spPr>
          <a:xfrm>
            <a:off x="8343900" y="1816100"/>
            <a:ext cx="2616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每次留出一个样本验证，适合小样本泛化误差估计。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D07BBD0-85A5-5C17-DF20-9616D13777D4}"/>
              </a:ext>
            </a:extLst>
          </p:cNvPr>
          <p:cNvSpPr/>
          <p:nvPr/>
        </p:nvSpPr>
        <p:spPr>
          <a:xfrm>
            <a:off x="1143000" y="3302000"/>
            <a:ext cx="9906000" cy="787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CB90244-59C2-5300-763F-450755376711}"/>
              </a:ext>
            </a:extLst>
          </p:cNvPr>
          <p:cNvSpPr txBox="1"/>
          <p:nvPr/>
        </p:nvSpPr>
        <p:spPr>
          <a:xfrm>
            <a:off x="1397000" y="3581400"/>
            <a:ext cx="939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l-PL" altLang="zh-CN" sz="1600" b="1">
                <a:solidFill>
                  <a:srgbClr val="0A7FCC"/>
                </a:solidFill>
                <a:latin typeface="Microsoft YaHei" panose="020B0503020204020204" pitchFamily="34" charset="-122"/>
              </a:rPr>
              <a:t>J(w)=wᵀS_b w / wᵀS_w w,    w=S_w⁻¹(μ₁-μ₂)</a:t>
            </a:r>
            <a:endParaRPr lang="zh-CN" altLang="en-US" sz="16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B68E953-3D33-B162-9B79-94278C45F6D5}"/>
              </a:ext>
            </a:extLst>
          </p:cNvPr>
          <p:cNvSpPr txBox="1"/>
          <p:nvPr/>
        </p:nvSpPr>
        <p:spPr>
          <a:xfrm>
            <a:off x="1016000" y="4851400"/>
            <a:ext cx="9906000" cy="39241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课程重点：参数估计与非参数估计的差别；概率模型与判别模型的差别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实验问题：非参数 </a:t>
            </a:r>
            <a:r>
              <a:rPr lang="en-US" altLang="zh-CN" sz="9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是否能达到高斯 </a:t>
            </a:r>
            <a:r>
              <a:rPr lang="en-US" altLang="zh-CN" sz="9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的性能</a:t>
            </a:r>
          </a:p>
        </p:txBody>
      </p:sp>
    </p:spTree>
    <p:extLst>
      <p:ext uri="{BB962C8B-B14F-4D97-AF65-F5344CB8AC3E}">
        <p14:creationId xmlns:p14="http://schemas.microsoft.com/office/powerpoint/2010/main" val="3885465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4A1525A-2B3D-ABF7-9A05-33DD59C24F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10918F-B315-B68D-4A2D-3DC472E0B246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533107A4-A3C0-8B7C-99A8-3DCEC04E0F2F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DA39B25A-8C45-4B24-AAC8-FC9C1FD25957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1751CB-18EF-D5F4-3201-8EDBD5CBCA12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VISUAL COMPARISON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2AEAC4E-3B6F-D3FA-01A1-78221C026EF8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实验二结果：线性边界与投影分布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DF34CBD-9436-FBA3-8B31-5019AD2EA9E2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14908AC-09A9-EEC7-6817-E88FDC23C001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6A7020-0A1A-2704-5526-5CAF189EEB05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D5F867E-47CC-14F4-766D-6BA62E406A6D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F231519-F53B-7838-C656-A95BCABE2A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847782"/>
            <a:ext cx="4071811" cy="2908436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4840568-D87C-5C18-F613-56EE88CD0951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1F2E560-0095-22F7-5818-6DDD2C0A7E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4" y="2195178"/>
            <a:ext cx="4071812" cy="2213644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665089F-BC6D-4518-79C5-A8CE827649F2}"/>
              </a:ext>
            </a:extLst>
          </p:cNvPr>
          <p:cNvSpPr/>
          <p:nvPr/>
        </p:nvSpPr>
        <p:spPr>
          <a:xfrm>
            <a:off x="1016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96715F5-6AE9-6A84-822D-F59772A5A8AF}"/>
              </a:ext>
            </a:extLst>
          </p:cNvPr>
          <p:cNvSpPr/>
          <p:nvPr/>
        </p:nvSpPr>
        <p:spPr>
          <a:xfrm>
            <a:off x="1016000" y="5461000"/>
            <a:ext cx="76200" cy="635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DFA62C9-3AEB-061B-3F01-D1474222B683}"/>
              </a:ext>
            </a:extLst>
          </p:cNvPr>
          <p:cNvSpPr txBox="1"/>
          <p:nvPr/>
        </p:nvSpPr>
        <p:spPr>
          <a:xfrm>
            <a:off x="1206500" y="5588000"/>
            <a:ext cx="426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0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00E5D67-CDDF-39AC-3DD0-CCB869ADE06A}"/>
              </a:ext>
            </a:extLst>
          </p:cNvPr>
          <p:cNvSpPr txBox="1"/>
          <p:nvPr/>
        </p:nvSpPr>
        <p:spPr>
          <a:xfrm>
            <a:off x="1206500" y="5905500"/>
            <a:ext cx="4267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给出简单线性边界，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边界受密度估计影响。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248195E-1A63-AD84-2005-F72F3EFEE0CC}"/>
              </a:ext>
            </a:extLst>
          </p:cNvPr>
          <p:cNvSpPr/>
          <p:nvPr/>
        </p:nvSpPr>
        <p:spPr>
          <a:xfrm>
            <a:off x="6604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A783886-8998-FA23-EF52-FAD36D165802}"/>
              </a:ext>
            </a:extLst>
          </p:cNvPr>
          <p:cNvSpPr/>
          <p:nvPr/>
        </p:nvSpPr>
        <p:spPr>
          <a:xfrm>
            <a:off x="6604000" y="5461000"/>
            <a:ext cx="76200" cy="635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BA881FC-0638-CEC3-3CCE-AD4D5796A274}"/>
              </a:ext>
            </a:extLst>
          </p:cNvPr>
          <p:cNvSpPr txBox="1"/>
          <p:nvPr/>
        </p:nvSpPr>
        <p:spPr>
          <a:xfrm>
            <a:off x="6794500" y="5588000"/>
            <a:ext cx="426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0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B125B4A-226A-BE2D-8DDF-3A46CD909252}"/>
              </a:ext>
            </a:extLst>
          </p:cNvPr>
          <p:cNvSpPr txBox="1"/>
          <p:nvPr/>
        </p:nvSpPr>
        <p:spPr>
          <a:xfrm>
            <a:off x="6794500" y="5905500"/>
            <a:ext cx="4267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投影后男女样本主体分离，但边界区域仍有重叠。</a:t>
            </a:r>
          </a:p>
        </p:txBody>
      </p:sp>
    </p:spTree>
    <p:extLst>
      <p:ext uri="{BB962C8B-B14F-4D97-AF65-F5344CB8AC3E}">
        <p14:creationId xmlns:p14="http://schemas.microsoft.com/office/powerpoint/2010/main" val="1498978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BEF793A-BCF2-1941-5377-5B279602F6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3E621B-EA62-8060-DB55-FA7FB407E14E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F307828B-6C04-E3C4-9E12-0E04DCC8C1AC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D095CC97-7A01-2EA3-21C0-B12F02AD517B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9C236E-643F-5C66-95E5-9318101BBB8D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METRICS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09991B9-AEED-238A-BAF5-14F408F80294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实验二结果：错误率对比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BF146CA-2453-F1EB-B5F3-40BFB1030595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95DA21D-3816-2648-7749-6E3CDE5EA108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67B19E-BB47-7F74-C0EE-9610B0F3FB1A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CCA21972-0467-6E7A-EF0C-4095EC8B6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707280"/>
              </p:ext>
            </p:extLst>
          </p:nvPr>
        </p:nvGraphicFramePr>
        <p:xfrm>
          <a:off x="889000" y="1549400"/>
          <a:ext cx="10414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321870903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507419432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394089324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437539928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766804017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训练错误率</a:t>
                      </a:r>
                    </a:p>
                  </a:txBody>
                  <a:tcPr marL="38100" marR="38100" marT="25400" marB="25400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 </a:t>
                      </a:r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错误率</a:t>
                      </a:r>
                    </a:p>
                  </a:txBody>
                  <a:tcPr marL="38100" marR="38100" marT="25400" marB="25400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 </a:t>
                      </a:r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错误率</a:t>
                      </a:r>
                    </a:p>
                  </a:txBody>
                  <a:tcPr marL="38100" marR="38100" marT="25400" marB="25400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留一法错误率</a:t>
                      </a:r>
                    </a:p>
                  </a:txBody>
                  <a:tcPr marL="38100" marR="38100" marT="25400" marB="25400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48524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Gaussian 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10.67%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42232667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13.00%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9.67%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14.00%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62129598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9.67%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13.00%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019672677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D0F54FAD-73E2-8EAB-CA8D-AA0E20141769}"/>
              </a:ext>
            </a:extLst>
          </p:cNvPr>
          <p:cNvSpPr txBox="1"/>
          <p:nvPr/>
        </p:nvSpPr>
        <p:spPr>
          <a:xfrm>
            <a:off x="1143000" y="41910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Gaussian Bayes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A0AB8E-5A5F-FECF-6021-3E3A3E75A7F7}"/>
              </a:ext>
            </a:extLst>
          </p:cNvPr>
          <p:cNvSpPr/>
          <p:nvPr/>
        </p:nvSpPr>
        <p:spPr>
          <a:xfrm>
            <a:off x="3175000" y="42418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6A3C5ED-7A88-E1B3-86EC-399D2EDAFAE2}"/>
              </a:ext>
            </a:extLst>
          </p:cNvPr>
          <p:cNvSpPr/>
          <p:nvPr/>
        </p:nvSpPr>
        <p:spPr>
          <a:xfrm>
            <a:off x="3175000" y="4241800"/>
            <a:ext cx="1928635" cy="889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1D96C2-C11F-0107-AD11-88A465CCA8CD}"/>
              </a:ext>
            </a:extLst>
          </p:cNvPr>
          <p:cNvSpPr txBox="1"/>
          <p:nvPr/>
        </p:nvSpPr>
        <p:spPr>
          <a:xfrm>
            <a:off x="5435600" y="41783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89.33%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715909A-191C-CF25-E1E6-83A40D867A9F}"/>
              </a:ext>
            </a:extLst>
          </p:cNvPr>
          <p:cNvSpPr txBox="1"/>
          <p:nvPr/>
        </p:nvSpPr>
        <p:spPr>
          <a:xfrm>
            <a:off x="1143000" y="46355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Parzen Bayes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A8D500D-2382-DD18-EC09-A353EE5F59F9}"/>
              </a:ext>
            </a:extLst>
          </p:cNvPr>
          <p:cNvSpPr/>
          <p:nvPr/>
        </p:nvSpPr>
        <p:spPr>
          <a:xfrm>
            <a:off x="3175000" y="46863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5E11C4A-DFB9-577A-F7F2-9612D051CFB5}"/>
              </a:ext>
            </a:extLst>
          </p:cNvPr>
          <p:cNvSpPr/>
          <p:nvPr/>
        </p:nvSpPr>
        <p:spPr>
          <a:xfrm>
            <a:off x="3175000" y="4686300"/>
            <a:ext cx="1950225" cy="889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BC293CD-67E0-C2A6-D0D4-F86720626508}"/>
              </a:ext>
            </a:extLst>
          </p:cNvPr>
          <p:cNvSpPr txBox="1"/>
          <p:nvPr/>
        </p:nvSpPr>
        <p:spPr>
          <a:xfrm>
            <a:off x="5435600" y="46228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EEED0CD-3BFD-94CE-7059-F9B7F93471E4}"/>
              </a:ext>
            </a:extLst>
          </p:cNvPr>
          <p:cNvSpPr txBox="1"/>
          <p:nvPr/>
        </p:nvSpPr>
        <p:spPr>
          <a:xfrm>
            <a:off x="1143000" y="50800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Fisher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FD62C58-572E-9A48-5FD8-31C0B9B5AD75}"/>
              </a:ext>
            </a:extLst>
          </p:cNvPr>
          <p:cNvSpPr/>
          <p:nvPr/>
        </p:nvSpPr>
        <p:spPr>
          <a:xfrm>
            <a:off x="3175000" y="51308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BAC9EEE-8BA3-8232-25ED-AFF6AF6EC5C6}"/>
              </a:ext>
            </a:extLst>
          </p:cNvPr>
          <p:cNvSpPr/>
          <p:nvPr/>
        </p:nvSpPr>
        <p:spPr>
          <a:xfrm>
            <a:off x="3175000" y="5130800"/>
            <a:ext cx="1950225" cy="889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ED394A9-FE19-9213-3656-822BA9982C4A}"/>
              </a:ext>
            </a:extLst>
          </p:cNvPr>
          <p:cNvSpPr txBox="1"/>
          <p:nvPr/>
        </p:nvSpPr>
        <p:spPr>
          <a:xfrm>
            <a:off x="5435600" y="50673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884C1F3-87DE-72B0-5660-1B466ADB8D62}"/>
              </a:ext>
            </a:extLst>
          </p:cNvPr>
          <p:cNvSpPr/>
          <p:nvPr/>
        </p:nvSpPr>
        <p:spPr>
          <a:xfrm>
            <a:off x="7048500" y="4064000"/>
            <a:ext cx="3810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D871561-19DE-7F98-0B3B-42DBF9B2440E}"/>
              </a:ext>
            </a:extLst>
          </p:cNvPr>
          <p:cNvSpPr/>
          <p:nvPr/>
        </p:nvSpPr>
        <p:spPr>
          <a:xfrm>
            <a:off x="7048500" y="40640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9EE64F6-94CB-ED0A-8E37-BD2B1CE35F40}"/>
              </a:ext>
            </a:extLst>
          </p:cNvPr>
          <p:cNvSpPr txBox="1"/>
          <p:nvPr/>
        </p:nvSpPr>
        <p:spPr>
          <a:xfrm>
            <a:off x="7239000" y="4191000"/>
            <a:ext cx="3505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2077B79-690D-C63B-D011-F372143EA64A}"/>
              </a:ext>
            </a:extLst>
          </p:cNvPr>
          <p:cNvSpPr txBox="1"/>
          <p:nvPr/>
        </p:nvSpPr>
        <p:spPr>
          <a:xfrm>
            <a:off x="7239000" y="4508500"/>
            <a:ext cx="35052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三种方法表现接近。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用更简单的线性边界取得与非参数 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相当的 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准确率。</a:t>
            </a:r>
          </a:p>
        </p:txBody>
      </p:sp>
    </p:spTree>
    <p:extLst>
      <p:ext uri="{BB962C8B-B14F-4D97-AF65-F5344CB8AC3E}">
        <p14:creationId xmlns:p14="http://schemas.microsoft.com/office/powerpoint/2010/main" val="494685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10EAE4C-01DA-0C93-4FD1-50B9F7FF3D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5FE6BA-A0D8-D4EA-B531-4AEE0AE1FACE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81403FC-800D-7004-85ED-0E69FF75E437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B63D0826-DF4C-98A7-CD3B-F300F41E43E5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412B8B-A83F-B0E0-DEE3-B6160F514AFD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TAKEAWAYS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6F0C0D-D83E-F962-1139-B06A6C50B96F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实验二分析：模型复杂度与泛化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D0662EA-7967-FBF6-6EAE-5011F6617629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2E86C7F-F98D-5624-00FE-754A0DFD0E92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DCC6FA7-A557-5730-58EE-3B3F5C6865F0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104FF00-1B04-2D2E-C95E-3B5DD6B02DA6}"/>
              </a:ext>
            </a:extLst>
          </p:cNvPr>
          <p:cNvSpPr/>
          <p:nvPr/>
        </p:nvSpPr>
        <p:spPr>
          <a:xfrm>
            <a:off x="889000" y="1587500"/>
            <a:ext cx="3111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1212424-8BFB-7D68-7EFC-6F7D7C461778}"/>
              </a:ext>
            </a:extLst>
          </p:cNvPr>
          <p:cNvSpPr/>
          <p:nvPr/>
        </p:nvSpPr>
        <p:spPr>
          <a:xfrm>
            <a:off x="889000" y="1587500"/>
            <a:ext cx="76200" cy="1270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D81114-2B83-89A4-76DB-2E4CFB4CD67D}"/>
              </a:ext>
            </a:extLst>
          </p:cNvPr>
          <p:cNvSpPr txBox="1"/>
          <p:nvPr/>
        </p:nvSpPr>
        <p:spPr>
          <a:xfrm>
            <a:off x="1079500" y="1714500"/>
            <a:ext cx="280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参数 </a:t>
            </a:r>
            <a:r>
              <a:rPr lang="en-US" altLang="zh-CN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Bayes</a:t>
            </a:r>
            <a:endParaRPr lang="zh-CN" altLang="en-US" sz="10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9E684B7-1CC1-9600-D7AA-54F23F10449A}"/>
              </a:ext>
            </a:extLst>
          </p:cNvPr>
          <p:cNvSpPr txBox="1"/>
          <p:nvPr/>
        </p:nvSpPr>
        <p:spPr>
          <a:xfrm>
            <a:off x="1079500" y="2032000"/>
            <a:ext cx="2806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形式清晰、样本效率高，但依赖正态分布假设。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10E3A40-1F0D-BCB9-3B82-BC8658846F5C}"/>
              </a:ext>
            </a:extLst>
          </p:cNvPr>
          <p:cNvSpPr/>
          <p:nvPr/>
        </p:nvSpPr>
        <p:spPr>
          <a:xfrm>
            <a:off x="4572000" y="1587500"/>
            <a:ext cx="3111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6B62EF8-DDE0-501A-6B02-3C660DD29701}"/>
              </a:ext>
            </a:extLst>
          </p:cNvPr>
          <p:cNvSpPr/>
          <p:nvPr/>
        </p:nvSpPr>
        <p:spPr>
          <a:xfrm>
            <a:off x="4572000" y="1587500"/>
            <a:ext cx="76200" cy="1270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2B5A5B2-F060-B31B-AE21-824AEBAA8597}"/>
              </a:ext>
            </a:extLst>
          </p:cNvPr>
          <p:cNvSpPr txBox="1"/>
          <p:nvPr/>
        </p:nvSpPr>
        <p:spPr>
          <a:xfrm>
            <a:off x="4762500" y="1714500"/>
            <a:ext cx="280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Parzen Bayes</a:t>
            </a:r>
            <a:endParaRPr lang="zh-CN" altLang="en-US" sz="10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23DFA99-DE91-C872-B021-BBA6093589C6}"/>
              </a:ext>
            </a:extLst>
          </p:cNvPr>
          <p:cNvSpPr txBox="1"/>
          <p:nvPr/>
        </p:nvSpPr>
        <p:spPr>
          <a:xfrm>
            <a:off x="4762500" y="2032000"/>
            <a:ext cx="2806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密度形式灵活，但窗口宽度 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h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和样本规模影响明显。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C44A686-6E30-7596-6125-87A59353623E}"/>
              </a:ext>
            </a:extLst>
          </p:cNvPr>
          <p:cNvSpPr/>
          <p:nvPr/>
        </p:nvSpPr>
        <p:spPr>
          <a:xfrm>
            <a:off x="8255000" y="1587500"/>
            <a:ext cx="2857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E6258DA-E486-E77F-E8CB-1277B3BEB592}"/>
              </a:ext>
            </a:extLst>
          </p:cNvPr>
          <p:cNvSpPr/>
          <p:nvPr/>
        </p:nvSpPr>
        <p:spPr>
          <a:xfrm>
            <a:off x="8255000" y="1587500"/>
            <a:ext cx="76200" cy="1270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2A432B5-2235-757B-FB64-26E5BE00A86E}"/>
              </a:ext>
            </a:extLst>
          </p:cNvPr>
          <p:cNvSpPr txBox="1"/>
          <p:nvPr/>
        </p:nvSpPr>
        <p:spPr>
          <a:xfrm>
            <a:off x="8445500" y="1714500"/>
            <a:ext cx="2552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</a:t>
            </a:r>
            <a:endParaRPr lang="zh-CN" altLang="en-US" sz="10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79F72BD-D4BB-8AE3-26DA-1651B6BAF0EF}"/>
              </a:ext>
            </a:extLst>
          </p:cNvPr>
          <p:cNvSpPr txBox="1"/>
          <p:nvPr/>
        </p:nvSpPr>
        <p:spPr>
          <a:xfrm>
            <a:off x="8445500" y="2032000"/>
            <a:ext cx="2552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不估计密度，直接寻找判别方向，解释性强。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528BB62-0358-22FE-9FF1-473B0070EB82}"/>
              </a:ext>
            </a:extLst>
          </p:cNvPr>
          <p:cNvSpPr/>
          <p:nvPr/>
        </p:nvSpPr>
        <p:spPr>
          <a:xfrm>
            <a:off x="1143000" y="4000500"/>
            <a:ext cx="9906000" cy="889000"/>
          </a:xfrm>
          <a:prstGeom prst="roundRect">
            <a:avLst/>
          </a:prstGeom>
          <a:solidFill>
            <a:srgbClr val="FFF7E0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7581CA1-9CDD-39A5-A75F-4DE439F10464}"/>
              </a:ext>
            </a:extLst>
          </p:cNvPr>
          <p:cNvSpPr txBox="1"/>
          <p:nvPr/>
        </p:nvSpPr>
        <p:spPr>
          <a:xfrm>
            <a:off x="1498600" y="4318000"/>
            <a:ext cx="9144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92400E"/>
                </a:solidFill>
                <a:latin typeface="Microsoft YaHei" panose="020B0503020204020204" pitchFamily="34" charset="-122"/>
              </a:rPr>
              <a:t>留一法结果与 </a:t>
            </a:r>
            <a:r>
              <a:rPr lang="en-US" altLang="zh-CN" sz="1300" b="1">
                <a:solidFill>
                  <a:srgbClr val="92400E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300" b="1">
                <a:solidFill>
                  <a:srgbClr val="92400E"/>
                </a:solidFill>
                <a:latin typeface="Microsoft YaHei" panose="020B0503020204020204" pitchFamily="34" charset="-122"/>
              </a:rPr>
              <a:t>错误率接近，说明它能在训练样本有限时给出较稳健的泛化误差估计。</a:t>
            </a:r>
          </a:p>
        </p:txBody>
      </p:sp>
    </p:spTree>
    <p:extLst>
      <p:ext uri="{BB962C8B-B14F-4D97-AF65-F5344CB8AC3E}">
        <p14:creationId xmlns:p14="http://schemas.microsoft.com/office/powerpoint/2010/main" val="73612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54F0DB5-3BF1-5AC5-27F5-F2B956D622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0BC17718-EE0A-1D00-A343-150A688A2F19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D8AD69F3-C6BD-A6C4-F076-09863857D216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6C121B-EF5A-4802-FE41-9EBB90F6D689}"/>
              </a:ext>
            </a:extLst>
          </p:cNvPr>
          <p:cNvSpPr txBox="1"/>
          <p:nvPr/>
        </p:nvSpPr>
        <p:spPr>
          <a:xfrm>
            <a:off x="889000" y="1168400"/>
            <a:ext cx="165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D4A84B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2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A0AB77-B2AB-0E49-9826-674BB13DAE44}"/>
              </a:ext>
            </a:extLst>
          </p:cNvPr>
          <p:cNvSpPr txBox="1"/>
          <p:nvPr/>
        </p:nvSpPr>
        <p:spPr>
          <a:xfrm>
            <a:off x="889000" y="2006600"/>
            <a:ext cx="9652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实验三：</a:t>
            </a:r>
            <a:r>
              <a:rPr lang="en-US" altLang="zh-CN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变换进行特征提取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1E60B8-DAFB-82AB-315D-F64C92129F9C}"/>
              </a:ext>
            </a:extLst>
          </p:cNvPr>
          <p:cNvSpPr txBox="1"/>
          <p:nvPr/>
        </p:nvSpPr>
        <p:spPr>
          <a:xfrm>
            <a:off x="939800" y="29464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D9ECFF"/>
                </a:solidFill>
                <a:latin typeface="Microsoft YaHei" panose="020B0503020204020204" pitchFamily="34" charset="-122"/>
              </a:rPr>
              <a:t>从无监督主成分方向理解身高体重样本的主要变化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6563BA2-46DA-ED9F-5E97-49A37C36BABC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191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9FF78F6-3162-96EA-E99B-04359E75F9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3C6DAA-1CAE-0429-8AF1-D9C351D1A62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764AC25C-C9E3-07C3-627E-62302FCACC90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9E686622-8942-04F9-2585-8F3AA8D0F604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9A70BC1-9A75-C893-DE0B-049302E711E9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FEATURE EXTRACTION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D887D5-87E6-4FFA-C9C1-40F631A73317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实验三理论：</a:t>
            </a:r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K-L/PCA </a:t>
            </a:r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的差别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B543285-DBD6-9E98-E512-1C22092DF919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B6DCCA7-DCDF-A84C-09C3-B6D32FD426DD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1F06D2A-D5FD-D225-B07D-C025905A46FC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2455CD4-AFAC-C918-1E15-C6F34D2830A9}"/>
              </a:ext>
            </a:extLst>
          </p:cNvPr>
          <p:cNvSpPr/>
          <p:nvPr/>
        </p:nvSpPr>
        <p:spPr>
          <a:xfrm>
            <a:off x="8890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EAA1EE-82C0-4F0F-FA43-B45C039ABE98}"/>
              </a:ext>
            </a:extLst>
          </p:cNvPr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5D18A1F-B89C-6BDE-B591-381239AE42F1}"/>
              </a:ext>
            </a:extLst>
          </p:cNvPr>
          <p:cNvSpPr txBox="1"/>
          <p:nvPr/>
        </p:nvSpPr>
        <p:spPr>
          <a:xfrm>
            <a:off x="1079500" y="1587500"/>
            <a:ext cx="414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K-L / PCA</a:t>
            </a:r>
            <a:endParaRPr lang="zh-CN" altLang="en-US" sz="10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24A1A6D-9BF2-87E7-6710-7632A6BF8AA8}"/>
              </a:ext>
            </a:extLst>
          </p:cNvPr>
          <p:cNvSpPr txBox="1"/>
          <p:nvPr/>
        </p:nvSpPr>
        <p:spPr>
          <a:xfrm>
            <a:off x="1079500" y="1905000"/>
            <a:ext cx="4140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对协方差矩阵做特征分解，保留总体方差最大的方向。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CDB17BF-2CC1-FE64-1180-E47176440CF1}"/>
              </a:ext>
            </a:extLst>
          </p:cNvPr>
          <p:cNvSpPr/>
          <p:nvPr/>
        </p:nvSpPr>
        <p:spPr>
          <a:xfrm>
            <a:off x="62865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C1B7AB5-500C-E5CE-0BBD-FCA1BD17CB2C}"/>
              </a:ext>
            </a:extLst>
          </p:cNvPr>
          <p:cNvSpPr/>
          <p:nvPr/>
        </p:nvSpPr>
        <p:spPr>
          <a:xfrm>
            <a:off x="6286500" y="14605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14CC291-D015-381D-0508-D7B29E64C31E}"/>
              </a:ext>
            </a:extLst>
          </p:cNvPr>
          <p:cNvSpPr txBox="1"/>
          <p:nvPr/>
        </p:nvSpPr>
        <p:spPr>
          <a:xfrm>
            <a:off x="6477000" y="1587500"/>
            <a:ext cx="414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</a:t>
            </a:r>
            <a:endParaRPr lang="zh-CN" altLang="en-US" sz="10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EE2DB1-ACB1-5C0A-D20A-00D8F4D53D91}"/>
              </a:ext>
            </a:extLst>
          </p:cNvPr>
          <p:cNvSpPr txBox="1"/>
          <p:nvPr/>
        </p:nvSpPr>
        <p:spPr>
          <a:xfrm>
            <a:off x="6477000" y="1905000"/>
            <a:ext cx="4140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利用类别标签，寻找最有利于分类的投影方向。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BD6BFE2-829D-56E1-0AEF-C47D115611DF}"/>
              </a:ext>
            </a:extLst>
          </p:cNvPr>
          <p:cNvSpPr/>
          <p:nvPr/>
        </p:nvSpPr>
        <p:spPr>
          <a:xfrm>
            <a:off x="1270000" y="3365500"/>
            <a:ext cx="9652000" cy="787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18CCB66-692C-0670-08D2-7B65C0B70746}"/>
              </a:ext>
            </a:extLst>
          </p:cNvPr>
          <p:cNvSpPr txBox="1"/>
          <p:nvPr/>
        </p:nvSpPr>
        <p:spPr>
          <a:xfrm>
            <a:off x="1524000" y="3632200"/>
            <a:ext cx="914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l-GR" altLang="zh-CN" b="1">
                <a:solidFill>
                  <a:srgbClr val="006BB7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b="1">
                <a:solidFill>
                  <a:srgbClr val="006BB7"/>
                </a:solidFill>
                <a:latin typeface="Microsoft YaHei" panose="020B0503020204020204" pitchFamily="34" charset="-122"/>
              </a:rPr>
              <a:t>uᵢ = </a:t>
            </a:r>
            <a:r>
              <a:rPr lang="el-GR" altLang="zh-CN" b="1">
                <a:solidFill>
                  <a:srgbClr val="006BB7"/>
                </a:solidFill>
                <a:latin typeface="Microsoft YaHei" panose="020B0503020204020204" pitchFamily="34" charset="-122"/>
              </a:rPr>
              <a:t>λ</a:t>
            </a:r>
            <a:r>
              <a:rPr lang="en-US" altLang="zh-CN" b="1">
                <a:solidFill>
                  <a:srgbClr val="006BB7"/>
                </a:solidFill>
                <a:latin typeface="Microsoft YaHei" panose="020B0503020204020204" pitchFamily="34" charset="-122"/>
              </a:rPr>
              <a:t>ᵢuᵢ,      zᵢ = uᵢᵀ(x-</a:t>
            </a:r>
            <a:r>
              <a:rPr lang="el-GR" altLang="zh-CN" b="1">
                <a:solidFill>
                  <a:srgbClr val="006BB7"/>
                </a:solidFill>
                <a:latin typeface="Microsoft YaHei" panose="020B0503020204020204" pitchFamily="34" charset="-122"/>
              </a:rPr>
              <a:t>μ)</a:t>
            </a:r>
            <a:endParaRPr lang="zh-CN" altLang="en-US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0F040DF-19F4-780F-B23C-E63467483EC1}"/>
              </a:ext>
            </a:extLst>
          </p:cNvPr>
          <p:cNvSpPr txBox="1"/>
          <p:nvPr/>
        </p:nvSpPr>
        <p:spPr>
          <a:xfrm>
            <a:off x="1016000" y="4826000"/>
            <a:ext cx="9652000" cy="39241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9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的目标是表示数据，不是直接优化分类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当最大方差方向与类别差异方向一致时，</a:t>
            </a:r>
            <a:r>
              <a:rPr lang="en-US" altLang="zh-CN" sz="9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也能得到较好分类效果</a:t>
            </a:r>
          </a:p>
        </p:txBody>
      </p:sp>
    </p:spTree>
    <p:extLst>
      <p:ext uri="{BB962C8B-B14F-4D97-AF65-F5344CB8AC3E}">
        <p14:creationId xmlns:p14="http://schemas.microsoft.com/office/powerpoint/2010/main" val="386050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9DEBA83-AA91-5497-DD2B-37A4D46C10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004564-5CF7-6E9F-9446-1F16C558D6FF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8251E5B4-BE9B-E5B3-3343-181C63D086A8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4EE25566-546A-1DCA-5433-8E3E501DB653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D59A65-3697-83A7-9958-4DD67A42F2D4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6DE951-FF52-5385-DF75-6D0C866FCEA5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实验三设置：二维特征的主方向分析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6B8642D-4B7C-90BD-F776-391E279E5E99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555270A-F7DA-8832-A895-283A448AFCC1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F8FF6F5-03B8-D4B2-1DEB-64008DAA8E2D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35E08DB7-4FDD-72BC-217A-C0FA9AADB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322109"/>
              </p:ext>
            </p:extLst>
          </p:nvPr>
        </p:nvGraphicFramePr>
        <p:xfrm>
          <a:off x="825500" y="1397000"/>
          <a:ext cx="4445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1492014156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423268442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项目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数值</a:t>
                      </a:r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572279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+ MALE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个训练样本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977873785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身高、体重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4188816273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第一主成分解释率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87.52%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538809923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PC1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(0.6269, 0.7791)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672835786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类均值方向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(0.6514, 0.7587)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524027261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4423078-A593-B9F6-A610-7B96DCCFFAE5}"/>
              </a:ext>
            </a:extLst>
          </p:cNvPr>
          <p:cNvSpPr/>
          <p:nvPr/>
        </p:nvSpPr>
        <p:spPr>
          <a:xfrm>
            <a:off x="5778500" y="1333500"/>
            <a:ext cx="5270500" cy="3937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FCDDB4E-FA55-C261-EF3E-7BFE652BD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886" y="1811382"/>
            <a:ext cx="4173729" cy="2981235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DDFEBFF-286D-A580-0375-D3AD937ADAC4}"/>
              </a:ext>
            </a:extLst>
          </p:cNvPr>
          <p:cNvSpPr/>
          <p:nvPr/>
        </p:nvSpPr>
        <p:spPr>
          <a:xfrm>
            <a:off x="1016000" y="4927600"/>
            <a:ext cx="4000500" cy="711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29B11A2-D830-BF7B-F81F-99A66A5A8A50}"/>
              </a:ext>
            </a:extLst>
          </p:cNvPr>
          <p:cNvSpPr/>
          <p:nvPr/>
        </p:nvSpPr>
        <p:spPr>
          <a:xfrm>
            <a:off x="1016000" y="4927600"/>
            <a:ext cx="76200" cy="711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9D3E2F8-33B0-6FF2-B17E-4EF22AD8A7EF}"/>
              </a:ext>
            </a:extLst>
          </p:cNvPr>
          <p:cNvSpPr txBox="1"/>
          <p:nvPr/>
        </p:nvSpPr>
        <p:spPr>
          <a:xfrm>
            <a:off x="1206500" y="5054600"/>
            <a:ext cx="3695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设置说明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EBEF9A2-DF88-46AC-C5E8-58F63D49100F}"/>
              </a:ext>
            </a:extLst>
          </p:cNvPr>
          <p:cNvSpPr txBox="1"/>
          <p:nvPr/>
        </p:nvSpPr>
        <p:spPr>
          <a:xfrm>
            <a:off x="1206500" y="5372100"/>
            <a:ext cx="3695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分别使用 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第一主成分、类均值差方向、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进行分类比较。</a:t>
            </a:r>
          </a:p>
        </p:txBody>
      </p:sp>
    </p:spTree>
    <p:extLst>
      <p:ext uri="{BB962C8B-B14F-4D97-AF65-F5344CB8AC3E}">
        <p14:creationId xmlns:p14="http://schemas.microsoft.com/office/powerpoint/2010/main" val="2882894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73F4B37-892B-4467-6631-235806294D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BB2743-9D2C-8F38-B915-135DB9B05DEA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E83FAF4-19CC-E01F-9F87-250E4E650211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4C113AB6-9C4B-87CC-9868-E1C58B19C64A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8C752B-27B2-BAA7-76E2-C9A29FFF1D51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63C81B-3CA5-A233-25A9-D34D93A240B2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实验三结果：投影分布与分类性能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B275565-081C-903E-4809-7AB78ECF217F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6E6AD3B-7CB4-05F0-BC30-1B9C77EFF40F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DCE7665-8521-FB49-5394-81527345AF3D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9028328-8F29-2B69-86F7-A012CEC722DA}"/>
              </a:ext>
            </a:extLst>
          </p:cNvPr>
          <p:cNvSpPr/>
          <p:nvPr/>
        </p:nvSpPr>
        <p:spPr>
          <a:xfrm>
            <a:off x="825500" y="1397000"/>
            <a:ext cx="5207000" cy="3302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E7DCFEB-4698-8A03-D06E-3ABB9101C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094" y="1941178"/>
            <a:ext cx="4071812" cy="2213644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B841F860-97E5-FF40-5610-264080549A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824766"/>
              </p:ext>
            </p:extLst>
          </p:nvPr>
        </p:nvGraphicFramePr>
        <p:xfrm>
          <a:off x="6540500" y="1549400"/>
          <a:ext cx="482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8502898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382653347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632275397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429254439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25155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PCA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第一主成分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86.00%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89.67%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28161973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类均值方向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86.00%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89.67%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59855929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8650834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Gaussian 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608247021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F878E45C-A972-B6DF-0A42-EC1FD94FDD2C}"/>
              </a:ext>
            </a:extLst>
          </p:cNvPr>
          <p:cNvSpPr txBox="1"/>
          <p:nvPr/>
        </p:nvSpPr>
        <p:spPr>
          <a:xfrm>
            <a:off x="6667500" y="4318000"/>
            <a:ext cx="4572000" cy="39241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9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第一主成分已经能较好区分男女样本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9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在 </a:t>
            </a:r>
            <a:r>
              <a:rPr lang="en-US" altLang="zh-CN" sz="9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上略优，体现监督判别方向的优势</a:t>
            </a:r>
          </a:p>
        </p:txBody>
      </p:sp>
    </p:spTree>
    <p:extLst>
      <p:ext uri="{BB962C8B-B14F-4D97-AF65-F5344CB8AC3E}">
        <p14:creationId xmlns:p14="http://schemas.microsoft.com/office/powerpoint/2010/main" val="480400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063B697-C509-B179-8D12-C77D524BAF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4AE39A-2DCD-EF5E-4001-C8206F63A234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1AA403A-189D-6EFA-2B30-750A178FF367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B0C2C347-6D73-A5D2-3DD7-8F36156FECB1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561575-036E-B065-9338-AB763CA33909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TAKEAWAYS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AA9447A-A6A8-8964-0C01-45B69BF49C9F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实验三分析：最大方差不等于最佳分类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D651C9A-B735-70CB-7C96-512A0B4AC168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3EAFBB4-BA39-ADFA-47DA-0D014168B1D9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B69B519-1217-4707-8333-E2FA7F58C4E3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14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5E0F682-905A-5621-01CA-3E81D3DFCBE5}"/>
              </a:ext>
            </a:extLst>
          </p:cNvPr>
          <p:cNvSpPr/>
          <p:nvPr/>
        </p:nvSpPr>
        <p:spPr>
          <a:xfrm>
            <a:off x="889000" y="1524000"/>
            <a:ext cx="3111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CCB7B15-BB0B-5D85-A623-BE27E2F61D94}"/>
              </a:ext>
            </a:extLst>
          </p:cNvPr>
          <p:cNvSpPr/>
          <p:nvPr/>
        </p:nvSpPr>
        <p:spPr>
          <a:xfrm>
            <a:off x="889000" y="15240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CC4719-52C0-6121-1D3C-5A1E5AF24AA9}"/>
              </a:ext>
            </a:extLst>
          </p:cNvPr>
          <p:cNvSpPr txBox="1"/>
          <p:nvPr/>
        </p:nvSpPr>
        <p:spPr>
          <a:xfrm>
            <a:off x="1079500" y="1651000"/>
            <a:ext cx="280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为什么 </a:t>
            </a:r>
            <a:r>
              <a:rPr lang="en-US" altLang="zh-CN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有效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03311E-E516-4E46-6642-53EAA2A3870B}"/>
              </a:ext>
            </a:extLst>
          </p:cNvPr>
          <p:cNvSpPr txBox="1"/>
          <p:nvPr/>
        </p:nvSpPr>
        <p:spPr>
          <a:xfrm>
            <a:off x="1079500" y="1968500"/>
            <a:ext cx="2806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本数据中身高和体重的主要变化方向与性别差异方向接近。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F442DA1-DF20-5090-931F-1BDBA07EFB78}"/>
              </a:ext>
            </a:extLst>
          </p:cNvPr>
          <p:cNvSpPr/>
          <p:nvPr/>
        </p:nvSpPr>
        <p:spPr>
          <a:xfrm>
            <a:off x="4572000" y="1524000"/>
            <a:ext cx="3111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B985A61-328E-18A1-C46E-236BE3640FCA}"/>
              </a:ext>
            </a:extLst>
          </p:cNvPr>
          <p:cNvSpPr/>
          <p:nvPr/>
        </p:nvSpPr>
        <p:spPr>
          <a:xfrm>
            <a:off x="4572000" y="15240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481BAF-052F-574C-F17A-2588354EA268}"/>
              </a:ext>
            </a:extLst>
          </p:cNvPr>
          <p:cNvSpPr txBox="1"/>
          <p:nvPr/>
        </p:nvSpPr>
        <p:spPr>
          <a:xfrm>
            <a:off x="4762500" y="1651000"/>
            <a:ext cx="280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为什么 </a:t>
            </a:r>
            <a:r>
              <a:rPr lang="en-US" altLang="zh-CN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略优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5889586-5E80-8F1F-B959-E7142C6051EF}"/>
              </a:ext>
            </a:extLst>
          </p:cNvPr>
          <p:cNvSpPr txBox="1"/>
          <p:nvPr/>
        </p:nvSpPr>
        <p:spPr>
          <a:xfrm>
            <a:off x="4762500" y="1968500"/>
            <a:ext cx="2806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直接利用类别标签，目标就是提高类别分离度。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8AC9993-FF01-8A6E-1F5D-3D1CCB74A3AA}"/>
              </a:ext>
            </a:extLst>
          </p:cNvPr>
          <p:cNvSpPr/>
          <p:nvPr/>
        </p:nvSpPr>
        <p:spPr>
          <a:xfrm>
            <a:off x="8255000" y="1524000"/>
            <a:ext cx="2857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921B91D-AC93-40F1-EEB7-45595900EF31}"/>
              </a:ext>
            </a:extLst>
          </p:cNvPr>
          <p:cNvSpPr/>
          <p:nvPr/>
        </p:nvSpPr>
        <p:spPr>
          <a:xfrm>
            <a:off x="8255000" y="1524000"/>
            <a:ext cx="76200" cy="1143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EC50B0B-B4F6-FFBE-1006-9E9BEC29100A}"/>
              </a:ext>
            </a:extLst>
          </p:cNvPr>
          <p:cNvSpPr txBox="1"/>
          <p:nvPr/>
        </p:nvSpPr>
        <p:spPr>
          <a:xfrm>
            <a:off x="8445500" y="1651000"/>
            <a:ext cx="2552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一般规律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48FC311-51AB-055F-64E7-5DBB6DB2D603}"/>
              </a:ext>
            </a:extLst>
          </p:cNvPr>
          <p:cNvSpPr txBox="1"/>
          <p:nvPr/>
        </p:nvSpPr>
        <p:spPr>
          <a:xfrm>
            <a:off x="8445500" y="1968500"/>
            <a:ext cx="2552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无监督降维需要和监督分类器共同评价。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7475129-0F5A-2080-20FD-07FDC7ADDCA6}"/>
              </a:ext>
            </a:extLst>
          </p:cNvPr>
          <p:cNvSpPr/>
          <p:nvPr/>
        </p:nvSpPr>
        <p:spPr>
          <a:xfrm>
            <a:off x="2032000" y="3429000"/>
            <a:ext cx="8128000" cy="228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A5A8DB3A-162A-686C-6ED3-FF838B25C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979" y="3886445"/>
            <a:ext cx="2522041" cy="137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732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89FB23B-CC36-21DD-A962-AA6005D935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F0C7A243-1FE8-8315-4DF3-3188691DF07A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6AB46877-F9D6-C968-A390-56259E39C6C2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20F0C1-11CC-E732-AABA-AF4434D5CD7C}"/>
              </a:ext>
            </a:extLst>
          </p:cNvPr>
          <p:cNvSpPr txBox="1"/>
          <p:nvPr/>
        </p:nvSpPr>
        <p:spPr>
          <a:xfrm>
            <a:off x="889000" y="1168400"/>
            <a:ext cx="165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D4A84B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2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895C0B-BDEB-371E-7095-1C5041FC6E23}"/>
              </a:ext>
            </a:extLst>
          </p:cNvPr>
          <p:cNvSpPr txBox="1"/>
          <p:nvPr/>
        </p:nvSpPr>
        <p:spPr>
          <a:xfrm>
            <a:off x="889000" y="2006600"/>
            <a:ext cx="9652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实验四：</a:t>
            </a:r>
            <a:r>
              <a:rPr lang="en-US" altLang="zh-CN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变换的图像识别应用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EBA7E71-16AC-21A8-4843-DCDF975B71B1}"/>
              </a:ext>
            </a:extLst>
          </p:cNvPr>
          <p:cNvSpPr txBox="1"/>
          <p:nvPr/>
        </p:nvSpPr>
        <p:spPr>
          <a:xfrm>
            <a:off x="939800" y="29464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D9ECFF"/>
                </a:solidFill>
                <a:latin typeface="Microsoft YaHei" panose="020B0503020204020204" pitchFamily="34" charset="-122"/>
              </a:rPr>
              <a:t>把 </a:t>
            </a:r>
            <a:r>
              <a:rPr lang="en-US" altLang="zh-CN" sz="1400">
                <a:solidFill>
                  <a:srgbClr val="D9ECFF"/>
                </a:solidFill>
                <a:latin typeface="Microsoft YaHei" panose="020B0503020204020204" pitchFamily="34" charset="-122"/>
              </a:rPr>
              <a:t>K-L/PCA </a:t>
            </a:r>
            <a:r>
              <a:rPr lang="zh-CN" altLang="en-US" sz="1400">
                <a:solidFill>
                  <a:srgbClr val="D9ECFF"/>
                </a:solidFill>
                <a:latin typeface="Microsoft YaHei" panose="020B0503020204020204" pitchFamily="34" charset="-122"/>
              </a:rPr>
              <a:t>从二维样本扩展到高维飞机图像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443412B-71AB-BB87-F107-84C7F67F9004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376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9815D4D-1A6E-A9ED-BA86-C9F4E3B70C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559033-ADA2-B184-1804-CEACA945DE06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6BD7CD2A-A46F-CDF2-AC59-CD1293701EE0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5B26F34B-1C00-7E86-F4DB-8F1079E444C2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C2CE75-46C0-8316-B9FB-3CCFEAC7DFFE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IMAGE RECOGNITION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53BFBA-6261-ACA0-E2F3-364358377B84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实验四理论：高维图像的低维表示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089C10B-7A6A-120B-A591-AFD33B70F7F5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7FFF27B-E70B-4E75-BA85-6B7393D1C76B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0856FAC-4172-CE80-34BA-B118A5457959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15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D4C7442-1D5B-C82D-2AD1-C50F072914B9}"/>
              </a:ext>
            </a:extLst>
          </p:cNvPr>
          <p:cNvSpPr/>
          <p:nvPr/>
        </p:nvSpPr>
        <p:spPr>
          <a:xfrm>
            <a:off x="1016000" y="15240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0D28A97-8AF8-797E-343D-E56C1378F7B8}"/>
              </a:ext>
            </a:extLst>
          </p:cNvPr>
          <p:cNvSpPr txBox="1"/>
          <p:nvPr/>
        </p:nvSpPr>
        <p:spPr>
          <a:xfrm>
            <a:off x="1028700" y="1612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B639A7-0745-08BF-45BC-CE0419B3B843}"/>
              </a:ext>
            </a:extLst>
          </p:cNvPr>
          <p:cNvSpPr txBox="1"/>
          <p:nvPr/>
        </p:nvSpPr>
        <p:spPr>
          <a:xfrm>
            <a:off x="1549400" y="15113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图像预处理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21BEB6E-B36C-C9DD-85D0-4C0643A5DFEE}"/>
              </a:ext>
            </a:extLst>
          </p:cNvPr>
          <p:cNvSpPr txBox="1"/>
          <p:nvPr/>
        </p:nvSpPr>
        <p:spPr>
          <a:xfrm>
            <a:off x="1549400" y="17780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灰度化、缩放到 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32×32</a:t>
            </a:r>
            <a:endParaRPr lang="zh-CN" altLang="en-US" sz="8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110F519-72FE-4E5B-2EB0-B5C6250036D5}"/>
              </a:ext>
            </a:extLst>
          </p:cNvPr>
          <p:cNvSpPr/>
          <p:nvPr/>
        </p:nvSpPr>
        <p:spPr>
          <a:xfrm>
            <a:off x="1016000" y="25400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F7CB9A2-CEAD-1FF1-5517-EB965D7A5AA4}"/>
              </a:ext>
            </a:extLst>
          </p:cNvPr>
          <p:cNvSpPr txBox="1"/>
          <p:nvPr/>
        </p:nvSpPr>
        <p:spPr>
          <a:xfrm>
            <a:off x="1028700" y="2628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CCEE15E-EE83-AE66-FAB3-1851F26BD39F}"/>
              </a:ext>
            </a:extLst>
          </p:cNvPr>
          <p:cNvSpPr txBox="1"/>
          <p:nvPr/>
        </p:nvSpPr>
        <p:spPr>
          <a:xfrm>
            <a:off x="1549400" y="25273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向量化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93A8C23-9C44-DC52-0F4E-9704C3E65AA4}"/>
              </a:ext>
            </a:extLst>
          </p:cNvPr>
          <p:cNvSpPr txBox="1"/>
          <p:nvPr/>
        </p:nvSpPr>
        <p:spPr>
          <a:xfrm>
            <a:off x="1549400" y="27940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每张图像展开为 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维向量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3FA88F49-F769-C1F7-7CDF-13C7B0FF8324}"/>
              </a:ext>
            </a:extLst>
          </p:cNvPr>
          <p:cNvSpPr/>
          <p:nvPr/>
        </p:nvSpPr>
        <p:spPr>
          <a:xfrm>
            <a:off x="1016000" y="35560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63E51C6-BCDB-F8D9-1D18-32C5B24DEE71}"/>
              </a:ext>
            </a:extLst>
          </p:cNvPr>
          <p:cNvSpPr txBox="1"/>
          <p:nvPr/>
        </p:nvSpPr>
        <p:spPr>
          <a:xfrm>
            <a:off x="1028700" y="3644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9BB259D-3DC9-9C70-FC7C-D5BF93F90A7A}"/>
              </a:ext>
            </a:extLst>
          </p:cNvPr>
          <p:cNvSpPr txBox="1"/>
          <p:nvPr/>
        </p:nvSpPr>
        <p:spPr>
          <a:xfrm>
            <a:off x="1549400" y="35433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降维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5093D06-F7C3-B709-E13D-0D6D06B3729B}"/>
              </a:ext>
            </a:extLst>
          </p:cNvPr>
          <p:cNvSpPr txBox="1"/>
          <p:nvPr/>
        </p:nvSpPr>
        <p:spPr>
          <a:xfrm>
            <a:off x="1549400" y="38100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提取前 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k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个主成分作为图像特征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5C5F4B3-B64C-F1B5-2F19-ED10C335E23F}"/>
              </a:ext>
            </a:extLst>
          </p:cNvPr>
          <p:cNvSpPr/>
          <p:nvPr/>
        </p:nvSpPr>
        <p:spPr>
          <a:xfrm>
            <a:off x="1016000" y="45720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24104A2-ECDE-4CD1-E45D-75A40C755BC1}"/>
              </a:ext>
            </a:extLst>
          </p:cNvPr>
          <p:cNvSpPr txBox="1"/>
          <p:nvPr/>
        </p:nvSpPr>
        <p:spPr>
          <a:xfrm>
            <a:off x="1028700" y="4660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4235728-B545-8AB1-903F-D2558524CA85}"/>
              </a:ext>
            </a:extLst>
          </p:cNvPr>
          <p:cNvSpPr txBox="1"/>
          <p:nvPr/>
        </p:nvSpPr>
        <p:spPr>
          <a:xfrm>
            <a:off x="1549400" y="45593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低维分类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AAE3F45-0A2A-7BD1-9399-5E30B320DC36}"/>
              </a:ext>
            </a:extLst>
          </p:cNvPr>
          <p:cNvSpPr txBox="1"/>
          <p:nvPr/>
        </p:nvSpPr>
        <p:spPr>
          <a:xfrm>
            <a:off x="1549400" y="48260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NearestCentroid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1NN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对比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5953447-5A0B-4C93-C3DF-6D5D3BBE9628}"/>
              </a:ext>
            </a:extLst>
          </p:cNvPr>
          <p:cNvSpPr/>
          <p:nvPr/>
        </p:nvSpPr>
        <p:spPr>
          <a:xfrm>
            <a:off x="6540500" y="1625600"/>
            <a:ext cx="4000500" cy="8636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5ABE5FE-1394-8286-617A-73D87670F911}"/>
              </a:ext>
            </a:extLst>
          </p:cNvPr>
          <p:cNvSpPr txBox="1"/>
          <p:nvPr/>
        </p:nvSpPr>
        <p:spPr>
          <a:xfrm>
            <a:off x="6858000" y="1905000"/>
            <a:ext cx="33655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0A7FCC"/>
                </a:solidFill>
                <a:latin typeface="Microsoft YaHei" panose="020B0503020204020204" pitchFamily="34" charset="-122"/>
              </a:rPr>
              <a:t>z = U_kᵀ(x-</a:t>
            </a:r>
            <a:r>
              <a:rPr lang="el-GR" altLang="zh-CN" b="1">
                <a:solidFill>
                  <a:srgbClr val="0A7FCC"/>
                </a:solidFill>
                <a:latin typeface="Microsoft YaHei" panose="020B0503020204020204" pitchFamily="34" charset="-122"/>
              </a:rPr>
              <a:t>μ)</a:t>
            </a:r>
            <a:endParaRPr lang="zh-CN" altLang="en-US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846C360B-88E5-8671-60CA-A8546EFE3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959021"/>
              </p:ext>
            </p:extLst>
          </p:nvPr>
        </p:nvGraphicFramePr>
        <p:xfrm>
          <a:off x="6540500" y="3048000"/>
          <a:ext cx="40005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319073998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195952681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项目</a:t>
                      </a:r>
                    </a:p>
                  </a:txBody>
                  <a:tcPr marL="38100" marR="38100" marT="25400" marB="25400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</a:t>
                      </a:r>
                    </a:p>
                  </a:txBody>
                  <a:tcPr marL="38100" marR="38100" marT="25400" marB="25400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9275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类别数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16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80929424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2530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张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56780822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636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张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67637380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主成分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 / 16 / 32 / 64 / 128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4244268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820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1F658F7-8756-205D-9876-CA49804B52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3A1DE1-31D5-C607-69F2-44A6DB391055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1AA4517-A9C9-A9B5-53F5-533E21D46F4E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D489D07A-7CB3-0698-E169-97ED678910DE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342F95-A53A-ED64-AC20-F2FEBEBB440B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VISUAL 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2B5554-66FD-07B8-ABA0-34CBFFFE0284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实验四结果：样本图像与 </a:t>
            </a:r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主成分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3A16087-7EA3-AC50-57F1-5E898A6A2C4F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FC5E971-D009-2073-32F3-79ED9A384350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1E94A53-4673-E1C6-8FE6-2DA26EEEC720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3096812-3BA6-358B-1D0B-0DB4D9ED48EB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2CBFC67-A373-E470-D42B-BC76DDC6C6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683" y="2454590"/>
            <a:ext cx="3562835" cy="1694821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1F8D2CD-BF6F-2A35-5F6E-055251AC7A1A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8A344F3-FAF2-4CAD-D8F2-BD41CFD19E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482" y="2500362"/>
            <a:ext cx="3562836" cy="1603276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9CC7C1D-B4F9-0D14-0B13-7A360F216055}"/>
              </a:ext>
            </a:extLst>
          </p:cNvPr>
          <p:cNvSpPr/>
          <p:nvPr/>
        </p:nvSpPr>
        <p:spPr>
          <a:xfrm>
            <a:off x="1016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1451B48-0A04-61F5-C558-817CC2E023AA}"/>
              </a:ext>
            </a:extLst>
          </p:cNvPr>
          <p:cNvSpPr txBox="1"/>
          <p:nvPr/>
        </p:nvSpPr>
        <p:spPr>
          <a:xfrm>
            <a:off x="1168400" y="55626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A7FCC"/>
                </a:solidFill>
                <a:latin typeface="Microsoft YaHei" panose="020B0503020204020204" pitchFamily="34" charset="-122"/>
              </a:rPr>
              <a:t>1024→64</a:t>
            </a:r>
            <a:endParaRPr lang="zh-CN" altLang="en-US" sz="20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B25160D-4001-5A51-D30D-B40DF6D34E87}"/>
              </a:ext>
            </a:extLst>
          </p:cNvPr>
          <p:cNvSpPr txBox="1"/>
          <p:nvPr/>
        </p:nvSpPr>
        <p:spPr>
          <a:xfrm>
            <a:off x="1168400" y="60071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维度压缩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963E607-1ED8-D881-FCC7-40E2EF49ED2D}"/>
              </a:ext>
            </a:extLst>
          </p:cNvPr>
          <p:cNvSpPr/>
          <p:nvPr/>
        </p:nvSpPr>
        <p:spPr>
          <a:xfrm>
            <a:off x="3302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F903C3A-CBC3-E1AA-C1E6-511999CD84FA}"/>
              </a:ext>
            </a:extLst>
          </p:cNvPr>
          <p:cNvSpPr txBox="1"/>
          <p:nvPr/>
        </p:nvSpPr>
        <p:spPr>
          <a:xfrm>
            <a:off x="3454400" y="55626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06BB7"/>
                </a:solidFill>
                <a:latin typeface="Microsoft YaHei" panose="020B0503020204020204" pitchFamily="34" charset="-122"/>
              </a:rPr>
              <a:t>89.88%</a:t>
            </a:r>
            <a:endParaRPr lang="zh-CN" altLang="en-US" sz="20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22D0089-0D26-D60D-ED9C-0EBD8AB39B31}"/>
              </a:ext>
            </a:extLst>
          </p:cNvPr>
          <p:cNvSpPr txBox="1"/>
          <p:nvPr/>
        </p:nvSpPr>
        <p:spPr>
          <a:xfrm>
            <a:off x="3454400" y="60071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6B7F90"/>
                </a:solidFill>
                <a:latin typeface="Microsoft YaHei" panose="020B0503020204020204" pitchFamily="34" charset="-122"/>
              </a:rPr>
              <a:t>64 </a:t>
            </a:r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维解释方差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5BD8FE4-BBBC-D3BA-A9E7-FC5AD71EBDB6}"/>
              </a:ext>
            </a:extLst>
          </p:cNvPr>
          <p:cNvSpPr/>
          <p:nvPr/>
        </p:nvSpPr>
        <p:spPr>
          <a:xfrm>
            <a:off x="5588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B8BD0F7-61DA-A46C-40CD-53E3F916684D}"/>
              </a:ext>
            </a:extLst>
          </p:cNvPr>
          <p:cNvSpPr txBox="1"/>
          <p:nvPr/>
        </p:nvSpPr>
        <p:spPr>
          <a:xfrm>
            <a:off x="5740400" y="55626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D4A84B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20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104834B-2168-36A0-7267-B81B05AA6177}"/>
              </a:ext>
            </a:extLst>
          </p:cNvPr>
          <p:cNvSpPr txBox="1"/>
          <p:nvPr/>
        </p:nvSpPr>
        <p:spPr>
          <a:xfrm>
            <a:off x="5740400" y="60071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飞机类别数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1F49806-25A9-EE0D-DA48-63A3764B2917}"/>
              </a:ext>
            </a:extLst>
          </p:cNvPr>
          <p:cNvSpPr/>
          <p:nvPr/>
        </p:nvSpPr>
        <p:spPr>
          <a:xfrm>
            <a:off x="7874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60EC6EB-3500-1E2F-86F2-5BABEAC1D923}"/>
              </a:ext>
            </a:extLst>
          </p:cNvPr>
          <p:cNvSpPr txBox="1"/>
          <p:nvPr/>
        </p:nvSpPr>
        <p:spPr>
          <a:xfrm>
            <a:off x="8026400" y="55626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2F80C9"/>
                </a:solidFill>
                <a:latin typeface="Microsoft YaHei" panose="020B0503020204020204" pitchFamily="34" charset="-122"/>
              </a:rPr>
              <a:t>636</a:t>
            </a:r>
            <a:endParaRPr lang="zh-CN" altLang="en-US" sz="20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8D28BA7-6A18-6A56-3D39-AE175BC0DEE7}"/>
              </a:ext>
            </a:extLst>
          </p:cNvPr>
          <p:cNvSpPr txBox="1"/>
          <p:nvPr/>
        </p:nvSpPr>
        <p:spPr>
          <a:xfrm>
            <a:off x="8026400" y="60071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测试图像数</a:t>
            </a:r>
          </a:p>
        </p:txBody>
      </p:sp>
    </p:spTree>
    <p:extLst>
      <p:ext uri="{BB962C8B-B14F-4D97-AF65-F5344CB8AC3E}">
        <p14:creationId xmlns:p14="http://schemas.microsoft.com/office/powerpoint/2010/main" val="634495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B8ED7A5-0932-7E46-324F-DFB3334E14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3334B5-3A2F-DCD2-27D3-0AD47EB3E25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7BBC6AB7-79DF-F6C6-F77E-65E1E97A02D0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1E8BEAF9-5466-CEAF-F300-89E1B8E1C6A9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FC3B958-6B44-2548-0A29-6C1E0C6806CC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METRICS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67E02A-51B6-0845-57D5-C83FDD48BE86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实验四结果：主成分数与识别准确率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032BF38-7B2A-D0C5-A287-BEAB8A2BC08D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FEB60D2-33D1-DA4D-2067-760F1608BCFB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799B2F-F361-4108-A3BD-DF54D8E60813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60FCE68-F900-125A-7E89-096A290D0922}"/>
              </a:ext>
            </a:extLst>
          </p:cNvPr>
          <p:cNvSpPr/>
          <p:nvPr/>
        </p:nvSpPr>
        <p:spPr>
          <a:xfrm>
            <a:off x="825500" y="1397000"/>
            <a:ext cx="5334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4C25844-E986-7607-3F35-E32499C1D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046" y="1927279"/>
            <a:ext cx="4276908" cy="2749441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300FD57D-86C0-FBC6-DFCA-F7CBD3A7D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338673"/>
              </p:ext>
            </p:extLst>
          </p:nvPr>
        </p:nvGraphicFramePr>
        <p:xfrm>
          <a:off x="6667500" y="1587500"/>
          <a:ext cx="44450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250">
                  <a:extLst>
                    <a:ext uri="{9D8B030D-6E8A-4147-A177-3AD203B41FA5}">
                      <a16:colId xmlns:a16="http://schemas.microsoft.com/office/drawing/2014/main" val="2011459856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1123077615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1284930232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2406657666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主成分数</a:t>
                      </a:r>
                    </a:p>
                  </a:txBody>
                  <a:tcPr marL="38100" marR="38100" marT="25400" marB="25400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测试集</a:t>
                      </a:r>
                    </a:p>
                  </a:txBody>
                  <a:tcPr marL="38100" marR="38100" marT="25400" marB="25400">
                    <a:solidFill>
                      <a:srgbClr val="2F80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0726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PCA+NearestCentroid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64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20.47%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19.97%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2738724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32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54.09%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41543817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64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53.93%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06919667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128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52.99%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4163641991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F6CAC71D-6775-0D5C-4DC0-F72731935AC1}"/>
              </a:ext>
            </a:extLst>
          </p:cNvPr>
          <p:cNvSpPr txBox="1"/>
          <p:nvPr/>
        </p:nvSpPr>
        <p:spPr>
          <a:xfrm>
            <a:off x="6794500" y="4318000"/>
            <a:ext cx="4318000" cy="39241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900">
                <a:solidFill>
                  <a:srgbClr val="38566F"/>
                </a:solidFill>
                <a:latin typeface="Microsoft YaHei" panose="020B0503020204020204" pitchFamily="34" charset="-122"/>
              </a:rPr>
              <a:t>1NN </a:t>
            </a: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明显优于最近质心，说明飞机类别内部变化复杂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主成分数增加到 </a:t>
            </a:r>
            <a:r>
              <a:rPr lang="en-US" altLang="zh-CN" sz="900">
                <a:solidFill>
                  <a:srgbClr val="38566F"/>
                </a:solidFill>
                <a:latin typeface="Microsoft YaHei" panose="020B0503020204020204" pitchFamily="34" charset="-122"/>
              </a:rPr>
              <a:t>32 </a:t>
            </a: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后收益变小，后续成分可能包含背景和噪声</a:t>
            </a:r>
          </a:p>
        </p:txBody>
      </p:sp>
    </p:spTree>
    <p:extLst>
      <p:ext uri="{BB962C8B-B14F-4D97-AF65-F5344CB8AC3E}">
        <p14:creationId xmlns:p14="http://schemas.microsoft.com/office/powerpoint/2010/main" val="15626703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B148B9B-6409-851F-22DE-2DD8779330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6D71484-8149-1B62-3D67-476C125C1A6B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3AB5FA9-6607-EDF8-D4F4-466537F64BB9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EA5D2025-42D9-240A-18A2-687957068701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10D2E5-A542-26F5-87E3-15A54F744EDF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ANALYSIS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B3DF80-8F07-7E32-98E4-608E393F6CE5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实验四分析：</a:t>
            </a:r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能压缩，但不是完整识别方案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F05B358-BFD9-0058-57B8-F305145A4B05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C0A9B8D-4A77-F8B0-4AEB-FDA91A88C68C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4F9A8BB-04C2-EF5E-C669-633E89F31AFB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B27184F-FEF8-1492-6859-81E6C88AC319}"/>
              </a:ext>
            </a:extLst>
          </p:cNvPr>
          <p:cNvSpPr/>
          <p:nvPr/>
        </p:nvSpPr>
        <p:spPr>
          <a:xfrm>
            <a:off x="952500" y="1397000"/>
            <a:ext cx="5334000" cy="3937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76BD4E6-9941-FB20-F72D-8141ABC69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722" y="2248418"/>
            <a:ext cx="2637555" cy="2234164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3880308-40F3-196C-7B7F-807038CE689C}"/>
              </a:ext>
            </a:extLst>
          </p:cNvPr>
          <p:cNvSpPr/>
          <p:nvPr/>
        </p:nvSpPr>
        <p:spPr>
          <a:xfrm>
            <a:off x="7048500" y="15240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BFA26E1-006D-5969-EA8B-25033614B327}"/>
              </a:ext>
            </a:extLst>
          </p:cNvPr>
          <p:cNvSpPr/>
          <p:nvPr/>
        </p:nvSpPr>
        <p:spPr>
          <a:xfrm>
            <a:off x="7048500" y="1524000"/>
            <a:ext cx="76200" cy="10160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10F5149-2CEC-489F-01C1-9A780EAE0C9B}"/>
              </a:ext>
            </a:extLst>
          </p:cNvPr>
          <p:cNvSpPr txBox="1"/>
          <p:nvPr/>
        </p:nvSpPr>
        <p:spPr>
          <a:xfrm>
            <a:off x="7239000" y="1651000"/>
            <a:ext cx="3505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混淆原因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8338361-8BB7-C0C2-875B-23691499447C}"/>
              </a:ext>
            </a:extLst>
          </p:cNvPr>
          <p:cNvSpPr txBox="1"/>
          <p:nvPr/>
        </p:nvSpPr>
        <p:spPr>
          <a:xfrm>
            <a:off x="7239000" y="1968500"/>
            <a:ext cx="3505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低分辨率灰度图中，部分飞机外形相近，姿态和背景也会干扰。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68435C7-AD53-809D-517F-7A4745E05D5C}"/>
              </a:ext>
            </a:extLst>
          </p:cNvPr>
          <p:cNvSpPr/>
          <p:nvPr/>
        </p:nvSpPr>
        <p:spPr>
          <a:xfrm>
            <a:off x="7048500" y="29845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20EEC55-5F57-8DC5-B561-9B29F2CDA029}"/>
              </a:ext>
            </a:extLst>
          </p:cNvPr>
          <p:cNvSpPr/>
          <p:nvPr/>
        </p:nvSpPr>
        <p:spPr>
          <a:xfrm>
            <a:off x="7048500" y="2984500"/>
            <a:ext cx="76200" cy="1016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AA7803A-D324-BA69-0930-E23ADAD929F2}"/>
              </a:ext>
            </a:extLst>
          </p:cNvPr>
          <p:cNvSpPr txBox="1"/>
          <p:nvPr/>
        </p:nvSpPr>
        <p:spPr>
          <a:xfrm>
            <a:off x="7239000" y="3111500"/>
            <a:ext cx="3505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方法局限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51C9657-7885-BFC3-A0AA-38A9E8614ACA}"/>
              </a:ext>
            </a:extLst>
          </p:cNvPr>
          <p:cNvSpPr txBox="1"/>
          <p:nvPr/>
        </p:nvSpPr>
        <p:spPr>
          <a:xfrm>
            <a:off x="7239000" y="3429000"/>
            <a:ext cx="3505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是无监督降维，优先保留总体方差，不保证保留最强判别信息。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D41C41D-8D61-7D15-C662-782D3CFA11CA}"/>
              </a:ext>
            </a:extLst>
          </p:cNvPr>
          <p:cNvSpPr/>
          <p:nvPr/>
        </p:nvSpPr>
        <p:spPr>
          <a:xfrm>
            <a:off x="7048500" y="44450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8F7772E-A679-764F-AC0A-28F97C983C43}"/>
              </a:ext>
            </a:extLst>
          </p:cNvPr>
          <p:cNvSpPr/>
          <p:nvPr/>
        </p:nvSpPr>
        <p:spPr>
          <a:xfrm>
            <a:off x="7048500" y="4445000"/>
            <a:ext cx="762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1DB4EB4-CBC9-E8DC-8649-5479680B99A7}"/>
              </a:ext>
            </a:extLst>
          </p:cNvPr>
          <p:cNvSpPr txBox="1"/>
          <p:nvPr/>
        </p:nvSpPr>
        <p:spPr>
          <a:xfrm>
            <a:off x="7239000" y="4572000"/>
            <a:ext cx="3505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改进方向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B930DBA-BA9F-EAB9-4548-69B3918F13B1}"/>
              </a:ext>
            </a:extLst>
          </p:cNvPr>
          <p:cNvSpPr txBox="1"/>
          <p:nvPr/>
        </p:nvSpPr>
        <p:spPr>
          <a:xfrm>
            <a:off x="7239000" y="4889500"/>
            <a:ext cx="3505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可结合 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HOG/SIFT/ORB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、数据增强或 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CNN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提升识别性能。</a:t>
            </a:r>
          </a:p>
        </p:txBody>
      </p:sp>
    </p:spTree>
    <p:extLst>
      <p:ext uri="{BB962C8B-B14F-4D97-AF65-F5344CB8AC3E}">
        <p14:creationId xmlns:p14="http://schemas.microsoft.com/office/powerpoint/2010/main" val="11214041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5CC1529-9B65-E704-620A-F0D1F714F5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A7BEAB22-ED74-EE6F-D13D-7BE60F21AD89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F545E1C1-EF66-951A-F8AD-9410F79923D0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2B2EE1-A635-9FEA-9A0F-6D5D893F00D6}"/>
              </a:ext>
            </a:extLst>
          </p:cNvPr>
          <p:cNvSpPr txBox="1"/>
          <p:nvPr/>
        </p:nvSpPr>
        <p:spPr>
          <a:xfrm>
            <a:off x="889000" y="1168400"/>
            <a:ext cx="165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D4A84B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2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D9AB88-D2F6-5A6C-DC47-DB6A417A6386}"/>
              </a:ext>
            </a:extLst>
          </p:cNvPr>
          <p:cNvSpPr txBox="1"/>
          <p:nvPr/>
        </p:nvSpPr>
        <p:spPr>
          <a:xfrm>
            <a:off x="889000" y="2006600"/>
            <a:ext cx="9652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实验五：</a:t>
            </a:r>
            <a:r>
              <a:rPr lang="en-US" altLang="zh-CN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均值与分级聚类分析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1F5FBC-6DD9-1773-17B3-D89EDC4D2BC1}"/>
              </a:ext>
            </a:extLst>
          </p:cNvPr>
          <p:cNvSpPr txBox="1"/>
          <p:nvPr/>
        </p:nvSpPr>
        <p:spPr>
          <a:xfrm>
            <a:off x="939800" y="29464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D9ECFF"/>
                </a:solidFill>
                <a:latin typeface="Microsoft YaHei" panose="020B0503020204020204" pitchFamily="34" charset="-122"/>
              </a:rPr>
              <a:t>不使用类别标签，观察身高体重样本的自然结构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434FC78-1E48-2E02-853C-72ED4CCD54E8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4524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8BFFC8E-389B-86EA-C3D5-32B08B6B19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C679F1-6B3E-2F8C-49D4-E62FDBF96400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7666C998-DB16-7CC8-3D42-EF0B67F1BCFB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B4A1F788-47C1-EF4A-650B-D231A435C4D8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110FB0-8E83-CAC9-99C5-22FF4B1935E5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CLUSTERING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A286F3-F5B6-C44A-5830-715BD29366AB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实验五理论：从监督分类到无监督聚类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2518993-587F-1B7F-AC98-E8CFD12F2846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94D169F-C808-E3F6-AF39-B9F6AEDFD3ED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C582563-EBBA-31DB-78FF-A6E3EE0BC1D9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19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4666BB5-2009-20B5-32D7-FA5312A10C37}"/>
              </a:ext>
            </a:extLst>
          </p:cNvPr>
          <p:cNvSpPr/>
          <p:nvPr/>
        </p:nvSpPr>
        <p:spPr>
          <a:xfrm>
            <a:off x="8890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AE29C73-6AE6-5E34-86D6-CCE5EC066C3D}"/>
              </a:ext>
            </a:extLst>
          </p:cNvPr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DCBAA34-089C-A295-CA66-66C39622D311}"/>
              </a:ext>
            </a:extLst>
          </p:cNvPr>
          <p:cNvSpPr txBox="1"/>
          <p:nvPr/>
        </p:nvSpPr>
        <p:spPr>
          <a:xfrm>
            <a:off x="1079500" y="1587500"/>
            <a:ext cx="414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均值聚类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5818EA4-5A5C-5B72-A0AF-58F4FE1E88A8}"/>
              </a:ext>
            </a:extLst>
          </p:cNvPr>
          <p:cNvSpPr txBox="1"/>
          <p:nvPr/>
        </p:nvSpPr>
        <p:spPr>
          <a:xfrm>
            <a:off x="1079500" y="1905000"/>
            <a:ext cx="4140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独立编程实现，通过样本分配和中心更新最小化类内平方误差。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17E98DD-2155-9B46-C014-A41DD20D84DA}"/>
              </a:ext>
            </a:extLst>
          </p:cNvPr>
          <p:cNvSpPr/>
          <p:nvPr/>
        </p:nvSpPr>
        <p:spPr>
          <a:xfrm>
            <a:off x="62865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C68F72B-4960-C2A8-18A9-40BD8CBE2AE5}"/>
              </a:ext>
            </a:extLst>
          </p:cNvPr>
          <p:cNvSpPr/>
          <p:nvPr/>
        </p:nvSpPr>
        <p:spPr>
          <a:xfrm>
            <a:off x="6286500" y="14605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6B46022-EA85-28FB-13B4-01DF9294FB7C}"/>
              </a:ext>
            </a:extLst>
          </p:cNvPr>
          <p:cNvSpPr txBox="1"/>
          <p:nvPr/>
        </p:nvSpPr>
        <p:spPr>
          <a:xfrm>
            <a:off x="6477000" y="1587500"/>
            <a:ext cx="414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分级聚类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9D3389E-A00E-D782-90B4-403E8A6E3F57}"/>
              </a:ext>
            </a:extLst>
          </p:cNvPr>
          <p:cNvSpPr txBox="1"/>
          <p:nvPr/>
        </p:nvSpPr>
        <p:spPr>
          <a:xfrm>
            <a:off x="6477000" y="1905000"/>
            <a:ext cx="4140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Ward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方法形成层次结构，用树状图观察样本合并过程。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8B3461B-E6C9-A1F9-5B5A-4467D9789207}"/>
              </a:ext>
            </a:extLst>
          </p:cNvPr>
          <p:cNvSpPr/>
          <p:nvPr/>
        </p:nvSpPr>
        <p:spPr>
          <a:xfrm>
            <a:off x="1270000" y="3365500"/>
            <a:ext cx="9652000" cy="787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FB06E5-156B-8A4C-3627-EDDF56C7D6E1}"/>
              </a:ext>
            </a:extLst>
          </p:cNvPr>
          <p:cNvSpPr txBox="1"/>
          <p:nvPr/>
        </p:nvSpPr>
        <p:spPr>
          <a:xfrm>
            <a:off x="1524000" y="3632200"/>
            <a:ext cx="914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006BB7"/>
                </a:solidFill>
                <a:latin typeface="Microsoft YaHei" panose="020B0503020204020204" pitchFamily="34" charset="-122"/>
              </a:rPr>
              <a:t>J = </a:t>
            </a:r>
            <a:r>
              <a:rPr lang="el-GR" altLang="zh-CN" b="1">
                <a:solidFill>
                  <a:srgbClr val="006BB7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b="1">
                <a:solidFill>
                  <a:srgbClr val="006BB7"/>
                </a:solidFill>
                <a:latin typeface="Microsoft YaHei" panose="020B0503020204020204" pitchFamily="34" charset="-122"/>
              </a:rPr>
              <a:t>ⱼ </a:t>
            </a:r>
            <a:r>
              <a:rPr lang="el-GR" altLang="zh-CN" b="1">
                <a:solidFill>
                  <a:srgbClr val="006BB7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b="1">
                <a:solidFill>
                  <a:srgbClr val="006BB7"/>
                </a:solidFill>
                <a:latin typeface="Microsoft YaHei" panose="020B0503020204020204" pitchFamily="34" charset="-122"/>
              </a:rPr>
              <a:t>ₓ∈</a:t>
            </a:r>
            <a:r>
              <a:rPr lang="el-GR" altLang="zh-CN" b="1">
                <a:solidFill>
                  <a:srgbClr val="006BB7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b="1">
                <a:solidFill>
                  <a:srgbClr val="006BB7"/>
                </a:solidFill>
                <a:latin typeface="Microsoft YaHei" panose="020B0503020204020204" pitchFamily="34" charset="-122"/>
              </a:rPr>
              <a:t>ⱼ ||x - </a:t>
            </a:r>
            <a:r>
              <a:rPr lang="el-GR" altLang="zh-CN" b="1">
                <a:solidFill>
                  <a:srgbClr val="006BB7"/>
                </a:solidFill>
                <a:latin typeface="Microsoft YaHei" panose="020B0503020204020204" pitchFamily="34" charset="-122"/>
              </a:rPr>
              <a:t>μ</a:t>
            </a:r>
            <a:r>
              <a:rPr lang="en-US" altLang="zh-CN" b="1">
                <a:solidFill>
                  <a:srgbClr val="006BB7"/>
                </a:solidFill>
                <a:latin typeface="Microsoft YaHei" panose="020B0503020204020204" pitchFamily="34" charset="-122"/>
              </a:rPr>
              <a:t>ⱼ||²</a:t>
            </a:r>
            <a:endParaRPr lang="zh-CN" altLang="en-US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1AAF6D9-8375-8D2E-0BF6-65E3F479C6D7}"/>
              </a:ext>
            </a:extLst>
          </p:cNvPr>
          <p:cNvSpPr txBox="1"/>
          <p:nvPr/>
        </p:nvSpPr>
        <p:spPr>
          <a:xfrm>
            <a:off x="1016000" y="4826000"/>
            <a:ext cx="9652000" cy="39241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聚类不使用性别标签，评价时再与真实标签比较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特征标准化很重要，否则体重</a:t>
            </a:r>
            <a:r>
              <a:rPr lang="en-US" altLang="zh-CN" sz="900">
                <a:solidFill>
                  <a:srgbClr val="38566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身高尺度会影响距离计算</a:t>
            </a:r>
          </a:p>
        </p:txBody>
      </p:sp>
    </p:spTree>
    <p:extLst>
      <p:ext uri="{BB962C8B-B14F-4D97-AF65-F5344CB8AC3E}">
        <p14:creationId xmlns:p14="http://schemas.microsoft.com/office/powerpoint/2010/main" val="33859027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3DC9901-72C3-5F7E-2899-3BCF569040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8186C2-0902-94C1-125B-AEF3A3C3E024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3FBE94DD-175A-02AD-979E-C963FCC2716B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A2736F9-6B8A-9F57-7BF2-A2515967DCC4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B90F5E-3D52-532C-8FB4-421A9DCCE7B6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18D68A-2F16-EC4E-CE8F-F2DACC4C0F67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实验五设置：两组数据与多种聚类数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51F08F1-8E73-FFBF-101C-374DDABD9D6F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EA22894-DFEF-EFA9-1397-7342C8323492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697FB3-2EC8-17CD-238D-A936953DBAA4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20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31EA179C-6B32-72C6-3B85-69DF754723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711517"/>
              </p:ext>
            </p:extLst>
          </p:nvPr>
        </p:nvGraphicFramePr>
        <p:xfrm>
          <a:off x="889000" y="1397000"/>
          <a:ext cx="5080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367493789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29447744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设置项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818349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数据一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+ MALE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个训练样本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356060039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数据二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 test2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400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个样本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85870432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身高、体重，先标准化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2920957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均值类别数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498906399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初始值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多个随机种子比较稳定性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004608578"/>
                  </a:ext>
                </a:extLst>
              </a:tr>
            </a:tbl>
          </a:graphicData>
        </a:graphic>
      </p:graphicFrame>
      <p:sp>
        <p:nvSpPr>
          <p:cNvPr id="12" name="椭圆 11">
            <a:extLst>
              <a:ext uri="{FF2B5EF4-FFF2-40B4-BE49-F238E27FC236}">
                <a16:creationId xmlns:a16="http://schemas.microsoft.com/office/drawing/2014/main" id="{DED988BB-5D75-2493-FB01-4429F28C85FD}"/>
              </a:ext>
            </a:extLst>
          </p:cNvPr>
          <p:cNvSpPr/>
          <p:nvPr/>
        </p:nvSpPr>
        <p:spPr>
          <a:xfrm>
            <a:off x="6921500" y="15240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8F426F2-599E-6E34-1B4D-E67EB4EE5673}"/>
              </a:ext>
            </a:extLst>
          </p:cNvPr>
          <p:cNvSpPr txBox="1"/>
          <p:nvPr/>
        </p:nvSpPr>
        <p:spPr>
          <a:xfrm>
            <a:off x="6934200" y="1612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DE0BBE4-3FAD-8B24-4902-1367EB583196}"/>
              </a:ext>
            </a:extLst>
          </p:cNvPr>
          <p:cNvSpPr txBox="1"/>
          <p:nvPr/>
        </p:nvSpPr>
        <p:spPr>
          <a:xfrm>
            <a:off x="7454900" y="15113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初始化中心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859F285-C605-579D-107F-506573ACEEF3}"/>
              </a:ext>
            </a:extLst>
          </p:cNvPr>
          <p:cNvSpPr txBox="1"/>
          <p:nvPr/>
        </p:nvSpPr>
        <p:spPr>
          <a:xfrm>
            <a:off x="7454900" y="17780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随机选择 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个中心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4248FE7-C6FB-C090-A7F6-F6E71532EB11}"/>
              </a:ext>
            </a:extLst>
          </p:cNvPr>
          <p:cNvSpPr/>
          <p:nvPr/>
        </p:nvSpPr>
        <p:spPr>
          <a:xfrm>
            <a:off x="6921500" y="25400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59BA8CD-367F-C497-ED42-57FFA1E2C432}"/>
              </a:ext>
            </a:extLst>
          </p:cNvPr>
          <p:cNvSpPr txBox="1"/>
          <p:nvPr/>
        </p:nvSpPr>
        <p:spPr>
          <a:xfrm>
            <a:off x="6934200" y="2628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96D0F2-5527-0364-EA83-7100D3A68F9D}"/>
              </a:ext>
            </a:extLst>
          </p:cNvPr>
          <p:cNvSpPr txBox="1"/>
          <p:nvPr/>
        </p:nvSpPr>
        <p:spPr>
          <a:xfrm>
            <a:off x="7454900" y="25273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样本分配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D3A735E-6511-AE50-35E5-5B5E850FB884}"/>
              </a:ext>
            </a:extLst>
          </p:cNvPr>
          <p:cNvSpPr txBox="1"/>
          <p:nvPr/>
        </p:nvSpPr>
        <p:spPr>
          <a:xfrm>
            <a:off x="7454900" y="27940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分配到最近中心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43FCBDBB-9F61-6C1F-0F26-2CDA680BE5DC}"/>
              </a:ext>
            </a:extLst>
          </p:cNvPr>
          <p:cNvSpPr/>
          <p:nvPr/>
        </p:nvSpPr>
        <p:spPr>
          <a:xfrm>
            <a:off x="6921500" y="35560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FE296E3-E5FA-DAB7-C694-B30C1E1DEF57}"/>
              </a:ext>
            </a:extLst>
          </p:cNvPr>
          <p:cNvSpPr txBox="1"/>
          <p:nvPr/>
        </p:nvSpPr>
        <p:spPr>
          <a:xfrm>
            <a:off x="6934200" y="3644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8D4D4E4-8336-FCEF-03E9-F2067371DEE0}"/>
              </a:ext>
            </a:extLst>
          </p:cNvPr>
          <p:cNvSpPr txBox="1"/>
          <p:nvPr/>
        </p:nvSpPr>
        <p:spPr>
          <a:xfrm>
            <a:off x="7454900" y="35433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中心更新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6578FDF-4642-B0C5-E9E5-F14F8E600CE0}"/>
              </a:ext>
            </a:extLst>
          </p:cNvPr>
          <p:cNvSpPr txBox="1"/>
          <p:nvPr/>
        </p:nvSpPr>
        <p:spPr>
          <a:xfrm>
            <a:off x="7454900" y="38100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计算各簇均值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AB126D7-4271-5034-D34C-5273C2548A49}"/>
              </a:ext>
            </a:extLst>
          </p:cNvPr>
          <p:cNvSpPr/>
          <p:nvPr/>
        </p:nvSpPr>
        <p:spPr>
          <a:xfrm>
            <a:off x="6921500" y="45720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3BB3097-4E13-1356-5982-58803089CBBC}"/>
              </a:ext>
            </a:extLst>
          </p:cNvPr>
          <p:cNvSpPr txBox="1"/>
          <p:nvPr/>
        </p:nvSpPr>
        <p:spPr>
          <a:xfrm>
            <a:off x="6934200" y="4660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30E6E45-F13B-C3C6-49C1-3DD325D3C4C6}"/>
              </a:ext>
            </a:extLst>
          </p:cNvPr>
          <p:cNvSpPr txBox="1"/>
          <p:nvPr/>
        </p:nvSpPr>
        <p:spPr>
          <a:xfrm>
            <a:off x="7454900" y="45593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指标评估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21D8FA7-64FB-D064-C15C-E02898C6C6EA}"/>
              </a:ext>
            </a:extLst>
          </p:cNvPr>
          <p:cNvSpPr txBox="1"/>
          <p:nvPr/>
        </p:nvSpPr>
        <p:spPr>
          <a:xfrm>
            <a:off x="7454900" y="48260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SSE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、轮廓系数、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ARI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、匹配率</a:t>
            </a:r>
          </a:p>
        </p:txBody>
      </p:sp>
    </p:spTree>
    <p:extLst>
      <p:ext uri="{BB962C8B-B14F-4D97-AF65-F5344CB8AC3E}">
        <p14:creationId xmlns:p14="http://schemas.microsoft.com/office/powerpoint/2010/main" val="4395030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86AC920-629C-F94B-0B7B-132E9054E5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5F9A3D-077F-8DB6-424F-D0952F0802E5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AA8155EE-EE3C-644E-26BE-6CB9647B17BB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83A3010E-7EE0-8E27-C46B-210E0C762B1C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EE0487-6F3F-4D37-0863-2AC9E5A55CA2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C-MEANS 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5C6F52A-9A40-DBBD-7753-9D2310F6C30D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实验五结果：</a:t>
            </a:r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聚类与初始值影响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B288837-6C5E-3B40-0700-1D4B485753B7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2E5A26D-6FE1-EBB9-D42D-69814020B6C6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34C6BB6-5F27-07A0-1CE7-8551F7F198B2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21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32DE4DD-E62C-0745-0264-726316427400}"/>
              </a:ext>
            </a:extLst>
          </p:cNvPr>
          <p:cNvSpPr/>
          <p:nvPr/>
        </p:nvSpPr>
        <p:spPr>
          <a:xfrm>
            <a:off x="7366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2DFE6DC-68AE-B9CE-F196-B465006F2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19" y="1817478"/>
            <a:ext cx="4067762" cy="2905544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23E12A5-5945-0592-46E9-4304ED0D7A51}"/>
              </a:ext>
            </a:extLst>
          </p:cNvPr>
          <p:cNvSpPr/>
          <p:nvPr/>
        </p:nvSpPr>
        <p:spPr>
          <a:xfrm>
            <a:off x="62484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30331A4-EC8B-5708-1EDE-C5A193D3B5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5" y="1961454"/>
            <a:ext cx="4071811" cy="2617593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77989A7-D67C-653A-A6E2-78B6C1E9D013}"/>
              </a:ext>
            </a:extLst>
          </p:cNvPr>
          <p:cNvSpPr/>
          <p:nvPr/>
        </p:nvSpPr>
        <p:spPr>
          <a:xfrm>
            <a:off x="1016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84402B6-C28D-ED27-D158-4D6927B5EADC}"/>
              </a:ext>
            </a:extLst>
          </p:cNvPr>
          <p:cNvSpPr txBox="1"/>
          <p:nvPr/>
        </p:nvSpPr>
        <p:spPr>
          <a:xfrm>
            <a:off x="1168400" y="55372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06BB7"/>
                </a:solidFill>
                <a:latin typeface="Microsoft YaHei" panose="020B0503020204020204" pitchFamily="34" charset="-122"/>
              </a:rPr>
              <a:t>85.00%</a:t>
            </a:r>
            <a:endParaRPr lang="zh-CN" altLang="en-US" sz="20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69F1553-0FC5-4136-C1DE-AFAB031B6253}"/>
              </a:ext>
            </a:extLst>
          </p:cNvPr>
          <p:cNvSpPr txBox="1"/>
          <p:nvPr/>
        </p:nvSpPr>
        <p:spPr>
          <a:xfrm>
            <a:off x="1168400" y="59817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训练集 </a:t>
            </a:r>
            <a:r>
              <a:rPr lang="en-US" altLang="zh-CN" sz="700">
                <a:solidFill>
                  <a:srgbClr val="6B7F90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匹配率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A91E097-9537-44A1-DB85-EE0BF58D2680}"/>
              </a:ext>
            </a:extLst>
          </p:cNvPr>
          <p:cNvSpPr/>
          <p:nvPr/>
        </p:nvSpPr>
        <p:spPr>
          <a:xfrm>
            <a:off x="3302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2A39E02-5DF9-430F-CAE2-46DBA7287C0D}"/>
              </a:ext>
            </a:extLst>
          </p:cNvPr>
          <p:cNvSpPr txBox="1"/>
          <p:nvPr/>
        </p:nvSpPr>
        <p:spPr>
          <a:xfrm>
            <a:off x="3454400" y="55372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A7FCC"/>
                </a:solidFill>
                <a:latin typeface="Microsoft YaHei" panose="020B0503020204020204" pitchFamily="34" charset="-122"/>
              </a:rPr>
              <a:t>85-87%</a:t>
            </a:r>
            <a:endParaRPr lang="zh-CN" altLang="en-US" sz="20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C4657CA-0475-9D6F-2513-90754D184F38}"/>
              </a:ext>
            </a:extLst>
          </p:cNvPr>
          <p:cNvSpPr txBox="1"/>
          <p:nvPr/>
        </p:nvSpPr>
        <p:spPr>
          <a:xfrm>
            <a:off x="3454400" y="59817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不同初始值波动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DB6497B-F5B0-3658-4CBE-27202F69A740}"/>
              </a:ext>
            </a:extLst>
          </p:cNvPr>
          <p:cNvSpPr/>
          <p:nvPr/>
        </p:nvSpPr>
        <p:spPr>
          <a:xfrm>
            <a:off x="5588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2011707-D161-C940-20E3-C90753C47153}"/>
              </a:ext>
            </a:extLst>
          </p:cNvPr>
          <p:cNvSpPr txBox="1"/>
          <p:nvPr/>
        </p:nvSpPr>
        <p:spPr>
          <a:xfrm>
            <a:off x="5740400" y="55372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D4A84B"/>
                </a:solidFill>
                <a:latin typeface="Microsoft YaHei" panose="020B0503020204020204" pitchFamily="34" charset="-122"/>
              </a:rPr>
              <a:t>0.5108</a:t>
            </a:r>
            <a:endParaRPr lang="zh-CN" altLang="en-US" sz="20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087B4F9-FA5E-500A-A3A7-B478F178332E}"/>
              </a:ext>
            </a:extLst>
          </p:cNvPr>
          <p:cNvSpPr txBox="1"/>
          <p:nvPr/>
        </p:nvSpPr>
        <p:spPr>
          <a:xfrm>
            <a:off x="5740400" y="59817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轮廓系数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D2A89E7-99B4-4734-30FB-65BE5E401B11}"/>
              </a:ext>
            </a:extLst>
          </p:cNvPr>
          <p:cNvSpPr/>
          <p:nvPr/>
        </p:nvSpPr>
        <p:spPr>
          <a:xfrm>
            <a:off x="7874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514BD93-4A07-51F0-1DA7-553B148279B6}"/>
              </a:ext>
            </a:extLst>
          </p:cNvPr>
          <p:cNvSpPr txBox="1"/>
          <p:nvPr/>
        </p:nvSpPr>
        <p:spPr>
          <a:xfrm>
            <a:off x="8026400" y="55372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2F80C9"/>
                </a:solidFill>
                <a:latin typeface="Microsoft YaHei" panose="020B0503020204020204" pitchFamily="34" charset="-122"/>
              </a:rPr>
              <a:t>0.4850</a:t>
            </a:r>
            <a:endParaRPr lang="zh-CN" altLang="en-US" sz="20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6DDE04C-1C45-1FE7-B08E-18103DC0A64B}"/>
              </a:ext>
            </a:extLst>
          </p:cNvPr>
          <p:cNvSpPr txBox="1"/>
          <p:nvPr/>
        </p:nvSpPr>
        <p:spPr>
          <a:xfrm>
            <a:off x="8026400" y="59817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6B7F90"/>
                </a:solidFill>
                <a:latin typeface="Microsoft YaHei" panose="020B0503020204020204" pitchFamily="34" charset="-122"/>
              </a:rPr>
              <a:t>ARI</a:t>
            </a:r>
            <a:endParaRPr lang="zh-CN" altLang="en-US" sz="700">
              <a:solidFill>
                <a:srgbClr val="6B7F9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44281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3706E52-8635-F4F5-10F5-B405BC93D0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BBB0E8-920B-ED24-21B9-CF37C5DE0202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339E5A59-C009-136D-99FC-00497300D02E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6C4D160A-773C-DA71-E7F1-1FDF42D63F42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F598CF-E083-905B-BB31-BC69C6B02228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MODEL SELECTION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48402B-FD11-734A-3B1D-E44FB3351C49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实验五结果：类别数选择与分级聚类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765B27F-AED2-6FDE-7F4E-D1F4CF3946D2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0FA4DAC-516D-75D7-862A-20BFE01F1190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0F02D72-3484-29B1-1E95-13C4E65E691B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22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EBEDA7C-125D-D028-1D6F-5B9BE4DB8631}"/>
              </a:ext>
            </a:extLst>
          </p:cNvPr>
          <p:cNvSpPr/>
          <p:nvPr/>
        </p:nvSpPr>
        <p:spPr>
          <a:xfrm>
            <a:off x="7366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9716CB1-72B8-F88F-2F63-76A213CEB8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961454"/>
            <a:ext cx="4071811" cy="2617593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4531D3E-63E3-14DF-ACF8-FC7F5A0F3621}"/>
              </a:ext>
            </a:extLst>
          </p:cNvPr>
          <p:cNvSpPr/>
          <p:nvPr/>
        </p:nvSpPr>
        <p:spPr>
          <a:xfrm>
            <a:off x="62484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17C4469-423B-2F5D-3DE5-DC4A3574A4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418" y="2424749"/>
            <a:ext cx="3166965" cy="1691003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F697081-428F-C6D5-A230-5071EBFA8418}"/>
              </a:ext>
            </a:extLst>
          </p:cNvPr>
          <p:cNvSpPr/>
          <p:nvPr/>
        </p:nvSpPr>
        <p:spPr>
          <a:xfrm>
            <a:off x="1016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D7F8A3A-DEFE-2BAB-F61F-D842E818BBA3}"/>
              </a:ext>
            </a:extLst>
          </p:cNvPr>
          <p:cNvSpPr/>
          <p:nvPr/>
        </p:nvSpPr>
        <p:spPr>
          <a:xfrm>
            <a:off x="1016000" y="5461000"/>
            <a:ext cx="76200" cy="635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9E1B5AA-D9A9-7ECA-D426-C22EC9646484}"/>
              </a:ext>
            </a:extLst>
          </p:cNvPr>
          <p:cNvSpPr txBox="1"/>
          <p:nvPr/>
        </p:nvSpPr>
        <p:spPr>
          <a:xfrm>
            <a:off x="1206500" y="5588000"/>
            <a:ext cx="426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类别数判断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1892DDB-218C-592D-0E2B-7330A9AADB79}"/>
              </a:ext>
            </a:extLst>
          </p:cNvPr>
          <p:cNvSpPr txBox="1"/>
          <p:nvPr/>
        </p:nvSpPr>
        <p:spPr>
          <a:xfrm>
            <a:off x="1206500" y="5905500"/>
            <a:ext cx="4267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SSE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随 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增大下降，但轮廓系数在 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最高，因此两类更合理。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EC2C59E-60D4-79FC-5892-A0AB87CF36ED}"/>
              </a:ext>
            </a:extLst>
          </p:cNvPr>
          <p:cNvSpPr/>
          <p:nvPr/>
        </p:nvSpPr>
        <p:spPr>
          <a:xfrm>
            <a:off x="6604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99D7A39-3BDB-1D46-EC5A-8E2638605564}"/>
              </a:ext>
            </a:extLst>
          </p:cNvPr>
          <p:cNvSpPr/>
          <p:nvPr/>
        </p:nvSpPr>
        <p:spPr>
          <a:xfrm>
            <a:off x="6604000" y="5461000"/>
            <a:ext cx="76200" cy="635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F948ED6-B70B-6421-78F0-1ED2C8E2E39E}"/>
              </a:ext>
            </a:extLst>
          </p:cNvPr>
          <p:cNvSpPr txBox="1"/>
          <p:nvPr/>
        </p:nvSpPr>
        <p:spPr>
          <a:xfrm>
            <a:off x="6794500" y="5588000"/>
            <a:ext cx="426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分级聚类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2A554A9-9611-D2E0-5411-5CDB3C7C6DB5}"/>
              </a:ext>
            </a:extLst>
          </p:cNvPr>
          <p:cNvSpPr txBox="1"/>
          <p:nvPr/>
        </p:nvSpPr>
        <p:spPr>
          <a:xfrm>
            <a:off x="6794500" y="5905500"/>
            <a:ext cx="4267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Ward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方法匹配率 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81.00%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，略低于 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均值，但能展示层次结构。</a:t>
            </a:r>
          </a:p>
        </p:txBody>
      </p:sp>
    </p:spTree>
    <p:extLst>
      <p:ext uri="{BB962C8B-B14F-4D97-AF65-F5344CB8AC3E}">
        <p14:creationId xmlns:p14="http://schemas.microsoft.com/office/powerpoint/2010/main" val="20644479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CF8A0E5-5DEC-BA20-3464-8B1C1B7BBE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F202C1-25F0-793B-DCE9-2E84AEA2CEFE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E8DEFD3-6AFB-087B-A615-E74B8D8ADB26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559F7D15-A3BF-BD02-628A-A36178137E98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E78E5D-20B2-691C-EB13-68264C842677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COMBINED DATA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E7045AA-B7C7-E9F1-C44E-3CA42F49B49C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实验五分析：加入 </a:t>
            </a:r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后结构保持但边界更复杂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8288C69-221D-0187-6FF3-5EEC8B2CC6BA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2BEBF4F-770A-5829-C703-04FFACBC3B50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0769C1E-64F5-C353-4F0D-F970556BFF3C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23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C7819D0-63C1-4EAB-F8E4-B520403832B5}"/>
              </a:ext>
            </a:extLst>
          </p:cNvPr>
          <p:cNvSpPr/>
          <p:nvPr/>
        </p:nvSpPr>
        <p:spPr>
          <a:xfrm>
            <a:off x="736600" y="1371600"/>
            <a:ext cx="5143500" cy="3492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DCC0D51-3C77-F110-8A68-826C124FE2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060" y="1860500"/>
            <a:ext cx="3520580" cy="25147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0A4BB36-1EE6-2965-5791-BC1E91C80791}"/>
              </a:ext>
            </a:extLst>
          </p:cNvPr>
          <p:cNvSpPr/>
          <p:nvPr/>
        </p:nvSpPr>
        <p:spPr>
          <a:xfrm>
            <a:off x="6324600" y="1371600"/>
            <a:ext cx="5143500" cy="3492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D9B96B7-05E2-8F18-02FC-2CB192B21A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774" y="1841408"/>
            <a:ext cx="3971152" cy="2552884"/>
          </a:xfrm>
          <a:prstGeom prst="rect">
            <a:avLst/>
          </a:prstGeom>
        </p:spPr>
      </p:pic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CD3BBB86-123B-F0B6-96DA-AD51CE0FA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297647"/>
              </p:ext>
            </p:extLst>
          </p:nvPr>
        </p:nvGraphicFramePr>
        <p:xfrm>
          <a:off x="889000" y="5207000"/>
          <a:ext cx="10414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243322062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58245211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87904932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669875092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62586559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轮廓系数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ARI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匹配率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6173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0.5108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0.4850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85.00%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50126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Ward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0.5049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0.3789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81.00%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49462604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+test2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0.4850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0.4693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84.50%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3109489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+test2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Ward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0.4739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0.4172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82.50%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57501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5114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5E1EDF0-2BAC-A8EC-275D-BE56AC2455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3C60A6-4F6A-219A-4A97-41EE7028800A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296BFAFC-BD33-D5F0-CE3F-2862833D254C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F2E2BD59-E69C-A7EF-DEAE-F1DCF465A6B8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B32BB1-911B-FE4D-8B76-A0EA0206F69D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SYNTHESIS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5E7274-6E8C-518A-66F1-D81FC386AC95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五个实验的横向总结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88EA995-17AB-5022-B672-9ACB74813683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0BB46DA-B2DC-8A91-88B4-23CC6439B993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D79D2E-91A2-0967-3314-04879D633ED0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24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B9EFF034-C626-1979-69A1-7ECCB832B6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355463"/>
              </p:ext>
            </p:extLst>
          </p:nvPr>
        </p:nvGraphicFramePr>
        <p:xfrm>
          <a:off x="736600" y="1397000"/>
          <a:ext cx="10718800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700">
                  <a:extLst>
                    <a:ext uri="{9D8B030D-6E8A-4147-A177-3AD203B41FA5}">
                      <a16:colId xmlns:a16="http://schemas.microsoft.com/office/drawing/2014/main" val="2985768004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651073900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725400862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618643124"/>
                    </a:ext>
                  </a:extLst>
                </a:gridCol>
              </a:tblGrid>
              <a:tr h="613833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课程知识点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监督信息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主要目标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014510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后验概率、参数估计、风险决策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最小错误率或最小风险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187467421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 / Parzen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非参数估计、线性判别、留一法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比较概率模型与直接判别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828866533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特征提取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、协方差特征分解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可不使用标签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降维与主方向分析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02770176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图像应用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高维图像特征压缩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验证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图像识别作用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679129517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聚类分析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均值、分级聚类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不使用标签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发现样本自然结构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610816437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DC3AC3A-2F9F-C3E8-ABE3-1EFB8EFC72E1}"/>
              </a:ext>
            </a:extLst>
          </p:cNvPr>
          <p:cNvSpPr/>
          <p:nvPr/>
        </p:nvSpPr>
        <p:spPr>
          <a:xfrm>
            <a:off x="1079500" y="5461000"/>
            <a:ext cx="10033000" cy="609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C3D271-9042-4CBA-A697-9F50E6851AD6}"/>
              </a:ext>
            </a:extLst>
          </p:cNvPr>
          <p:cNvSpPr txBox="1"/>
          <p:nvPr/>
        </p:nvSpPr>
        <p:spPr>
          <a:xfrm>
            <a:off x="1397000" y="5664200"/>
            <a:ext cx="9398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100" b="1">
                <a:solidFill>
                  <a:srgbClr val="006BB7"/>
                </a:solidFill>
                <a:latin typeface="Microsoft YaHei" panose="020B0503020204020204" pitchFamily="34" charset="-122"/>
              </a:rPr>
              <a:t>主线：从概率决策到线性判别，从监督分类到无监督聚类，从低维特征到高维图像识别。</a:t>
            </a:r>
          </a:p>
        </p:txBody>
      </p:sp>
    </p:spTree>
    <p:extLst>
      <p:ext uri="{BB962C8B-B14F-4D97-AF65-F5344CB8AC3E}">
        <p14:creationId xmlns:p14="http://schemas.microsoft.com/office/powerpoint/2010/main" val="16502878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1686805-4497-E826-D4CE-7F5E68D26C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6C3763-5AEB-96B3-074E-9177934F3F55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F789A43E-8408-D9C2-9CD4-A92632B35967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F0FF9F17-9009-AE27-7AF4-F5BDEB235D29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548809-1C5C-19CE-2F67-67E4B71EB741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CONCLUSION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2625EE9-E5C0-A1A5-CDF2-CE5BDC4033B7}"/>
              </a:ext>
            </a:extLst>
          </p:cNvPr>
          <p:cNvSpPr txBox="1"/>
          <p:nvPr/>
        </p:nvSpPr>
        <p:spPr>
          <a:xfrm>
            <a:off x="736600" y="533400"/>
            <a:ext cx="850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总体结论与汇报收束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87512C4-EDA5-B09D-1931-2C87C76D199D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E4E8535-B824-E827-012F-833E42171778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7D1E2D-8C4D-8A85-F739-18FB2A237069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06BB7"/>
                </a:solidFill>
                <a:latin typeface="Microsoft YaHei" panose="020B0503020204020204" pitchFamily="34" charset="-122"/>
              </a:rPr>
              <a:t>25</a:t>
            </a:r>
            <a:endParaRPr lang="zh-CN" altLang="en-US" sz="8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E40FF76-23C6-5445-17DF-68E76E371D69}"/>
              </a:ext>
            </a:extLst>
          </p:cNvPr>
          <p:cNvSpPr/>
          <p:nvPr/>
        </p:nvSpPr>
        <p:spPr>
          <a:xfrm>
            <a:off x="889000" y="1524000"/>
            <a:ext cx="3111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2DA0B0-253A-5786-1010-D50856460F5B}"/>
              </a:ext>
            </a:extLst>
          </p:cNvPr>
          <p:cNvSpPr/>
          <p:nvPr/>
        </p:nvSpPr>
        <p:spPr>
          <a:xfrm>
            <a:off x="889000" y="1524000"/>
            <a:ext cx="76200" cy="12065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D8A584-48D1-35F5-44F9-89F8C6023867}"/>
              </a:ext>
            </a:extLst>
          </p:cNvPr>
          <p:cNvSpPr txBox="1"/>
          <p:nvPr/>
        </p:nvSpPr>
        <p:spPr>
          <a:xfrm>
            <a:off x="1079500" y="1651000"/>
            <a:ext cx="280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特征选择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550D41E-9F4F-AE1B-840D-27C401847E7E}"/>
              </a:ext>
            </a:extLst>
          </p:cNvPr>
          <p:cNvSpPr txBox="1"/>
          <p:nvPr/>
        </p:nvSpPr>
        <p:spPr>
          <a:xfrm>
            <a:off x="1079500" y="1968500"/>
            <a:ext cx="2806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身高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体重比单特征更稳定；图像任务中 </a:t>
            </a:r>
            <a:r>
              <a:rPr lang="en-US" altLang="zh-CN" sz="8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可压缩高维特征。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4B99681-8F3F-5956-B1B6-1A736BED1F40}"/>
              </a:ext>
            </a:extLst>
          </p:cNvPr>
          <p:cNvSpPr/>
          <p:nvPr/>
        </p:nvSpPr>
        <p:spPr>
          <a:xfrm>
            <a:off x="4572000" y="1524000"/>
            <a:ext cx="3111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8A1D43-F104-A40B-DC3F-26D110051C11}"/>
              </a:ext>
            </a:extLst>
          </p:cNvPr>
          <p:cNvSpPr/>
          <p:nvPr/>
        </p:nvSpPr>
        <p:spPr>
          <a:xfrm>
            <a:off x="4572000" y="1524000"/>
            <a:ext cx="76200" cy="12065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DAEA44B-D632-755C-1032-07D7BDD2DDEA}"/>
              </a:ext>
            </a:extLst>
          </p:cNvPr>
          <p:cNvSpPr txBox="1"/>
          <p:nvPr/>
        </p:nvSpPr>
        <p:spPr>
          <a:xfrm>
            <a:off x="4762500" y="1651000"/>
            <a:ext cx="280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模型假设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5DD1931-F811-847F-92C8-77499566E6A9}"/>
              </a:ext>
            </a:extLst>
          </p:cNvPr>
          <p:cNvSpPr txBox="1"/>
          <p:nvPr/>
        </p:nvSpPr>
        <p:spPr>
          <a:xfrm>
            <a:off x="4762500" y="1968500"/>
            <a:ext cx="2806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正态假设、窗口宽度、线性边界都会影响最终性能。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9FC4840-AB3B-7BF6-59F4-A566344E0364}"/>
              </a:ext>
            </a:extLst>
          </p:cNvPr>
          <p:cNvSpPr/>
          <p:nvPr/>
        </p:nvSpPr>
        <p:spPr>
          <a:xfrm>
            <a:off x="8255000" y="1524000"/>
            <a:ext cx="2857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641F058-E40A-9B64-BEA1-3C14603DE483}"/>
              </a:ext>
            </a:extLst>
          </p:cNvPr>
          <p:cNvSpPr/>
          <p:nvPr/>
        </p:nvSpPr>
        <p:spPr>
          <a:xfrm>
            <a:off x="8255000" y="1524000"/>
            <a:ext cx="76200" cy="12065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B7C52EF-0C0B-FE4C-81D4-E4C8DB68D7DC}"/>
              </a:ext>
            </a:extLst>
          </p:cNvPr>
          <p:cNvSpPr txBox="1"/>
          <p:nvPr/>
        </p:nvSpPr>
        <p:spPr>
          <a:xfrm>
            <a:off x="8445500" y="1651000"/>
            <a:ext cx="2552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A2E4E"/>
                </a:solidFill>
                <a:latin typeface="Microsoft YaHei" panose="020B0503020204020204" pitchFamily="34" charset="-122"/>
              </a:rPr>
              <a:t>评价指标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B01FFB4-B438-851D-D3FF-B1E7899355D4}"/>
              </a:ext>
            </a:extLst>
          </p:cNvPr>
          <p:cNvSpPr txBox="1"/>
          <p:nvPr/>
        </p:nvSpPr>
        <p:spPr>
          <a:xfrm>
            <a:off x="8445500" y="1968500"/>
            <a:ext cx="25527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38566F"/>
                </a:solidFill>
                <a:latin typeface="Microsoft YaHei" panose="020B0503020204020204" pitchFamily="34" charset="-122"/>
              </a:rPr>
              <a:t>准确率、错误率、召回率、混淆矩阵和聚类指标需要综合分析。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86EDE04-5D32-068F-0C91-31E9FF81B716}"/>
              </a:ext>
            </a:extLst>
          </p:cNvPr>
          <p:cNvSpPr/>
          <p:nvPr/>
        </p:nvSpPr>
        <p:spPr>
          <a:xfrm>
            <a:off x="1270000" y="3810000"/>
            <a:ext cx="9652000" cy="965200"/>
          </a:xfrm>
          <a:prstGeom prst="roundRect">
            <a:avLst/>
          </a:prstGeom>
          <a:solidFill>
            <a:srgbClr val="FFF7E0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04788DA-2E5B-F38E-0298-4FDDD8B2E1C5}"/>
              </a:ext>
            </a:extLst>
          </p:cNvPr>
          <p:cNvSpPr txBox="1"/>
          <p:nvPr/>
        </p:nvSpPr>
        <p:spPr>
          <a:xfrm>
            <a:off x="1587500" y="4140200"/>
            <a:ext cx="9017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92400E"/>
                </a:solidFill>
                <a:latin typeface="Microsoft YaHei" panose="020B0503020204020204" pitchFamily="34" charset="-122"/>
              </a:rPr>
              <a:t>核心体会：模式识别方法没有绝对最优，算法选择必须结合数据分布、任务目标和评价指标。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75D473A-482A-A44B-72E2-996D92EE070F}"/>
              </a:ext>
            </a:extLst>
          </p:cNvPr>
          <p:cNvSpPr txBox="1"/>
          <p:nvPr/>
        </p:nvSpPr>
        <p:spPr>
          <a:xfrm>
            <a:off x="1524000" y="5334000"/>
            <a:ext cx="9144000" cy="18979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9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强调概率决策，</a:t>
            </a:r>
            <a:r>
              <a:rPr lang="en-US" altLang="zh-CN" sz="9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强调判别方向，</a:t>
            </a:r>
            <a:r>
              <a:rPr lang="en-US" altLang="zh-CN" sz="900">
                <a:solidFill>
                  <a:srgbClr val="38566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900">
                <a:solidFill>
                  <a:srgbClr val="38566F"/>
                </a:solidFill>
                <a:latin typeface="Microsoft YaHei" panose="020B0503020204020204" pitchFamily="34" charset="-122"/>
              </a:rPr>
              <a:t>强调表示与降维，聚类强调自然结构。</a:t>
            </a:r>
          </a:p>
        </p:txBody>
      </p:sp>
    </p:spTree>
    <p:extLst>
      <p:ext uri="{BB962C8B-B14F-4D97-AF65-F5344CB8AC3E}">
        <p14:creationId xmlns:p14="http://schemas.microsoft.com/office/powerpoint/2010/main" val="15837309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64C79E2-2DD7-169C-0092-B48AB2EB7B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C86FF6-801F-018F-7B6C-91B748A2B18D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8A20FA-BECF-ED36-C72B-E15F491902DC}"/>
              </a:ext>
            </a:extLst>
          </p:cNvPr>
          <p:cNvSpPr/>
          <p:nvPr/>
        </p:nvSpPr>
        <p:spPr>
          <a:xfrm>
            <a:off x="203200" y="0"/>
            <a:ext cx="63500" cy="6858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C544FA-012C-EA4A-5408-45E33FC40485}"/>
              </a:ext>
            </a:extLst>
          </p:cNvPr>
          <p:cNvSpPr txBox="1"/>
          <p:nvPr/>
        </p:nvSpPr>
        <p:spPr>
          <a:xfrm>
            <a:off x="889000" y="2514600"/>
            <a:ext cx="38100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4200" b="1">
                <a:solidFill>
                  <a:srgbClr val="FFFFFF"/>
                </a:solidFill>
                <a:latin typeface="Microsoft YaHei" panose="020B0503020204020204" pitchFamily="34" charset="-122"/>
              </a:rPr>
              <a:t>谢谢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8F6C88-4AF1-7F82-A2DC-9DC3CFDDE0A5}"/>
              </a:ext>
            </a:extLst>
          </p:cNvPr>
          <p:cNvSpPr txBox="1"/>
          <p:nvPr/>
        </p:nvSpPr>
        <p:spPr>
          <a:xfrm>
            <a:off x="939800" y="3492500"/>
            <a:ext cx="5588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CBD5E1"/>
                </a:solidFill>
                <a:latin typeface="Microsoft YaHei" panose="020B0503020204020204" pitchFamily="34" charset="-122"/>
              </a:rPr>
              <a:t>欢迎老师和同学批评指正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F978EB5-66EB-1D7B-02C8-5008C1E03758}"/>
              </a:ext>
            </a:extLst>
          </p:cNvPr>
          <p:cNvCxnSpPr/>
          <p:nvPr/>
        </p:nvCxnSpPr>
        <p:spPr>
          <a:xfrm>
            <a:off x="939800" y="4140200"/>
            <a:ext cx="2362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138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2453</Words>
  <Application>Microsoft Office PowerPoint</Application>
  <PresentationFormat>自定义</PresentationFormat>
  <Paragraphs>499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7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军 曹</dc:creator>
  <cp:lastModifiedBy>军 曹</cp:lastModifiedBy>
  <cp:revision>1</cp:revision>
  <dcterms:created xsi:type="dcterms:W3CDTF">2026-06-16T19:38:29Z</dcterms:created>
  <dcterms:modified xsi:type="dcterms:W3CDTF">2026-06-16T19:38:54Z</dcterms:modified>
</cp:coreProperties>
</file>