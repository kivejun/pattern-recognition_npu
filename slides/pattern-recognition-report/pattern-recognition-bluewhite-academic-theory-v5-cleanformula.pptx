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5C469-405D-A46B-05E8-9A5585FFA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628445-9E32-B357-ADA0-A24488FEE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9639ED-844E-73E0-1705-D4CCC777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67D90-5FA9-906B-6ED2-EE9B7ABC7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7DC5E-6681-2EED-B6F5-F586717C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E0A3-0233-0F81-4F51-583AB4E1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8486FF-2C32-FB1A-E970-4A739BCBC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16AC4-7DC2-4638-A36F-1E2888088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15882-8564-7880-8262-5C3E5066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707C6-99D4-A2C8-AC9E-225325E0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66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DD78D-3FA9-E5A5-079E-CD35C29A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E519E1-BCAB-9106-97A7-32DBCBC59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1D3C77-6739-E755-974A-2C4795C5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F929C9-8B07-B9CF-DFE4-53359215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4DC9DA-1ACB-0521-9FCE-BA79DB96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06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D55CE-FF80-7A22-3725-1BD79F48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BFD591-D7AE-99A0-6E37-3392E89E0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A86D4D-0C06-F3E1-7897-9C02577FC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8D8EF2-017A-4C0D-597F-7DDCF654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C27C55-8FDC-4F05-B7E2-B85BE7DE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5F70B7-AD66-F916-818E-DA12ED8F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56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43779-4748-3051-518B-76C0BA6D9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84120F-B1EB-A48A-5583-55207363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67D545-DC7C-A741-2FD9-47A9C6330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DA8533-7CF0-23BB-EBF8-B43AB5D25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498995-8807-774A-476B-F667F9EAF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4FBD09-6C97-CC3C-450F-5E02CEF6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F572C9-33FE-E259-ACAF-B15E5AB5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33BEDA-6A4C-425F-3175-807BB28A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43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410C7-065E-38CD-8418-01830C9D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48C9A3-C9E4-4714-5828-7898C8DD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1EB6AC-98FC-9809-D336-C61601E1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A4635F-AD4E-61FD-83EB-1D965B60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074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0F9827-1139-DDDA-5C36-AF26BD5DD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C43692-9EE0-1950-1C06-31A4ED6C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B1435B-F8E8-DCF2-B48A-6193399F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3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30FA7-9C65-7D50-D40E-8B56E816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5C6D1-F7E4-2433-8A47-75574FF9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E04655-C7D9-6FDA-4895-8714BAAE5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0D020C-291B-EAF8-2E2C-60649C4B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6D6E1E-2631-5C9D-A0F1-B56B21DA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A582B3-174A-488F-67C3-D6F4DAEC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72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01A2B-2AA3-14C8-72E8-B32799D80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54AEDA-081C-581D-3F90-FA9F3751A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F72D75-369F-D706-F02D-E130C9C65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8EE457-9A7C-5521-5ECE-F56C13D7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76FCF5-A4DC-59E5-24EE-0B89A77C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DB52D6-455B-6185-14FB-3C923936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53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33562-1571-2421-AABA-ED0D07DA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653907-AFDB-3A4F-AE49-1F8BE581F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FA2028-5CA7-1779-5B0C-A141268A1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784A48-5D9E-51E4-391D-BDF48DCA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AA4B71-BCE6-D681-1DD3-40DC80E7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0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69DA7E-7769-142A-5C16-0BA609FCC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62A7BA-D0C4-8312-BDD8-DDF1B4CCB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F80BA1-EF9D-4E52-B71A-EEA7E147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54CA00-945F-57DC-38F3-CEE9D90F8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38BA24-91C7-0FD4-225B-C04944EC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37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674B9E-47B4-48E6-2721-B0B45289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F59993-BFB7-D9BE-167A-D7CB4EF9A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18F0D-1A02-9EAD-61B3-7B2FD29FE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E029E-1621-41AA-BABD-61024FE51A8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9D5913-6C8B-EC26-5580-FD3EDC824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0D3DE-2A5A-787C-2828-8272D3418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19EF9-D745-4172-8162-7287230B6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7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53EEC4-4D10-12DF-0905-374A10D875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BD1130E0-717C-113E-C1BE-31BC2375CBEE}"/>
              </a:ext>
            </a:extLst>
          </p:cNvPr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D60E317-EDEF-4EEB-02C9-FDEF8F3C7B75}"/>
              </a:ext>
            </a:extLst>
          </p:cNvPr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D1E981-EF36-4A30-1842-B857D2826E56}"/>
              </a:ext>
            </a:extLst>
          </p:cNvPr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Microsoft YaHei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94EB58-2DDF-9004-DD55-A145384B634B}"/>
              </a:ext>
            </a:extLst>
          </p:cNvPr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Microsoft YaHei" panose="020B0503020204020204" pitchFamily="34" charset="-122"/>
              </a:rPr>
              <a:t>模式识别课程实验汇报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1FC667-0A83-E6A1-8036-2ADB7D7664EB}"/>
              </a:ext>
            </a:extLst>
          </p:cNvPr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7DB78D5-8530-4BCD-1A3C-5FAE5BABCF34}"/>
              </a:ext>
            </a:extLst>
          </p:cNvPr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4C4F6A-C3B8-1550-46E0-217F92B21180}"/>
              </a:ext>
            </a:extLst>
          </p:cNvPr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E5F476-B767-A63F-7BB7-8931EC617B15}"/>
              </a:ext>
            </a:extLst>
          </p:cNvPr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8A9D3E-092D-A895-DAA3-7FFDD14A5B5D}"/>
              </a:ext>
            </a:extLst>
          </p:cNvPr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BA82DEC-557A-77CF-AF9F-D7B3450689B4}"/>
              </a:ext>
            </a:extLst>
          </p:cNvPr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34F259-47AB-745D-11C8-BCBFB5209910}"/>
              </a:ext>
            </a:extLst>
          </p:cNvPr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ADBC2BF-670F-6CCA-918A-57D31EB828BE}"/>
              </a:ext>
            </a:extLst>
          </p:cNvPr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36D86E-2E6A-80DE-3D4F-65EB1978A2C7}"/>
              </a:ext>
            </a:extLst>
          </p:cNvPr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5652F9E-6665-CC4A-73B9-9B5CA0E8EF3F}"/>
              </a:ext>
            </a:extLst>
          </p:cNvPr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843CC6-AA8A-3AE4-55B5-F5CB84029E2D}"/>
              </a:ext>
            </a:extLst>
          </p:cNvPr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E9A586-7B4A-2EC6-C5F6-BBE85383DEDA}"/>
              </a:ext>
            </a:extLst>
          </p:cNvPr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313B90-3A46-86A2-CD90-8458B09CF8A7}"/>
              </a:ext>
            </a:extLst>
          </p:cNvPr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359689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84C4069-A16F-6716-0641-30B3AAFEC3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BB7DA8-B6DB-C1D4-B637-4866D6B7657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984F288-EB6F-AF5B-7DDC-227124DFCF0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B230AF0-9AD9-71F6-C397-44382CFF4264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BE29C8-0F49-4CD5-084A-545C8FC022D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TALK ROADMAP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E8AB76-2B85-7C68-FCDC-08640BCA4AD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汇报结构：从分类到聚类的完整方法链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2B564AE-4184-773B-7AF8-57326C7506DB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FBF4A5B-62FE-DAFE-25F5-D5C2C3C2001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D43853-C0F6-0688-BC40-00D7410AC07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39BF7FD-FB02-202A-55D4-BD0F2255DE58}"/>
              </a:ext>
            </a:extLst>
          </p:cNvPr>
          <p:cNvSpPr/>
          <p:nvPr/>
        </p:nvSpPr>
        <p:spPr>
          <a:xfrm>
            <a:off x="7112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CC941A-8A9E-60FF-CCE2-13163A5A536B}"/>
              </a:ext>
            </a:extLst>
          </p:cNvPr>
          <p:cNvSpPr/>
          <p:nvPr/>
        </p:nvSpPr>
        <p:spPr>
          <a:xfrm>
            <a:off x="711200" y="1498600"/>
            <a:ext cx="76200" cy="1168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CB4214-3B6D-896F-47A4-4216392326A0}"/>
              </a:ext>
            </a:extLst>
          </p:cNvPr>
          <p:cNvSpPr txBox="1"/>
          <p:nvPr/>
        </p:nvSpPr>
        <p:spPr>
          <a:xfrm>
            <a:off x="9017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01 Bayes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16CFC62-9F6C-2EDE-7559-95CD74C67F17}"/>
              </a:ext>
            </a:extLst>
          </p:cNvPr>
          <p:cNvSpPr txBox="1"/>
          <p:nvPr/>
        </p:nvSpPr>
        <p:spPr>
          <a:xfrm>
            <a:off x="901700" y="1981200"/>
            <a:ext cx="153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概率密度估计与风险决策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D6B8332-EF2E-740B-C9D8-06485F3B47D6}"/>
              </a:ext>
            </a:extLst>
          </p:cNvPr>
          <p:cNvSpPr/>
          <p:nvPr/>
        </p:nvSpPr>
        <p:spPr>
          <a:xfrm>
            <a:off x="29718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6DFF3C-19F9-1C42-07C0-CDFF2F3A9CB5}"/>
              </a:ext>
            </a:extLst>
          </p:cNvPr>
          <p:cNvSpPr/>
          <p:nvPr/>
        </p:nvSpPr>
        <p:spPr>
          <a:xfrm>
            <a:off x="2971800" y="1498600"/>
            <a:ext cx="76200" cy="1168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9D9397-EA51-7DA5-6F14-1C6E40C0C762}"/>
              </a:ext>
            </a:extLst>
          </p:cNvPr>
          <p:cNvSpPr txBox="1"/>
          <p:nvPr/>
        </p:nvSpPr>
        <p:spPr>
          <a:xfrm>
            <a:off x="31623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02 Fisher/Parzen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7E66158-A1A3-AE8E-60FC-EE1A8CD47133}"/>
              </a:ext>
            </a:extLst>
          </p:cNvPr>
          <p:cNvSpPr txBox="1"/>
          <p:nvPr/>
        </p:nvSpPr>
        <p:spPr>
          <a:xfrm>
            <a:off x="31623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非参数估计与直接判别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B80B68-44E8-2F72-64BE-E6CD71DCE743}"/>
              </a:ext>
            </a:extLst>
          </p:cNvPr>
          <p:cNvSpPr/>
          <p:nvPr/>
        </p:nvSpPr>
        <p:spPr>
          <a:xfrm>
            <a:off x="52324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2C6F4D-DFF0-1777-D168-4EF439553211}"/>
              </a:ext>
            </a:extLst>
          </p:cNvPr>
          <p:cNvSpPr/>
          <p:nvPr/>
        </p:nvSpPr>
        <p:spPr>
          <a:xfrm>
            <a:off x="5232400" y="1498600"/>
            <a:ext cx="76200" cy="1168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65B3B2-718C-0CBC-0D34-53AB1584313B}"/>
              </a:ext>
            </a:extLst>
          </p:cNvPr>
          <p:cNvSpPr txBox="1"/>
          <p:nvPr/>
        </p:nvSpPr>
        <p:spPr>
          <a:xfrm>
            <a:off x="54229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03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特征提取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E8BA0C-74E3-A6D9-ABDF-DF730F1FA3B9}"/>
              </a:ext>
            </a:extLst>
          </p:cNvPr>
          <p:cNvSpPr txBox="1"/>
          <p:nvPr/>
        </p:nvSpPr>
        <p:spPr>
          <a:xfrm>
            <a:off x="54229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协方差特征分解与降维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742F0D5-142C-0DB5-0396-DC846811F0CE}"/>
              </a:ext>
            </a:extLst>
          </p:cNvPr>
          <p:cNvSpPr/>
          <p:nvPr/>
        </p:nvSpPr>
        <p:spPr>
          <a:xfrm>
            <a:off x="74930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E59DB9-EFEE-8BCB-021A-D9DDA43952A4}"/>
              </a:ext>
            </a:extLst>
          </p:cNvPr>
          <p:cNvSpPr/>
          <p:nvPr/>
        </p:nvSpPr>
        <p:spPr>
          <a:xfrm>
            <a:off x="7493000" y="1498600"/>
            <a:ext cx="76200" cy="1168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3302C69-9EA2-FC63-37DD-96F3FE5CDB51}"/>
              </a:ext>
            </a:extLst>
          </p:cNvPr>
          <p:cNvSpPr txBox="1"/>
          <p:nvPr/>
        </p:nvSpPr>
        <p:spPr>
          <a:xfrm>
            <a:off x="76835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04 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图像应用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C4E22D5-30D4-3DE4-A7E6-04E49DC96BE2}"/>
              </a:ext>
            </a:extLst>
          </p:cNvPr>
          <p:cNvSpPr txBox="1"/>
          <p:nvPr/>
        </p:nvSpPr>
        <p:spPr>
          <a:xfrm>
            <a:off x="76835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高维图像压缩与识别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E504DAC-1709-6889-1BE2-5BFBCBCBD693}"/>
              </a:ext>
            </a:extLst>
          </p:cNvPr>
          <p:cNvSpPr/>
          <p:nvPr/>
        </p:nvSpPr>
        <p:spPr>
          <a:xfrm>
            <a:off x="9753600" y="1498600"/>
            <a:ext cx="1841500" cy="1168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FA898F-0BF3-D6C7-73CE-893D16A593A5}"/>
              </a:ext>
            </a:extLst>
          </p:cNvPr>
          <p:cNvSpPr/>
          <p:nvPr/>
        </p:nvSpPr>
        <p:spPr>
          <a:xfrm>
            <a:off x="9753600" y="1498600"/>
            <a:ext cx="76200" cy="1168400"/>
          </a:xfrm>
          <a:prstGeom prst="rect">
            <a:avLst/>
          </a:prstGeom>
          <a:solidFill>
            <a:srgbClr val="2B8A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E6652D-CD29-AA95-D169-08F420EBB283}"/>
              </a:ext>
            </a:extLst>
          </p:cNvPr>
          <p:cNvSpPr txBox="1"/>
          <p:nvPr/>
        </p:nvSpPr>
        <p:spPr>
          <a:xfrm>
            <a:off x="9944100" y="1625600"/>
            <a:ext cx="153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聚类分析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0ACC20A-1D38-0305-BE49-CFD4A81B8D33}"/>
              </a:ext>
            </a:extLst>
          </p:cNvPr>
          <p:cNvSpPr txBox="1"/>
          <p:nvPr/>
        </p:nvSpPr>
        <p:spPr>
          <a:xfrm>
            <a:off x="9944100" y="1981200"/>
            <a:ext cx="15367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无监督样本结构发现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D30921B-406F-7A6F-BA64-80B423903DF5}"/>
              </a:ext>
            </a:extLst>
          </p:cNvPr>
          <p:cNvSpPr/>
          <p:nvPr/>
        </p:nvSpPr>
        <p:spPr>
          <a:xfrm>
            <a:off x="1117600" y="3378200"/>
            <a:ext cx="99568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D29FACC-E2C5-4CD9-D4B8-D84C4EE06181}"/>
              </a:ext>
            </a:extLst>
          </p:cNvPr>
          <p:cNvSpPr txBox="1"/>
          <p:nvPr/>
        </p:nvSpPr>
        <p:spPr>
          <a:xfrm>
            <a:off x="1498600" y="3581400"/>
            <a:ext cx="91948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每个实验统一按照「理论知识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实验设置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实验结果 </a:t>
            </a:r>
            <a:r>
              <a:rPr lang="en-US" altLang="zh-CN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分析总结」的顺序展开，便于把算法原理和实验现象对应起来。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86E7381-6F5E-13E5-75BB-538BA67AB7A1}"/>
              </a:ext>
            </a:extLst>
          </p:cNvPr>
          <p:cNvSpPr/>
          <p:nvPr/>
        </p:nvSpPr>
        <p:spPr>
          <a:xfrm>
            <a:off x="9652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5B1BB5-A815-8047-DCC9-EE9848006B79}"/>
              </a:ext>
            </a:extLst>
          </p:cNvPr>
          <p:cNvSpPr/>
          <p:nvPr/>
        </p:nvSpPr>
        <p:spPr>
          <a:xfrm>
            <a:off x="965200" y="4445000"/>
            <a:ext cx="76200" cy="1041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B5A0437-9735-3043-56C0-3629601238CB}"/>
              </a:ext>
            </a:extLst>
          </p:cNvPr>
          <p:cNvSpPr txBox="1"/>
          <p:nvPr/>
        </p:nvSpPr>
        <p:spPr>
          <a:xfrm>
            <a:off x="11557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理论知识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228353C-BCE9-C424-30B3-A739D8B2CABD}"/>
              </a:ext>
            </a:extLst>
          </p:cNvPr>
          <p:cNvSpPr txBox="1"/>
          <p:nvPr/>
        </p:nvSpPr>
        <p:spPr>
          <a:xfrm>
            <a:off x="11557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先讲课程概念、公式和方法思想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90DDB8E-0203-7F4E-AD4C-C7EBCD69F4C2}"/>
              </a:ext>
            </a:extLst>
          </p:cNvPr>
          <p:cNvSpPr/>
          <p:nvPr/>
        </p:nvSpPr>
        <p:spPr>
          <a:xfrm>
            <a:off x="35306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921D88E-604C-E8FC-77F0-13AC3A20101C}"/>
              </a:ext>
            </a:extLst>
          </p:cNvPr>
          <p:cNvSpPr/>
          <p:nvPr/>
        </p:nvSpPr>
        <p:spPr>
          <a:xfrm>
            <a:off x="3530600" y="4445000"/>
            <a:ext cx="76200" cy="1041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389C6DB-1F3F-0C07-B01A-3C0A5821BEB8}"/>
              </a:ext>
            </a:extLst>
          </p:cNvPr>
          <p:cNvSpPr txBox="1"/>
          <p:nvPr/>
        </p:nvSpPr>
        <p:spPr>
          <a:xfrm>
            <a:off x="37211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实验设置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7D60525-7628-4C60-E534-821C474C8778}"/>
              </a:ext>
            </a:extLst>
          </p:cNvPr>
          <p:cNvSpPr txBox="1"/>
          <p:nvPr/>
        </p:nvSpPr>
        <p:spPr>
          <a:xfrm>
            <a:off x="37211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说明数据、特征、模型参数和指标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930087CB-0FEB-3033-F992-7CB3A4B0027C}"/>
              </a:ext>
            </a:extLst>
          </p:cNvPr>
          <p:cNvSpPr/>
          <p:nvPr/>
        </p:nvSpPr>
        <p:spPr>
          <a:xfrm>
            <a:off x="60960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47F144B-F0D5-819A-DC39-427EA4ABACAD}"/>
              </a:ext>
            </a:extLst>
          </p:cNvPr>
          <p:cNvSpPr/>
          <p:nvPr/>
        </p:nvSpPr>
        <p:spPr>
          <a:xfrm>
            <a:off x="6096000" y="4445000"/>
            <a:ext cx="76200" cy="1041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2F1F6F6-08C4-B80C-FA38-48E7BBE9AA1F}"/>
              </a:ext>
            </a:extLst>
          </p:cNvPr>
          <p:cNvSpPr txBox="1"/>
          <p:nvPr/>
        </p:nvSpPr>
        <p:spPr>
          <a:xfrm>
            <a:off x="62865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05CDB1A-511B-D472-0B63-EE4A90689948}"/>
              </a:ext>
            </a:extLst>
          </p:cNvPr>
          <p:cNvSpPr txBox="1"/>
          <p:nvPr/>
        </p:nvSpPr>
        <p:spPr>
          <a:xfrm>
            <a:off x="6286500" y="4927600"/>
            <a:ext cx="1854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展示准确率、错误率、混淆矩阵和图像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3FA45B8-59A9-7E95-2A8C-8B22D71D535A}"/>
              </a:ext>
            </a:extLst>
          </p:cNvPr>
          <p:cNvSpPr/>
          <p:nvPr/>
        </p:nvSpPr>
        <p:spPr>
          <a:xfrm>
            <a:off x="8661400" y="4445000"/>
            <a:ext cx="2159000" cy="104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730DA69-5EB1-FD3F-3E59-88D37A97DD45}"/>
              </a:ext>
            </a:extLst>
          </p:cNvPr>
          <p:cNvSpPr/>
          <p:nvPr/>
        </p:nvSpPr>
        <p:spPr>
          <a:xfrm>
            <a:off x="8661400" y="4445000"/>
            <a:ext cx="76200" cy="10414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3D6C984-49AB-F9E9-FF6F-051D12CE02DF}"/>
              </a:ext>
            </a:extLst>
          </p:cNvPr>
          <p:cNvSpPr txBox="1"/>
          <p:nvPr/>
        </p:nvSpPr>
        <p:spPr>
          <a:xfrm>
            <a:off x="8851900" y="4572000"/>
            <a:ext cx="1854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分析总结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916F583-269E-81BF-7983-1BFD68720B10}"/>
              </a:ext>
            </a:extLst>
          </p:cNvPr>
          <p:cNvSpPr txBox="1"/>
          <p:nvPr/>
        </p:nvSpPr>
        <p:spPr>
          <a:xfrm>
            <a:off x="8851900" y="4927600"/>
            <a:ext cx="1854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解释现象并联系课程理论</a:t>
            </a:r>
          </a:p>
        </p:txBody>
      </p:sp>
    </p:spTree>
    <p:extLst>
      <p:ext uri="{BB962C8B-B14F-4D97-AF65-F5344CB8AC3E}">
        <p14:creationId xmlns:p14="http://schemas.microsoft.com/office/powerpoint/2010/main" val="3091365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1A921D-9A53-5029-4330-D78A8502DF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2986F5-B75A-D362-79EA-15FF2541F68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593492D-B1F7-8BCC-BA29-102893265ED5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73FE4C2-D416-272B-0CBB-C42F8806E14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7F6F32-6F8F-8808-0874-A7B093D9C51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SOURCE &amp; SETUP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37D175-CE78-9AFF-5B9A-521453B3C5B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数据与实验环境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671282E-4CBD-1BD3-91DB-37C5B00E89C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4D5907A-DA6D-525A-27AB-336BC74BC21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94A083-F42B-E819-0FFE-6E855D3D9AD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13A5F25-E240-8073-60AD-9E67A0300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97727"/>
              </p:ext>
            </p:extLst>
          </p:nvPr>
        </p:nvGraphicFramePr>
        <p:xfrm>
          <a:off x="736600" y="1333500"/>
          <a:ext cx="57785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3283173914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3872848752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3549355738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实验用途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规模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8179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/ MALE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实验一、二、三、五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+ 50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05788652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/ 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分类器泛化测试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/ 300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个测试样本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9033934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飞机图像数据集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实验四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训练图，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测试图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28535848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FE5569F-2072-ECD6-BB01-E9E333BE9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42158"/>
              </p:ext>
            </p:extLst>
          </p:nvPr>
        </p:nvGraphicFramePr>
        <p:xfrm>
          <a:off x="6921500" y="1333500"/>
          <a:ext cx="4445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1924424727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55684097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工具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43781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Python 3.11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实验脚本运行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9751246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NumPy / SciPy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数值计算与矩阵运算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035051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scikit-learn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、评估指标、分级聚类辅助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828172798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Matplotlib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分类边界、投影、聚类图输出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41177062"/>
                  </a:ext>
                </a:extLst>
              </a:tr>
            </a:tbl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D57ABB-795D-13B9-403D-1A52E8BE20FB}"/>
              </a:ext>
            </a:extLst>
          </p:cNvPr>
          <p:cNvSpPr/>
          <p:nvPr/>
        </p:nvSpPr>
        <p:spPr>
          <a:xfrm>
            <a:off x="99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718D2A-6C11-42D1-4B91-D79F44571738}"/>
              </a:ext>
            </a:extLst>
          </p:cNvPr>
          <p:cNvSpPr txBox="1"/>
          <p:nvPr/>
        </p:nvSpPr>
        <p:spPr>
          <a:xfrm>
            <a:off x="114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5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49A74B-E95F-CA1D-8C16-547DFB5F91F6}"/>
              </a:ext>
            </a:extLst>
          </p:cNvPr>
          <p:cNvSpPr txBox="1"/>
          <p:nvPr/>
        </p:nvSpPr>
        <p:spPr>
          <a:xfrm>
            <a:off x="114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已完成实验任务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30B252A-8B8E-EDB6-1149-20F677D63231}"/>
              </a:ext>
            </a:extLst>
          </p:cNvPr>
          <p:cNvSpPr/>
          <p:nvPr/>
        </p:nvSpPr>
        <p:spPr>
          <a:xfrm>
            <a:off x="353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BF082A-AB97-C2B0-D3FE-33A72A1EB130}"/>
              </a:ext>
            </a:extLst>
          </p:cNvPr>
          <p:cNvSpPr txBox="1"/>
          <p:nvPr/>
        </p:nvSpPr>
        <p:spPr>
          <a:xfrm>
            <a:off x="368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05A10A7-C508-8428-6E8E-EF71491FA722}"/>
              </a:ext>
            </a:extLst>
          </p:cNvPr>
          <p:cNvSpPr txBox="1"/>
          <p:nvPr/>
        </p:nvSpPr>
        <p:spPr>
          <a:xfrm>
            <a:off x="368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汇报中使用图表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E55ACF1-195A-38F0-7A8C-E26506E1D7F2}"/>
              </a:ext>
            </a:extLst>
          </p:cNvPr>
          <p:cNvSpPr/>
          <p:nvPr/>
        </p:nvSpPr>
        <p:spPr>
          <a:xfrm>
            <a:off x="607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FED808-4658-FE5B-5B18-8147448CFA5B}"/>
              </a:ext>
            </a:extLst>
          </p:cNvPr>
          <p:cNvSpPr txBox="1"/>
          <p:nvPr/>
        </p:nvSpPr>
        <p:spPr>
          <a:xfrm>
            <a:off x="622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2D/1024D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AE4C99-6C31-06D8-DA8F-D9D2F359F03D}"/>
              </a:ext>
            </a:extLst>
          </p:cNvPr>
          <p:cNvSpPr txBox="1"/>
          <p:nvPr/>
        </p:nvSpPr>
        <p:spPr>
          <a:xfrm>
            <a:off x="622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低维与图像高维特征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558AAD6-8904-0DFE-E955-6E422C6AF4B6}"/>
              </a:ext>
            </a:extLst>
          </p:cNvPr>
          <p:cNvSpPr/>
          <p:nvPr/>
        </p:nvSpPr>
        <p:spPr>
          <a:xfrm>
            <a:off x="8610600" y="4495800"/>
            <a:ext cx="2032000" cy="7112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440275-BC9F-6C8D-F360-B37CA010CD19}"/>
              </a:ext>
            </a:extLst>
          </p:cNvPr>
          <p:cNvSpPr txBox="1"/>
          <p:nvPr/>
        </p:nvSpPr>
        <p:spPr>
          <a:xfrm>
            <a:off x="8763000" y="4597400"/>
            <a:ext cx="1752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分类</a:t>
            </a:r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70A6B25-8E71-3680-8885-73CA89A5F2AD}"/>
              </a:ext>
            </a:extLst>
          </p:cNvPr>
          <p:cNvSpPr txBox="1"/>
          <p:nvPr/>
        </p:nvSpPr>
        <p:spPr>
          <a:xfrm>
            <a:off x="8763000" y="5003800"/>
            <a:ext cx="1752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监督与无监督覆盖</a:t>
            </a:r>
          </a:p>
        </p:txBody>
      </p:sp>
    </p:spTree>
    <p:extLst>
      <p:ext uri="{BB962C8B-B14F-4D97-AF65-F5344CB8AC3E}">
        <p14:creationId xmlns:p14="http://schemas.microsoft.com/office/powerpoint/2010/main" val="261440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42B0BA-1A62-6C26-36A6-30A1DFADB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4A007B6B-F18A-51AF-4C58-B552142D43A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478BFA8-4951-6518-D736-8F4C775CDF22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8000DB-8564-97F1-51CD-5E0C84BB55BC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807CEA-5B1B-5ACE-5362-2000232F9B8D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7A225B-A536-5FCA-C13D-F8899EAE13F7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体重数据进行最小错误率与最小风险决策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2A20D57-DF03-16CC-1FA5-E9CD9AD5C4E6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01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293FFE-06FB-EAC6-3C2D-D97D674EED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0F29F-4731-7D61-F35F-DEFB0BD53CC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F7375A1-244A-299F-3714-E083DE2A62CB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C5C39458-7A45-1153-39E6-0E989CD6066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64C214-D398-2DEC-22E2-6C95240DAF0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28F4C4-BC8E-8EA4-FA90-2EDB248E796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实验一理论：概率决策框架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1701CB9-A885-F67D-AD65-45DDF876771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F11901F-DD45-B889-65AC-9812B767B1A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1EA5FE-B53A-3157-68C7-A4544D6031F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87438C-9EEB-86FE-5E3E-382ABDFBF332}"/>
              </a:ext>
            </a:extLst>
          </p:cNvPr>
          <p:cNvSpPr/>
          <p:nvPr/>
        </p:nvSpPr>
        <p:spPr>
          <a:xfrm>
            <a:off x="7366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54EE5A-0BB3-0A81-0177-228EBB694470}"/>
              </a:ext>
            </a:extLst>
          </p:cNvPr>
          <p:cNvSpPr/>
          <p:nvPr/>
        </p:nvSpPr>
        <p:spPr>
          <a:xfrm>
            <a:off x="736600" y="1371600"/>
            <a:ext cx="76200" cy="1092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4FC096-4C6F-D1A5-75AB-1A1D729FCFB0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后验概率决策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33CFBD-FC4B-5693-AED7-5211A0CB7E4B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选择给定特征后最可能的类别，本质是把观测特征映射到类别后验。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0F97FC9-8221-0A62-09C3-BBDCC1AD27ED}"/>
              </a:ext>
            </a:extLst>
          </p:cNvPr>
          <p:cNvSpPr/>
          <p:nvPr/>
        </p:nvSpPr>
        <p:spPr>
          <a:xfrm>
            <a:off x="4445000" y="1371600"/>
            <a:ext cx="3302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609498-0592-5109-0BA1-74BED2459B44}"/>
              </a:ext>
            </a:extLst>
          </p:cNvPr>
          <p:cNvSpPr/>
          <p:nvPr/>
        </p:nvSpPr>
        <p:spPr>
          <a:xfrm>
            <a:off x="4445000" y="1371600"/>
            <a:ext cx="76200" cy="1092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13E4F4-7D25-B6DB-3EAA-58DDDB227127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高斯参数估计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2D0F4C-FE9D-EDDA-EB47-73B42095FEE7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在正态假设下估计均值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与协方差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，得到二次判别函数。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538251E-392E-262F-86CF-FB02DD890E7F}"/>
              </a:ext>
            </a:extLst>
          </p:cNvPr>
          <p:cNvSpPr/>
          <p:nvPr/>
        </p:nvSpPr>
        <p:spPr>
          <a:xfrm>
            <a:off x="8153400" y="1371600"/>
            <a:ext cx="2921000" cy="109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87E179-409F-C865-4B90-4AB7040FBC70}"/>
              </a:ext>
            </a:extLst>
          </p:cNvPr>
          <p:cNvSpPr/>
          <p:nvPr/>
        </p:nvSpPr>
        <p:spPr>
          <a:xfrm>
            <a:off x="8153400" y="1371600"/>
            <a:ext cx="76200" cy="1092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17BBF4-FE79-35D1-A202-2B0C9B6A4861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风险敏感决策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69FD23-3BC0-5BCD-3D5E-557E92C24C58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用损失表刻画不同错误代价，选择条件风险最小的动作。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DC77AC0-522F-ADFA-5E30-E0C5A2279BC5}"/>
              </a:ext>
            </a:extLst>
          </p:cNvPr>
          <p:cNvSpPr/>
          <p:nvPr/>
        </p:nvSpPr>
        <p:spPr>
          <a:xfrm>
            <a:off x="990600" y="3302000"/>
            <a:ext cx="10210800" cy="8890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332F3C-A9D4-B28E-E10A-9DD38A46C160}"/>
              </a:ext>
            </a:extLst>
          </p:cNvPr>
          <p:cNvSpPr txBox="1"/>
          <p:nvPr/>
        </p:nvSpPr>
        <p:spPr>
          <a:xfrm>
            <a:off x="1270000" y="3632200"/>
            <a:ext cx="965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判别函数 </a:t>
            </a:r>
            <a:r>
              <a:rPr lang="en-US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= </a:t>
            </a:r>
            <a:r>
              <a:rPr lang="zh-CN" altLang="en-US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密度匹配程度 </a:t>
            </a:r>
            <a:r>
              <a:rPr lang="en-US" altLang="zh-CN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2000" b="1">
                <a:solidFill>
                  <a:srgbClr val="006BB7"/>
                </a:solidFill>
                <a:latin typeface="Microsoft YaHei" panose="020B0503020204020204" pitchFamily="34" charset="-122"/>
              </a:rPr>
              <a:t>类别先验影响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D93B66-FFA9-B22C-C52F-D55D604DDBEB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课程相关：参数估计、先验概率、贝叶斯判别函数、最小风险决策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实验目的：观察特征、先验、协方差假设和风险表对分类性能的影响</a:t>
            </a:r>
          </a:p>
        </p:txBody>
      </p:sp>
    </p:spTree>
    <p:extLst>
      <p:ext uri="{BB962C8B-B14F-4D97-AF65-F5344CB8AC3E}">
        <p14:creationId xmlns:p14="http://schemas.microsoft.com/office/powerpoint/2010/main" val="251194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02FBA4-AFA8-6C79-04F4-A5491288CE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5A2955-9AC7-8ECA-EEBB-DB7D9BAB8BD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7C24BC25-328A-7EA6-52A4-D7DD587D7CF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00A2478-05C7-3962-1747-E245D7C35FD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5B129C-9BC4-8CCF-97F1-464171507E42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BAYES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D3E794-D547-38A5-E897-ECBA2075E07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分类器到底在算什么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F00F2AB-B78A-0711-9A68-1B9A8C16ACC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CFE1C10-9611-3F6E-9EEA-AFBF817690B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353E72-2F67-9887-3061-33CB385E88E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FD17D5-9C35-CF12-ACF7-99FD92F8F82E}"/>
              </a:ext>
            </a:extLst>
          </p:cNvPr>
          <p:cNvSpPr/>
          <p:nvPr/>
        </p:nvSpPr>
        <p:spPr>
          <a:xfrm>
            <a:off x="7366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7F3C10-8494-FDA0-DA53-62BDCAEE46F1}"/>
              </a:ext>
            </a:extLst>
          </p:cNvPr>
          <p:cNvSpPr/>
          <p:nvPr/>
        </p:nvSpPr>
        <p:spPr>
          <a:xfrm>
            <a:off x="736600" y="1371600"/>
            <a:ext cx="76200" cy="13208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5107C3-DA21-A1F0-AB7B-606E980E3B90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先看样本像谁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A1DA25-4179-16E1-B479-C6D5F6917999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身高、体重是观测到的特征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。分类器先比较这个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在女生分布和男生分布中出现的可能性。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4E4F8BE-40DC-FEC4-C79E-4E47BC038254}"/>
              </a:ext>
            </a:extLst>
          </p:cNvPr>
          <p:cNvSpPr/>
          <p:nvPr/>
        </p:nvSpPr>
        <p:spPr>
          <a:xfrm>
            <a:off x="4508500" y="1371600"/>
            <a:ext cx="3175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DBD774-E9E6-B506-8FE7-410506A59D56}"/>
              </a:ext>
            </a:extLst>
          </p:cNvPr>
          <p:cNvSpPr/>
          <p:nvPr/>
        </p:nvSpPr>
        <p:spPr>
          <a:xfrm>
            <a:off x="4508500" y="1371600"/>
            <a:ext cx="76200" cy="13208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0F91B2-01E6-8BE5-7173-9A9928E9FF41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再考虑先验比例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058D2A-8864-902A-7B71-475154AD4159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如果测试集中男生更多，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P(M)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更大；同样的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可能更容易被判为男生。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CD121D0-02DE-1B1A-B966-61C454F405E6}"/>
              </a:ext>
            </a:extLst>
          </p:cNvPr>
          <p:cNvSpPr/>
          <p:nvPr/>
        </p:nvSpPr>
        <p:spPr>
          <a:xfrm>
            <a:off x="8280400" y="1371600"/>
            <a:ext cx="2921000" cy="1320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98B62C-AA19-30CC-6AA3-C6745C64F8E9}"/>
              </a:ext>
            </a:extLst>
          </p:cNvPr>
          <p:cNvSpPr/>
          <p:nvPr/>
        </p:nvSpPr>
        <p:spPr>
          <a:xfrm>
            <a:off x="8280400" y="1371600"/>
            <a:ext cx="76200" cy="13208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E4ED89-7F01-9214-F336-55E80F901DB3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最后选择后验最大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46C6AD-DEBC-52C4-D1E1-38EB8D1AF715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后验概率综合了类条件密度和先验概率，是做类别决策的直接依据。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FBC35E-ED6B-E4D2-BE09-B05E5E30DF83}"/>
              </a:ext>
            </a:extLst>
          </p:cNvPr>
          <p:cNvSpPr/>
          <p:nvPr/>
        </p:nvSpPr>
        <p:spPr>
          <a:xfrm>
            <a:off x="1041400" y="3327400"/>
            <a:ext cx="10109200" cy="863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BAF7A5-D67F-9834-C603-0D181E7DF7E2}"/>
              </a:ext>
            </a:extLst>
          </p:cNvPr>
          <p:cNvSpPr txBox="1"/>
          <p:nvPr/>
        </p:nvSpPr>
        <p:spPr>
          <a:xfrm>
            <a:off x="1422400" y="3606800"/>
            <a:ext cx="939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006BB7"/>
                </a:solidFill>
                <a:latin typeface="Microsoft YaHei" panose="020B0503020204020204" pitchFamily="34" charset="-122"/>
              </a:rPr>
              <a:t>后验概率 ∝ 类条件密度 </a:t>
            </a:r>
            <a:r>
              <a:rPr lang="en-US" altLang="zh-CN" sz="2100" b="1">
                <a:solidFill>
                  <a:srgbClr val="006BB7"/>
                </a:solidFill>
                <a:latin typeface="Microsoft YaHei" panose="020B0503020204020204" pitchFamily="34" charset="-122"/>
              </a:rPr>
              <a:t>× </a:t>
            </a:r>
            <a:r>
              <a:rPr lang="zh-CN" altLang="en-US" sz="2100" b="1">
                <a:solidFill>
                  <a:srgbClr val="006BB7"/>
                </a:solidFill>
                <a:latin typeface="Microsoft YaHei" panose="020B0503020204020204" pitchFamily="34" charset="-122"/>
              </a:rPr>
              <a:t>先验概率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A113AE9-968B-DEF9-3A07-E955935A3349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类条件密度：某一类别内部的特征分布，例如女生身高体重大多集中在哪里。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先验概率：在看到特征之前，某一类本来出现的概率。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两类比较时，归一化项相同，实际只需要比较：密度乘以先验。</a:t>
            </a:r>
          </a:p>
        </p:txBody>
      </p:sp>
    </p:spTree>
    <p:extLst>
      <p:ext uri="{BB962C8B-B14F-4D97-AF65-F5344CB8AC3E}">
        <p14:creationId xmlns:p14="http://schemas.microsoft.com/office/powerpoint/2010/main" val="298520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E7A639-551E-BDEA-1001-6B7D0A7A20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CD8109-9DAE-B706-7CF1-7E61757E8AD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785EBE1-86C9-0988-61BE-C10AA39C8F4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14951ED-93C8-19F9-FAAC-1F1239EF26CE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7C94D2-548B-477E-870C-979110CC258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DISCRIMINANT FUNCTION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37AFC8-D836-DA9F-8B91-77742584EB4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实验一理论展开：为什么会出现曲线决策边界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ABED2EB-C0E8-53DB-CBD8-D536F72FBC0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001EF31-A704-28E7-3B57-F46B8521F46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3C14FB-79EA-98AA-FBEC-BB8BA0D39EC6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73CD7E9-7D29-7238-CCD6-E1B296253E6E}"/>
              </a:ext>
            </a:extLst>
          </p:cNvPr>
          <p:cNvSpPr/>
          <p:nvPr/>
        </p:nvSpPr>
        <p:spPr>
          <a:xfrm>
            <a:off x="8636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797F89-8472-F323-4796-00EFC4206538}"/>
              </a:ext>
            </a:extLst>
          </p:cNvPr>
          <p:cNvSpPr/>
          <p:nvPr/>
        </p:nvSpPr>
        <p:spPr>
          <a:xfrm>
            <a:off x="863600" y="1498600"/>
            <a:ext cx="76200" cy="12446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F873DB-6A22-8377-137D-ECF7105AA291}"/>
              </a:ext>
            </a:extLst>
          </p:cNvPr>
          <p:cNvSpPr txBox="1"/>
          <p:nvPr/>
        </p:nvSpPr>
        <p:spPr>
          <a:xfrm>
            <a:off x="10541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一维特征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3B6915-8876-8A54-82EA-B14E200BBBFA}"/>
              </a:ext>
            </a:extLst>
          </p:cNvPr>
          <p:cNvSpPr txBox="1"/>
          <p:nvPr/>
        </p:nvSpPr>
        <p:spPr>
          <a:xfrm>
            <a:off x="1054100" y="1981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只用身高或体重时，每个类别是一条正态曲线。两条曲线加上先验后，交点就是阈值。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1844218-7D75-423B-1B50-FEC0FA815A91}"/>
              </a:ext>
            </a:extLst>
          </p:cNvPr>
          <p:cNvSpPr/>
          <p:nvPr/>
        </p:nvSpPr>
        <p:spPr>
          <a:xfrm>
            <a:off x="4508500" y="1498600"/>
            <a:ext cx="31750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1A5674-4B13-06D2-1AB9-A6C9676DA42A}"/>
              </a:ext>
            </a:extLst>
          </p:cNvPr>
          <p:cNvSpPr/>
          <p:nvPr/>
        </p:nvSpPr>
        <p:spPr>
          <a:xfrm>
            <a:off x="4508500" y="1498600"/>
            <a:ext cx="76200" cy="12446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3242B3-8F70-96F3-F7A1-900EC638C545}"/>
              </a:ext>
            </a:extLst>
          </p:cNvPr>
          <p:cNvSpPr txBox="1"/>
          <p:nvPr/>
        </p:nvSpPr>
        <p:spPr>
          <a:xfrm>
            <a:off x="4699000" y="1625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二维特征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2D3E6B-7E11-027B-58A5-FC0719A595F7}"/>
              </a:ext>
            </a:extLst>
          </p:cNvPr>
          <p:cNvSpPr txBox="1"/>
          <p:nvPr/>
        </p:nvSpPr>
        <p:spPr>
          <a:xfrm>
            <a:off x="4699000" y="1981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同时使用身高和体重时，每个类别是二维高斯分布，等概率位置形成决策边界。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3AE6D8D-97A7-BD54-C745-7513BFB2988B}"/>
              </a:ext>
            </a:extLst>
          </p:cNvPr>
          <p:cNvSpPr/>
          <p:nvPr/>
        </p:nvSpPr>
        <p:spPr>
          <a:xfrm>
            <a:off x="8153400" y="1498600"/>
            <a:ext cx="3022600" cy="124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0D67DB-D10E-E1CA-BC17-611B80751D8B}"/>
              </a:ext>
            </a:extLst>
          </p:cNvPr>
          <p:cNvSpPr/>
          <p:nvPr/>
        </p:nvSpPr>
        <p:spPr>
          <a:xfrm>
            <a:off x="8153400" y="1498600"/>
            <a:ext cx="76200" cy="12446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381EDF-0379-C43E-2418-B7B082BEF95E}"/>
              </a:ext>
            </a:extLst>
          </p:cNvPr>
          <p:cNvSpPr txBox="1"/>
          <p:nvPr/>
        </p:nvSpPr>
        <p:spPr>
          <a:xfrm>
            <a:off x="8343900" y="1625600"/>
            <a:ext cx="27178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协方差的作用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D6B3D7-63F1-9F94-C620-49A9E72EA416}"/>
              </a:ext>
            </a:extLst>
          </p:cNvPr>
          <p:cNvSpPr txBox="1"/>
          <p:nvPr/>
        </p:nvSpPr>
        <p:spPr>
          <a:xfrm>
            <a:off x="8343900" y="1981200"/>
            <a:ext cx="2717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完整协方差会描述身高和体重的相关性，因此边界可以弯曲；对角协方差会更简化。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36BF562-B345-16AA-149E-212C5D98C659}"/>
              </a:ext>
            </a:extLst>
          </p:cNvPr>
          <p:cNvSpPr/>
          <p:nvPr/>
        </p:nvSpPr>
        <p:spPr>
          <a:xfrm>
            <a:off x="1016000" y="3479800"/>
            <a:ext cx="10160000" cy="889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DCBAF1-F36A-8774-621C-C4BDE0902C35}"/>
              </a:ext>
            </a:extLst>
          </p:cNvPr>
          <p:cNvSpPr txBox="1"/>
          <p:nvPr/>
        </p:nvSpPr>
        <p:spPr>
          <a:xfrm>
            <a:off x="1422400" y="3784600"/>
            <a:ext cx="9347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0A7FCC"/>
                </a:solidFill>
                <a:latin typeface="Microsoft YaHei" panose="020B0503020204020204" pitchFamily="34" charset="-122"/>
              </a:rPr>
              <a:t>决策规则：女生得分更高就判为女生，否则判为男生。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EC956B8-ACDD-89C0-D7F5-EBD01C5B112A}"/>
              </a:ext>
            </a:extLst>
          </p:cNvPr>
          <p:cNvSpPr txBox="1"/>
          <p:nvPr/>
        </p:nvSpPr>
        <p:spPr>
          <a:xfrm>
            <a:off x="11176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决策边界本质上是两类判别函数相等的位置。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边界附近的样本最容易被错分，因为它们同时像两个类别。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中男生样本更多，先验设置会明显影响边界向哪一侧移动。</a:t>
            </a:r>
          </a:p>
        </p:txBody>
      </p:sp>
    </p:spTree>
    <p:extLst>
      <p:ext uri="{BB962C8B-B14F-4D97-AF65-F5344CB8AC3E}">
        <p14:creationId xmlns:p14="http://schemas.microsoft.com/office/powerpoint/2010/main" val="59677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991FAA-3C06-764B-EC39-7C2E606A57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6177DA-CFC0-A68F-26DB-7BE3F7C8154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786669D-6481-E151-4304-6EF6176E4F06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28AAF67-B9F5-B79C-390E-CC7D7928DEC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C991CD-60F8-4651-E8CD-8D34E382199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28EA2E-ACD2-4FC9-F3A9-3AEC6733B8E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实验一设置：数据、特征与实现流程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271ACF7-D694-DF68-4DC9-C40A5FBAB1A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3AD7E5D-CBD6-710F-CEBC-FF009E7C600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8EB741-902D-4637-7482-14E80D26379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8E122B0-925D-74D4-1A79-94FEC80E70CE}"/>
              </a:ext>
            </a:extLst>
          </p:cNvPr>
          <p:cNvSpPr/>
          <p:nvPr/>
        </p:nvSpPr>
        <p:spPr>
          <a:xfrm>
            <a:off x="889000" y="14986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D0B1F6-2A30-E059-6232-0C837B159FE4}"/>
              </a:ext>
            </a:extLst>
          </p:cNvPr>
          <p:cNvSpPr txBox="1"/>
          <p:nvPr/>
        </p:nvSpPr>
        <p:spPr>
          <a:xfrm>
            <a:off x="901700" y="1574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0CEC51-81E8-D95A-53E0-1CE7BCC3160D}"/>
              </a:ext>
            </a:extLst>
          </p:cNvPr>
          <p:cNvSpPr txBox="1"/>
          <p:nvPr/>
        </p:nvSpPr>
        <p:spPr>
          <a:xfrm>
            <a:off x="1422400" y="1460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79E87C-FCD4-82F0-457B-22E5520AD794}"/>
              </a:ext>
            </a:extLst>
          </p:cNvPr>
          <p:cNvSpPr txBox="1"/>
          <p:nvPr/>
        </p:nvSpPr>
        <p:spPr>
          <a:xfrm>
            <a:off x="1422400" y="1778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FEMALE/MALE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作为训练集；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test1/test2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作为测试集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63ACC55-862F-E147-96C4-AD92D60D1504}"/>
              </a:ext>
            </a:extLst>
          </p:cNvPr>
          <p:cNvSpPr/>
          <p:nvPr/>
        </p:nvSpPr>
        <p:spPr>
          <a:xfrm>
            <a:off x="889000" y="25146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B4CE62-65BB-FC80-D046-102FFF40F1EE}"/>
              </a:ext>
            </a:extLst>
          </p:cNvPr>
          <p:cNvSpPr txBox="1"/>
          <p:nvPr/>
        </p:nvSpPr>
        <p:spPr>
          <a:xfrm>
            <a:off x="901700" y="2590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754E50-56AE-1592-50AE-A8941DB95ABE}"/>
              </a:ext>
            </a:extLst>
          </p:cNvPr>
          <p:cNvSpPr txBox="1"/>
          <p:nvPr/>
        </p:nvSpPr>
        <p:spPr>
          <a:xfrm>
            <a:off x="1422400" y="2476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A0DDB3-6EFF-BA9E-9151-ACDB0ABCB437}"/>
              </a:ext>
            </a:extLst>
          </p:cNvPr>
          <p:cNvSpPr txBox="1"/>
          <p:nvPr/>
        </p:nvSpPr>
        <p:spPr>
          <a:xfrm>
            <a:off x="1422400" y="2794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身高、体重、身高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体重三组对比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B8CF0A8-8607-3BAE-C6DF-FBB1B271410A}"/>
              </a:ext>
            </a:extLst>
          </p:cNvPr>
          <p:cNvSpPr/>
          <p:nvPr/>
        </p:nvSpPr>
        <p:spPr>
          <a:xfrm>
            <a:off x="889000" y="35306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8100CA-4612-571B-5FB3-40B89E7EEF42}"/>
              </a:ext>
            </a:extLst>
          </p:cNvPr>
          <p:cNvSpPr txBox="1"/>
          <p:nvPr/>
        </p:nvSpPr>
        <p:spPr>
          <a:xfrm>
            <a:off x="901700" y="3606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840A45-9FBB-B1FB-000D-472A72D43649}"/>
              </a:ext>
            </a:extLst>
          </p:cNvPr>
          <p:cNvSpPr txBox="1"/>
          <p:nvPr/>
        </p:nvSpPr>
        <p:spPr>
          <a:xfrm>
            <a:off x="1422400" y="3492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估计分布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10687C-F274-C7DE-7463-DA467B5196B8}"/>
              </a:ext>
            </a:extLst>
          </p:cNvPr>
          <p:cNvSpPr txBox="1"/>
          <p:nvPr/>
        </p:nvSpPr>
        <p:spPr>
          <a:xfrm>
            <a:off x="1422400" y="3810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最大似然估计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μ</a:t>
            </a:r>
            <a:r>
              <a:rPr lang="zh-CN" altLang="el-GR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或 </a:t>
            </a:r>
            <a:r>
              <a:rPr lang="el-GR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Σ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0633D84-4921-4167-D0DB-0241E8C14FFE}"/>
              </a:ext>
            </a:extLst>
          </p:cNvPr>
          <p:cNvSpPr/>
          <p:nvPr/>
        </p:nvSpPr>
        <p:spPr>
          <a:xfrm>
            <a:off x="889000" y="45466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CED38FC-AD7F-3F6F-882A-DF02C4D0D834}"/>
              </a:ext>
            </a:extLst>
          </p:cNvPr>
          <p:cNvSpPr txBox="1"/>
          <p:nvPr/>
        </p:nvSpPr>
        <p:spPr>
          <a:xfrm>
            <a:off x="901700" y="46228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E0D2D86-9172-A57E-6891-2A92C595B1C7}"/>
              </a:ext>
            </a:extLst>
          </p:cNvPr>
          <p:cNvSpPr txBox="1"/>
          <p:nvPr/>
        </p:nvSpPr>
        <p:spPr>
          <a:xfrm>
            <a:off x="1422400" y="45085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分类评估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9C7861-6726-C218-D858-E4BE991509B9}"/>
              </a:ext>
            </a:extLst>
          </p:cNvPr>
          <p:cNvSpPr txBox="1"/>
          <p:nvPr/>
        </p:nvSpPr>
        <p:spPr>
          <a:xfrm>
            <a:off x="1422400" y="48260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准确率、召回率、混淆矩阵、错误分析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B807037-2ABF-C0CB-800C-100DE28D1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837389"/>
              </p:ext>
            </p:extLst>
          </p:nvPr>
        </p:nvGraphicFramePr>
        <p:xfrm>
          <a:off x="5943600" y="1524000"/>
          <a:ext cx="4953000" cy="234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371606393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424576249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26968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先验概率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0.5/0.5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0.75/0.25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0.9/0.1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08796189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2322172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风险表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M|F)=2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F|M)=1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3217984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非参数补充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窗、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47084193"/>
                  </a:ext>
                </a:extLst>
              </a:tr>
            </a:tbl>
          </a:graphicData>
        </a:graphic>
      </p:graphicFrame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001EED3-9D3B-7853-6AF4-1284CE3BD456}"/>
              </a:ext>
            </a:extLst>
          </p:cNvPr>
          <p:cNvSpPr/>
          <p:nvPr/>
        </p:nvSpPr>
        <p:spPr>
          <a:xfrm>
            <a:off x="6197600" y="4521200"/>
            <a:ext cx="44450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B8306B-CB18-CD7D-7A03-0D2734DE3145}"/>
              </a:ext>
            </a:extLst>
          </p:cNvPr>
          <p:cNvSpPr/>
          <p:nvPr/>
        </p:nvSpPr>
        <p:spPr>
          <a:xfrm>
            <a:off x="6197600" y="45212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A75DFC9-16EA-C392-DADE-6DAFDAD47D9F}"/>
              </a:ext>
            </a:extLst>
          </p:cNvPr>
          <p:cNvSpPr txBox="1"/>
          <p:nvPr/>
        </p:nvSpPr>
        <p:spPr>
          <a:xfrm>
            <a:off x="6388100" y="46482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实现要点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D3CFAC2-65FA-4BD3-732A-2FE4801DA1F7}"/>
              </a:ext>
            </a:extLst>
          </p:cNvPr>
          <p:cNvSpPr txBox="1"/>
          <p:nvPr/>
        </p:nvSpPr>
        <p:spPr>
          <a:xfrm>
            <a:off x="6388100" y="5003800"/>
            <a:ext cx="414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所有分类器统一输出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train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test1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上的性能，便于横向比较。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801668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78F90A-5F60-3F08-C802-6BF44865A4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21D9AA-C4C4-770E-1FF7-F93B0691A18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2BF1448-1CFB-F2E0-3E67-AD1176EECBA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001AD715-A4ED-1A92-AC5C-B21AA3B6B85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103A28-BAF5-6047-FB3E-022A5382CCD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 VISUALS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226D6D-1AB3-EE5C-60E3-2471274F25F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实验一结果：数据分布与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8EE480-C4D7-8347-DC78-ABF62A634B0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3018756-F51F-C86A-2CC2-D5D8F4348AA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99FE0C-67FE-C0EC-55C9-0D51B6D678CD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4C8A55-AD79-9618-978D-F5B7F658BCDA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3C3AFFA-A2E9-E9AE-489C-FCEBCF355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7C2EE4F-F99B-AF2F-EF10-EB22E775F5F9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7A395DE-9F6E-01EB-18F9-0E04C4224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847782"/>
            <a:ext cx="4071811" cy="290843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B464AB9-AA0F-5A0C-1E48-2C6BCE6C3D4B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CCB96B-44E7-E335-BFC1-AEFDA684E714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88.00%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D2A38D8-97C1-D215-1EBD-A9EED6242B0A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训练准确率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C75D5F6-01B2-3AA0-BEBD-C1DD35427FFE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CAB101-CE5D-8A65-F953-765AF72A2310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97.14%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F26EBE-6A21-C92C-D495-31826694F8F1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65A5E82-60EE-16CD-AC1B-444810E6AB9F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93F3C1-0012-3163-B58A-561EE37B5E74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F58511-E28E-3A05-9BD0-661327DEB9E5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准确率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2AC2A46-27EF-16F9-5D44-2AF34C1AA46E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67403F-9202-DB4D-2A6B-9DFCAC743FB5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C654DF-A413-3364-CB54-D1660D4E5F09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对角协方差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177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CEE4F0-87EC-4A55-D308-51D9634B49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DE005A-7E38-8433-E5B6-FF0D9416399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77BC01F-F987-C3FC-C6BD-F87E9171795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536E276-5FD0-1613-1137-F655C36741D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315F6D-6CA4-52A3-F49F-BCEFC0AA907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7AF274-506E-5E7B-1EDF-E4330538A7C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实验一分析：先验与风险改变决策偏向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B104195-4B70-AF7E-62AB-7C50CD0499D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37EF708-1FA6-56BD-1AAC-7148780365E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5E9D2E-9A59-2E88-B3FA-4FF2B0FDCD5C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C6C9EF0-5564-FBF6-EF3B-76135200C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701218"/>
              </p:ext>
            </p:extLst>
          </p:nvPr>
        </p:nvGraphicFramePr>
        <p:xfrm>
          <a:off x="762000" y="1333500"/>
          <a:ext cx="6350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>
                  <a:extLst>
                    <a:ext uri="{9D8B030D-6E8A-4147-A177-3AD203B41FA5}">
                      <a16:colId xmlns:a16="http://schemas.microsoft.com/office/drawing/2014/main" val="244143886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36110844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4255135484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3051903663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147998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5987685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76837451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76310028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278240907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91068014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D7DB9B-5E89-4FC3-3A99-F1BEE15A8985}"/>
              </a:ext>
            </a:extLst>
          </p:cNvPr>
          <p:cNvSpPr/>
          <p:nvPr/>
        </p:nvSpPr>
        <p:spPr>
          <a:xfrm>
            <a:off x="7848600" y="1333500"/>
            <a:ext cx="2794000" cy="241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4E9D82E-F37C-F776-3869-19A452AF6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917" y="1731129"/>
            <a:ext cx="1887366" cy="1617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FE67A73-C6A8-4CF1-BFC1-371E2B5C2B40}"/>
              </a:ext>
            </a:extLst>
          </p:cNvPr>
          <p:cNvSpPr txBox="1"/>
          <p:nvPr/>
        </p:nvSpPr>
        <p:spPr>
          <a:xfrm>
            <a:off x="914400" y="4445000"/>
            <a:ext cx="9906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身高和体重组合能利用互补信息，整体比单特征更稳定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中男生比例更高，若人为设置女生先验过大，会显著降低整体准确率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最小风险决策体现错误代价不同时的分类器设计思想</a:t>
            </a:r>
          </a:p>
        </p:txBody>
      </p:sp>
    </p:spTree>
    <p:extLst>
      <p:ext uri="{BB962C8B-B14F-4D97-AF65-F5344CB8AC3E}">
        <p14:creationId xmlns:p14="http://schemas.microsoft.com/office/powerpoint/2010/main" val="276212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1F83F0-8601-87C5-2161-F3FE9E379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EAF7FB8-F77D-B331-B78B-E2A569A49359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32C1B91-4163-411D-B184-8891DBF2FF48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2400F4-554C-9D58-8E1A-7DC0763265E6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216DD4-DDCC-6CEC-9A2D-38A8E39002E5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判别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C94E6E-B53F-45A4-C3E4-649D9A777D04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比较概率密度估计方法与直接设计线性分类器的方法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9202DD4-5213-E26B-DB81-E37961EB34E4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112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8BFC18-B9EC-6C65-1423-2E6A6987E0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B6FCB6-C8A7-FB72-638A-78C37E26CE1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C1A3BA2-75B1-59EF-D9FB-F3C21D1EF9E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5591644-58D5-E2FF-EB68-FF57AD92F86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ED52D7-12D4-72BB-71C7-04F58225A9B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8FA1DE-9484-7C12-2435-4458FCA94E7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与留一法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A7D0601-6D0E-ACF5-3548-58FCE39CD4F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F3C0BCE-30F9-8346-FBF4-9AB206D9520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5A1F6D-A527-A691-28AA-95569B93712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1787A6-787F-78AD-4BBA-1ED69FB045F8}"/>
              </a:ext>
            </a:extLst>
          </p:cNvPr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33F4AB-6BFC-052A-6D42-F4C0B36A481A}"/>
              </a:ext>
            </a:extLst>
          </p:cNvPr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8862A8-654A-8CC6-33F5-6FF0E658A139}"/>
              </a:ext>
            </a:extLst>
          </p:cNvPr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窗估计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362A7C-13D4-A5E1-EBC7-3FBA8905B5D8}"/>
              </a:ext>
            </a:extLst>
          </p:cNvPr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不预设概率密度形式，用高斯核叠加估计类别条件密度。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D0C1F0E-835F-52B5-29B3-2BD50D70D7FC}"/>
              </a:ext>
            </a:extLst>
          </p:cNvPr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587C58-6E63-92A9-7C56-6198A0F997B8}"/>
              </a:ext>
            </a:extLst>
          </p:cNvPr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17A95D-91DB-E1DD-E29B-86B5B0E21097}"/>
              </a:ext>
            </a:extLst>
          </p:cNvPr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线性判别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03FDB-D1C3-4C54-E5F4-4122788FAAED}"/>
              </a:ext>
            </a:extLst>
          </p:cNvPr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最大化类间离散度与类内离散度之比，得到线性投影方向。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4B328D2-BB5E-8A64-0D27-73AA32933B8E}"/>
              </a:ext>
            </a:extLst>
          </p:cNvPr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DEA1E2-EF6E-4B24-CD83-5377018DEB9F}"/>
              </a:ext>
            </a:extLst>
          </p:cNvPr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6CBB2C-145A-E34A-E02E-DCD62015C01E}"/>
              </a:ext>
            </a:extLst>
          </p:cNvPr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留一法估计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CDE15A-D1BE-726B-91BC-6DF2B1C03D42}"/>
              </a:ext>
            </a:extLst>
          </p:cNvPr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每次留出一个样本验证，适合小样本泛化误差估计。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A204837-F734-7A14-AC1C-D9BD31D06380}"/>
              </a:ext>
            </a:extLst>
          </p:cNvPr>
          <p:cNvSpPr/>
          <p:nvPr/>
        </p:nvSpPr>
        <p:spPr>
          <a:xfrm>
            <a:off x="1143000" y="3302000"/>
            <a:ext cx="9906000" cy="787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EE17EC-CD11-806C-A187-8FF1749EA0D0}"/>
              </a:ext>
            </a:extLst>
          </p:cNvPr>
          <p:cNvSpPr txBox="1"/>
          <p:nvPr/>
        </p:nvSpPr>
        <p:spPr>
          <a:xfrm>
            <a:off x="1397000" y="3581400"/>
            <a:ext cx="939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准则 </a:t>
            </a:r>
            <a:r>
              <a:rPr lang="en-US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= </a:t>
            </a:r>
            <a:r>
              <a:rPr lang="zh-CN" altLang="en-US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类间分离程度 </a:t>
            </a:r>
            <a:r>
              <a:rPr lang="en-US" altLang="zh-CN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 b="1">
                <a:solidFill>
                  <a:srgbClr val="0A7FCC"/>
                </a:solidFill>
                <a:latin typeface="Microsoft YaHei" panose="020B0503020204020204" pitchFamily="34" charset="-122"/>
              </a:rPr>
              <a:t>类内分散程度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09FBD8-0AE7-76F9-0FE2-EB36CB0BBBFA}"/>
              </a:ext>
            </a:extLst>
          </p:cNvPr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课程重点：参数估计与非参数估计的差别；概率模型与判别模型的差别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的性能</a:t>
            </a:r>
          </a:p>
        </p:txBody>
      </p:sp>
    </p:spTree>
    <p:extLst>
      <p:ext uri="{BB962C8B-B14F-4D97-AF65-F5344CB8AC3E}">
        <p14:creationId xmlns:p14="http://schemas.microsoft.com/office/powerpoint/2010/main" val="2783897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4F9EE6-A05F-D870-02C9-26FF2B4285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49333E-7E87-7FB9-8742-AC21E6D84C8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A03AF496-1DC6-B4F0-BAC3-92E547B839F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273EB761-1763-43C1-3B29-96B870EB9B08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9CDD1E-AFB4-C7CD-DED9-D328CCA7F681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METHOD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CF677B-DD32-2AF5-D0A9-CD0176BA7E9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实验二理论展开：密度估计和直接判别的区别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E2EA603-663F-D7B0-60FA-361D888F56A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0C0860C-8A8E-85ED-97C4-A5C3C43270B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DD18B0-FCFD-E7CE-C453-A4B0B5A3174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42889E-845C-B4E1-DEC4-7B183D7C6362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9A6D35-628E-8755-1220-86EBB4A34423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325C8A-2B16-3BA9-A6C9-EF725417DC05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E174E3-F256-9869-D54C-3DAB6D6F2D53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先假设数据服从某种分布，例如正态分布，再估计少量参数。优点是稳定，缺点是假设可能不准。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EC401A1-4B90-BB02-5C41-EC3E2331F9A4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869964-3836-3791-9A8E-3AE44FEC311C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DAF529-60B3-C198-0A8E-756E5340CF6A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非参数估计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6401FF-0902-A9BD-E47C-19BAEB25EC17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不强行指定密度形状，而是让训练样本本身决定分布外形。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窗可以看作给每个样本放一个小核。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A805FBC-1E87-5E18-9D2B-C5D2AE74189F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032212-6A24-A1F4-F689-6163A6CA7785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E724A2-3B9A-C909-5994-8E2D43307F11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直接判别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7118D7-D924-69E2-94CB-588F066C0E60}"/>
              </a:ext>
            </a:extLst>
          </p:cNvPr>
          <p:cNvSpPr txBox="1"/>
          <p:nvPr/>
        </p:nvSpPr>
        <p:spPr>
          <a:xfrm>
            <a:off x="8470900" y="1854200"/>
            <a:ext cx="2616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不估计概率密度，而是直接找一条投影轴，让两类均值尽量远、类内尽量集中。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B105EBF-1A05-30C7-30DD-07383E55F14E}"/>
              </a:ext>
            </a:extLst>
          </p:cNvPr>
          <p:cNvSpPr/>
          <p:nvPr/>
        </p:nvSpPr>
        <p:spPr>
          <a:xfrm>
            <a:off x="1168400" y="3429000"/>
            <a:ext cx="45212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41526A-1455-03FF-EC53-BF30FA289C3E}"/>
              </a:ext>
            </a:extLst>
          </p:cNvPr>
          <p:cNvSpPr txBox="1"/>
          <p:nvPr/>
        </p:nvSpPr>
        <p:spPr>
          <a:xfrm>
            <a:off x="1473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Parzen</a:t>
            </a:r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：用样本堆出类别密度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9CC8C7-EE3E-F391-80DD-5DFAE77C9D2C}"/>
              </a:ext>
            </a:extLst>
          </p:cNvPr>
          <p:cNvSpPr txBox="1"/>
          <p:nvPr/>
        </p:nvSpPr>
        <p:spPr>
          <a:xfrm>
            <a:off x="1473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窗口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小：密度起伏大，容易过拟合；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大：密度过平滑，细节会丢失。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C14CF8C-FB61-CB69-8FB7-71B28A895C23}"/>
              </a:ext>
            </a:extLst>
          </p:cNvPr>
          <p:cNvSpPr/>
          <p:nvPr/>
        </p:nvSpPr>
        <p:spPr>
          <a:xfrm>
            <a:off x="6502400" y="3429000"/>
            <a:ext cx="45212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43B6F97-2073-5CF3-9C01-0D19277FED57}"/>
              </a:ext>
            </a:extLst>
          </p:cNvPr>
          <p:cNvSpPr txBox="1"/>
          <p:nvPr/>
        </p:nvSpPr>
        <p:spPr>
          <a:xfrm>
            <a:off x="6807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：用投影方向分开类别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53DA51-6B63-85FF-B4FA-AFCD3AF3F3E3}"/>
              </a:ext>
            </a:extLst>
          </p:cNvPr>
          <p:cNvSpPr txBox="1"/>
          <p:nvPr/>
        </p:nvSpPr>
        <p:spPr>
          <a:xfrm>
            <a:off x="6807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它关心的不是密度形状，而是投影后一维空间里两类是否容易用阈值分开。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7B36965-EEA2-9A4C-80D7-3FC6F58AE46C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本实验用同一组身高体重特征比较三类思想：高斯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如果三者性能接近，说明这个数据集的类别结构比较简单，线性边界已经足够有效。</a:t>
            </a:r>
          </a:p>
        </p:txBody>
      </p:sp>
    </p:spTree>
    <p:extLst>
      <p:ext uri="{BB962C8B-B14F-4D97-AF65-F5344CB8AC3E}">
        <p14:creationId xmlns:p14="http://schemas.microsoft.com/office/powerpoint/2010/main" val="2749597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8D237A-519A-74AF-2CC3-B9112ED72E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6B7EDE-70D5-E37B-736A-7D75BC2B3CD8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F434B79-456C-2B92-7F33-1684479A9DA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5DD72853-DC56-5274-2BE0-C3643B7B42C6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ACE424-272D-814A-246F-E0FD90F703B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2ABC47-C0A3-EF0B-526B-6D478C31761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实验二结果：线性边界与投影分布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BCAF99F-9F26-9C1D-618B-9F3F15B7111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6173003-6A63-643A-2CC4-03181A98B043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9BCBE1-846B-5B3C-6894-94FFC5EDEAD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D79B73-7614-7BB9-C94D-DB2A95CB327F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9FDE84E-8B38-87CC-6A14-1AF96B23B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774652B-3D6B-8149-5586-E932EB1B9160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D2EB7D-DD8A-83A5-31F7-A0EC4F8C3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0DFDBF5-BA76-C1D4-7023-6450C9E4324C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550BE9-A912-8775-38E0-179EC64FC512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375E6B-AE8D-5119-90F1-915A4063580B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301893-8177-2E4D-6267-FA68AAEDDE8E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边界受密度估计影响。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2C95298-8355-5A83-FB35-90B71611CB52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0981D54-7B01-0B07-4E9F-A1373A582A77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DC0A8A-263E-0297-002B-49ABF62E5109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2023B98-6D8A-D7B5-F621-A6DACFDBB210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投影后男女样本主体分离，但边界区域仍有重叠。</a:t>
            </a:r>
          </a:p>
        </p:txBody>
      </p:sp>
    </p:spTree>
    <p:extLst>
      <p:ext uri="{BB962C8B-B14F-4D97-AF65-F5344CB8AC3E}">
        <p14:creationId xmlns:p14="http://schemas.microsoft.com/office/powerpoint/2010/main" val="2452944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9FC207-8E4B-C192-A07E-FADE366D33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4F0D6D-77AA-CBFA-B99A-FBA03BD465C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157CB77-CB01-F4C8-1630-A63C78CBA69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E8CEB00-F20C-05FF-438E-51679EFA1A31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BB2D7B-1C10-D208-49FD-0C2B8E304EFA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6A29A4-BAAA-3A3F-15D8-E5B2CDF69EC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实验二结果：错误率对比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1BCB1E4-DEA6-9FF1-33B3-784BFB49208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45062B6-03A8-F684-A1BE-FA23E3B9B7F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31E057-405D-A7FE-F395-51AC02D1B429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6814A18-014E-7BCD-AEED-17A13B7E2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890923"/>
              </p:ext>
            </p:extLst>
          </p:nvPr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366570707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49672545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88968159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82548485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546996477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留一法错误率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5753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1736359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1013879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765119707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46B3C3F4-6662-6F49-BDA9-D669230957A4}"/>
              </a:ext>
            </a:extLst>
          </p:cNvPr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89378E-1A40-87B2-147B-6D5DA5A0F82C}"/>
              </a:ext>
            </a:extLst>
          </p:cNvPr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6EFDB9-1935-ECB2-4148-69F029CBDAF5}"/>
              </a:ext>
            </a:extLst>
          </p:cNvPr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B8F1A8-51A0-A861-CB95-CEEE823CB327}"/>
              </a:ext>
            </a:extLst>
          </p:cNvPr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4C75FF-F78C-3D58-2BE7-E9510F7ADACF}"/>
              </a:ext>
            </a:extLst>
          </p:cNvPr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C59A67-0E5F-D746-C0D3-00FFB7915FCC}"/>
              </a:ext>
            </a:extLst>
          </p:cNvPr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7CD34C-96C2-16AA-5242-C779E803AC43}"/>
              </a:ext>
            </a:extLst>
          </p:cNvPr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DE4C7C9-0043-B4AB-161F-282DB279CEF0}"/>
              </a:ext>
            </a:extLst>
          </p:cNvPr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23055D-16C5-1A54-2737-23A3754EAD7B}"/>
              </a:ext>
            </a:extLst>
          </p:cNvPr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Microsoft YaHei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C0B575-AC5E-BCE8-8E9E-4AD56922E596}"/>
              </a:ext>
            </a:extLst>
          </p:cNvPr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BE4F87-2BEE-BA22-AC95-B16353E47967}"/>
              </a:ext>
            </a:extLst>
          </p:cNvPr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259C6C-ED74-79B1-C801-179E44AB1B71}"/>
              </a:ext>
            </a:extLst>
          </p:cNvPr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Microsoft YaHei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AD93A95-5ECC-7665-B9CE-48FD065A7972}"/>
              </a:ext>
            </a:extLst>
          </p:cNvPr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30354C-506E-BE58-F555-5506A2436D2E}"/>
              </a:ext>
            </a:extLst>
          </p:cNvPr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D998003-EB58-AD1F-3893-F8D2F33B0B4A}"/>
              </a:ext>
            </a:extLst>
          </p:cNvPr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289B7BB-C35F-850B-9908-6D8E2A9765F1}"/>
              </a:ext>
            </a:extLst>
          </p:cNvPr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准确率。</a:t>
            </a:r>
          </a:p>
        </p:txBody>
      </p:sp>
    </p:spTree>
    <p:extLst>
      <p:ext uri="{BB962C8B-B14F-4D97-AF65-F5344CB8AC3E}">
        <p14:creationId xmlns:p14="http://schemas.microsoft.com/office/powerpoint/2010/main" val="2040459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594284-6A94-F4D7-017E-02D90D754D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D1E660-BF96-4596-F831-D0599176954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7643F00-C433-A1E7-6137-A43FCB9DB2FE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FF288C0-1685-50E8-1706-67EB62425D9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849EEC-0BD3-0624-5462-ED939758F3D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8C9C3-0149-CE80-F855-D92AF4F4BFD6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实验二分析：模型复杂度与泛化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D25ED7E-6A46-F7AA-2E72-6F087D4A0544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CDCBA01-4DBD-E417-F7C1-32EA9CF37C8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865A7A-E3DA-E715-D6BB-E31F019C8283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F25A291-E462-5168-6C93-1C88641E94E2}"/>
              </a:ext>
            </a:extLst>
          </p:cNvPr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9C6FA5-5617-8FCE-F394-A3B7839E901C}"/>
              </a:ext>
            </a:extLst>
          </p:cNvPr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6FDAA-090B-510E-42E1-28484255B267}"/>
              </a:ext>
            </a:extLst>
          </p:cNvPr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81B892-AE22-6003-1572-ADF9D367B42E}"/>
              </a:ext>
            </a:extLst>
          </p:cNvPr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形式清晰、样本效率高，但依赖正态分布假设。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991617-F235-56CC-2C8A-E3CC9FB1EEA3}"/>
              </a:ext>
            </a:extLst>
          </p:cNvPr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168A60-2EBD-D3B5-6D65-24F3CC619787}"/>
              </a:ext>
            </a:extLst>
          </p:cNvPr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32CB5AE-0271-FE33-3422-3C2D6227668C}"/>
              </a:ext>
            </a:extLst>
          </p:cNvPr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4BCD2B-A36A-7A6F-EF97-177A1C214336}"/>
              </a:ext>
            </a:extLst>
          </p:cNvPr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和样本规模影响明显。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7EACC24-CC9E-9606-7049-BE21DE4CE521}"/>
              </a:ext>
            </a:extLst>
          </p:cNvPr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24E968-4202-E454-D259-7536A33191EE}"/>
              </a:ext>
            </a:extLst>
          </p:cNvPr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A1AB21-C135-CAE4-CBFA-370536CD1846}"/>
              </a:ext>
            </a:extLst>
          </p:cNvPr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82A7FF-4B96-A940-B4F3-C28CF7388BA5}"/>
              </a:ext>
            </a:extLst>
          </p:cNvPr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不估计密度，直接寻找判别方向，解释性强。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F435B8B-2327-54DD-F84A-6A01A4C778FB}"/>
              </a:ext>
            </a:extLst>
          </p:cNvPr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B7525B-A6ED-BB74-908E-43BD8258A5D9}"/>
              </a:ext>
            </a:extLst>
          </p:cNvPr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Microsoft YaHei" panose="020B0503020204020204" pitchFamily="34" charset="-122"/>
              </a:rPr>
              <a:t>错误率接近，说明它能在训练样本有限时给出较稳健的泛化误差估计。</a:t>
            </a:r>
          </a:p>
        </p:txBody>
      </p:sp>
    </p:spTree>
    <p:extLst>
      <p:ext uri="{BB962C8B-B14F-4D97-AF65-F5344CB8AC3E}">
        <p14:creationId xmlns:p14="http://schemas.microsoft.com/office/powerpoint/2010/main" val="136435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99D72C-9588-36D1-3C1E-996D89CFCE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13EFF9C1-1408-314A-8666-36CB5C5BD926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574625F-B406-36BC-E8ED-2411DC37143B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9CD3AA-F458-87AD-5BE8-AE066FF5CD1C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432EE9-C8ED-45C6-4ED4-02FDF197D8DA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变换进行特征提取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210717-176A-AA1E-E17E-16D558F45F5A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从无监督主成分方向理解身高体重样本的主要变化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5B559D-FC1E-C442-90A4-F55668121287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364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BD1D1C2-94B1-EA82-A4E9-21609CE2E2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1A81EC-75CB-A778-53E3-620D8D4DE94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72926BF-EB57-B0EB-742A-B41A0793E80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A5556717-06C2-D158-353B-1EA82696C03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677702-73D9-45AC-64D2-A0C35D21B950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C9BAEF-735A-FCD3-ED7A-AA9A7D32E01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的差别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3441B47-657D-8DEB-C1D7-7E89B34F68B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63FE7C3-A06D-C44F-BA0D-D3C580CE2B02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925A1A-597A-FAEA-8B2E-38C1DB56D9FA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64B90D3-6CC2-CFA3-0AAF-D27B24B8F1B2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2ED44B-3E72-78F6-2820-D0F67767E1EF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0A4FA1-93B3-FBCC-CC25-C4DA161B5074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331BCF-A5E1-8C18-D509-9D265A57138A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对协方差矩阵做特征分解，保留总体方差最大的方向。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37D653C-C756-2448-2D2A-41B007548357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CC824A-D894-C74B-31F9-681E81D9D445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268A0A-0098-FC23-801C-526A48515210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D26D53-6CB5-8961-9EB1-02F3E069AF8F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利用类别标签，寻找最有利于分类的投影方向。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11AA597-B2C3-BE28-2C9B-B0F4F9A48C0B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8B0EAE-D75B-9975-2ECA-96EB5A5FB91D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协方差矩阵 → 主方向；样本投影到主方向 → 新特征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9931B4-CB0D-AA10-299A-402E63F60256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的目标是表示数据，不是直接优化分类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也能得到较好分类效果</a:t>
            </a:r>
          </a:p>
        </p:txBody>
      </p:sp>
    </p:spTree>
    <p:extLst>
      <p:ext uri="{BB962C8B-B14F-4D97-AF65-F5344CB8AC3E}">
        <p14:creationId xmlns:p14="http://schemas.microsoft.com/office/powerpoint/2010/main" val="3638659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0A647A-E420-7C8A-4601-4DF2196A45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973617-A042-B530-F115-689B4CAA49DC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F108D21-2CB9-B891-CFD1-0D64C1E204BC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5F81079-65D4-BAB8-0E7B-A887CD06B9E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3790D6-7B81-5EC9-31ED-A9B56E8DFF3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PCA INTUITION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D0130A-7957-098E-F178-726E1C75506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实验三理论展开：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变换怎样提取新特征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834449C-EFF2-3189-C76A-0D9037AF9DD5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7FAD00C-2A0E-7239-ADF2-C55ECA9DA0B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51E540-32A7-C07B-5C92-CF888443506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5E7DD3D-DDB5-619F-9081-0F5C939ACEB3}"/>
              </a:ext>
            </a:extLst>
          </p:cNvPr>
          <p:cNvSpPr/>
          <p:nvPr/>
        </p:nvSpPr>
        <p:spPr>
          <a:xfrm>
            <a:off x="7366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F5BDB0-AB17-3C59-2A47-44D1A85D63C1}"/>
              </a:ext>
            </a:extLst>
          </p:cNvPr>
          <p:cNvSpPr/>
          <p:nvPr/>
        </p:nvSpPr>
        <p:spPr>
          <a:xfrm>
            <a:off x="736600" y="1371600"/>
            <a:ext cx="76200" cy="1295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4C8686-1A45-1101-F1D7-532F7E79BA81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找数据中心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A41FA7-2F08-3FE0-94F6-36274C4915CF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先计算所有样本的平均向量，把样本平移到以均值为中心，关注相对变化。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8EEFF29-6926-1D56-E9D8-AE79D6394FDD}"/>
              </a:ext>
            </a:extLst>
          </p:cNvPr>
          <p:cNvSpPr/>
          <p:nvPr/>
        </p:nvSpPr>
        <p:spPr>
          <a:xfrm>
            <a:off x="45085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8824F7-818A-E13F-A1C9-546FC5CA7225}"/>
              </a:ext>
            </a:extLst>
          </p:cNvPr>
          <p:cNvSpPr/>
          <p:nvPr/>
        </p:nvSpPr>
        <p:spPr>
          <a:xfrm>
            <a:off x="4508500" y="1371600"/>
            <a:ext cx="76200" cy="1295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98290C-CA43-DD2E-AD84-749EF8E626CE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找变化方向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C1805A-3CE3-8616-04A7-F3A2FDC0A310}"/>
              </a:ext>
            </a:extLst>
          </p:cNvPr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协方差矩阵描述两个特征如何共同变化。特征向量给出新坐标轴，特征值表示该方向上变化有多大。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ABE18DC-D4FA-5E7D-6DDA-FAF2793E6E59}"/>
              </a:ext>
            </a:extLst>
          </p:cNvPr>
          <p:cNvSpPr/>
          <p:nvPr/>
        </p:nvSpPr>
        <p:spPr>
          <a:xfrm>
            <a:off x="8280400" y="1371600"/>
            <a:ext cx="2921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F25CEA-062E-30E8-9A76-794773FBC07B}"/>
              </a:ext>
            </a:extLst>
          </p:cNvPr>
          <p:cNvSpPr/>
          <p:nvPr/>
        </p:nvSpPr>
        <p:spPr>
          <a:xfrm>
            <a:off x="8280400" y="1371600"/>
            <a:ext cx="76200" cy="1295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6494D3-7860-9B22-7BC8-CA24D7EEE164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投影降维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12BD17-9CF8-DDE2-9476-56E6374F4E0B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把样本投影到最大特征值对应的方向，就得到保留主要变化的一维新特征。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A18A750-3C1C-F607-9FA5-6B5BC156D1FB}"/>
              </a:ext>
            </a:extLst>
          </p:cNvPr>
          <p:cNvSpPr/>
          <p:nvPr/>
        </p:nvSpPr>
        <p:spPr>
          <a:xfrm>
            <a:off x="1016000" y="3276600"/>
            <a:ext cx="10160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1B8FEC-00AE-DEFC-351E-38C88D74D144}"/>
              </a:ext>
            </a:extLst>
          </p:cNvPr>
          <p:cNvSpPr txBox="1"/>
          <p:nvPr/>
        </p:nvSpPr>
        <p:spPr>
          <a:xfrm>
            <a:off x="1422400" y="35814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通俗理解：</a:t>
            </a:r>
            <a:r>
              <a:rPr lang="en-US" altLang="zh-CN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700" b="1">
                <a:solidFill>
                  <a:srgbClr val="0A7FCC"/>
                </a:solidFill>
                <a:latin typeface="Microsoft YaHei" panose="020B0503020204020204" pitchFamily="34" charset="-122"/>
              </a:rPr>
              <a:t>像是在散点图上找一根尺子，让样本沿这根尺子的展开范围最大。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2B3239-65C1-0938-1555-A2A8F1100701}"/>
              </a:ext>
            </a:extLst>
          </p:cNvPr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如果男女样本主要沿这根尺子分开，那么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第一主成分就能用于分类。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如果最大变化来自身高体重以外的因素，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可能保留了方差，却没有保留判别信息。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所以实验三要把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、类均值方向、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放在一起比较。</a:t>
            </a:r>
          </a:p>
        </p:txBody>
      </p:sp>
    </p:spTree>
    <p:extLst>
      <p:ext uri="{BB962C8B-B14F-4D97-AF65-F5344CB8AC3E}">
        <p14:creationId xmlns:p14="http://schemas.microsoft.com/office/powerpoint/2010/main" val="287307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D7F53C-9FF8-11A0-BC61-1F9A882FEE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2DD7D4-A1DC-EBA5-EF2B-41A32A8F917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DAA1BAF-176B-CACD-A612-EF6C916D321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68355FC4-4D08-2C0D-0CE7-9978BBEA7F1B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0E024C-3058-A621-D54E-DC0A86279498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B73C14-D86D-2455-2BDD-9C3DCB655EA2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实验三设置：二维特征的主方向分析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01B1004-68CA-6E92-65A5-0F875C495733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5F98A20-681A-9592-3D47-DF91ADB4110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7E2CFF-EC2C-500A-EB58-75C90918799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398B74B-C697-7B7A-48ED-F70E8494A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808647"/>
              </p:ext>
            </p:extLst>
          </p:nvPr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416226951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544933649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65647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44173967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8328447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第一主成分解释率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9322565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8092747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599102768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740403F-DBB3-1265-E629-B4C4844847A9}"/>
              </a:ext>
            </a:extLst>
          </p:cNvPr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620965C-D5E6-E3D8-EF1E-BE345A2AA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91E7BAA-068D-0031-2C68-E39ABE9565FB}"/>
              </a:ext>
            </a:extLst>
          </p:cNvPr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48BDD8-7F8C-0497-662E-A12044A0921A}"/>
              </a:ext>
            </a:extLst>
          </p:cNvPr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C48886-17F9-29FB-F16A-D80F335FDD77}"/>
              </a:ext>
            </a:extLst>
          </p:cNvPr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设置说明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EF7712-8F81-3D4D-E5E3-2C5EAE155442}"/>
              </a:ext>
            </a:extLst>
          </p:cNvPr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进行分类比较。</a:t>
            </a:r>
          </a:p>
        </p:txBody>
      </p:sp>
    </p:spTree>
    <p:extLst>
      <p:ext uri="{BB962C8B-B14F-4D97-AF65-F5344CB8AC3E}">
        <p14:creationId xmlns:p14="http://schemas.microsoft.com/office/powerpoint/2010/main" val="2778854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5FF01E-F33D-A94C-B897-B6368D288B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615342-687D-DFFA-AF4D-149282DA5E1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2324BB4-5A5C-4CAE-B768-DC74BD93906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17A51EC5-F7C3-E32F-5B03-4366DC787EF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D3F883-C85F-B964-0295-8005A19AE685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14C2F2-14A5-5248-6A26-F53D147581F4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实验三结果：投影分布与分类性能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5B66B5C-F448-D430-6099-53971C2458B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BFA76C5-37C8-EFDF-4549-FAEF62C89F00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4A6323-B7DE-B00A-C6EA-C4CC09C8C43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374B04-5252-3F7E-DAB1-C69E2D89B19D}"/>
              </a:ext>
            </a:extLst>
          </p:cNvPr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381C1BB-7662-42E6-5B59-98BE6CA64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03CDDB1-C50A-73F1-08AE-368783FA1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643547"/>
              </p:ext>
            </p:extLst>
          </p:nvPr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284334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148802249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67435116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3105911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6221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第一主成分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367434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类均值方向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629034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79858495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31450947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35323C6-2798-B26E-571F-376479933A27}"/>
              </a:ext>
            </a:extLst>
          </p:cNvPr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第一主成分已经能较好区分男女样本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上略优，体现监督判别方向的优势</a:t>
            </a:r>
          </a:p>
        </p:txBody>
      </p:sp>
    </p:spTree>
    <p:extLst>
      <p:ext uri="{BB962C8B-B14F-4D97-AF65-F5344CB8AC3E}">
        <p14:creationId xmlns:p14="http://schemas.microsoft.com/office/powerpoint/2010/main" val="897205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47A017-17FB-E7B7-FCA5-004D3B632D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AD2743-FD2C-897D-4CC4-771275C409E0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D8B0F12-B7D1-9077-DD60-725272F0F5B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2207797-627A-2726-F053-FF651F0AAF6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A38534-B49D-62B6-A043-4588AC4A6E8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ABD5F7-7CA3-C5F1-FBF7-A4714C82D4C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实验三分析：最大方差不等于最佳分类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7480760-E704-572B-4345-EE1C44879BF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06B97B3-B8CD-DDB7-1A0A-14FF3812EA7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46AF5C-3103-1CD8-E0B1-63973108930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EBE2781-C957-C9DC-4A09-E00299895D71}"/>
              </a:ext>
            </a:extLst>
          </p:cNvPr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6B5B6F-65E8-4E97-C1B4-E13DA4878CD1}"/>
              </a:ext>
            </a:extLst>
          </p:cNvPr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B21CF9-4925-8ED3-3933-96CE3E90DC17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有效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923050-C2BC-9FEA-F761-CCD07E2D9215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本数据中身高和体重的主要变化方向与性别差异方向接近。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D52C9B9-B3E1-B652-F9D6-66A431B64D2B}"/>
              </a:ext>
            </a:extLst>
          </p:cNvPr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1E2BCB-4525-3077-8F41-178E2152A0A2}"/>
              </a:ext>
            </a:extLst>
          </p:cNvPr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91F06C-BDAD-9BCB-DA70-307F92A91C70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略优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EC7348-F1D7-3947-7EE3-2F7A8BE3AD76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直接利用类别标签，目标就是提高类别分离度。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8B3BC0F-2D5B-C3F3-6AFF-8FF18BB1C50F}"/>
              </a:ext>
            </a:extLst>
          </p:cNvPr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54C49B-B91F-60F7-7A9D-3DF85D68969E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217136-7BC4-DE95-4B6A-144F967E3230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一般规律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BC08CC-A9B9-E491-1CCF-70523A444AC8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无监督降维需要和监督分类器共同评价。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2B897A6-7643-D51A-904E-45496E3B23BA}"/>
              </a:ext>
            </a:extLst>
          </p:cNvPr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597EBB8-AC33-ADD8-8C32-59FE91BDB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95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82104A-A083-B117-B15B-21A3D06512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82A6372B-07B1-C396-A7A7-C02975E3A0CF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62D4BE9-8462-BEC6-BF33-359DB9E8B2FF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F6BDBD-9C19-DE2C-8DE7-8B5AD0540387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59E12F-093A-91BA-D81E-D04A38805242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变换的图像识别应用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20DE27-7EAF-1BEB-9A13-310B30E45EA3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Microsoft YaHei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从二维样本扩展到高维飞机图像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9D31249-123D-0EB6-C6D7-C415C37F17E7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3333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BBF2B5-31E0-FD3F-F8A9-FD3D4CF979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639CC0-313F-3F80-258C-7226E55A214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510057B-FB4E-7BDC-8825-38BAAC3CDBD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67BF535-A574-AB0A-046A-53102D483D5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958F7F-B25E-1475-1C44-959316D7E747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AB2CF7-77B4-89AF-BB91-34363259E8E1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实验四理论：高维图像的低维表示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DD4D241-9B9B-4DF5-2668-B3A39095F22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BC5F969-72AA-32A4-FE29-08F0881571DD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A1654C-79BF-0B54-8B26-5BA938FB202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80E5989-6717-F052-A193-DFF490215BE1}"/>
              </a:ext>
            </a:extLst>
          </p:cNvPr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CA7098-9882-8961-8CC3-49B58AD9D8F8}"/>
              </a:ext>
            </a:extLst>
          </p:cNvPr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75BAE9-35A0-0355-9B5A-8B0961CD7764}"/>
              </a:ext>
            </a:extLst>
          </p:cNvPr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图像预处理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BF6169-1971-0E97-EAD9-1DAA4C496A7F}"/>
              </a:ext>
            </a:extLst>
          </p:cNvPr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928CE60-BC99-B2B0-A812-377A221B9FF4}"/>
              </a:ext>
            </a:extLst>
          </p:cNvPr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4E0426-0FE8-7C27-662D-067D5C34F6CA}"/>
              </a:ext>
            </a:extLst>
          </p:cNvPr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B51D664-3CC3-4F2E-0FC5-2218E5BD366D}"/>
              </a:ext>
            </a:extLst>
          </p:cNvPr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向量化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D2006B-336D-983B-FE21-AD358716A256}"/>
              </a:ext>
            </a:extLst>
          </p:cNvPr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维向量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76E7524-2ED8-19F9-C79E-3204DD29522D}"/>
              </a:ext>
            </a:extLst>
          </p:cNvPr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0D9A58-122D-3B71-216E-B3E98EFEC463}"/>
              </a:ext>
            </a:extLst>
          </p:cNvPr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52568D-4A39-168D-73E8-EF18B6BB660C}"/>
              </a:ext>
            </a:extLst>
          </p:cNvPr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降维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9A0F68-1072-C882-BCAA-D8D255AE1599}"/>
              </a:ext>
            </a:extLst>
          </p:cNvPr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个主成分作为图像特征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E81DC13-4A3E-2F94-A233-6B0A003EA9B6}"/>
              </a:ext>
            </a:extLst>
          </p:cNvPr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7676DD1-6E3A-E341-8F48-F05163A8A5F9}"/>
              </a:ext>
            </a:extLst>
          </p:cNvPr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4E8113-94B3-2C0E-D448-CC5DE68B36A1}"/>
              </a:ext>
            </a:extLst>
          </p:cNvPr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低维分类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9982F6-0095-9A61-4E64-91781B6A8086}"/>
              </a:ext>
            </a:extLst>
          </p:cNvPr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4DC6E97-213A-5AEE-183B-02F02C76BEA9}"/>
              </a:ext>
            </a:extLst>
          </p:cNvPr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47661B1-557F-076B-CE21-B607AD484F12}"/>
              </a:ext>
            </a:extLst>
          </p:cNvPr>
          <p:cNvSpPr txBox="1"/>
          <p:nvPr/>
        </p:nvSpPr>
        <p:spPr>
          <a:xfrm>
            <a:off x="6858000" y="1905000"/>
            <a:ext cx="33655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b="1">
                <a:solidFill>
                  <a:srgbClr val="0A7FCC"/>
                </a:solidFill>
                <a:latin typeface="Microsoft YaHei" panose="020B0503020204020204" pitchFamily="34" charset="-122"/>
              </a:rPr>
              <a:t>图像向量 → </a:t>
            </a:r>
            <a:r>
              <a:rPr lang="en-US" altLang="zh-CN" b="1">
                <a:solidFill>
                  <a:srgbClr val="0A7FCC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b="1">
                <a:solidFill>
                  <a:srgbClr val="0A7FCC"/>
                </a:solidFill>
                <a:latin typeface="Microsoft YaHei" panose="020B0503020204020204" pitchFamily="34" charset="-122"/>
              </a:rPr>
              <a:t>主成分 → 低维特征</a:t>
            </a: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D64F689D-FE3D-14A9-3D8C-05458E356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24751"/>
              </p:ext>
            </p:extLst>
          </p:nvPr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350641674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09190309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项目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17148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0160059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6237469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张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36281286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47207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814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8049CFD-2653-C1B9-01EB-C362BD111B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76D5BA-824B-2825-92A9-E1908AD0B58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C6B574E-5948-D195-C5B0-4E010A979508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7B050FBC-A9F7-7F35-16A2-119D4D5206E9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5B8027-2A92-1BB7-1CD9-319E8EABE48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HIGH-DIMENSIONAL FEATURES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3938FA-6044-7D9A-B285-E30350B14A9B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实验四理论展开：为什么图像识别需要降维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C8CF814-72FD-900B-076C-6B037AF08997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FEA12CF-64F5-9712-79C4-AAF351BC330A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F0F27F-A2AA-C74A-E799-1F0A4A8A1CEE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8D50F9-B6FE-4DD4-82BD-D88844E02974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F6539D-B076-503F-B077-11771D9C66DF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EDFD0-C7D1-C083-9C5B-A7A0A6C8ACD6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维数高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F6755F-1E35-09F1-598F-28DAC13DF811}"/>
              </a:ext>
            </a:extLst>
          </p:cNvPr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32×32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灰度图展开后就是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维。维数越高，距离计算越容易受噪声和无关背景影响。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DA25E67-1FC1-9183-4508-7C2F331E484E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A3385E-856F-9D0B-3AF0-96C2D03226C0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595800-5AC0-F817-2194-72ECB1465303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样本有限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7F287CA-A326-3AE7-00A4-30ABE5162121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虽然有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2530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张训练图，但相对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维特征仍不算充分，直接分类容易过拟合。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53CDAA1-0598-C178-043D-383E7C3F3E21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8D8A00-6C65-560B-51A7-29088AA9F911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B7A57B-EA80-0F4E-AA1D-75A26989CB20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CF2C21-E019-8C9D-064B-F1E76E995395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用较少主成分表示图像，把共同轮廓、明暗结构等主要变化保留下来。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94F33D2-E869-A068-DFB3-338114E1A23E}"/>
              </a:ext>
            </a:extLst>
          </p:cNvPr>
          <p:cNvSpPr/>
          <p:nvPr/>
        </p:nvSpPr>
        <p:spPr>
          <a:xfrm>
            <a:off x="1092200" y="3429000"/>
            <a:ext cx="10033000" cy="965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FF5C99-6FB6-0E5F-5BB0-8E91FDFB7F28}"/>
              </a:ext>
            </a:extLst>
          </p:cNvPr>
          <p:cNvSpPr txBox="1"/>
          <p:nvPr/>
        </p:nvSpPr>
        <p:spPr>
          <a:xfrm>
            <a:off x="1422400" y="37592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从二维身高体重到 </a:t>
            </a:r>
            <a:r>
              <a:rPr lang="en-US" altLang="zh-CN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1024 </a:t>
            </a:r>
            <a:r>
              <a:rPr lang="zh-CN" altLang="en-US" sz="1700" b="1">
                <a:solidFill>
                  <a:srgbClr val="006BB7"/>
                </a:solidFill>
                <a:latin typeface="Microsoft YaHei" panose="020B0503020204020204" pitchFamily="34" charset="-122"/>
              </a:rPr>
              <a:t>维图像，本质仍是寻找更适合分类的特征表示。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4650BC0-C705-D4AC-C626-9C91071ABBE6}"/>
              </a:ext>
            </a:extLst>
          </p:cNvPr>
          <p:cNvSpPr txBox="1"/>
          <p:nvPr/>
        </p:nvSpPr>
        <p:spPr>
          <a:xfrm>
            <a:off x="11430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主成分可以看作一组基础图像模式，原图像由这些模式加权组合得到。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保留太少主成分会丢失类别细节；保留太多主成分又可能引入背景和噪声。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因此实验四考察不同主成分数下的识别准确率。</a:t>
            </a:r>
          </a:p>
        </p:txBody>
      </p:sp>
    </p:spTree>
    <p:extLst>
      <p:ext uri="{BB962C8B-B14F-4D97-AF65-F5344CB8AC3E}">
        <p14:creationId xmlns:p14="http://schemas.microsoft.com/office/powerpoint/2010/main" val="3941290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CCA31C3-034A-3BD6-5AEE-0954C0B7E3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E7921F-F7A3-4169-1529-F0143BE2802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F18A4E76-137B-1FE6-88CD-BD1418F51FA2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B857751C-84C5-759F-6CAF-5CFAD1843C15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FAF76F-2957-4D2E-6621-38CEE31DAE9C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12D108-BD1F-4618-6A38-C483B91F43E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主成分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72B274C-808B-5A1E-97D9-25E064C49E49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2787526-C6D2-D20E-E63A-DA2951057D14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16D8E1-8D2F-64C4-3E6F-894BA109619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93602DA-D9FC-3851-E8ED-DF0A8D635BAF}"/>
              </a:ext>
            </a:extLst>
          </p:cNvPr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EAB4D40-A1FB-E127-B880-910278FD6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058D304-06E7-C772-04A1-9A79F51B1B67}"/>
              </a:ext>
            </a:extLst>
          </p:cNvPr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B91B32C-781F-7B2F-2A67-BBB286F50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DEA552B-D36D-831C-1123-6EFF4142225F}"/>
              </a:ext>
            </a:extLst>
          </p:cNvPr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D658CE-6691-5BE6-722F-E3CF03BC1882}"/>
              </a:ext>
            </a:extLst>
          </p:cNvPr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2BCE90-DA7E-53DE-DDE1-15DFCF439985}"/>
              </a:ext>
            </a:extLst>
          </p:cNvPr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维度压缩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DB08152-D4EC-BAF7-8A1E-C2C442194915}"/>
              </a:ext>
            </a:extLst>
          </p:cNvPr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F7C224-C6A4-12F8-9353-5E42015E8503}"/>
              </a:ext>
            </a:extLst>
          </p:cNvPr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48813B-2F3E-B32A-8CDB-9A53874531A0}"/>
              </a:ext>
            </a:extLst>
          </p:cNvPr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维解释方差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076420A-778E-E415-A3DC-0430B74711F5}"/>
              </a:ext>
            </a:extLst>
          </p:cNvPr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25E77B-AB36-7669-08A1-E2D0A75AE715}"/>
              </a:ext>
            </a:extLst>
          </p:cNvPr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35B7D9-A47F-3A00-433B-F9AFC7B3C8B1}"/>
              </a:ext>
            </a:extLst>
          </p:cNvPr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飞机类别数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995C157-E635-FEAB-C3FE-10334D6554C6}"/>
              </a:ext>
            </a:extLst>
          </p:cNvPr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D49DB8-1CDE-6547-BF8B-F757F126193B}"/>
              </a:ext>
            </a:extLst>
          </p:cNvPr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34A1974-4856-4F3C-138B-3F24AF1C0B1E}"/>
              </a:ext>
            </a:extLst>
          </p:cNvPr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测试图像数</a:t>
            </a:r>
          </a:p>
        </p:txBody>
      </p:sp>
    </p:spTree>
    <p:extLst>
      <p:ext uri="{BB962C8B-B14F-4D97-AF65-F5344CB8AC3E}">
        <p14:creationId xmlns:p14="http://schemas.microsoft.com/office/powerpoint/2010/main" val="3743574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2694D6-F979-C407-F010-48A4A2AB89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9A6EF9-8C82-A4C7-D796-097F78877D57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5EAA0A80-7E35-86AA-B9D8-DE1AF0B739E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7095F90-1B11-7C18-D7B7-D23CAC507783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165BA7-752B-4B85-E9B4-99D7D85238A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25EE3F-7AD2-3FFD-EB92-20A77B926E30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实验四结果：主成分数与识别准确率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1A88558-8EAA-2134-372C-86556B41078E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EF567C7-C5FF-57CA-F81E-742D2DEE2D98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6B155A-F7BF-4D84-87DB-DA0858766187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A5819D9-D462-7BA1-5E62-71D2643A92C4}"/>
              </a:ext>
            </a:extLst>
          </p:cNvPr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F8AD6CD-19BD-D49B-B0B6-428CD39DF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C6B8D0F-A3EC-5098-D7A8-7C93CDE1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57089"/>
              </p:ext>
            </p:extLst>
          </p:nvPr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>
                  <a:extLst>
                    <a:ext uri="{9D8B030D-6E8A-4147-A177-3AD203B41FA5}">
                      <a16:colId xmlns:a16="http://schemas.microsoft.com/office/drawing/2014/main" val="123038684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903223995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1739488769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3890712937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主成分数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89605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质心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12058264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89291727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063186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663062183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7D99E718-97DB-CCC0-43BC-63CC40FD5EAB}"/>
              </a:ext>
            </a:extLst>
          </p:cNvPr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明显优于最近质心，说明飞机类别内部变化复杂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后收益变小，后续成分可能包含背景和噪声</a:t>
            </a:r>
          </a:p>
        </p:txBody>
      </p:sp>
    </p:spTree>
    <p:extLst>
      <p:ext uri="{BB962C8B-B14F-4D97-AF65-F5344CB8AC3E}">
        <p14:creationId xmlns:p14="http://schemas.microsoft.com/office/powerpoint/2010/main" val="3440532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A349E7-754E-2897-74F0-3ED145A413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3C80CA-96E4-2AD1-896B-F1D372F75E1B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7342CC5-3AED-6233-95FE-C3804A3ACE34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F2DE7ACC-D429-DCC2-9F50-20A3FDB157BA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0009C8-0FDA-5F03-EF81-5C2EE317B7E6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E2BB7B-4AF5-48CA-C104-1ED63D73A287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能压缩，但不是完整识别方案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9F37583-C90D-4A9F-9242-A686F889278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BF8A931-AC41-7B6B-55DC-32EB78D51F5B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1B9315-92E3-4675-DFE0-13E48E8E83F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69EB22-95F5-DB52-8302-3B01A47DFF7B}"/>
              </a:ext>
            </a:extLst>
          </p:cNvPr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F35C281-7A80-F978-E195-8B15E26CA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E47EE39-7460-4333-388D-980D5FEC9319}"/>
              </a:ext>
            </a:extLst>
          </p:cNvPr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508C29-ABAF-D80D-31E6-22ED7A9AB36E}"/>
              </a:ext>
            </a:extLst>
          </p:cNvPr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EE662D-89AB-50F7-1EB4-28BCD494C9C4}"/>
              </a:ext>
            </a:extLst>
          </p:cNvPr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混淆原因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D174EC-C46A-17D4-800C-D61BF8D1F995}"/>
              </a:ext>
            </a:extLst>
          </p:cNvPr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低分辨率灰度图中，部分飞机外形相近，姿态和背景也会干扰。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6CDC35-59F5-3D57-3FB1-F707C034BF25}"/>
              </a:ext>
            </a:extLst>
          </p:cNvPr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E46514-BAEF-ED9E-B03B-9E0E0FEC06C2}"/>
              </a:ext>
            </a:extLst>
          </p:cNvPr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0A3E6B-DB21-F401-146F-E8328DDB9C1E}"/>
              </a:ext>
            </a:extLst>
          </p:cNvPr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方法局限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A51AF6-9AA4-D6CE-DBD2-45D696E55D1E}"/>
              </a:ext>
            </a:extLst>
          </p:cNvPr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是无监督降维，优先保留总体方差，不保证保留最强判别信息。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82B4990-C623-5409-FBBB-AB87666596DC}"/>
              </a:ext>
            </a:extLst>
          </p:cNvPr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0BC000-12D9-9BD9-9864-89B592B5F5BA}"/>
              </a:ext>
            </a:extLst>
          </p:cNvPr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2A7035D-8AB5-EFEA-E582-0ED174800C72}"/>
              </a:ext>
            </a:extLst>
          </p:cNvPr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改进方向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B32314E-CFAF-8CCE-9A3B-9200590B8CF2}"/>
              </a:ext>
            </a:extLst>
          </p:cNvPr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提升识别性能。</a:t>
            </a:r>
          </a:p>
        </p:txBody>
      </p:sp>
    </p:spTree>
    <p:extLst>
      <p:ext uri="{BB962C8B-B14F-4D97-AF65-F5344CB8AC3E}">
        <p14:creationId xmlns:p14="http://schemas.microsoft.com/office/powerpoint/2010/main" val="1481335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EBA32E8-7337-AA74-7D40-799A94BC87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563666F4-17EA-2AB9-8746-3143EFEF0EDA}"/>
              </a:ext>
            </a:extLst>
          </p:cNvPr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CD61BC5-CE73-00AE-E470-1B90F0016D3A}"/>
              </a:ext>
            </a:extLst>
          </p:cNvPr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51802F-F09A-5D2B-633A-A5CA6E67962D}"/>
              </a:ext>
            </a:extLst>
          </p:cNvPr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27F623-322D-B258-DB34-2FB1383322E0}"/>
              </a:ext>
            </a:extLst>
          </p:cNvPr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Microsoft YaHei" panose="020B0503020204020204" pitchFamily="34" charset="-122"/>
              </a:rPr>
              <a:t>均值与分级聚类分析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56CDA6-C127-AFFA-A751-984B6A291FEC}"/>
              </a:ext>
            </a:extLst>
          </p:cNvPr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Microsoft YaHei" panose="020B0503020204020204" pitchFamily="34" charset="-122"/>
              </a:rPr>
              <a:t>不使用类别标签，观察身高体重样本的自然结构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9405262-7000-31DC-C4A4-A1FB31B8E7E4}"/>
              </a:ext>
            </a:extLst>
          </p:cNvPr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129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EC5E82-9B1B-1141-312A-334F030EDD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6500D1-7A6E-6622-706F-008C5F5601BA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6AFA2F5D-2957-F22A-4363-2385D4CA475A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DDD4C0EF-A7F8-6E69-B4DA-C860C6C33F62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E34321-71EB-8BB5-0FB2-3822D9898BA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10C70E-7EAD-3DAA-0ACC-4906E675178F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实验五理论：从监督分类到无监督聚类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47B0BB3-FBED-2D02-47D5-EE82DBF53D2F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16A7CB7-14D8-A089-4993-D8BE45A4AAFE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223E5C-985C-712C-2516-297AFCBAECB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7AC863B-A1A5-4A99-5EB4-4891E5F03BB6}"/>
              </a:ext>
            </a:extLst>
          </p:cNvPr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4DA13D-EB32-F313-1804-5787976F75A6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223955-314E-B9B5-13E4-E8F46400119B}"/>
              </a:ext>
            </a:extLst>
          </p:cNvPr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均值聚类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A62444-DF25-1622-3938-517871AF9D0D}"/>
              </a:ext>
            </a:extLst>
          </p:cNvPr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独立编程实现，通过样本分配和中心更新最小化类内平方误差。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7F14FFA-2F46-9B83-7E26-A06B548F112E}"/>
              </a:ext>
            </a:extLst>
          </p:cNvPr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5DC46B-E1BD-F46B-D48B-A95D443C7CEA}"/>
              </a:ext>
            </a:extLst>
          </p:cNvPr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434358-BBCA-13CF-8E7C-75B90BE81F5B}"/>
              </a:ext>
            </a:extLst>
          </p:cNvPr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AC9772-7040-C17A-467E-56567D8C7543}"/>
              </a:ext>
            </a:extLst>
          </p:cNvPr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方法形成层次结构，用树状图观察样本合并过程。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A1F1355-50D7-63CA-6890-74C3037E0CAE}"/>
              </a:ext>
            </a:extLst>
          </p:cNvPr>
          <p:cNvSpPr/>
          <p:nvPr/>
        </p:nvSpPr>
        <p:spPr>
          <a:xfrm>
            <a:off x="1270000" y="3365500"/>
            <a:ext cx="9652000" cy="787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5299B3-2E16-C3BA-C6AC-70220C0B3E8F}"/>
              </a:ext>
            </a:extLst>
          </p:cNvPr>
          <p:cNvSpPr txBox="1"/>
          <p:nvPr/>
        </p:nvSpPr>
        <p:spPr>
          <a:xfrm>
            <a:off x="1524000" y="3632200"/>
            <a:ext cx="9144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J =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ₓ∈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 ||x - </a:t>
            </a:r>
            <a:r>
              <a:rPr lang="el-GR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2200" b="1">
                <a:solidFill>
                  <a:srgbClr val="006BB7"/>
                </a:solidFill>
                <a:latin typeface="Microsoft YaHei" panose="020B0503020204020204" pitchFamily="34" charset="-122"/>
              </a:rPr>
              <a:t>ⱼ||²</a:t>
            </a:r>
            <a:endParaRPr lang="zh-CN" altLang="en-US" sz="22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B2EA5D-0210-C10E-CF66-BFEE47554018}"/>
              </a:ext>
            </a:extLst>
          </p:cNvPr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聚类不使用性别标签，评价时再与真实标签比较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身高尺度会影响距离计算</a:t>
            </a:r>
          </a:p>
        </p:txBody>
      </p:sp>
    </p:spTree>
    <p:extLst>
      <p:ext uri="{BB962C8B-B14F-4D97-AF65-F5344CB8AC3E}">
        <p14:creationId xmlns:p14="http://schemas.microsoft.com/office/powerpoint/2010/main" val="237450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414908-756B-9C6D-2130-FF51EB3C3E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A83D0A-97D7-FD94-01A7-6E543073ACA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3C11EA4-C02F-8AF3-9FD9-4D9556DDEA0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DC35B0C-A0F3-E6DC-E060-F3A2CB91705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824E4F-4A62-8B2D-1706-866498CF6D7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UNSUPERVISED LEARNING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C97C26-591E-E75C-C2E1-D9571C48FE79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实验五理论展开：聚类如何判断样本自然结构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69E50D-4C22-815A-12DC-C28577201006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A28381C-CDF5-87CA-7080-CE12259572D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FCC696-A9B2-E0F1-2A44-F40C1ED610D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4103E3E-7DC5-F71C-BDD7-5E7C8362CD6E}"/>
              </a:ext>
            </a:extLst>
          </p:cNvPr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E6415A-19B3-B3A3-CAA1-CC48AE56288C}"/>
              </a:ext>
            </a:extLst>
          </p:cNvPr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5F9193-1473-BF90-FD6B-E36AF72AB786}"/>
              </a:ext>
            </a:extLst>
          </p:cNvPr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没有标签参与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9AF182-D4D8-2E3D-3DFC-3A5756BAA7E7}"/>
              </a:ext>
            </a:extLst>
          </p:cNvPr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聚类阶段不知道样本是男生还是女生，只根据身高体重距离把相似样本放到一起。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241D409-CEF6-F440-7910-482B31839168}"/>
              </a:ext>
            </a:extLst>
          </p:cNvPr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4AA7E7-81B2-71AD-F446-9B506E0C8530}"/>
              </a:ext>
            </a:extLst>
          </p:cNvPr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22AF09C-765A-DCAF-1A6A-CB572CBEB622}"/>
              </a:ext>
            </a:extLst>
          </p:cNvPr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均值思想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EB406DD-1B0C-4021-2590-AC824906213A}"/>
              </a:ext>
            </a:extLst>
          </p:cNvPr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反复执行两步：先按最近中心分组，再用每组均值更新中心，直到中心基本不变。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D5774A2-612A-2DC8-5DFB-A9A984612030}"/>
              </a:ext>
            </a:extLst>
          </p:cNvPr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66D23D-9FA9-6112-BBD7-18790AF3B4E2}"/>
              </a:ext>
            </a:extLst>
          </p:cNvPr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C46D10-DEA4-A588-2ED0-83E29BDD2556}"/>
              </a:ext>
            </a:extLst>
          </p:cNvPr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分级聚类思想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0A0660-CBBD-F0AD-5F82-B26CF291ED20}"/>
              </a:ext>
            </a:extLst>
          </p:cNvPr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从单个样本或小簇开始逐步合并，形成树状结构，可以观察样本相似性的层次。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0B25042-85B1-1773-4E8D-A9417C04CD5A}"/>
              </a:ext>
            </a:extLst>
          </p:cNvPr>
          <p:cNvSpPr/>
          <p:nvPr/>
        </p:nvSpPr>
        <p:spPr>
          <a:xfrm>
            <a:off x="965200" y="3429000"/>
            <a:ext cx="48260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25985A2-420F-B550-4C15-B138A7583832}"/>
              </a:ext>
            </a:extLst>
          </p:cNvPr>
          <p:cNvSpPr txBox="1"/>
          <p:nvPr/>
        </p:nvSpPr>
        <p:spPr>
          <a:xfrm>
            <a:off x="1270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600" b="1">
                <a:solidFill>
                  <a:srgbClr val="0A7FCC"/>
                </a:solidFill>
                <a:latin typeface="Microsoft YaHei" panose="020B0503020204020204" pitchFamily="34" charset="-122"/>
              </a:rPr>
              <a:t>：簇内越紧凑，数值越小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769E85-F77B-BFCC-4AA0-359729AF61E9}"/>
              </a:ext>
            </a:extLst>
          </p:cNvPr>
          <p:cNvSpPr txBox="1"/>
          <p:nvPr/>
        </p:nvSpPr>
        <p:spPr>
          <a:xfrm>
            <a:off x="1270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但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越大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通常越小，所以不能只看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，还要结合轮廓系数。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7F48907-4988-7707-520F-FBCD11D17485}"/>
              </a:ext>
            </a:extLst>
          </p:cNvPr>
          <p:cNvSpPr/>
          <p:nvPr/>
        </p:nvSpPr>
        <p:spPr>
          <a:xfrm>
            <a:off x="6426200" y="3429000"/>
            <a:ext cx="48260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510F952-D287-6EC8-EC3F-AD3CAEBC6A22}"/>
              </a:ext>
            </a:extLst>
          </p:cNvPr>
          <p:cNvSpPr txBox="1"/>
          <p:nvPr/>
        </p:nvSpPr>
        <p:spPr>
          <a:xfrm>
            <a:off x="6731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6BB7"/>
                </a:solidFill>
                <a:latin typeface="Microsoft YaHei" panose="020B0503020204020204" pitchFamily="34" charset="-122"/>
              </a:rPr>
              <a:t>轮廓系数：簇内近、簇间远更好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E765E3-FDB2-B13C-1253-D638AE5F9D1A}"/>
              </a:ext>
            </a:extLst>
          </p:cNvPr>
          <p:cNvSpPr txBox="1"/>
          <p:nvPr/>
        </p:nvSpPr>
        <p:spPr>
          <a:xfrm>
            <a:off x="6731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和匹配率用于把聚类结果与真实性别标签作事后比较，评价自然结构是否对应类别。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06C25FE-3F93-CABC-4660-55EE9201C4B8}"/>
              </a:ext>
            </a:extLst>
          </p:cNvPr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本实验重点不是训练分类器，而是观察数据本身是否天然形成两团。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如果 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的轮廓系数较高且匹配率较好，说明性别差异确实反映在身高体重结构中。</a:t>
            </a:r>
          </a:p>
        </p:txBody>
      </p:sp>
    </p:spTree>
    <p:extLst>
      <p:ext uri="{BB962C8B-B14F-4D97-AF65-F5344CB8AC3E}">
        <p14:creationId xmlns:p14="http://schemas.microsoft.com/office/powerpoint/2010/main" val="1236781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7CE1CC-ACAC-C7FA-FB8A-90752FD44C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ECEB74-C772-0B26-822C-134BA86A8395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29CB94D-C536-0947-06F3-85A66CC4D1B3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8875C373-1896-DC58-BA26-7CE48FAB2A1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5AAD23-5B60-B632-0799-CE4BD285CC64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2C0F6C-C487-91AE-BEAA-5230E8CCD083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实验五设置：两组数据与多种聚类数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920C637-C9C4-3FD9-C902-C92C407CC44C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B694EEE-4FF5-3CEB-D692-E67A84F74FBF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C171EA-B59A-EB0E-6C92-6F3616EAFAF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26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C0E40B3-63E8-7520-334D-233EEFEBD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191806"/>
              </p:ext>
            </p:extLst>
          </p:nvPr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66126681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21019958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28758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数据一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个训练样本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045791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数据二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70502331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身高、体重，先标准化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67897814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均值类别数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34261258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初始值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多个随机种子比较稳定性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40512255"/>
                  </a:ext>
                </a:extLst>
              </a:tr>
            </a:tbl>
          </a:graphicData>
        </a:graphic>
      </p:graphicFrame>
      <p:sp>
        <p:nvSpPr>
          <p:cNvPr id="12" name="椭圆 11">
            <a:extLst>
              <a:ext uri="{FF2B5EF4-FFF2-40B4-BE49-F238E27FC236}">
                <a16:creationId xmlns:a16="http://schemas.microsoft.com/office/drawing/2014/main" id="{E9255882-35FC-8EE1-5AF5-FBC05F027C72}"/>
              </a:ext>
            </a:extLst>
          </p:cNvPr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95078F-377A-2F9E-30D4-971765E16F25}"/>
              </a:ext>
            </a:extLst>
          </p:cNvPr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8E8A2C-7FAD-F9A3-21F1-78188F8F9C7E}"/>
              </a:ext>
            </a:extLst>
          </p:cNvPr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初始化中心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A5D2A4-C540-ED87-7C3F-5319CCDE942F}"/>
              </a:ext>
            </a:extLst>
          </p:cNvPr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个中心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35AABE8-BD99-806C-0E63-8F5E32B118F1}"/>
              </a:ext>
            </a:extLst>
          </p:cNvPr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033627-AA17-1FF7-4F41-9A9B500FA23A}"/>
              </a:ext>
            </a:extLst>
          </p:cNvPr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920BD2-A629-B096-8640-FD6870265981}"/>
              </a:ext>
            </a:extLst>
          </p:cNvPr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样本分配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E771CC-9338-EA2E-D661-6503E76457B2}"/>
              </a:ext>
            </a:extLst>
          </p:cNvPr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分配到最近中心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C10DC5B-991B-6B09-64ED-4BA2C308BA64}"/>
              </a:ext>
            </a:extLst>
          </p:cNvPr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39223E-6BFD-3AAC-9902-70AF60F4E961}"/>
              </a:ext>
            </a:extLst>
          </p:cNvPr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CF38CA-8F7D-9BD8-3E65-6A31AC945537}"/>
              </a:ext>
            </a:extLst>
          </p:cNvPr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中心更新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4E2876-09B6-58B8-B80B-07326307FB18}"/>
              </a:ext>
            </a:extLst>
          </p:cNvPr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计算各簇均值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F138B65-92BA-5352-DA3D-51340BFA6D96}"/>
              </a:ext>
            </a:extLst>
          </p:cNvPr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2C1396E-7830-298A-D413-5B17EFDB822B}"/>
              </a:ext>
            </a:extLst>
          </p:cNvPr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8939D79-792E-1FEB-0EAB-8D5447BCB387}"/>
              </a:ext>
            </a:extLst>
          </p:cNvPr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指标评估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D383FB-1265-FC79-F73F-8775B5C97804}"/>
              </a:ext>
            </a:extLst>
          </p:cNvPr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、匹配率</a:t>
            </a:r>
          </a:p>
        </p:txBody>
      </p:sp>
    </p:spTree>
    <p:extLst>
      <p:ext uri="{BB962C8B-B14F-4D97-AF65-F5344CB8AC3E}">
        <p14:creationId xmlns:p14="http://schemas.microsoft.com/office/powerpoint/2010/main" val="41560601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65BBC2-9B88-8A52-56F9-1BE6251EDB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947DF-8E82-7A4C-05C7-71E548C5AAB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9925B03-2B8A-B26C-F415-699AC99B6BA0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1FDAF16-988A-E838-C569-BFB30D9C90AF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4C0DF9-3C0E-BFF1-EFE6-94613F53A1FB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D70934-5120-4F49-C80B-90E8BBD057DA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聚类与初始值影响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28B98C0-10BF-6491-BFDB-DD6F88F723DA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2763AD9-DADC-6221-E0C3-0684F26BAFC7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D8FA70-5312-5F16-F785-7360230BCB2F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27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B138965-B169-9AF8-EE17-A0B6788E08AA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270FA77-8BB8-0B8E-63E8-17AB38A84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61846BE-12A4-DDBA-B673-47C075ED83FB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272885B-0766-3105-8D9A-A36FE6E04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5D3A690-9F1B-A590-4BC8-B49C5BE39E75}"/>
              </a:ext>
            </a:extLst>
          </p:cNvPr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8FCF7D-0770-676C-8431-E92FB25D361F}"/>
              </a:ext>
            </a:extLst>
          </p:cNvPr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Microsoft YaHei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AD85F1-597B-6049-4E9F-C1821883CB20}"/>
              </a:ext>
            </a:extLst>
          </p:cNvPr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匹配率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44BA225-974F-0F2E-C3A4-34F078949BF1}"/>
              </a:ext>
            </a:extLst>
          </p:cNvPr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C1501B-6F84-00DB-5305-83A98CD4785F}"/>
              </a:ext>
            </a:extLst>
          </p:cNvPr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Microsoft YaHei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B4CC41-4638-3BED-B029-04CF6D91FC8B}"/>
              </a:ext>
            </a:extLst>
          </p:cNvPr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不同初始值波动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7735DEF-D224-353B-BE89-68AC906FAD41}"/>
              </a:ext>
            </a:extLst>
          </p:cNvPr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858147-4164-9850-2D45-844B4ECF7479}"/>
              </a:ext>
            </a:extLst>
          </p:cNvPr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Microsoft YaHei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C015E2-36E8-8911-3001-29FA3770E17A}"/>
              </a:ext>
            </a:extLst>
          </p:cNvPr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Microsoft YaHei" panose="020B0503020204020204" pitchFamily="34" charset="-122"/>
              </a:rPr>
              <a:t>轮廓系数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E0D7720-6BEF-82D5-24CF-96D6D7ED4010}"/>
              </a:ext>
            </a:extLst>
          </p:cNvPr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57F7D4-BA7F-1A9D-27DD-C220E08C1D4A}"/>
              </a:ext>
            </a:extLst>
          </p:cNvPr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Microsoft YaHei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FBF41B-015B-85E2-C426-245037E04DAB}"/>
              </a:ext>
            </a:extLst>
          </p:cNvPr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Microsoft YaHei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335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2A342B-4225-83D2-DE51-81EE5BCEDD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373D0E-DC94-210A-6630-13B93A40F81E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56A08B3-D85D-8398-94BA-A30C0787A687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EADE1EB8-09B4-710E-6181-BA0E8DF63FEC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B142F6-775D-BA63-1E41-AE2FB03724DD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A23D39-F1D7-D458-9D17-3F9140095DDC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实验五结果：类别数选择与分级聚类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AB12834-3642-A8A1-34EB-E5EC765202B1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0A12956-3FC3-264E-CA7D-55398EB64879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F314EF-5BB2-B134-2073-987A7E753881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28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5375E20-73F4-530A-AC0E-2547FF51FF4D}"/>
              </a:ext>
            </a:extLst>
          </p:cNvPr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57B3259-9A6D-397A-20EF-F9D3144F9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E920473-AE21-E6E4-C5E2-24E25D392E25}"/>
              </a:ext>
            </a:extLst>
          </p:cNvPr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C7273E8-8C62-ED78-3CB5-01F9304DD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58D6ABA-04A1-A9FD-E437-D8BCE2501CB4}"/>
              </a:ext>
            </a:extLst>
          </p:cNvPr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D55220-42A0-5DF2-BCFF-35B180D8BC96}"/>
              </a:ext>
            </a:extLst>
          </p:cNvPr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DC67C4-8016-A16F-39CB-FA52FF171775}"/>
              </a:ext>
            </a:extLst>
          </p:cNvPr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类别数判断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83CD0D-F628-D8CC-6D29-DB7453AB9FE2}"/>
              </a:ext>
            </a:extLst>
          </p:cNvPr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最高，因此两类更合理。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2BDC9AD-B36C-97F1-1F32-A2A76B9E70EB}"/>
              </a:ext>
            </a:extLst>
          </p:cNvPr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FB576C-9C30-B393-E7F1-4713DC565A08}"/>
              </a:ext>
            </a:extLst>
          </p:cNvPr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355DB2-C8F4-3BF4-443C-23F12246FF32}"/>
              </a:ext>
            </a:extLst>
          </p:cNvPr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分级聚类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C5A7BBA-811D-44C8-CFEC-FD7BCD979FFC}"/>
              </a:ext>
            </a:extLst>
          </p:cNvPr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均值，但能展示层次结构。</a:t>
            </a:r>
          </a:p>
        </p:txBody>
      </p:sp>
    </p:spTree>
    <p:extLst>
      <p:ext uri="{BB962C8B-B14F-4D97-AF65-F5344CB8AC3E}">
        <p14:creationId xmlns:p14="http://schemas.microsoft.com/office/powerpoint/2010/main" val="1988774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586C5D-0223-AD9D-6C92-6D26CF0F52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012067-B62A-5AAE-76BA-4EB5FC4B2DDF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DDEA836A-D09C-2311-BEBE-CDA27CCBA83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9C761CA1-770C-45AD-B3C7-66A11E0EAD3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D2EA24-75EA-7B54-58A3-1015B0AF2DAE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C49C7D-0461-7E0A-077E-374416395195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后结构保持但边界更复杂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825FB5D-7BC6-FCF5-EA5A-6E4DD2A03908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A77D19B-71E4-F7FB-CBC2-1CCCAA15EA8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057297-55A0-0FC0-AF9D-A976534C97D2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29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95C99E5-1C87-6D20-8DC6-B7290A2112FD}"/>
              </a:ext>
            </a:extLst>
          </p:cNvPr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40D08DA-D2B8-D5AD-FD90-3E2C35D5F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52A1A5C-7E58-1AA2-C364-8F13D7AECF89}"/>
              </a:ext>
            </a:extLst>
          </p:cNvPr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2F582C2-1113-C9DC-4031-3B98F4978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8032980-DB55-B2DC-23EC-6AD7F28B0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786592"/>
              </p:ext>
            </p:extLst>
          </p:nvPr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76117105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48974814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31264759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38909504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11879513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数据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轮廓系数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匹配率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148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5712942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2479407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2912619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03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4410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E3F4C0-8C67-2746-7EB7-540C10CFC5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A87A35-5361-E8CA-B38F-1AF816B44C12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BB5BF79B-2331-A645-85A4-2385EC84DC39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F0A84A8-38AE-D8E3-CD57-0BD1D2D986ED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33DD9B-6BC9-9FDB-53AC-116B40807679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FB1E65-4670-5FFE-895F-9C34821270E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五个实验的横向总结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0414099-BBB2-484A-32D7-80F25BA344E2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7FFB470-C5EB-3040-E1BB-76B02B9D32FC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5EE89B-8BD4-7051-A1C9-57884C868FB8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30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E3B8F12-F658-D6FD-5903-AA4290B7F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821978"/>
              </p:ext>
            </p:extLst>
          </p:nvPr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>
                  <a:extLst>
                    <a:ext uri="{9D8B030D-6E8A-4147-A177-3AD203B41FA5}">
                      <a16:colId xmlns:a16="http://schemas.microsoft.com/office/drawing/2014/main" val="101460840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248278135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1151808537"/>
                    </a:ext>
                  </a:extLst>
                </a:gridCol>
                <a:gridCol w="2679700">
                  <a:extLst>
                    <a:ext uri="{9D8B030D-6E8A-4147-A177-3AD203B41FA5}">
                      <a16:colId xmlns:a16="http://schemas.microsoft.com/office/drawing/2014/main" val="3440554850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实验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课程知识点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监督信息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主要目标</a:t>
                      </a: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00102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分类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后验概率、参数估计、风险决策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最小错误率或最小风险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1788784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非参数估计、线性判别、留一法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比较概率模型与直接判别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4367074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特征提取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、协方差特征分解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降维与主方向分析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41770307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图像应用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高维图像特征压缩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图像识别作用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762781163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聚类分析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均值、分级聚类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不使用标签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发现样本自然结构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326035152"/>
                  </a:ext>
                </a:extLst>
              </a:tr>
            </a:tbl>
          </a:graphicData>
        </a:graphic>
      </p:graphicFrame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03D8CE9-01AF-AF88-A683-921F81B1DCD8}"/>
              </a:ext>
            </a:extLst>
          </p:cNvPr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3B4AA2-BE25-28F6-4AC2-DE5C3D0BA815}"/>
              </a:ext>
            </a:extLst>
          </p:cNvPr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Microsoft YaHei" panose="020B0503020204020204" pitchFamily="34" charset="-122"/>
              </a:rPr>
              <a:t>主线：从概率决策到线性判别，从监督分类到无监督聚类，从低维特征到高维图像识别。</a:t>
            </a:r>
          </a:p>
        </p:txBody>
      </p:sp>
    </p:spTree>
    <p:extLst>
      <p:ext uri="{BB962C8B-B14F-4D97-AF65-F5344CB8AC3E}">
        <p14:creationId xmlns:p14="http://schemas.microsoft.com/office/powerpoint/2010/main" val="1350517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4447CB2-C520-8E6B-3A5A-C08F47BC79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5EE450-3B57-D680-E8F1-FDE2E5C6A58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59A88B7-0EC7-578D-B20C-26AD28A72FCF}"/>
              </a:ext>
            </a:extLst>
          </p:cNvPr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>
            <a:extLst>
              <a:ext uri="{FF2B5EF4-FFF2-40B4-BE49-F238E27FC236}">
                <a16:creationId xmlns:a16="http://schemas.microsoft.com/office/drawing/2014/main" id="{311CE404-9852-A2A9-126A-D6978F5A7727}"/>
              </a:ext>
            </a:extLst>
          </p:cNvPr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BD2B50-16E8-ED47-25DE-F9B6524FC6DF}"/>
              </a:ext>
            </a:extLst>
          </p:cNvPr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Microsoft YaHei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65E5AB-130E-F0D6-3841-83BE6A5A7C7E}"/>
              </a:ext>
            </a:extLst>
          </p:cNvPr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总体结论与汇报收束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C23DDC8-C8A8-CA3A-8941-552070ADB35D}"/>
              </a:ext>
            </a:extLst>
          </p:cNvPr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37D91A9-78C4-9F81-9FF1-0BCA25EBF5C6}"/>
              </a:ext>
            </a:extLst>
          </p:cNvPr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Microsoft YaHei" panose="020B0503020204020204" pitchFamily="34" charset="-122"/>
              </a:rPr>
              <a:t>蓝白科研汇报模板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F326B7-FEF7-C105-C088-A4D4182CE305}"/>
              </a:ext>
            </a:extLst>
          </p:cNvPr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Microsoft YaHei" panose="020B0503020204020204" pitchFamily="34" charset="-122"/>
              </a:rPr>
              <a:t>31</a:t>
            </a:r>
            <a:endParaRPr lang="zh-CN" altLang="en-US" sz="700" b="1">
              <a:solidFill>
                <a:srgbClr val="006B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AED1BDF-22BC-797C-1817-D54C369A2A91}"/>
              </a:ext>
            </a:extLst>
          </p:cNvPr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7F8560-400C-FAF4-C330-39F97FDC3471}"/>
              </a:ext>
            </a:extLst>
          </p:cNvPr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24555D-C4DF-968C-8392-20835B44215C}"/>
              </a:ext>
            </a:extLst>
          </p:cNvPr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C45252-5BD1-2495-7561-CF103E1E7042}"/>
              </a:ext>
            </a:extLst>
          </p:cNvPr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Microsoft YaHei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可压缩高维特征。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23662EC-34F5-B382-0FF9-A22A9E7BB57D}"/>
              </a:ext>
            </a:extLst>
          </p:cNvPr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D92737-7406-A6BF-DF20-6AAAFD639C81}"/>
              </a:ext>
            </a:extLst>
          </p:cNvPr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0EC105-A3EE-4CF6-65D3-3FC0D017BC8B}"/>
              </a:ext>
            </a:extLst>
          </p:cNvPr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911A84-1B61-1E63-BF9A-5AF8FD662D10}"/>
              </a:ext>
            </a:extLst>
          </p:cNvPr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正态假设、窗口宽度、线性边界都会影响最终性能。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33103D2-65DA-8DEA-5B23-281B0FE7928B}"/>
              </a:ext>
            </a:extLst>
          </p:cNvPr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4E0AAD-7A52-87D2-7C6E-1C2C2B724CF8}"/>
              </a:ext>
            </a:extLst>
          </p:cNvPr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319917-71E1-CE4C-D0C6-4D9B06F4F911}"/>
              </a:ext>
            </a:extLst>
          </p:cNvPr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AB6200-F03C-851C-C83E-D67ED56FD97F}"/>
              </a:ext>
            </a:extLst>
          </p:cNvPr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Microsoft YaHei" panose="020B0503020204020204" pitchFamily="34" charset="-122"/>
              </a:rPr>
              <a:t>准确率、错误率、召回率、混淆矩阵和聚类指标需要综合分析。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14362B-0438-CAAD-2941-06A2C084098C}"/>
              </a:ext>
            </a:extLst>
          </p:cNvPr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A8C6E34-188B-6983-B89A-12CF8D44FC57}"/>
              </a:ext>
            </a:extLst>
          </p:cNvPr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Microsoft YaHei" panose="020B0503020204020204" pitchFamily="34" charset="-122"/>
              </a:rPr>
              <a:t>核心体会：模式识别方法没有绝对最优，算法选择必须结合数据分布、任务目标和评价指标。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D41342D-B7F6-C177-A013-CB6FEDE5E139}"/>
              </a:ext>
            </a:extLst>
          </p:cNvPr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Microsoft YaHei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强调表示与降维，聚类强调自然结构。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同一数据集上，不同模型的差异主要来自特征表示、概率假设、判别边界和评价目标。</a:t>
            </a: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Microsoft YaHei" panose="020B0503020204020204" pitchFamily="34" charset="-122"/>
              </a:rPr>
              <a:t>实验设计需要同时报告设置、指标和图形结果，才能解释模型为什么有效或失效。</a:t>
            </a:r>
          </a:p>
        </p:txBody>
      </p:sp>
    </p:spTree>
    <p:extLst>
      <p:ext uri="{BB962C8B-B14F-4D97-AF65-F5344CB8AC3E}">
        <p14:creationId xmlns:p14="http://schemas.microsoft.com/office/powerpoint/2010/main" val="128670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6D817CB-67EC-C99E-0005-5A631DD07A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BE6C3B-455A-D249-BCF2-F480AB9A4A9D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442473-AB8A-6CB1-AC84-5B78F557937A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8FE3E7-4A8A-0D6E-59A9-DF4B5AE303CE}"/>
              </a:ext>
            </a:extLst>
          </p:cNvPr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Microsoft YaHei" panose="020B0503020204020204" pitchFamily="34" charset="-122"/>
              </a:rPr>
              <a:t>谢谢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21CB24-F012-7FB4-FF5A-08C2C5F05960}"/>
              </a:ext>
            </a:extLst>
          </p:cNvPr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Microsoft YaHei" panose="020B0503020204020204" pitchFamily="34" charset="-122"/>
              </a:rPr>
              <a:t>欢迎老师和同学批评指正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B8B9E25-E8A9-27FE-D801-F355856B7931}"/>
              </a:ext>
            </a:extLst>
          </p:cNvPr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1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3578</Words>
  <Application>Microsoft Office PowerPoint</Application>
  <PresentationFormat>自定义</PresentationFormat>
  <Paragraphs>590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2026-06-16T20:09:33Z</dcterms:created>
  <dcterms:modified xsi:type="dcterms:W3CDTF">2026-06-16T20:10:05Z</dcterms:modified>
</cp:coreProperties>
</file>