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12" d="100"/>
          <a:sy n="112" d="100"/>
        </p:scale>
        <p:origin x="798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ableStyles" Target="tableStyle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6679258-BC36-CA20-29CA-0A479D1141A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26AE4C54-22CD-C9C9-9F38-8C8135F43F4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AD7F64F-7EC3-3E18-36C4-99D3105306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6E3E68-ACB4-4DE4-9401-482C1738C368}" type="datetimeFigureOut">
              <a:rPr lang="zh-CN" altLang="en-US" smtClean="0"/>
              <a:t>2026/6/17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AD094F7-CA2D-1841-E69D-93E37CC32F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82464E9-A6BE-AB6F-D4BF-48BD55978A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8D6247-628C-4A8E-BB14-F21DCAFA09C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2538983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11EC35D-530F-7B34-330B-16402553B0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E9A2175-8512-9CD5-711B-B699D2E8FD3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CE594D48-B0B2-D92B-5F52-5633EF08A9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6E3E68-ACB4-4DE4-9401-482C1738C368}" type="datetimeFigureOut">
              <a:rPr lang="zh-CN" altLang="en-US" smtClean="0"/>
              <a:t>2026/6/17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ADC603C-F256-66E1-D6A7-7D95732C9E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679BA3D-1214-F9D4-F120-908F213983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8D6247-628C-4A8E-BB14-F21DCAFA09C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5215734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9CF4E73-64FF-D3EC-7FDC-8FBDE2B2C3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53220AD2-53EF-19B8-C35C-2566082E199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B13BCBB-5942-317E-26A1-7F195131AF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6E3E68-ACB4-4DE4-9401-482C1738C368}" type="datetimeFigureOut">
              <a:rPr lang="zh-CN" altLang="en-US" smtClean="0"/>
              <a:t>2026/6/17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CD3CCCF1-7CB9-6A57-5DC8-A36B160EC4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D41F819-99F5-5203-4E7E-BA6DD62B20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8D6247-628C-4A8E-BB14-F21DCAFA09C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5747191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7A34265-4423-4F64-138C-D2F257483D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C871933-34B9-86DC-C701-3ADCDB7C4BA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59810949-BDDE-DDA3-4164-CB0398A3989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B8A4544-E76B-48FA-63DF-FD4D255C21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6E3E68-ACB4-4DE4-9401-482C1738C368}" type="datetimeFigureOut">
              <a:rPr lang="zh-CN" altLang="en-US" smtClean="0"/>
              <a:t>2026/6/17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27C93A1-2C0E-A85A-5322-E5B6D15F95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B465041D-AF01-1497-4A01-908E750E6C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8D6247-628C-4A8E-BB14-F21DCAFA09C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5685556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9485809-ADAA-CCC3-00C2-25E474BA95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E3E4F6ED-DC22-429D-3CB8-8B3ED4BE2D6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30490E07-530F-7DB3-861E-FE84DBC414A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F3913E47-8CC8-EDA8-CC00-66A03A10F1A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7A950140-20D9-0009-FA77-0438CC245F8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7EA9FD20-6056-DDF4-BF34-7804D4B639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6E3E68-ACB4-4DE4-9401-482C1738C368}" type="datetimeFigureOut">
              <a:rPr lang="zh-CN" altLang="en-US" smtClean="0"/>
              <a:t>2026/6/17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3214C3F0-4FEF-CE2F-4311-C9C6A04711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6EBA21EF-A44A-E16F-3EA6-58BF56525E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8D6247-628C-4A8E-BB14-F21DCAFA09C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194030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8E98E25-95E5-A8A6-5838-4BB0DEF1AD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B7ED9DCE-DD0F-CF29-45B4-AA6F9080EF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6E3E68-ACB4-4DE4-9401-482C1738C368}" type="datetimeFigureOut">
              <a:rPr lang="zh-CN" altLang="en-US" smtClean="0"/>
              <a:t>2026/6/17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0478E9C0-BB87-C500-C3EA-CAA63865DB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D19E5906-A7E5-9582-F063-874BDD0485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8D6247-628C-4A8E-BB14-F21DCAFA09C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9597851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572A70FD-ACE9-CC1F-3058-C6D853AC87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6E3E68-ACB4-4DE4-9401-482C1738C368}" type="datetimeFigureOut">
              <a:rPr lang="zh-CN" altLang="en-US" smtClean="0"/>
              <a:t>2026/6/17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338E38AB-1DBC-A0B0-0DCF-4D12AED187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A1BA4DAF-893C-3A62-5F2E-BEB5146A51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8D6247-628C-4A8E-BB14-F21DCAFA09C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7910126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D837D29-76E0-76C1-B935-D8BD2285EA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0225C6B-06E5-FFE9-588E-0D18C378512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CB7FBBD7-6282-9864-DDD7-CF318E29273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E3D0023-B237-7481-7F88-FC0DC096CC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6E3E68-ACB4-4DE4-9401-482C1738C368}" type="datetimeFigureOut">
              <a:rPr lang="zh-CN" altLang="en-US" smtClean="0"/>
              <a:t>2026/6/17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86D2ECB-092E-AC4F-2659-88A5D020C4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062266FD-0578-7A59-0FDF-D1F0957104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8D6247-628C-4A8E-BB14-F21DCAFA09C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5676214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A07BEEE-7944-1F25-2158-BEB04C2FD1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433A6CD1-A740-8CA9-52A6-1D6CF15A564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41C985DF-FD53-3EFD-0725-903F0277F8E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4AF2B196-052D-F6F7-DB89-4E67084782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6E3E68-ACB4-4DE4-9401-482C1738C368}" type="datetimeFigureOut">
              <a:rPr lang="zh-CN" altLang="en-US" smtClean="0"/>
              <a:t>2026/6/17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EDE001CF-08D7-7C56-4612-1D76702643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774CBBE8-C62D-1140-2CBD-585C844BB2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8D6247-628C-4A8E-BB14-F21DCAFA09C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020690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74CB2B2-5EF0-270E-BCDC-376E507003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F776B4CA-AA56-D9FF-85AE-3E90F6B0B29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CF4F0F4-1FB2-179F-56C0-34DE9508FC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6E3E68-ACB4-4DE4-9401-482C1738C368}" type="datetimeFigureOut">
              <a:rPr lang="zh-CN" altLang="en-US" smtClean="0"/>
              <a:t>2026/6/17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9F782C6-A12E-B1D9-3F08-3FBBB2903C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DD0F86F-B528-9CD6-6512-4B7EEC5336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8D6247-628C-4A8E-BB14-F21DCAFA09C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9512378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1CACE7B7-3B0C-94D1-35B6-32B4B3B1399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24A37510-A034-A2A3-D741-4AC33E9B4B0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12450CB-1497-3724-8CB2-5B21CEBB98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6E3E68-ACB4-4DE4-9401-482C1738C368}" type="datetimeFigureOut">
              <a:rPr lang="zh-CN" altLang="en-US" smtClean="0"/>
              <a:t>2026/6/17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8E8FA9A-68AA-4AE9-0D1D-AD941E26F9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DFECE80-0C77-FEE6-7D94-D49BC6B89E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8D6247-628C-4A8E-BB14-F21DCAFA09C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9542487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29F23E48-F526-ADFB-6865-A91E267189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8A172C9-B446-2EE1-12FC-CDF1C2A1653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B059401-D4ED-8350-95B2-5E0E6CABA0A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C6E3E68-ACB4-4DE4-9401-482C1738C368}" type="datetimeFigureOut">
              <a:rPr lang="zh-CN" altLang="en-US" smtClean="0"/>
              <a:t>2026/6/17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2FCD3BD-84E2-6789-BF4D-B5947252A25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C7A57805-7EF1-983D-11CF-B1317E240C7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C8D6247-628C-4A8E-BB14-F21DCAFA09C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2777014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CD77BE58-3B15-5BC1-FC54-0D8CFC73EB2C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4A82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平行四边形 2">
            <a:extLst>
              <a:ext uri="{FF2B5EF4-FFF2-40B4-BE49-F238E27FC236}">
                <a16:creationId xmlns:a16="http://schemas.microsoft.com/office/drawing/2014/main" id="{1C24AFC2-331B-D637-9727-F1704111BB67}"/>
              </a:ext>
            </a:extLst>
          </p:cNvPr>
          <p:cNvSpPr/>
          <p:nvPr/>
        </p:nvSpPr>
        <p:spPr>
          <a:xfrm>
            <a:off x="-1016000" y="4381500"/>
            <a:ext cx="6794500" cy="2857500"/>
          </a:xfrm>
          <a:prstGeom prst="parallelogram">
            <a:avLst>
              <a:gd name="adj" fmla="val 18000"/>
            </a:avLst>
          </a:prstGeom>
          <a:solidFill>
            <a:srgbClr val="006BB7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平行四边形 3">
            <a:extLst>
              <a:ext uri="{FF2B5EF4-FFF2-40B4-BE49-F238E27FC236}">
                <a16:creationId xmlns:a16="http://schemas.microsoft.com/office/drawing/2014/main" id="{8C8128A8-590E-7D8E-AF51-C5390ED6FEE0}"/>
              </a:ext>
            </a:extLst>
          </p:cNvPr>
          <p:cNvSpPr/>
          <p:nvPr/>
        </p:nvSpPr>
        <p:spPr>
          <a:xfrm>
            <a:off x="8064500" y="-254000"/>
            <a:ext cx="5334000" cy="1968500"/>
          </a:xfrm>
          <a:prstGeom prst="parallelogram">
            <a:avLst>
              <a:gd name="adj" fmla="val 18000"/>
            </a:avLst>
          </a:prstGeom>
          <a:solidFill>
            <a:srgbClr val="3A9BD9">
              <a:alpha val="85000"/>
            </a:srgbClr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5618B277-E3E3-D75F-7F3A-5D3A0BED6F06}"/>
              </a:ext>
            </a:extLst>
          </p:cNvPr>
          <p:cNvSpPr txBox="1"/>
          <p:nvPr/>
        </p:nvSpPr>
        <p:spPr>
          <a:xfrm>
            <a:off x="914400" y="1422400"/>
            <a:ext cx="4064000" cy="15388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1000" b="1">
                <a:solidFill>
                  <a:srgbClr val="BFE8FF"/>
                </a:solidFill>
                <a:latin typeface="Microsoft YaHei" panose="020B0503020204020204" pitchFamily="34" charset="-122"/>
              </a:rPr>
              <a:t>PATTERN RECOGNITION</a:t>
            </a:r>
            <a:endParaRPr lang="zh-CN" altLang="en-US" sz="1000" b="1">
              <a:solidFill>
                <a:srgbClr val="BFE8FF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34DE6EEF-1548-5BB5-AAFF-21280AAA1693}"/>
              </a:ext>
            </a:extLst>
          </p:cNvPr>
          <p:cNvSpPr txBox="1"/>
          <p:nvPr/>
        </p:nvSpPr>
        <p:spPr>
          <a:xfrm>
            <a:off x="914400" y="2006600"/>
            <a:ext cx="7874000" cy="67710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4400" b="1">
                <a:solidFill>
                  <a:srgbClr val="FFFFFF"/>
                </a:solidFill>
                <a:latin typeface="Microsoft YaHei" panose="020B0503020204020204" pitchFamily="34" charset="-122"/>
              </a:rPr>
              <a:t>模式识别课程实验汇报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E485F099-DB28-EB80-7EEC-6BDFBA7CA376}"/>
              </a:ext>
            </a:extLst>
          </p:cNvPr>
          <p:cNvSpPr txBox="1"/>
          <p:nvPr/>
        </p:nvSpPr>
        <p:spPr>
          <a:xfrm>
            <a:off x="965200" y="2921000"/>
            <a:ext cx="8763000" cy="261610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1700">
                <a:solidFill>
                  <a:srgbClr val="D9ECFF"/>
                </a:solidFill>
                <a:latin typeface="Microsoft YaHei" panose="020B0503020204020204" pitchFamily="34" charset="-122"/>
              </a:rPr>
              <a:t>Bayes </a:t>
            </a:r>
            <a:r>
              <a:rPr lang="zh-CN" altLang="en-US" sz="1700">
                <a:solidFill>
                  <a:srgbClr val="D9ECFF"/>
                </a:solidFill>
                <a:latin typeface="Microsoft YaHei" panose="020B0503020204020204" pitchFamily="34" charset="-122"/>
              </a:rPr>
              <a:t>分类器 </a:t>
            </a:r>
            <a:r>
              <a:rPr lang="en-US" altLang="zh-CN" sz="1700">
                <a:solidFill>
                  <a:srgbClr val="D9ECFF"/>
                </a:solidFill>
                <a:latin typeface="Microsoft YaHei" panose="020B0503020204020204" pitchFamily="34" charset="-122"/>
              </a:rPr>
              <a:t>· Fisher </a:t>
            </a:r>
            <a:r>
              <a:rPr lang="zh-CN" altLang="en-US" sz="1700">
                <a:solidFill>
                  <a:srgbClr val="D9ECFF"/>
                </a:solidFill>
                <a:latin typeface="Microsoft YaHei" panose="020B0503020204020204" pitchFamily="34" charset="-122"/>
              </a:rPr>
              <a:t>判别 </a:t>
            </a:r>
            <a:r>
              <a:rPr lang="en-US" altLang="zh-CN" sz="1700">
                <a:solidFill>
                  <a:srgbClr val="D9ECFF"/>
                </a:solidFill>
                <a:latin typeface="Microsoft YaHei" panose="020B0503020204020204" pitchFamily="34" charset="-122"/>
              </a:rPr>
              <a:t>· K-L </a:t>
            </a:r>
            <a:r>
              <a:rPr lang="zh-CN" altLang="en-US" sz="1700">
                <a:solidFill>
                  <a:srgbClr val="D9ECFF"/>
                </a:solidFill>
                <a:latin typeface="Microsoft YaHei" panose="020B0503020204020204" pitchFamily="34" charset="-122"/>
              </a:rPr>
              <a:t>变换 </a:t>
            </a:r>
            <a:r>
              <a:rPr lang="en-US" altLang="zh-CN" sz="1700">
                <a:solidFill>
                  <a:srgbClr val="D9ECFF"/>
                </a:solidFill>
                <a:latin typeface="Microsoft YaHei" panose="020B0503020204020204" pitchFamily="34" charset="-122"/>
              </a:rPr>
              <a:t>· </a:t>
            </a:r>
            <a:r>
              <a:rPr lang="zh-CN" altLang="en-US" sz="1700">
                <a:solidFill>
                  <a:srgbClr val="D9ECFF"/>
                </a:solidFill>
                <a:latin typeface="Microsoft YaHei" panose="020B0503020204020204" pitchFamily="34" charset="-122"/>
              </a:rPr>
              <a:t>图像识别 </a:t>
            </a:r>
            <a:r>
              <a:rPr lang="en-US" altLang="zh-CN" sz="1700">
                <a:solidFill>
                  <a:srgbClr val="D9ECFF"/>
                </a:solidFill>
                <a:latin typeface="Microsoft YaHei" panose="020B0503020204020204" pitchFamily="34" charset="-122"/>
              </a:rPr>
              <a:t>· </a:t>
            </a:r>
            <a:r>
              <a:rPr lang="zh-CN" altLang="en-US" sz="1700">
                <a:solidFill>
                  <a:srgbClr val="D9ECFF"/>
                </a:solidFill>
                <a:latin typeface="Microsoft YaHei" panose="020B0503020204020204" pitchFamily="34" charset="-122"/>
              </a:rPr>
              <a:t>聚类分析</a:t>
            </a: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369CA4FD-0551-10B8-B432-46CE8AEAC475}"/>
              </a:ext>
            </a:extLst>
          </p:cNvPr>
          <p:cNvSpPr/>
          <p:nvPr/>
        </p:nvSpPr>
        <p:spPr>
          <a:xfrm>
            <a:off x="914400" y="4165600"/>
            <a:ext cx="2540000" cy="698500"/>
          </a:xfrm>
          <a:prstGeom prst="roundRect">
            <a:avLst/>
          </a:prstGeom>
          <a:solidFill>
            <a:srgbClr val="0E3556"/>
          </a:solidFill>
          <a:ln w="8890">
            <a:solidFill>
              <a:srgbClr val="75BDE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1490CEEE-A7B9-7C10-F057-FAE7E1D27445}"/>
              </a:ext>
            </a:extLst>
          </p:cNvPr>
          <p:cNvSpPr/>
          <p:nvPr/>
        </p:nvSpPr>
        <p:spPr>
          <a:xfrm>
            <a:off x="914400" y="4165600"/>
            <a:ext cx="76200" cy="698500"/>
          </a:xfrm>
          <a:prstGeom prst="rect">
            <a:avLst/>
          </a:prstGeom>
          <a:solidFill>
            <a:srgbClr val="3A9BD9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A8905F2D-945E-FA8A-4B1B-0E45C0B621AF}"/>
              </a:ext>
            </a:extLst>
          </p:cNvPr>
          <p:cNvSpPr txBox="1"/>
          <p:nvPr/>
        </p:nvSpPr>
        <p:spPr>
          <a:xfrm>
            <a:off x="1117600" y="4318000"/>
            <a:ext cx="2032000" cy="15388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000" b="1">
                <a:solidFill>
                  <a:srgbClr val="D9ECFF"/>
                </a:solidFill>
                <a:latin typeface="Microsoft YaHei" panose="020B0503020204020204" pitchFamily="34" charset="-122"/>
              </a:rPr>
              <a:t>姓名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F19B1078-9ABA-F309-2EE3-A70FE5926187}"/>
              </a:ext>
            </a:extLst>
          </p:cNvPr>
          <p:cNvSpPr txBox="1"/>
          <p:nvPr/>
        </p:nvSpPr>
        <p:spPr>
          <a:xfrm>
            <a:off x="1117600" y="4597400"/>
            <a:ext cx="2032000" cy="15388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000">
                <a:solidFill>
                  <a:srgbClr val="FFFFFF"/>
                </a:solidFill>
                <a:latin typeface="Microsoft YaHei" panose="020B0503020204020204" pitchFamily="34" charset="-122"/>
              </a:rPr>
              <a:t>请填写</a:t>
            </a:r>
          </a:p>
        </p:txBody>
      </p:sp>
      <p:sp>
        <p:nvSpPr>
          <p:cNvPr id="12" name="矩形: 圆角 11">
            <a:extLst>
              <a:ext uri="{FF2B5EF4-FFF2-40B4-BE49-F238E27FC236}">
                <a16:creationId xmlns:a16="http://schemas.microsoft.com/office/drawing/2014/main" id="{5D458C56-1FAE-6E9C-2681-2F2A7846008B}"/>
              </a:ext>
            </a:extLst>
          </p:cNvPr>
          <p:cNvSpPr/>
          <p:nvPr/>
        </p:nvSpPr>
        <p:spPr>
          <a:xfrm>
            <a:off x="3924300" y="4165600"/>
            <a:ext cx="2540000" cy="698500"/>
          </a:xfrm>
          <a:prstGeom prst="roundRect">
            <a:avLst/>
          </a:prstGeom>
          <a:solidFill>
            <a:srgbClr val="0E3556"/>
          </a:solidFill>
          <a:ln w="8890">
            <a:solidFill>
              <a:srgbClr val="75BDE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0072B219-A7E1-1B87-0432-3D8C7D1C27DA}"/>
              </a:ext>
            </a:extLst>
          </p:cNvPr>
          <p:cNvSpPr/>
          <p:nvPr/>
        </p:nvSpPr>
        <p:spPr>
          <a:xfrm>
            <a:off x="3924300" y="4165600"/>
            <a:ext cx="76200" cy="698500"/>
          </a:xfrm>
          <a:prstGeom prst="rect">
            <a:avLst/>
          </a:prstGeom>
          <a:solidFill>
            <a:srgbClr val="D4A84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3CF7AD98-BEC1-3342-40BE-C07A58473B06}"/>
              </a:ext>
            </a:extLst>
          </p:cNvPr>
          <p:cNvSpPr txBox="1"/>
          <p:nvPr/>
        </p:nvSpPr>
        <p:spPr>
          <a:xfrm>
            <a:off x="4127500" y="4318000"/>
            <a:ext cx="2032000" cy="15388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000" b="1">
                <a:solidFill>
                  <a:srgbClr val="D9ECFF"/>
                </a:solidFill>
                <a:latin typeface="Microsoft YaHei" panose="020B0503020204020204" pitchFamily="34" charset="-122"/>
              </a:rPr>
              <a:t>学号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9F635CFC-A30E-9C5D-E7FC-35A8C024D45F}"/>
              </a:ext>
            </a:extLst>
          </p:cNvPr>
          <p:cNvSpPr txBox="1"/>
          <p:nvPr/>
        </p:nvSpPr>
        <p:spPr>
          <a:xfrm>
            <a:off x="4127500" y="4597400"/>
            <a:ext cx="2032000" cy="15388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000">
                <a:solidFill>
                  <a:srgbClr val="FFFFFF"/>
                </a:solidFill>
                <a:latin typeface="Microsoft YaHei" panose="020B0503020204020204" pitchFamily="34" charset="-122"/>
              </a:rPr>
              <a:t>请填写</a:t>
            </a:r>
          </a:p>
        </p:txBody>
      </p:sp>
      <p:sp>
        <p:nvSpPr>
          <p:cNvPr id="16" name="矩形: 圆角 15">
            <a:extLst>
              <a:ext uri="{FF2B5EF4-FFF2-40B4-BE49-F238E27FC236}">
                <a16:creationId xmlns:a16="http://schemas.microsoft.com/office/drawing/2014/main" id="{699710F0-21F1-C922-9D3F-BF86348710A0}"/>
              </a:ext>
            </a:extLst>
          </p:cNvPr>
          <p:cNvSpPr/>
          <p:nvPr/>
        </p:nvSpPr>
        <p:spPr>
          <a:xfrm>
            <a:off x="6934200" y="4165600"/>
            <a:ext cx="2540000" cy="698500"/>
          </a:xfrm>
          <a:prstGeom prst="roundRect">
            <a:avLst/>
          </a:prstGeom>
          <a:solidFill>
            <a:srgbClr val="0E3556"/>
          </a:solidFill>
          <a:ln w="8890">
            <a:solidFill>
              <a:srgbClr val="75BDE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0443CC46-5748-1AF8-C308-84724173D5B3}"/>
              </a:ext>
            </a:extLst>
          </p:cNvPr>
          <p:cNvSpPr/>
          <p:nvPr/>
        </p:nvSpPr>
        <p:spPr>
          <a:xfrm>
            <a:off x="6934200" y="4165600"/>
            <a:ext cx="76200" cy="698500"/>
          </a:xfrm>
          <a:prstGeom prst="rect">
            <a:avLst/>
          </a:prstGeom>
          <a:solidFill>
            <a:srgbClr val="0A7FC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06A427AA-AD7E-4089-EFEB-5FE2F37F7D06}"/>
              </a:ext>
            </a:extLst>
          </p:cNvPr>
          <p:cNvSpPr txBox="1"/>
          <p:nvPr/>
        </p:nvSpPr>
        <p:spPr>
          <a:xfrm>
            <a:off x="7137400" y="4318000"/>
            <a:ext cx="2032000" cy="15388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000" b="1">
                <a:solidFill>
                  <a:srgbClr val="D9ECFF"/>
                </a:solidFill>
                <a:latin typeface="Microsoft YaHei" panose="020B0503020204020204" pitchFamily="34" charset="-122"/>
              </a:rPr>
              <a:t>班级</a:t>
            </a:r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DE24A683-C922-1F6B-54EB-BEB531FBA086}"/>
              </a:ext>
            </a:extLst>
          </p:cNvPr>
          <p:cNvSpPr txBox="1"/>
          <p:nvPr/>
        </p:nvSpPr>
        <p:spPr>
          <a:xfrm>
            <a:off x="7137400" y="4597400"/>
            <a:ext cx="2032000" cy="15388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000">
                <a:solidFill>
                  <a:srgbClr val="FFFFFF"/>
                </a:solidFill>
                <a:latin typeface="Microsoft YaHei" panose="020B0503020204020204" pitchFamily="34" charset="-122"/>
              </a:rPr>
              <a:t>请填写</a:t>
            </a:r>
          </a:p>
        </p:txBody>
      </p:sp>
    </p:spTree>
    <p:extLst>
      <p:ext uri="{BB962C8B-B14F-4D97-AF65-F5344CB8AC3E}">
        <p14:creationId xmlns:p14="http://schemas.microsoft.com/office/powerpoint/2010/main" val="378038558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745D8AB8-5EDA-609A-3634-B0B5FAC6D279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C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8E332BF6-211A-417F-E7D9-E9B47426D781}"/>
              </a:ext>
            </a:extLst>
          </p:cNvPr>
          <p:cNvSpPr/>
          <p:nvPr/>
        </p:nvSpPr>
        <p:spPr>
          <a:xfrm>
            <a:off x="0" y="0"/>
            <a:ext cx="12192000" cy="1016000"/>
          </a:xfrm>
          <a:prstGeom prst="rect">
            <a:avLst/>
          </a:prstGeom>
          <a:solidFill>
            <a:srgbClr val="006BB7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平行四边形 3">
            <a:extLst>
              <a:ext uri="{FF2B5EF4-FFF2-40B4-BE49-F238E27FC236}">
                <a16:creationId xmlns:a16="http://schemas.microsoft.com/office/drawing/2014/main" id="{B897E65F-3511-B158-26C0-DAE980B1C554}"/>
              </a:ext>
            </a:extLst>
          </p:cNvPr>
          <p:cNvSpPr/>
          <p:nvPr/>
        </p:nvSpPr>
        <p:spPr>
          <a:xfrm>
            <a:off x="8953500" y="-228600"/>
            <a:ext cx="3581400" cy="1346200"/>
          </a:xfrm>
          <a:prstGeom prst="parallelogram">
            <a:avLst>
              <a:gd name="adj" fmla="val 20000"/>
            </a:avLst>
          </a:prstGeom>
          <a:solidFill>
            <a:srgbClr val="3A9BD9">
              <a:alpha val="85000"/>
            </a:srgbClr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平行四边形 4">
            <a:extLst>
              <a:ext uri="{FF2B5EF4-FFF2-40B4-BE49-F238E27FC236}">
                <a16:creationId xmlns:a16="http://schemas.microsoft.com/office/drawing/2014/main" id="{C9DB3C54-DECB-D242-1296-2DBA6DD6F1EA}"/>
              </a:ext>
            </a:extLst>
          </p:cNvPr>
          <p:cNvSpPr/>
          <p:nvPr/>
        </p:nvSpPr>
        <p:spPr>
          <a:xfrm>
            <a:off x="-508000" y="6324600"/>
            <a:ext cx="5969000" cy="660400"/>
          </a:xfrm>
          <a:prstGeom prst="parallelogram">
            <a:avLst>
              <a:gd name="adj" fmla="val 20000"/>
            </a:avLst>
          </a:prstGeom>
          <a:solidFill>
            <a:srgbClr val="DDF0F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3748BECD-2706-5622-4C1A-AD4AED58A293}"/>
              </a:ext>
            </a:extLst>
          </p:cNvPr>
          <p:cNvSpPr txBox="1"/>
          <p:nvPr/>
        </p:nvSpPr>
        <p:spPr>
          <a:xfrm>
            <a:off x="736600" y="254000"/>
            <a:ext cx="4953000" cy="10772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700" b="1">
                <a:solidFill>
                  <a:srgbClr val="CDEBFF"/>
                </a:solidFill>
                <a:latin typeface="Microsoft YaHei" panose="020B0503020204020204" pitchFamily="34" charset="-122"/>
              </a:rPr>
              <a:t>TALK ROADMAP</a:t>
            </a:r>
            <a:endParaRPr lang="zh-CN" altLang="en-US" sz="700" b="1">
              <a:solidFill>
                <a:srgbClr val="CDEBFF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E2E1C850-2EBD-7E20-52AD-560119B0C5B7}"/>
              </a:ext>
            </a:extLst>
          </p:cNvPr>
          <p:cNvSpPr txBox="1"/>
          <p:nvPr/>
        </p:nvSpPr>
        <p:spPr>
          <a:xfrm>
            <a:off x="736600" y="533400"/>
            <a:ext cx="8509000" cy="41549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2700" b="1">
                <a:solidFill>
                  <a:srgbClr val="FFFFFF"/>
                </a:solidFill>
                <a:latin typeface="Microsoft YaHei" panose="020B0503020204020204" pitchFamily="34" charset="-122"/>
              </a:rPr>
              <a:t>汇报结构：从分类到聚类的完整方法链</a:t>
            </a:r>
          </a:p>
        </p:txBody>
      </p:sp>
      <p:cxnSp>
        <p:nvCxnSpPr>
          <p:cNvPr id="8" name="直接连接符 7">
            <a:extLst>
              <a:ext uri="{FF2B5EF4-FFF2-40B4-BE49-F238E27FC236}">
                <a16:creationId xmlns:a16="http://schemas.microsoft.com/office/drawing/2014/main" id="{60ACDD5A-BDDD-D741-7DB1-5CFCB78C83F1}"/>
              </a:ext>
            </a:extLst>
          </p:cNvPr>
          <p:cNvCxnSpPr/>
          <p:nvPr/>
        </p:nvCxnSpPr>
        <p:spPr>
          <a:xfrm>
            <a:off x="736600" y="1295400"/>
            <a:ext cx="1168400" cy="0"/>
          </a:xfrm>
          <a:prstGeom prst="line">
            <a:avLst/>
          </a:prstGeom>
          <a:ln w="38100">
            <a:solidFill>
              <a:srgbClr val="D4A84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文本框 8">
            <a:extLst>
              <a:ext uri="{FF2B5EF4-FFF2-40B4-BE49-F238E27FC236}">
                <a16:creationId xmlns:a16="http://schemas.microsoft.com/office/drawing/2014/main" id="{FB98E189-9B6D-6327-4D6B-B3834BA7E4CB}"/>
              </a:ext>
            </a:extLst>
          </p:cNvPr>
          <p:cNvSpPr txBox="1"/>
          <p:nvPr/>
        </p:nvSpPr>
        <p:spPr>
          <a:xfrm>
            <a:off x="533400" y="6527800"/>
            <a:ext cx="3937000" cy="10772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700">
                <a:solidFill>
                  <a:srgbClr val="8FA8BA"/>
                </a:solidFill>
                <a:latin typeface="Microsoft YaHei" panose="020B0503020204020204" pitchFamily="34" charset="-122"/>
              </a:rPr>
              <a:t>模式识别课程实验汇报 </a:t>
            </a:r>
            <a:r>
              <a:rPr lang="en-US" altLang="zh-CN" sz="700">
                <a:solidFill>
                  <a:srgbClr val="8FA8BA"/>
                </a:solidFill>
                <a:latin typeface="Microsoft YaHei" panose="020B0503020204020204" pitchFamily="34" charset="-122"/>
              </a:rPr>
              <a:t>· </a:t>
            </a:r>
            <a:r>
              <a:rPr lang="zh-CN" altLang="en-US" sz="700">
                <a:solidFill>
                  <a:srgbClr val="8FA8BA"/>
                </a:solidFill>
                <a:latin typeface="Microsoft YaHei" panose="020B0503020204020204" pitchFamily="34" charset="-122"/>
              </a:rPr>
              <a:t>蓝白科研汇报模板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7F7CC4F8-CBF9-DE78-BAEA-B13AF469D48F}"/>
              </a:ext>
            </a:extLst>
          </p:cNvPr>
          <p:cNvSpPr txBox="1"/>
          <p:nvPr/>
        </p:nvSpPr>
        <p:spPr>
          <a:xfrm>
            <a:off x="11366500" y="6477000"/>
            <a:ext cx="355600" cy="10772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r"/>
            <a:r>
              <a:rPr lang="en-US" altLang="zh-CN" sz="700" b="1">
                <a:solidFill>
                  <a:srgbClr val="006BB7"/>
                </a:solidFill>
                <a:latin typeface="Microsoft YaHei" panose="020B0503020204020204" pitchFamily="34" charset="-122"/>
              </a:rPr>
              <a:t>01</a:t>
            </a:r>
            <a:endParaRPr lang="zh-CN" altLang="en-US" sz="700" b="1">
              <a:solidFill>
                <a:srgbClr val="006BB7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E247A614-B1BE-A8F0-D4B5-F6DD1A984481}"/>
              </a:ext>
            </a:extLst>
          </p:cNvPr>
          <p:cNvSpPr/>
          <p:nvPr/>
        </p:nvSpPr>
        <p:spPr>
          <a:xfrm>
            <a:off x="711200" y="1498600"/>
            <a:ext cx="1841500" cy="116840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0B4DCDA5-A728-CEA8-6D24-24EE2FCB3D09}"/>
              </a:ext>
            </a:extLst>
          </p:cNvPr>
          <p:cNvSpPr/>
          <p:nvPr/>
        </p:nvSpPr>
        <p:spPr>
          <a:xfrm>
            <a:off x="711200" y="1498600"/>
            <a:ext cx="76200" cy="1168400"/>
          </a:xfrm>
          <a:prstGeom prst="rect">
            <a:avLst/>
          </a:prstGeom>
          <a:solidFill>
            <a:srgbClr val="006BB7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F13DD82B-4787-AF4D-4DC7-47EC712CB54E}"/>
              </a:ext>
            </a:extLst>
          </p:cNvPr>
          <p:cNvSpPr txBox="1"/>
          <p:nvPr/>
        </p:nvSpPr>
        <p:spPr>
          <a:xfrm>
            <a:off x="901700" y="1625600"/>
            <a:ext cx="1536700" cy="215444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1400" b="1">
                <a:solidFill>
                  <a:srgbClr val="0A2E4E"/>
                </a:solidFill>
                <a:latin typeface="Microsoft YaHei" panose="020B0503020204020204" pitchFamily="34" charset="-122"/>
              </a:rPr>
              <a:t>01 Bayes </a:t>
            </a:r>
            <a:r>
              <a:rPr lang="zh-CN" altLang="en-US" sz="1400" b="1">
                <a:solidFill>
                  <a:srgbClr val="0A2E4E"/>
                </a:solidFill>
                <a:latin typeface="Microsoft YaHei" panose="020B0503020204020204" pitchFamily="34" charset="-122"/>
              </a:rPr>
              <a:t>分类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863BF7AE-986D-EC13-F4A7-F435D3AFDC5A}"/>
              </a:ext>
            </a:extLst>
          </p:cNvPr>
          <p:cNvSpPr txBox="1"/>
          <p:nvPr/>
        </p:nvSpPr>
        <p:spPr>
          <a:xfrm>
            <a:off x="901700" y="1981200"/>
            <a:ext cx="1536700" cy="36933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200">
                <a:solidFill>
                  <a:srgbClr val="38566F"/>
                </a:solidFill>
                <a:latin typeface="Microsoft YaHei" panose="020B0503020204020204" pitchFamily="34" charset="-122"/>
              </a:rPr>
              <a:t>概率密度估计与风险决策</a:t>
            </a:r>
          </a:p>
        </p:txBody>
      </p:sp>
      <p:sp>
        <p:nvSpPr>
          <p:cNvPr id="15" name="矩形: 圆角 14">
            <a:extLst>
              <a:ext uri="{FF2B5EF4-FFF2-40B4-BE49-F238E27FC236}">
                <a16:creationId xmlns:a16="http://schemas.microsoft.com/office/drawing/2014/main" id="{46D561E2-3393-0A7E-39DF-88C6693479F9}"/>
              </a:ext>
            </a:extLst>
          </p:cNvPr>
          <p:cNvSpPr/>
          <p:nvPr/>
        </p:nvSpPr>
        <p:spPr>
          <a:xfrm>
            <a:off x="2971800" y="1498600"/>
            <a:ext cx="1841500" cy="116840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DCE0B557-9EEA-5C9F-52E0-403BDDAE89EC}"/>
              </a:ext>
            </a:extLst>
          </p:cNvPr>
          <p:cNvSpPr/>
          <p:nvPr/>
        </p:nvSpPr>
        <p:spPr>
          <a:xfrm>
            <a:off x="2971800" y="1498600"/>
            <a:ext cx="76200" cy="1168400"/>
          </a:xfrm>
          <a:prstGeom prst="rect">
            <a:avLst/>
          </a:prstGeom>
          <a:solidFill>
            <a:srgbClr val="0A7FC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6B20BBF3-19EE-36A0-1F75-0DDE001EB807}"/>
              </a:ext>
            </a:extLst>
          </p:cNvPr>
          <p:cNvSpPr txBox="1"/>
          <p:nvPr/>
        </p:nvSpPr>
        <p:spPr>
          <a:xfrm>
            <a:off x="3162300" y="1625600"/>
            <a:ext cx="1536700" cy="215444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1400" b="1">
                <a:solidFill>
                  <a:srgbClr val="0A2E4E"/>
                </a:solidFill>
                <a:latin typeface="Microsoft YaHei" panose="020B0503020204020204" pitchFamily="34" charset="-122"/>
              </a:rPr>
              <a:t>02 Fisher/Parzen</a:t>
            </a:r>
            <a:endParaRPr lang="zh-CN" altLang="en-US" sz="1400" b="1">
              <a:solidFill>
                <a:srgbClr val="0A2E4E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227F9966-5F01-445B-756E-99BAFD1CF506}"/>
              </a:ext>
            </a:extLst>
          </p:cNvPr>
          <p:cNvSpPr txBox="1"/>
          <p:nvPr/>
        </p:nvSpPr>
        <p:spPr>
          <a:xfrm>
            <a:off x="3162300" y="1981200"/>
            <a:ext cx="1536700" cy="184666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200">
                <a:solidFill>
                  <a:srgbClr val="38566F"/>
                </a:solidFill>
                <a:latin typeface="Microsoft YaHei" panose="020B0503020204020204" pitchFamily="34" charset="-122"/>
              </a:rPr>
              <a:t>非参数估计与直接判别</a:t>
            </a:r>
          </a:p>
        </p:txBody>
      </p:sp>
      <p:sp>
        <p:nvSpPr>
          <p:cNvPr id="19" name="矩形: 圆角 18">
            <a:extLst>
              <a:ext uri="{FF2B5EF4-FFF2-40B4-BE49-F238E27FC236}">
                <a16:creationId xmlns:a16="http://schemas.microsoft.com/office/drawing/2014/main" id="{4D7B21E4-6D88-0037-012F-5375CDA8F95D}"/>
              </a:ext>
            </a:extLst>
          </p:cNvPr>
          <p:cNvSpPr/>
          <p:nvPr/>
        </p:nvSpPr>
        <p:spPr>
          <a:xfrm>
            <a:off x="5232400" y="1498600"/>
            <a:ext cx="1841500" cy="116840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37B21074-8201-1060-793B-078E7FDB1518}"/>
              </a:ext>
            </a:extLst>
          </p:cNvPr>
          <p:cNvSpPr/>
          <p:nvPr/>
        </p:nvSpPr>
        <p:spPr>
          <a:xfrm>
            <a:off x="5232400" y="1498600"/>
            <a:ext cx="76200" cy="1168400"/>
          </a:xfrm>
          <a:prstGeom prst="rect">
            <a:avLst/>
          </a:prstGeom>
          <a:solidFill>
            <a:srgbClr val="D4A84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5D7C42A0-E1CE-1C38-9F93-D1B8A93BF1C5}"/>
              </a:ext>
            </a:extLst>
          </p:cNvPr>
          <p:cNvSpPr txBox="1"/>
          <p:nvPr/>
        </p:nvSpPr>
        <p:spPr>
          <a:xfrm>
            <a:off x="5422900" y="1625600"/>
            <a:ext cx="1536700" cy="215444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1400" b="1">
                <a:solidFill>
                  <a:srgbClr val="0A2E4E"/>
                </a:solidFill>
                <a:latin typeface="Microsoft YaHei" panose="020B0503020204020204" pitchFamily="34" charset="-122"/>
              </a:rPr>
              <a:t>03 K-L </a:t>
            </a:r>
            <a:r>
              <a:rPr lang="zh-CN" altLang="en-US" sz="1400" b="1">
                <a:solidFill>
                  <a:srgbClr val="0A2E4E"/>
                </a:solidFill>
                <a:latin typeface="Microsoft YaHei" panose="020B0503020204020204" pitchFamily="34" charset="-122"/>
              </a:rPr>
              <a:t>特征提取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1EE74B8A-C843-9A00-7459-3C8006BFDFD2}"/>
              </a:ext>
            </a:extLst>
          </p:cNvPr>
          <p:cNvSpPr txBox="1"/>
          <p:nvPr/>
        </p:nvSpPr>
        <p:spPr>
          <a:xfrm>
            <a:off x="5422900" y="1981200"/>
            <a:ext cx="1536700" cy="184666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200">
                <a:solidFill>
                  <a:srgbClr val="38566F"/>
                </a:solidFill>
                <a:latin typeface="Microsoft YaHei" panose="020B0503020204020204" pitchFamily="34" charset="-122"/>
              </a:rPr>
              <a:t>协方差特征分解与降维</a:t>
            </a:r>
          </a:p>
        </p:txBody>
      </p:sp>
      <p:sp>
        <p:nvSpPr>
          <p:cNvPr id="23" name="矩形: 圆角 22">
            <a:extLst>
              <a:ext uri="{FF2B5EF4-FFF2-40B4-BE49-F238E27FC236}">
                <a16:creationId xmlns:a16="http://schemas.microsoft.com/office/drawing/2014/main" id="{94EBF5D2-0556-5D58-2812-5EE00D0E4871}"/>
              </a:ext>
            </a:extLst>
          </p:cNvPr>
          <p:cNvSpPr/>
          <p:nvPr/>
        </p:nvSpPr>
        <p:spPr>
          <a:xfrm>
            <a:off x="7493000" y="1498600"/>
            <a:ext cx="1841500" cy="116840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CF8423BC-31EB-479E-EF1E-14A101075BE1}"/>
              </a:ext>
            </a:extLst>
          </p:cNvPr>
          <p:cNvSpPr/>
          <p:nvPr/>
        </p:nvSpPr>
        <p:spPr>
          <a:xfrm>
            <a:off x="7493000" y="1498600"/>
            <a:ext cx="76200" cy="1168400"/>
          </a:xfrm>
          <a:prstGeom prst="rect">
            <a:avLst/>
          </a:prstGeom>
          <a:solidFill>
            <a:srgbClr val="2F80C9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90A86E0C-C307-2B3C-250A-83DCECCF1886}"/>
              </a:ext>
            </a:extLst>
          </p:cNvPr>
          <p:cNvSpPr txBox="1"/>
          <p:nvPr/>
        </p:nvSpPr>
        <p:spPr>
          <a:xfrm>
            <a:off x="7683500" y="1625600"/>
            <a:ext cx="1536700" cy="215444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1400" b="1">
                <a:solidFill>
                  <a:srgbClr val="0A2E4E"/>
                </a:solidFill>
                <a:latin typeface="Microsoft YaHei" panose="020B0503020204020204" pitchFamily="34" charset="-122"/>
              </a:rPr>
              <a:t>04 K-L </a:t>
            </a:r>
            <a:r>
              <a:rPr lang="zh-CN" altLang="en-US" sz="1400" b="1">
                <a:solidFill>
                  <a:srgbClr val="0A2E4E"/>
                </a:solidFill>
                <a:latin typeface="Microsoft YaHei" panose="020B0503020204020204" pitchFamily="34" charset="-122"/>
              </a:rPr>
              <a:t>图像应用</a:t>
            </a:r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37C918C1-16DE-4508-BCC0-2BF06B582F5E}"/>
              </a:ext>
            </a:extLst>
          </p:cNvPr>
          <p:cNvSpPr txBox="1"/>
          <p:nvPr/>
        </p:nvSpPr>
        <p:spPr>
          <a:xfrm>
            <a:off x="7683500" y="1981200"/>
            <a:ext cx="1536700" cy="184666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200">
                <a:solidFill>
                  <a:srgbClr val="38566F"/>
                </a:solidFill>
                <a:latin typeface="Microsoft YaHei" panose="020B0503020204020204" pitchFamily="34" charset="-122"/>
              </a:rPr>
              <a:t>高维图像压缩与识别</a:t>
            </a:r>
          </a:p>
        </p:txBody>
      </p:sp>
      <p:sp>
        <p:nvSpPr>
          <p:cNvPr id="27" name="矩形: 圆角 26">
            <a:extLst>
              <a:ext uri="{FF2B5EF4-FFF2-40B4-BE49-F238E27FC236}">
                <a16:creationId xmlns:a16="http://schemas.microsoft.com/office/drawing/2014/main" id="{F89C8207-B2B5-328F-EB71-D9EB59D888B5}"/>
              </a:ext>
            </a:extLst>
          </p:cNvPr>
          <p:cNvSpPr/>
          <p:nvPr/>
        </p:nvSpPr>
        <p:spPr>
          <a:xfrm>
            <a:off x="9753600" y="1498600"/>
            <a:ext cx="1841500" cy="116840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B0C217E3-76CC-FA84-EB86-8FD0D6D62117}"/>
              </a:ext>
            </a:extLst>
          </p:cNvPr>
          <p:cNvSpPr/>
          <p:nvPr/>
        </p:nvSpPr>
        <p:spPr>
          <a:xfrm>
            <a:off x="9753600" y="1498600"/>
            <a:ext cx="76200" cy="1168400"/>
          </a:xfrm>
          <a:prstGeom prst="rect">
            <a:avLst/>
          </a:prstGeom>
          <a:solidFill>
            <a:srgbClr val="2B8A6E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9" name="文本框 28">
            <a:extLst>
              <a:ext uri="{FF2B5EF4-FFF2-40B4-BE49-F238E27FC236}">
                <a16:creationId xmlns:a16="http://schemas.microsoft.com/office/drawing/2014/main" id="{66C44EF0-002B-90D9-EE90-6A35D199F72D}"/>
              </a:ext>
            </a:extLst>
          </p:cNvPr>
          <p:cNvSpPr txBox="1"/>
          <p:nvPr/>
        </p:nvSpPr>
        <p:spPr>
          <a:xfrm>
            <a:off x="9944100" y="1625600"/>
            <a:ext cx="1536700" cy="215444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1400" b="1">
                <a:solidFill>
                  <a:srgbClr val="0A2E4E"/>
                </a:solidFill>
                <a:latin typeface="Microsoft YaHei" panose="020B0503020204020204" pitchFamily="34" charset="-122"/>
              </a:rPr>
              <a:t>05 </a:t>
            </a:r>
            <a:r>
              <a:rPr lang="zh-CN" altLang="en-US" sz="1400" b="1">
                <a:solidFill>
                  <a:srgbClr val="0A2E4E"/>
                </a:solidFill>
                <a:latin typeface="Microsoft YaHei" panose="020B0503020204020204" pitchFamily="34" charset="-122"/>
              </a:rPr>
              <a:t>聚类分析</a:t>
            </a:r>
          </a:p>
        </p:txBody>
      </p:sp>
      <p:sp>
        <p:nvSpPr>
          <p:cNvPr id="30" name="文本框 29">
            <a:extLst>
              <a:ext uri="{FF2B5EF4-FFF2-40B4-BE49-F238E27FC236}">
                <a16:creationId xmlns:a16="http://schemas.microsoft.com/office/drawing/2014/main" id="{D7464C69-8EC5-89E6-DD97-6D31F651CDB0}"/>
              </a:ext>
            </a:extLst>
          </p:cNvPr>
          <p:cNvSpPr txBox="1"/>
          <p:nvPr/>
        </p:nvSpPr>
        <p:spPr>
          <a:xfrm>
            <a:off x="9944100" y="1981200"/>
            <a:ext cx="1536700" cy="184666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200">
                <a:solidFill>
                  <a:srgbClr val="38566F"/>
                </a:solidFill>
                <a:latin typeface="Microsoft YaHei" panose="020B0503020204020204" pitchFamily="34" charset="-122"/>
              </a:rPr>
              <a:t>无监督样本结构发现</a:t>
            </a:r>
          </a:p>
        </p:txBody>
      </p:sp>
      <p:sp>
        <p:nvSpPr>
          <p:cNvPr id="31" name="矩形: 圆角 30">
            <a:extLst>
              <a:ext uri="{FF2B5EF4-FFF2-40B4-BE49-F238E27FC236}">
                <a16:creationId xmlns:a16="http://schemas.microsoft.com/office/drawing/2014/main" id="{8021131B-355D-839E-4FC0-87FFD4198A78}"/>
              </a:ext>
            </a:extLst>
          </p:cNvPr>
          <p:cNvSpPr/>
          <p:nvPr/>
        </p:nvSpPr>
        <p:spPr>
          <a:xfrm>
            <a:off x="1117600" y="3378200"/>
            <a:ext cx="9956800" cy="609600"/>
          </a:xfrm>
          <a:prstGeom prst="roundRect">
            <a:avLst/>
          </a:prstGeom>
          <a:solidFill>
            <a:srgbClr val="E3F2FD"/>
          </a:solidFill>
          <a:ln w="8890">
            <a:solidFill>
              <a:srgbClr val="A7F3D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2" name="文本框 31">
            <a:extLst>
              <a:ext uri="{FF2B5EF4-FFF2-40B4-BE49-F238E27FC236}">
                <a16:creationId xmlns:a16="http://schemas.microsoft.com/office/drawing/2014/main" id="{76BA2C65-4146-2573-2943-CFFF83124AAF}"/>
              </a:ext>
            </a:extLst>
          </p:cNvPr>
          <p:cNvSpPr txBox="1"/>
          <p:nvPr/>
        </p:nvSpPr>
        <p:spPr>
          <a:xfrm>
            <a:off x="1498600" y="3581400"/>
            <a:ext cx="9194800" cy="430887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ctr"/>
            <a:r>
              <a:rPr lang="zh-CN" altLang="en-US" sz="1400" b="1">
                <a:solidFill>
                  <a:srgbClr val="006BB7"/>
                </a:solidFill>
                <a:latin typeface="Microsoft YaHei" panose="020B0503020204020204" pitchFamily="34" charset="-122"/>
              </a:rPr>
              <a:t>每个实验统一按照「理论知识 </a:t>
            </a:r>
            <a:r>
              <a:rPr lang="en-US" altLang="zh-CN" sz="1400" b="1">
                <a:solidFill>
                  <a:srgbClr val="006BB7"/>
                </a:solidFill>
                <a:latin typeface="Microsoft YaHei" panose="020B0503020204020204" pitchFamily="34" charset="-122"/>
              </a:rPr>
              <a:t>-&gt; </a:t>
            </a:r>
            <a:r>
              <a:rPr lang="zh-CN" altLang="en-US" sz="1400" b="1">
                <a:solidFill>
                  <a:srgbClr val="006BB7"/>
                </a:solidFill>
                <a:latin typeface="Microsoft YaHei" panose="020B0503020204020204" pitchFamily="34" charset="-122"/>
              </a:rPr>
              <a:t>实验设置 </a:t>
            </a:r>
            <a:r>
              <a:rPr lang="en-US" altLang="zh-CN" sz="1400" b="1">
                <a:solidFill>
                  <a:srgbClr val="006BB7"/>
                </a:solidFill>
                <a:latin typeface="Microsoft YaHei" panose="020B0503020204020204" pitchFamily="34" charset="-122"/>
              </a:rPr>
              <a:t>-&gt; </a:t>
            </a:r>
            <a:r>
              <a:rPr lang="zh-CN" altLang="en-US" sz="1400" b="1">
                <a:solidFill>
                  <a:srgbClr val="006BB7"/>
                </a:solidFill>
                <a:latin typeface="Microsoft YaHei" panose="020B0503020204020204" pitchFamily="34" charset="-122"/>
              </a:rPr>
              <a:t>实验结果 </a:t>
            </a:r>
            <a:r>
              <a:rPr lang="en-US" altLang="zh-CN" sz="1400" b="1">
                <a:solidFill>
                  <a:srgbClr val="006BB7"/>
                </a:solidFill>
                <a:latin typeface="Microsoft YaHei" panose="020B0503020204020204" pitchFamily="34" charset="-122"/>
              </a:rPr>
              <a:t>-&gt; </a:t>
            </a:r>
            <a:r>
              <a:rPr lang="zh-CN" altLang="en-US" sz="1400" b="1">
                <a:solidFill>
                  <a:srgbClr val="006BB7"/>
                </a:solidFill>
                <a:latin typeface="Microsoft YaHei" panose="020B0503020204020204" pitchFamily="34" charset="-122"/>
              </a:rPr>
              <a:t>分析总结」的顺序展开，便于把算法原理和实验现象对应起来。</a:t>
            </a:r>
          </a:p>
        </p:txBody>
      </p:sp>
      <p:sp>
        <p:nvSpPr>
          <p:cNvPr id="33" name="矩形: 圆角 32">
            <a:extLst>
              <a:ext uri="{FF2B5EF4-FFF2-40B4-BE49-F238E27FC236}">
                <a16:creationId xmlns:a16="http://schemas.microsoft.com/office/drawing/2014/main" id="{6F58FC44-F2F7-E0F8-65E7-00CFD9103BAE}"/>
              </a:ext>
            </a:extLst>
          </p:cNvPr>
          <p:cNvSpPr/>
          <p:nvPr/>
        </p:nvSpPr>
        <p:spPr>
          <a:xfrm>
            <a:off x="965200" y="4445000"/>
            <a:ext cx="2159000" cy="104140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DC83A7C2-A450-0BD6-2430-15D0FB0821A6}"/>
              </a:ext>
            </a:extLst>
          </p:cNvPr>
          <p:cNvSpPr/>
          <p:nvPr/>
        </p:nvSpPr>
        <p:spPr>
          <a:xfrm>
            <a:off x="965200" y="4445000"/>
            <a:ext cx="76200" cy="1041400"/>
          </a:xfrm>
          <a:prstGeom prst="rect">
            <a:avLst/>
          </a:prstGeom>
          <a:solidFill>
            <a:srgbClr val="006BB7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5" name="文本框 34">
            <a:extLst>
              <a:ext uri="{FF2B5EF4-FFF2-40B4-BE49-F238E27FC236}">
                <a16:creationId xmlns:a16="http://schemas.microsoft.com/office/drawing/2014/main" id="{F22D3FD4-FC26-3A67-AF1E-30D7FBF6B836}"/>
              </a:ext>
            </a:extLst>
          </p:cNvPr>
          <p:cNvSpPr txBox="1"/>
          <p:nvPr/>
        </p:nvSpPr>
        <p:spPr>
          <a:xfrm>
            <a:off x="1155700" y="4572000"/>
            <a:ext cx="1854200" cy="215444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400" b="1">
                <a:solidFill>
                  <a:srgbClr val="0A2E4E"/>
                </a:solidFill>
                <a:latin typeface="Microsoft YaHei" panose="020B0503020204020204" pitchFamily="34" charset="-122"/>
              </a:rPr>
              <a:t>理论知识</a:t>
            </a:r>
          </a:p>
        </p:txBody>
      </p:sp>
      <p:sp>
        <p:nvSpPr>
          <p:cNvPr id="36" name="文本框 35">
            <a:extLst>
              <a:ext uri="{FF2B5EF4-FFF2-40B4-BE49-F238E27FC236}">
                <a16:creationId xmlns:a16="http://schemas.microsoft.com/office/drawing/2014/main" id="{36B2C25C-A61A-9831-3DD3-1EC311A8812A}"/>
              </a:ext>
            </a:extLst>
          </p:cNvPr>
          <p:cNvSpPr txBox="1"/>
          <p:nvPr/>
        </p:nvSpPr>
        <p:spPr>
          <a:xfrm>
            <a:off x="1155700" y="4927600"/>
            <a:ext cx="1854200" cy="36933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200">
                <a:solidFill>
                  <a:srgbClr val="38566F"/>
                </a:solidFill>
                <a:latin typeface="Microsoft YaHei" panose="020B0503020204020204" pitchFamily="34" charset="-122"/>
              </a:rPr>
              <a:t>先讲课程概念、公式和方法思想</a:t>
            </a:r>
          </a:p>
        </p:txBody>
      </p:sp>
      <p:sp>
        <p:nvSpPr>
          <p:cNvPr id="37" name="矩形: 圆角 36">
            <a:extLst>
              <a:ext uri="{FF2B5EF4-FFF2-40B4-BE49-F238E27FC236}">
                <a16:creationId xmlns:a16="http://schemas.microsoft.com/office/drawing/2014/main" id="{0E0935DC-106D-FE5E-EEC9-4E7C08DA1348}"/>
              </a:ext>
            </a:extLst>
          </p:cNvPr>
          <p:cNvSpPr/>
          <p:nvPr/>
        </p:nvSpPr>
        <p:spPr>
          <a:xfrm>
            <a:off x="3530600" y="4445000"/>
            <a:ext cx="2159000" cy="104140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8" name="矩形 37">
            <a:extLst>
              <a:ext uri="{FF2B5EF4-FFF2-40B4-BE49-F238E27FC236}">
                <a16:creationId xmlns:a16="http://schemas.microsoft.com/office/drawing/2014/main" id="{51EBC5E6-B0E8-E9F1-58EF-A754FC35E5FA}"/>
              </a:ext>
            </a:extLst>
          </p:cNvPr>
          <p:cNvSpPr/>
          <p:nvPr/>
        </p:nvSpPr>
        <p:spPr>
          <a:xfrm>
            <a:off x="3530600" y="4445000"/>
            <a:ext cx="76200" cy="1041400"/>
          </a:xfrm>
          <a:prstGeom prst="rect">
            <a:avLst/>
          </a:prstGeom>
          <a:solidFill>
            <a:srgbClr val="0A7FC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9" name="文本框 38">
            <a:extLst>
              <a:ext uri="{FF2B5EF4-FFF2-40B4-BE49-F238E27FC236}">
                <a16:creationId xmlns:a16="http://schemas.microsoft.com/office/drawing/2014/main" id="{979821A8-2419-5781-4F5F-2B948ED24C53}"/>
              </a:ext>
            </a:extLst>
          </p:cNvPr>
          <p:cNvSpPr txBox="1"/>
          <p:nvPr/>
        </p:nvSpPr>
        <p:spPr>
          <a:xfrm>
            <a:off x="3721100" y="4572000"/>
            <a:ext cx="1854200" cy="215444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400" b="1">
                <a:solidFill>
                  <a:srgbClr val="0A2E4E"/>
                </a:solidFill>
                <a:latin typeface="Microsoft YaHei" panose="020B0503020204020204" pitchFamily="34" charset="-122"/>
              </a:rPr>
              <a:t>实验设置</a:t>
            </a:r>
          </a:p>
        </p:txBody>
      </p:sp>
      <p:sp>
        <p:nvSpPr>
          <p:cNvPr id="40" name="文本框 39">
            <a:extLst>
              <a:ext uri="{FF2B5EF4-FFF2-40B4-BE49-F238E27FC236}">
                <a16:creationId xmlns:a16="http://schemas.microsoft.com/office/drawing/2014/main" id="{A7EEDD29-6AC3-342D-6D35-E50FE2F53D83}"/>
              </a:ext>
            </a:extLst>
          </p:cNvPr>
          <p:cNvSpPr txBox="1"/>
          <p:nvPr/>
        </p:nvSpPr>
        <p:spPr>
          <a:xfrm>
            <a:off x="3721100" y="4927600"/>
            <a:ext cx="1854200" cy="36933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200">
                <a:solidFill>
                  <a:srgbClr val="38566F"/>
                </a:solidFill>
                <a:latin typeface="Microsoft YaHei" panose="020B0503020204020204" pitchFamily="34" charset="-122"/>
              </a:rPr>
              <a:t>说明数据、特征、模型参数和指标</a:t>
            </a:r>
          </a:p>
        </p:txBody>
      </p:sp>
      <p:sp>
        <p:nvSpPr>
          <p:cNvPr id="41" name="矩形: 圆角 40">
            <a:extLst>
              <a:ext uri="{FF2B5EF4-FFF2-40B4-BE49-F238E27FC236}">
                <a16:creationId xmlns:a16="http://schemas.microsoft.com/office/drawing/2014/main" id="{E3C5C992-87B4-D285-EFD2-E99FE2E35769}"/>
              </a:ext>
            </a:extLst>
          </p:cNvPr>
          <p:cNvSpPr/>
          <p:nvPr/>
        </p:nvSpPr>
        <p:spPr>
          <a:xfrm>
            <a:off x="6096000" y="4445000"/>
            <a:ext cx="2159000" cy="104140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2" name="矩形 41">
            <a:extLst>
              <a:ext uri="{FF2B5EF4-FFF2-40B4-BE49-F238E27FC236}">
                <a16:creationId xmlns:a16="http://schemas.microsoft.com/office/drawing/2014/main" id="{0059C556-9B39-909B-2F90-A7D13FAF7565}"/>
              </a:ext>
            </a:extLst>
          </p:cNvPr>
          <p:cNvSpPr/>
          <p:nvPr/>
        </p:nvSpPr>
        <p:spPr>
          <a:xfrm>
            <a:off x="6096000" y="4445000"/>
            <a:ext cx="76200" cy="1041400"/>
          </a:xfrm>
          <a:prstGeom prst="rect">
            <a:avLst/>
          </a:prstGeom>
          <a:solidFill>
            <a:srgbClr val="D4A84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3" name="文本框 42">
            <a:extLst>
              <a:ext uri="{FF2B5EF4-FFF2-40B4-BE49-F238E27FC236}">
                <a16:creationId xmlns:a16="http://schemas.microsoft.com/office/drawing/2014/main" id="{3D172477-4565-214D-384C-4E54CE785811}"/>
              </a:ext>
            </a:extLst>
          </p:cNvPr>
          <p:cNvSpPr txBox="1"/>
          <p:nvPr/>
        </p:nvSpPr>
        <p:spPr>
          <a:xfrm>
            <a:off x="6286500" y="4572000"/>
            <a:ext cx="1854200" cy="215444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400" b="1">
                <a:solidFill>
                  <a:srgbClr val="0A2E4E"/>
                </a:solidFill>
                <a:latin typeface="Microsoft YaHei" panose="020B0503020204020204" pitchFamily="34" charset="-122"/>
              </a:rPr>
              <a:t>实验结果</a:t>
            </a:r>
          </a:p>
        </p:txBody>
      </p:sp>
      <p:sp>
        <p:nvSpPr>
          <p:cNvPr id="44" name="文本框 43">
            <a:extLst>
              <a:ext uri="{FF2B5EF4-FFF2-40B4-BE49-F238E27FC236}">
                <a16:creationId xmlns:a16="http://schemas.microsoft.com/office/drawing/2014/main" id="{8DF719DA-F25C-4CD6-9EAD-6B9B7FE1E4EF}"/>
              </a:ext>
            </a:extLst>
          </p:cNvPr>
          <p:cNvSpPr txBox="1"/>
          <p:nvPr/>
        </p:nvSpPr>
        <p:spPr>
          <a:xfrm>
            <a:off x="6286500" y="4927600"/>
            <a:ext cx="1854200" cy="36933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200">
                <a:solidFill>
                  <a:srgbClr val="38566F"/>
                </a:solidFill>
                <a:latin typeface="Microsoft YaHei" panose="020B0503020204020204" pitchFamily="34" charset="-122"/>
              </a:rPr>
              <a:t>展示准确率、错误率、混淆矩阵和图像</a:t>
            </a:r>
          </a:p>
        </p:txBody>
      </p:sp>
      <p:sp>
        <p:nvSpPr>
          <p:cNvPr id="45" name="矩形: 圆角 44">
            <a:extLst>
              <a:ext uri="{FF2B5EF4-FFF2-40B4-BE49-F238E27FC236}">
                <a16:creationId xmlns:a16="http://schemas.microsoft.com/office/drawing/2014/main" id="{CC24FB73-85FE-5EAB-A62A-62BD95960C8C}"/>
              </a:ext>
            </a:extLst>
          </p:cNvPr>
          <p:cNvSpPr/>
          <p:nvPr/>
        </p:nvSpPr>
        <p:spPr>
          <a:xfrm>
            <a:off x="8661400" y="4445000"/>
            <a:ext cx="2159000" cy="104140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6" name="矩形 45">
            <a:extLst>
              <a:ext uri="{FF2B5EF4-FFF2-40B4-BE49-F238E27FC236}">
                <a16:creationId xmlns:a16="http://schemas.microsoft.com/office/drawing/2014/main" id="{BFB1D018-72F9-DE10-D82F-B914E451DD34}"/>
              </a:ext>
            </a:extLst>
          </p:cNvPr>
          <p:cNvSpPr/>
          <p:nvPr/>
        </p:nvSpPr>
        <p:spPr>
          <a:xfrm>
            <a:off x="8661400" y="4445000"/>
            <a:ext cx="76200" cy="1041400"/>
          </a:xfrm>
          <a:prstGeom prst="rect">
            <a:avLst/>
          </a:prstGeom>
          <a:solidFill>
            <a:srgbClr val="2F80C9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4D3FE722-D95F-A21E-A087-20DCCF42F7A5}"/>
              </a:ext>
            </a:extLst>
          </p:cNvPr>
          <p:cNvSpPr txBox="1"/>
          <p:nvPr/>
        </p:nvSpPr>
        <p:spPr>
          <a:xfrm>
            <a:off x="8851900" y="4572000"/>
            <a:ext cx="1854200" cy="215444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400" b="1">
                <a:solidFill>
                  <a:srgbClr val="0A2E4E"/>
                </a:solidFill>
                <a:latin typeface="Microsoft YaHei" panose="020B0503020204020204" pitchFamily="34" charset="-122"/>
              </a:rPr>
              <a:t>分析总结</a:t>
            </a:r>
          </a:p>
        </p:txBody>
      </p:sp>
      <p:sp>
        <p:nvSpPr>
          <p:cNvPr id="48" name="文本框 47">
            <a:extLst>
              <a:ext uri="{FF2B5EF4-FFF2-40B4-BE49-F238E27FC236}">
                <a16:creationId xmlns:a16="http://schemas.microsoft.com/office/drawing/2014/main" id="{19222A55-1C58-DB1A-12FB-BA7E86349786}"/>
              </a:ext>
            </a:extLst>
          </p:cNvPr>
          <p:cNvSpPr txBox="1"/>
          <p:nvPr/>
        </p:nvSpPr>
        <p:spPr>
          <a:xfrm>
            <a:off x="8851900" y="4927600"/>
            <a:ext cx="1854200" cy="184666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200">
                <a:solidFill>
                  <a:srgbClr val="38566F"/>
                </a:solidFill>
                <a:latin typeface="Microsoft YaHei" panose="020B0503020204020204" pitchFamily="34" charset="-122"/>
              </a:rPr>
              <a:t>解释现象并联系课程理论</a:t>
            </a:r>
          </a:p>
        </p:txBody>
      </p:sp>
    </p:spTree>
    <p:extLst>
      <p:ext uri="{BB962C8B-B14F-4D97-AF65-F5344CB8AC3E}">
        <p14:creationId xmlns:p14="http://schemas.microsoft.com/office/powerpoint/2010/main" val="113514859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4B23BBDC-FEF4-3720-57F6-36E865574452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C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02D282B9-58EC-3A66-2CA5-655F8B9E3BA4}"/>
              </a:ext>
            </a:extLst>
          </p:cNvPr>
          <p:cNvSpPr/>
          <p:nvPr/>
        </p:nvSpPr>
        <p:spPr>
          <a:xfrm>
            <a:off x="0" y="0"/>
            <a:ext cx="12192000" cy="1016000"/>
          </a:xfrm>
          <a:prstGeom prst="rect">
            <a:avLst/>
          </a:prstGeom>
          <a:solidFill>
            <a:srgbClr val="006BB7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平行四边形 3">
            <a:extLst>
              <a:ext uri="{FF2B5EF4-FFF2-40B4-BE49-F238E27FC236}">
                <a16:creationId xmlns:a16="http://schemas.microsoft.com/office/drawing/2014/main" id="{D288888D-E0AE-A37E-5459-5C60C66BBE45}"/>
              </a:ext>
            </a:extLst>
          </p:cNvPr>
          <p:cNvSpPr/>
          <p:nvPr/>
        </p:nvSpPr>
        <p:spPr>
          <a:xfrm>
            <a:off x="8953500" y="-228600"/>
            <a:ext cx="3581400" cy="1346200"/>
          </a:xfrm>
          <a:prstGeom prst="parallelogram">
            <a:avLst>
              <a:gd name="adj" fmla="val 20000"/>
            </a:avLst>
          </a:prstGeom>
          <a:solidFill>
            <a:srgbClr val="3A9BD9">
              <a:alpha val="85000"/>
            </a:srgbClr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平行四边形 4">
            <a:extLst>
              <a:ext uri="{FF2B5EF4-FFF2-40B4-BE49-F238E27FC236}">
                <a16:creationId xmlns:a16="http://schemas.microsoft.com/office/drawing/2014/main" id="{3563DC99-5DAE-945D-6366-0B5B4849C048}"/>
              </a:ext>
            </a:extLst>
          </p:cNvPr>
          <p:cNvSpPr/>
          <p:nvPr/>
        </p:nvSpPr>
        <p:spPr>
          <a:xfrm>
            <a:off x="-508000" y="6324600"/>
            <a:ext cx="5969000" cy="660400"/>
          </a:xfrm>
          <a:prstGeom prst="parallelogram">
            <a:avLst>
              <a:gd name="adj" fmla="val 20000"/>
            </a:avLst>
          </a:prstGeom>
          <a:solidFill>
            <a:srgbClr val="DDF0F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445B237D-C460-0D79-B662-422C6A2B1DDC}"/>
              </a:ext>
            </a:extLst>
          </p:cNvPr>
          <p:cNvSpPr txBox="1"/>
          <p:nvPr/>
        </p:nvSpPr>
        <p:spPr>
          <a:xfrm>
            <a:off x="736600" y="254000"/>
            <a:ext cx="4953000" cy="10772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700" b="1">
                <a:solidFill>
                  <a:srgbClr val="CDEBFF"/>
                </a:solidFill>
                <a:latin typeface="Microsoft YaHei" panose="020B0503020204020204" pitchFamily="34" charset="-122"/>
              </a:rPr>
              <a:t>SOURCE &amp; SETUP</a:t>
            </a:r>
            <a:endParaRPr lang="zh-CN" altLang="en-US" sz="700" b="1">
              <a:solidFill>
                <a:srgbClr val="CDEBFF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50F231F-B883-2B64-1BDA-7C59788B6AD4}"/>
              </a:ext>
            </a:extLst>
          </p:cNvPr>
          <p:cNvSpPr txBox="1"/>
          <p:nvPr/>
        </p:nvSpPr>
        <p:spPr>
          <a:xfrm>
            <a:off x="736600" y="533400"/>
            <a:ext cx="8509000" cy="41549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2700" b="1">
                <a:solidFill>
                  <a:srgbClr val="FFFFFF"/>
                </a:solidFill>
                <a:latin typeface="Microsoft YaHei" panose="020B0503020204020204" pitchFamily="34" charset="-122"/>
              </a:rPr>
              <a:t>数据与实验环境</a:t>
            </a:r>
          </a:p>
        </p:txBody>
      </p:sp>
      <p:cxnSp>
        <p:nvCxnSpPr>
          <p:cNvPr id="8" name="直接连接符 7">
            <a:extLst>
              <a:ext uri="{FF2B5EF4-FFF2-40B4-BE49-F238E27FC236}">
                <a16:creationId xmlns:a16="http://schemas.microsoft.com/office/drawing/2014/main" id="{BD39682D-536A-67AC-0BC1-3043A4D44C9F}"/>
              </a:ext>
            </a:extLst>
          </p:cNvPr>
          <p:cNvCxnSpPr/>
          <p:nvPr/>
        </p:nvCxnSpPr>
        <p:spPr>
          <a:xfrm>
            <a:off x="736600" y="1295400"/>
            <a:ext cx="1168400" cy="0"/>
          </a:xfrm>
          <a:prstGeom prst="line">
            <a:avLst/>
          </a:prstGeom>
          <a:ln w="38100">
            <a:solidFill>
              <a:srgbClr val="D4A84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文本框 8">
            <a:extLst>
              <a:ext uri="{FF2B5EF4-FFF2-40B4-BE49-F238E27FC236}">
                <a16:creationId xmlns:a16="http://schemas.microsoft.com/office/drawing/2014/main" id="{76073714-13B8-7561-AEFF-B8D82A1C3A98}"/>
              </a:ext>
            </a:extLst>
          </p:cNvPr>
          <p:cNvSpPr txBox="1"/>
          <p:nvPr/>
        </p:nvSpPr>
        <p:spPr>
          <a:xfrm>
            <a:off x="533400" y="6527800"/>
            <a:ext cx="3937000" cy="10772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700">
                <a:solidFill>
                  <a:srgbClr val="8FA8BA"/>
                </a:solidFill>
                <a:latin typeface="Microsoft YaHei" panose="020B0503020204020204" pitchFamily="34" charset="-122"/>
              </a:rPr>
              <a:t>模式识别课程实验汇报 </a:t>
            </a:r>
            <a:r>
              <a:rPr lang="en-US" altLang="zh-CN" sz="700">
                <a:solidFill>
                  <a:srgbClr val="8FA8BA"/>
                </a:solidFill>
                <a:latin typeface="Microsoft YaHei" panose="020B0503020204020204" pitchFamily="34" charset="-122"/>
              </a:rPr>
              <a:t>· </a:t>
            </a:r>
            <a:r>
              <a:rPr lang="zh-CN" altLang="en-US" sz="700">
                <a:solidFill>
                  <a:srgbClr val="8FA8BA"/>
                </a:solidFill>
                <a:latin typeface="Microsoft YaHei" panose="020B0503020204020204" pitchFamily="34" charset="-122"/>
              </a:rPr>
              <a:t>蓝白科研汇报模板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40591764-60A6-101E-ABE8-EF7DC16231B9}"/>
              </a:ext>
            </a:extLst>
          </p:cNvPr>
          <p:cNvSpPr txBox="1"/>
          <p:nvPr/>
        </p:nvSpPr>
        <p:spPr>
          <a:xfrm>
            <a:off x="11366500" y="6477000"/>
            <a:ext cx="355600" cy="10772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r"/>
            <a:r>
              <a:rPr lang="en-US" altLang="zh-CN" sz="700" b="1">
                <a:solidFill>
                  <a:srgbClr val="006BB7"/>
                </a:solidFill>
                <a:latin typeface="Microsoft YaHei" panose="020B0503020204020204" pitchFamily="34" charset="-122"/>
              </a:rPr>
              <a:t>02</a:t>
            </a:r>
            <a:endParaRPr lang="zh-CN" altLang="en-US" sz="700" b="1">
              <a:solidFill>
                <a:srgbClr val="006BB7"/>
              </a:solidFill>
              <a:latin typeface="Microsoft YaHei" panose="020B0503020204020204" pitchFamily="34" charset="-122"/>
            </a:endParaRPr>
          </a:p>
        </p:txBody>
      </p:sp>
      <p:graphicFrame>
        <p:nvGraphicFramePr>
          <p:cNvPr id="11" name="表格 10">
            <a:extLst>
              <a:ext uri="{FF2B5EF4-FFF2-40B4-BE49-F238E27FC236}">
                <a16:creationId xmlns:a16="http://schemas.microsoft.com/office/drawing/2014/main" id="{6B76AF54-3E5F-1AD6-2C1F-8BD811A8BDA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15661250"/>
              </p:ext>
            </p:extLst>
          </p:nvPr>
        </p:nvGraphicFramePr>
        <p:xfrm>
          <a:off x="736600" y="1333500"/>
          <a:ext cx="5778500" cy="2235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26167">
                  <a:extLst>
                    <a:ext uri="{9D8B030D-6E8A-4147-A177-3AD203B41FA5}">
                      <a16:colId xmlns:a16="http://schemas.microsoft.com/office/drawing/2014/main" val="4259554694"/>
                    </a:ext>
                  </a:extLst>
                </a:gridCol>
                <a:gridCol w="1926167">
                  <a:extLst>
                    <a:ext uri="{9D8B030D-6E8A-4147-A177-3AD203B41FA5}">
                      <a16:colId xmlns:a16="http://schemas.microsoft.com/office/drawing/2014/main" val="2067853295"/>
                    </a:ext>
                  </a:extLst>
                </a:gridCol>
                <a:gridCol w="1926167">
                  <a:extLst>
                    <a:ext uri="{9D8B030D-6E8A-4147-A177-3AD203B41FA5}">
                      <a16:colId xmlns:a16="http://schemas.microsoft.com/office/drawing/2014/main" val="3749163175"/>
                    </a:ext>
                  </a:extLst>
                </a:gridCol>
              </a:tblGrid>
              <a:tr h="55880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100" b="1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数据集</a:t>
                      </a:r>
                    </a:p>
                  </a:txBody>
                  <a:tcPr marL="38100" marR="38100" marT="25400" marB="25400" anchor="ctr">
                    <a:solidFill>
                      <a:srgbClr val="006BB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100" b="1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实验用途</a:t>
                      </a:r>
                    </a:p>
                  </a:txBody>
                  <a:tcPr marL="38100" marR="38100" marT="25400" marB="25400" anchor="ctr">
                    <a:solidFill>
                      <a:srgbClr val="006BB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100" b="1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规模</a:t>
                      </a:r>
                      <a:r>
                        <a:rPr lang="en-US" altLang="zh-CN" sz="1100" b="1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/</a:t>
                      </a:r>
                      <a:r>
                        <a:rPr lang="zh-CN" altLang="en-US" sz="1100" b="1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说明</a:t>
                      </a:r>
                    </a:p>
                  </a:txBody>
                  <a:tcPr marL="38100" marR="38100" marT="25400" marB="25400" anchor="ctr">
                    <a:solidFill>
                      <a:srgbClr val="006BB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81692823"/>
                  </a:ext>
                </a:extLst>
              </a:tr>
              <a:tr h="55880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FEMALE / MALE</a:t>
                      </a:r>
                      <a:endParaRPr lang="zh-CN" altLang="en-US" sz="1000" b="0">
                        <a:solidFill>
                          <a:srgbClr val="000000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marL="38100" marR="38100" marT="25400" marB="254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实验一、二、三、五</a:t>
                      </a:r>
                    </a:p>
                  </a:txBody>
                  <a:tcPr marL="38100" marR="38100" marT="25400" marB="254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50 </a:t>
                      </a:r>
                      <a:r>
                        <a:rPr lang="zh-CN" altLang="en-US" sz="10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女 </a:t>
                      </a:r>
                      <a:r>
                        <a:rPr lang="en-US" altLang="zh-CN" sz="10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+ 50 </a:t>
                      </a:r>
                      <a:r>
                        <a:rPr lang="zh-CN" altLang="en-US" sz="10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男训练样本</a:t>
                      </a:r>
                    </a:p>
                  </a:txBody>
                  <a:tcPr marL="38100" marR="38100" marT="25400" marB="25400" anchor="ctr"/>
                </a:tc>
                <a:extLst>
                  <a:ext uri="{0D108BD9-81ED-4DB2-BD59-A6C34878D82A}">
                    <a16:rowId xmlns:a16="http://schemas.microsoft.com/office/drawing/2014/main" val="1856756693"/>
                  </a:ext>
                </a:extLst>
              </a:tr>
              <a:tr h="55880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test1 / test2</a:t>
                      </a:r>
                      <a:endParaRPr lang="zh-CN" altLang="en-US" sz="1000" b="0">
                        <a:solidFill>
                          <a:srgbClr val="000000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marL="38100" marR="38100" marT="25400" marB="254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分类器泛化测试</a:t>
                      </a:r>
                    </a:p>
                  </a:txBody>
                  <a:tcPr marL="38100" marR="38100" marT="25400" marB="254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35 / 300 </a:t>
                      </a:r>
                      <a:r>
                        <a:rPr lang="zh-CN" altLang="en-US" sz="10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个测试样本</a:t>
                      </a:r>
                    </a:p>
                  </a:txBody>
                  <a:tcPr marL="38100" marR="38100" marT="25400" marB="25400" anchor="ctr"/>
                </a:tc>
                <a:extLst>
                  <a:ext uri="{0D108BD9-81ED-4DB2-BD59-A6C34878D82A}">
                    <a16:rowId xmlns:a16="http://schemas.microsoft.com/office/drawing/2014/main" val="143383732"/>
                  </a:ext>
                </a:extLst>
              </a:tr>
              <a:tr h="55880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飞机图像数据集</a:t>
                      </a:r>
                    </a:p>
                  </a:txBody>
                  <a:tcPr marL="38100" marR="38100" marT="25400" marB="254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实验四</a:t>
                      </a:r>
                    </a:p>
                  </a:txBody>
                  <a:tcPr marL="38100" marR="38100" marT="25400" marB="254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16 </a:t>
                      </a:r>
                      <a:r>
                        <a:rPr lang="zh-CN" altLang="en-US" sz="10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类，</a:t>
                      </a:r>
                      <a:r>
                        <a:rPr lang="en-US" altLang="zh-CN" sz="10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2530 </a:t>
                      </a:r>
                      <a:r>
                        <a:rPr lang="zh-CN" altLang="en-US" sz="10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训练图，</a:t>
                      </a:r>
                      <a:r>
                        <a:rPr lang="en-US" altLang="zh-CN" sz="10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636 </a:t>
                      </a:r>
                      <a:r>
                        <a:rPr lang="zh-CN" altLang="en-US" sz="10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测试图</a:t>
                      </a:r>
                    </a:p>
                  </a:txBody>
                  <a:tcPr marL="38100" marR="38100" marT="25400" marB="25400" anchor="ctr"/>
                </a:tc>
                <a:extLst>
                  <a:ext uri="{0D108BD9-81ED-4DB2-BD59-A6C34878D82A}">
                    <a16:rowId xmlns:a16="http://schemas.microsoft.com/office/drawing/2014/main" val="2774950631"/>
                  </a:ext>
                </a:extLst>
              </a:tr>
            </a:tbl>
          </a:graphicData>
        </a:graphic>
      </p:graphicFrame>
      <p:graphicFrame>
        <p:nvGraphicFramePr>
          <p:cNvPr id="12" name="表格 11">
            <a:extLst>
              <a:ext uri="{FF2B5EF4-FFF2-40B4-BE49-F238E27FC236}">
                <a16:creationId xmlns:a16="http://schemas.microsoft.com/office/drawing/2014/main" id="{8EE676BD-21FE-87FA-7F41-911E0D79122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37157014"/>
              </p:ext>
            </p:extLst>
          </p:nvPr>
        </p:nvGraphicFramePr>
        <p:xfrm>
          <a:off x="6921500" y="1333500"/>
          <a:ext cx="4445000" cy="2438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22500">
                  <a:extLst>
                    <a:ext uri="{9D8B030D-6E8A-4147-A177-3AD203B41FA5}">
                      <a16:colId xmlns:a16="http://schemas.microsoft.com/office/drawing/2014/main" val="930116587"/>
                    </a:ext>
                  </a:extLst>
                </a:gridCol>
                <a:gridCol w="2222500">
                  <a:extLst>
                    <a:ext uri="{9D8B030D-6E8A-4147-A177-3AD203B41FA5}">
                      <a16:colId xmlns:a16="http://schemas.microsoft.com/office/drawing/2014/main" val="450619991"/>
                    </a:ext>
                  </a:extLst>
                </a:gridCol>
              </a:tblGrid>
              <a:tr h="48768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100" b="1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工具</a:t>
                      </a:r>
                    </a:p>
                  </a:txBody>
                  <a:tcPr marL="38100" marR="38100" marT="25400" marB="25400" anchor="ctr">
                    <a:solidFill>
                      <a:srgbClr val="0A7FC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100" b="1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作用</a:t>
                      </a:r>
                    </a:p>
                  </a:txBody>
                  <a:tcPr marL="38100" marR="38100" marT="25400" marB="25400" anchor="ctr">
                    <a:solidFill>
                      <a:srgbClr val="0A7F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97814780"/>
                  </a:ext>
                </a:extLst>
              </a:tr>
              <a:tr h="48768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Python 3.11</a:t>
                      </a:r>
                      <a:endParaRPr lang="zh-CN" altLang="en-US" sz="1000" b="0">
                        <a:solidFill>
                          <a:srgbClr val="000000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marL="38100" marR="38100" marT="25400" marB="254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实验脚本运行</a:t>
                      </a:r>
                    </a:p>
                  </a:txBody>
                  <a:tcPr marL="38100" marR="38100" marT="25400" marB="25400" anchor="ctr"/>
                </a:tc>
                <a:extLst>
                  <a:ext uri="{0D108BD9-81ED-4DB2-BD59-A6C34878D82A}">
                    <a16:rowId xmlns:a16="http://schemas.microsoft.com/office/drawing/2014/main" val="47870359"/>
                  </a:ext>
                </a:extLst>
              </a:tr>
              <a:tr h="48768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NumPy / SciPy</a:t>
                      </a:r>
                      <a:endParaRPr lang="zh-CN" altLang="en-US" sz="1000" b="0">
                        <a:solidFill>
                          <a:srgbClr val="000000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marL="38100" marR="38100" marT="25400" marB="254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数值计算与矩阵运算</a:t>
                      </a:r>
                    </a:p>
                  </a:txBody>
                  <a:tcPr marL="38100" marR="38100" marT="25400" marB="25400" anchor="ctr"/>
                </a:tc>
                <a:extLst>
                  <a:ext uri="{0D108BD9-81ED-4DB2-BD59-A6C34878D82A}">
                    <a16:rowId xmlns:a16="http://schemas.microsoft.com/office/drawing/2014/main" val="2598350783"/>
                  </a:ext>
                </a:extLst>
              </a:tr>
              <a:tr h="48768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scikit-learn</a:t>
                      </a:r>
                      <a:endParaRPr lang="zh-CN" altLang="en-US" sz="1000" b="0">
                        <a:solidFill>
                          <a:srgbClr val="000000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marL="38100" marR="38100" marT="25400" marB="254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PCA</a:t>
                      </a:r>
                      <a:r>
                        <a:rPr lang="zh-CN" altLang="en-US" sz="10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、评估指标、分级聚类辅助</a:t>
                      </a:r>
                    </a:p>
                  </a:txBody>
                  <a:tcPr marL="38100" marR="38100" marT="25400" marB="25400" anchor="ctr"/>
                </a:tc>
                <a:extLst>
                  <a:ext uri="{0D108BD9-81ED-4DB2-BD59-A6C34878D82A}">
                    <a16:rowId xmlns:a16="http://schemas.microsoft.com/office/drawing/2014/main" val="3005825073"/>
                  </a:ext>
                </a:extLst>
              </a:tr>
              <a:tr h="48768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Matplotlib</a:t>
                      </a:r>
                      <a:endParaRPr lang="zh-CN" altLang="en-US" sz="1000" b="0">
                        <a:solidFill>
                          <a:srgbClr val="000000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marL="38100" marR="38100" marT="25400" marB="254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分类边界、投影、聚类图输出</a:t>
                      </a:r>
                    </a:p>
                  </a:txBody>
                  <a:tcPr marL="38100" marR="38100" marT="25400" marB="25400" anchor="ctr"/>
                </a:tc>
                <a:extLst>
                  <a:ext uri="{0D108BD9-81ED-4DB2-BD59-A6C34878D82A}">
                    <a16:rowId xmlns:a16="http://schemas.microsoft.com/office/drawing/2014/main" val="1494665580"/>
                  </a:ext>
                </a:extLst>
              </a:tr>
            </a:tbl>
          </a:graphicData>
        </a:graphic>
      </p:graphicFrame>
      <p:sp>
        <p:nvSpPr>
          <p:cNvPr id="13" name="矩形: 圆角 12">
            <a:extLst>
              <a:ext uri="{FF2B5EF4-FFF2-40B4-BE49-F238E27FC236}">
                <a16:creationId xmlns:a16="http://schemas.microsoft.com/office/drawing/2014/main" id="{921EE357-A9C8-9CDE-52C8-B80247F071B4}"/>
              </a:ext>
            </a:extLst>
          </p:cNvPr>
          <p:cNvSpPr/>
          <p:nvPr/>
        </p:nvSpPr>
        <p:spPr>
          <a:xfrm>
            <a:off x="990600" y="4495800"/>
            <a:ext cx="2032000" cy="711200"/>
          </a:xfrm>
          <a:prstGeom prst="roundRect">
            <a:avLst/>
          </a:prstGeom>
          <a:solidFill>
            <a:srgbClr val="FAFCFF"/>
          </a:solidFill>
          <a:ln w="889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4927449D-AB97-AA9F-BB6D-68245A738BE5}"/>
              </a:ext>
            </a:extLst>
          </p:cNvPr>
          <p:cNvSpPr txBox="1"/>
          <p:nvPr/>
        </p:nvSpPr>
        <p:spPr>
          <a:xfrm>
            <a:off x="1143000" y="4597400"/>
            <a:ext cx="1752600" cy="36933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2400" b="1">
                <a:solidFill>
                  <a:srgbClr val="006BB7"/>
                </a:solidFill>
                <a:latin typeface="Microsoft YaHei" panose="020B0503020204020204" pitchFamily="34" charset="-122"/>
              </a:rPr>
              <a:t>5</a:t>
            </a:r>
            <a:endParaRPr lang="zh-CN" altLang="en-US" sz="2400" b="1">
              <a:solidFill>
                <a:srgbClr val="006BB7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84BE896D-A678-03F9-785F-97AACA90692E}"/>
              </a:ext>
            </a:extLst>
          </p:cNvPr>
          <p:cNvSpPr txBox="1"/>
          <p:nvPr/>
        </p:nvSpPr>
        <p:spPr>
          <a:xfrm>
            <a:off x="1143000" y="5003800"/>
            <a:ext cx="1752600" cy="184666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200">
                <a:solidFill>
                  <a:srgbClr val="6B7F90"/>
                </a:solidFill>
                <a:latin typeface="Microsoft YaHei" panose="020B0503020204020204" pitchFamily="34" charset="-122"/>
              </a:rPr>
              <a:t>已完成实验任务</a:t>
            </a:r>
          </a:p>
        </p:txBody>
      </p:sp>
      <p:sp>
        <p:nvSpPr>
          <p:cNvPr id="16" name="矩形: 圆角 15">
            <a:extLst>
              <a:ext uri="{FF2B5EF4-FFF2-40B4-BE49-F238E27FC236}">
                <a16:creationId xmlns:a16="http://schemas.microsoft.com/office/drawing/2014/main" id="{30ADF55F-364E-CE65-74FF-5F198324FE04}"/>
              </a:ext>
            </a:extLst>
          </p:cNvPr>
          <p:cNvSpPr/>
          <p:nvPr/>
        </p:nvSpPr>
        <p:spPr>
          <a:xfrm>
            <a:off x="3530600" y="4495800"/>
            <a:ext cx="2032000" cy="711200"/>
          </a:xfrm>
          <a:prstGeom prst="roundRect">
            <a:avLst/>
          </a:prstGeom>
          <a:solidFill>
            <a:srgbClr val="FAFCFF"/>
          </a:solidFill>
          <a:ln w="889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B25E174-D649-1B95-D4C0-0BE074AE2266}"/>
              </a:ext>
            </a:extLst>
          </p:cNvPr>
          <p:cNvSpPr txBox="1"/>
          <p:nvPr/>
        </p:nvSpPr>
        <p:spPr>
          <a:xfrm>
            <a:off x="3683000" y="4597400"/>
            <a:ext cx="1752600" cy="36933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2400" b="1">
                <a:solidFill>
                  <a:srgbClr val="0A7FCC"/>
                </a:solidFill>
                <a:latin typeface="Microsoft YaHei" panose="020B0503020204020204" pitchFamily="34" charset="-122"/>
              </a:rPr>
              <a:t>18</a:t>
            </a:r>
            <a:endParaRPr lang="zh-CN" altLang="en-US" sz="2400" b="1">
              <a:solidFill>
                <a:srgbClr val="0A7FCC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B8C9A1A1-2381-70CD-94A1-7E5BD830A9DD}"/>
              </a:ext>
            </a:extLst>
          </p:cNvPr>
          <p:cNvSpPr txBox="1"/>
          <p:nvPr/>
        </p:nvSpPr>
        <p:spPr>
          <a:xfrm>
            <a:off x="3683000" y="5003800"/>
            <a:ext cx="1752600" cy="184666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200">
                <a:solidFill>
                  <a:srgbClr val="6B7F90"/>
                </a:solidFill>
                <a:latin typeface="Microsoft YaHei" panose="020B0503020204020204" pitchFamily="34" charset="-122"/>
              </a:rPr>
              <a:t>汇报中使用图表</a:t>
            </a:r>
          </a:p>
        </p:txBody>
      </p:sp>
      <p:sp>
        <p:nvSpPr>
          <p:cNvPr id="19" name="矩形: 圆角 18">
            <a:extLst>
              <a:ext uri="{FF2B5EF4-FFF2-40B4-BE49-F238E27FC236}">
                <a16:creationId xmlns:a16="http://schemas.microsoft.com/office/drawing/2014/main" id="{D7D6DEB9-7745-2EF8-E441-C924E337EE5B}"/>
              </a:ext>
            </a:extLst>
          </p:cNvPr>
          <p:cNvSpPr/>
          <p:nvPr/>
        </p:nvSpPr>
        <p:spPr>
          <a:xfrm>
            <a:off x="6070600" y="4495800"/>
            <a:ext cx="2032000" cy="711200"/>
          </a:xfrm>
          <a:prstGeom prst="roundRect">
            <a:avLst/>
          </a:prstGeom>
          <a:solidFill>
            <a:srgbClr val="FAFCFF"/>
          </a:solidFill>
          <a:ln w="889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414B65B4-16C9-01A9-7543-593133D03EB4}"/>
              </a:ext>
            </a:extLst>
          </p:cNvPr>
          <p:cNvSpPr txBox="1"/>
          <p:nvPr/>
        </p:nvSpPr>
        <p:spPr>
          <a:xfrm>
            <a:off x="6223000" y="4597400"/>
            <a:ext cx="1752600" cy="36933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2400" b="1">
                <a:solidFill>
                  <a:srgbClr val="D4A84B"/>
                </a:solidFill>
                <a:latin typeface="Microsoft YaHei" panose="020B0503020204020204" pitchFamily="34" charset="-122"/>
              </a:rPr>
              <a:t>2D/1024D</a:t>
            </a:r>
            <a:endParaRPr lang="zh-CN" altLang="en-US" sz="2400" b="1">
              <a:solidFill>
                <a:srgbClr val="D4A84B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693B9033-0784-5B4C-CF18-DA13DC090843}"/>
              </a:ext>
            </a:extLst>
          </p:cNvPr>
          <p:cNvSpPr txBox="1"/>
          <p:nvPr/>
        </p:nvSpPr>
        <p:spPr>
          <a:xfrm>
            <a:off x="6223000" y="5003800"/>
            <a:ext cx="1752600" cy="184666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200">
                <a:solidFill>
                  <a:srgbClr val="6B7F90"/>
                </a:solidFill>
                <a:latin typeface="Microsoft YaHei" panose="020B0503020204020204" pitchFamily="34" charset="-122"/>
              </a:rPr>
              <a:t>低维与图像高维特征</a:t>
            </a:r>
          </a:p>
        </p:txBody>
      </p:sp>
      <p:sp>
        <p:nvSpPr>
          <p:cNvPr id="22" name="矩形: 圆角 21">
            <a:extLst>
              <a:ext uri="{FF2B5EF4-FFF2-40B4-BE49-F238E27FC236}">
                <a16:creationId xmlns:a16="http://schemas.microsoft.com/office/drawing/2014/main" id="{B53C129B-CEDE-746D-CEAE-8A412027B6C2}"/>
              </a:ext>
            </a:extLst>
          </p:cNvPr>
          <p:cNvSpPr/>
          <p:nvPr/>
        </p:nvSpPr>
        <p:spPr>
          <a:xfrm>
            <a:off x="8610600" y="4495800"/>
            <a:ext cx="2032000" cy="711200"/>
          </a:xfrm>
          <a:prstGeom prst="roundRect">
            <a:avLst/>
          </a:prstGeom>
          <a:solidFill>
            <a:srgbClr val="FAFCFF"/>
          </a:solidFill>
          <a:ln w="889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654C6F0C-9721-DCB9-7B58-5BA8EB7C8F06}"/>
              </a:ext>
            </a:extLst>
          </p:cNvPr>
          <p:cNvSpPr txBox="1"/>
          <p:nvPr/>
        </p:nvSpPr>
        <p:spPr>
          <a:xfrm>
            <a:off x="8763000" y="4597400"/>
            <a:ext cx="1752600" cy="36933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2400" b="1">
                <a:solidFill>
                  <a:srgbClr val="2F80C9"/>
                </a:solidFill>
                <a:latin typeface="Microsoft YaHei" panose="020B0503020204020204" pitchFamily="34" charset="-122"/>
              </a:rPr>
              <a:t>分类</a:t>
            </a:r>
            <a:r>
              <a:rPr lang="en-US" altLang="zh-CN" sz="2400" b="1">
                <a:solidFill>
                  <a:srgbClr val="2F80C9"/>
                </a:solidFill>
                <a:latin typeface="Microsoft YaHei" panose="020B0503020204020204" pitchFamily="34" charset="-122"/>
              </a:rPr>
              <a:t>+</a:t>
            </a:r>
            <a:r>
              <a:rPr lang="zh-CN" altLang="en-US" sz="2400" b="1">
                <a:solidFill>
                  <a:srgbClr val="2F80C9"/>
                </a:solidFill>
                <a:latin typeface="Microsoft YaHei" panose="020B0503020204020204" pitchFamily="34" charset="-122"/>
              </a:rPr>
              <a:t>聚类</a:t>
            </a:r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053389C5-42A7-DCCE-CF4D-83768B68930D}"/>
              </a:ext>
            </a:extLst>
          </p:cNvPr>
          <p:cNvSpPr txBox="1"/>
          <p:nvPr/>
        </p:nvSpPr>
        <p:spPr>
          <a:xfrm>
            <a:off x="8763000" y="5003800"/>
            <a:ext cx="1752600" cy="184666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200">
                <a:solidFill>
                  <a:srgbClr val="6B7F90"/>
                </a:solidFill>
                <a:latin typeface="Microsoft YaHei" panose="020B0503020204020204" pitchFamily="34" charset="-122"/>
              </a:rPr>
              <a:t>监督与无监督覆盖</a:t>
            </a:r>
          </a:p>
        </p:txBody>
      </p:sp>
    </p:spTree>
    <p:extLst>
      <p:ext uri="{BB962C8B-B14F-4D97-AF65-F5344CB8AC3E}">
        <p14:creationId xmlns:p14="http://schemas.microsoft.com/office/powerpoint/2010/main" val="150488544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E775313-F1A1-D246-4501-98F1B5C0868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4A82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平行四边形 2">
            <a:extLst>
              <a:ext uri="{FF2B5EF4-FFF2-40B4-BE49-F238E27FC236}">
                <a16:creationId xmlns:a16="http://schemas.microsoft.com/office/drawing/2014/main" id="{04F2756D-DB25-873B-A2CC-142D8D37E80C}"/>
              </a:ext>
            </a:extLst>
          </p:cNvPr>
          <p:cNvSpPr/>
          <p:nvPr/>
        </p:nvSpPr>
        <p:spPr>
          <a:xfrm>
            <a:off x="-889000" y="4826000"/>
            <a:ext cx="7302500" cy="2159000"/>
          </a:xfrm>
          <a:prstGeom prst="parallelogram">
            <a:avLst>
              <a:gd name="adj" fmla="val 18000"/>
            </a:avLst>
          </a:prstGeom>
          <a:solidFill>
            <a:srgbClr val="006BB7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平行四边形 3">
            <a:extLst>
              <a:ext uri="{FF2B5EF4-FFF2-40B4-BE49-F238E27FC236}">
                <a16:creationId xmlns:a16="http://schemas.microsoft.com/office/drawing/2014/main" id="{CD85F7B1-AD0E-4E9E-7FF7-FCD251F50D6C}"/>
              </a:ext>
            </a:extLst>
          </p:cNvPr>
          <p:cNvSpPr/>
          <p:nvPr/>
        </p:nvSpPr>
        <p:spPr>
          <a:xfrm>
            <a:off x="8128000" y="-355600"/>
            <a:ext cx="4953000" cy="2095500"/>
          </a:xfrm>
          <a:prstGeom prst="parallelogram">
            <a:avLst>
              <a:gd name="adj" fmla="val 20000"/>
            </a:avLst>
          </a:prstGeom>
          <a:solidFill>
            <a:srgbClr val="3A9BD9">
              <a:alpha val="85000"/>
            </a:srgbClr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9A3F51D0-0430-E589-D2EB-3EB2D07AB76B}"/>
              </a:ext>
            </a:extLst>
          </p:cNvPr>
          <p:cNvSpPr txBox="1"/>
          <p:nvPr/>
        </p:nvSpPr>
        <p:spPr>
          <a:xfrm>
            <a:off x="889000" y="1168400"/>
            <a:ext cx="1651000" cy="41549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2700" b="1">
                <a:solidFill>
                  <a:srgbClr val="D4A84B"/>
                </a:solidFill>
                <a:latin typeface="Microsoft YaHei" panose="020B0503020204020204" pitchFamily="34" charset="-122"/>
              </a:rPr>
              <a:t>01</a:t>
            </a:r>
            <a:endParaRPr lang="zh-CN" altLang="en-US" sz="2700" b="1">
              <a:solidFill>
                <a:srgbClr val="D4A84B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4BE9D8BA-6EAD-8D33-65F7-4C3777D0F994}"/>
              </a:ext>
            </a:extLst>
          </p:cNvPr>
          <p:cNvSpPr txBox="1"/>
          <p:nvPr/>
        </p:nvSpPr>
        <p:spPr>
          <a:xfrm>
            <a:off x="889000" y="2006600"/>
            <a:ext cx="9652000" cy="600164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3900" b="1">
                <a:solidFill>
                  <a:srgbClr val="FFFFFF"/>
                </a:solidFill>
                <a:latin typeface="Microsoft YaHei" panose="020B0503020204020204" pitchFamily="34" charset="-122"/>
              </a:rPr>
              <a:t>实验一：</a:t>
            </a:r>
            <a:r>
              <a:rPr lang="en-US" altLang="zh-CN" sz="3900" b="1">
                <a:solidFill>
                  <a:srgbClr val="FFFFFF"/>
                </a:solidFill>
                <a:latin typeface="Microsoft YaHei" panose="020B0503020204020204" pitchFamily="34" charset="-122"/>
              </a:rPr>
              <a:t>Bayes </a:t>
            </a:r>
            <a:r>
              <a:rPr lang="zh-CN" altLang="en-US" sz="3900" b="1">
                <a:solidFill>
                  <a:srgbClr val="FFFFFF"/>
                </a:solidFill>
                <a:latin typeface="Microsoft YaHei" panose="020B0503020204020204" pitchFamily="34" charset="-122"/>
              </a:rPr>
              <a:t>性别分类器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A6579F9D-B87F-885F-CEF3-64C1F9ACAAA0}"/>
              </a:ext>
            </a:extLst>
          </p:cNvPr>
          <p:cNvSpPr txBox="1"/>
          <p:nvPr/>
        </p:nvSpPr>
        <p:spPr>
          <a:xfrm>
            <a:off x="939800" y="2946400"/>
            <a:ext cx="8890000" cy="261610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700">
                <a:solidFill>
                  <a:srgbClr val="D9ECFF"/>
                </a:solidFill>
                <a:latin typeface="Microsoft YaHei" panose="020B0503020204020204" pitchFamily="34" charset="-122"/>
              </a:rPr>
              <a:t>用身高</a:t>
            </a:r>
            <a:r>
              <a:rPr lang="en-US" altLang="zh-CN" sz="1700">
                <a:solidFill>
                  <a:srgbClr val="D9ECFF"/>
                </a:solidFill>
                <a:latin typeface="Microsoft YaHei" panose="020B0503020204020204" pitchFamily="34" charset="-122"/>
              </a:rPr>
              <a:t>/</a:t>
            </a:r>
            <a:r>
              <a:rPr lang="zh-CN" altLang="en-US" sz="1700">
                <a:solidFill>
                  <a:srgbClr val="D9ECFF"/>
                </a:solidFill>
                <a:latin typeface="Microsoft YaHei" panose="020B0503020204020204" pitchFamily="34" charset="-122"/>
              </a:rPr>
              <a:t>体重数据进行最小错误率与最小风险决策</a:t>
            </a:r>
          </a:p>
        </p:txBody>
      </p:sp>
      <p:cxnSp>
        <p:nvCxnSpPr>
          <p:cNvPr id="8" name="直接连接符 7">
            <a:extLst>
              <a:ext uri="{FF2B5EF4-FFF2-40B4-BE49-F238E27FC236}">
                <a16:creationId xmlns:a16="http://schemas.microsoft.com/office/drawing/2014/main" id="{0BF56E8C-BCED-E4DC-7663-8EE023911FFC}"/>
              </a:ext>
            </a:extLst>
          </p:cNvPr>
          <p:cNvCxnSpPr/>
          <p:nvPr/>
        </p:nvCxnSpPr>
        <p:spPr>
          <a:xfrm>
            <a:off x="939800" y="3810000"/>
            <a:ext cx="2489200" cy="0"/>
          </a:xfrm>
          <a:prstGeom prst="line">
            <a:avLst/>
          </a:prstGeom>
          <a:ln w="50800">
            <a:solidFill>
              <a:srgbClr val="D4A84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182403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D565219D-1809-65D0-44E6-10316957198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C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2B24B290-8C1F-1742-856E-7CBBB9166E4E}"/>
              </a:ext>
            </a:extLst>
          </p:cNvPr>
          <p:cNvSpPr/>
          <p:nvPr/>
        </p:nvSpPr>
        <p:spPr>
          <a:xfrm>
            <a:off x="0" y="0"/>
            <a:ext cx="12192000" cy="1016000"/>
          </a:xfrm>
          <a:prstGeom prst="rect">
            <a:avLst/>
          </a:prstGeom>
          <a:solidFill>
            <a:srgbClr val="006BB7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平行四边形 3">
            <a:extLst>
              <a:ext uri="{FF2B5EF4-FFF2-40B4-BE49-F238E27FC236}">
                <a16:creationId xmlns:a16="http://schemas.microsoft.com/office/drawing/2014/main" id="{59E0C471-DFFF-D6D7-5D02-DE5D007FB9E9}"/>
              </a:ext>
            </a:extLst>
          </p:cNvPr>
          <p:cNvSpPr/>
          <p:nvPr/>
        </p:nvSpPr>
        <p:spPr>
          <a:xfrm>
            <a:off x="8953500" y="-228600"/>
            <a:ext cx="3581400" cy="1346200"/>
          </a:xfrm>
          <a:prstGeom prst="parallelogram">
            <a:avLst>
              <a:gd name="adj" fmla="val 20000"/>
            </a:avLst>
          </a:prstGeom>
          <a:solidFill>
            <a:srgbClr val="3A9BD9">
              <a:alpha val="85000"/>
            </a:srgbClr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平行四边形 4">
            <a:extLst>
              <a:ext uri="{FF2B5EF4-FFF2-40B4-BE49-F238E27FC236}">
                <a16:creationId xmlns:a16="http://schemas.microsoft.com/office/drawing/2014/main" id="{4EC321EE-60DB-1105-8ED1-CE838D6EBBCE}"/>
              </a:ext>
            </a:extLst>
          </p:cNvPr>
          <p:cNvSpPr/>
          <p:nvPr/>
        </p:nvSpPr>
        <p:spPr>
          <a:xfrm>
            <a:off x="-508000" y="6324600"/>
            <a:ext cx="5969000" cy="660400"/>
          </a:xfrm>
          <a:prstGeom prst="parallelogram">
            <a:avLst>
              <a:gd name="adj" fmla="val 20000"/>
            </a:avLst>
          </a:prstGeom>
          <a:solidFill>
            <a:srgbClr val="DDF0F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69F05CB8-9251-1B1D-D90C-EF0E4DA301F6}"/>
              </a:ext>
            </a:extLst>
          </p:cNvPr>
          <p:cNvSpPr txBox="1"/>
          <p:nvPr/>
        </p:nvSpPr>
        <p:spPr>
          <a:xfrm>
            <a:off x="736600" y="254000"/>
            <a:ext cx="4953000" cy="10772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700" b="1">
                <a:solidFill>
                  <a:srgbClr val="CDEBFF"/>
                </a:solidFill>
                <a:latin typeface="Microsoft YaHei" panose="020B0503020204020204" pitchFamily="34" charset="-122"/>
              </a:rPr>
              <a:t>BAYES CLASSIFIER</a:t>
            </a:r>
            <a:endParaRPr lang="zh-CN" altLang="en-US" sz="700" b="1">
              <a:solidFill>
                <a:srgbClr val="CDEBFF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51A67334-FE18-5776-3F1C-AFA958CF31CA}"/>
              </a:ext>
            </a:extLst>
          </p:cNvPr>
          <p:cNvSpPr txBox="1"/>
          <p:nvPr/>
        </p:nvSpPr>
        <p:spPr>
          <a:xfrm>
            <a:off x="736600" y="533400"/>
            <a:ext cx="8509000" cy="41549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2700" b="1">
                <a:solidFill>
                  <a:srgbClr val="FFFFFF"/>
                </a:solidFill>
                <a:latin typeface="Microsoft YaHei" panose="020B0503020204020204" pitchFamily="34" charset="-122"/>
              </a:rPr>
              <a:t>实验一理论：概率决策框架</a:t>
            </a:r>
          </a:p>
        </p:txBody>
      </p:sp>
      <p:cxnSp>
        <p:nvCxnSpPr>
          <p:cNvPr id="8" name="直接连接符 7">
            <a:extLst>
              <a:ext uri="{FF2B5EF4-FFF2-40B4-BE49-F238E27FC236}">
                <a16:creationId xmlns:a16="http://schemas.microsoft.com/office/drawing/2014/main" id="{DC829C7E-1C0F-62F0-7BE6-FC1AE41DBDCE}"/>
              </a:ext>
            </a:extLst>
          </p:cNvPr>
          <p:cNvCxnSpPr/>
          <p:nvPr/>
        </p:nvCxnSpPr>
        <p:spPr>
          <a:xfrm>
            <a:off x="736600" y="1295400"/>
            <a:ext cx="1168400" cy="0"/>
          </a:xfrm>
          <a:prstGeom prst="line">
            <a:avLst/>
          </a:prstGeom>
          <a:ln w="38100">
            <a:solidFill>
              <a:srgbClr val="D4A84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文本框 8">
            <a:extLst>
              <a:ext uri="{FF2B5EF4-FFF2-40B4-BE49-F238E27FC236}">
                <a16:creationId xmlns:a16="http://schemas.microsoft.com/office/drawing/2014/main" id="{6CADD773-9210-C235-F018-5E171669D4FE}"/>
              </a:ext>
            </a:extLst>
          </p:cNvPr>
          <p:cNvSpPr txBox="1"/>
          <p:nvPr/>
        </p:nvSpPr>
        <p:spPr>
          <a:xfrm>
            <a:off x="533400" y="6527800"/>
            <a:ext cx="3937000" cy="10772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700">
                <a:solidFill>
                  <a:srgbClr val="8FA8BA"/>
                </a:solidFill>
                <a:latin typeface="Microsoft YaHei" panose="020B0503020204020204" pitchFamily="34" charset="-122"/>
              </a:rPr>
              <a:t>模式识别课程实验汇报 </a:t>
            </a:r>
            <a:r>
              <a:rPr lang="en-US" altLang="zh-CN" sz="700">
                <a:solidFill>
                  <a:srgbClr val="8FA8BA"/>
                </a:solidFill>
                <a:latin typeface="Microsoft YaHei" panose="020B0503020204020204" pitchFamily="34" charset="-122"/>
              </a:rPr>
              <a:t>· </a:t>
            </a:r>
            <a:r>
              <a:rPr lang="zh-CN" altLang="en-US" sz="700">
                <a:solidFill>
                  <a:srgbClr val="8FA8BA"/>
                </a:solidFill>
                <a:latin typeface="Microsoft YaHei" panose="020B0503020204020204" pitchFamily="34" charset="-122"/>
              </a:rPr>
              <a:t>蓝白科研汇报模板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54E928AF-07D4-1CC0-BB3C-F62A82BF20DA}"/>
              </a:ext>
            </a:extLst>
          </p:cNvPr>
          <p:cNvSpPr txBox="1"/>
          <p:nvPr/>
        </p:nvSpPr>
        <p:spPr>
          <a:xfrm>
            <a:off x="11366500" y="6477000"/>
            <a:ext cx="355600" cy="10772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r"/>
            <a:r>
              <a:rPr lang="en-US" altLang="zh-CN" sz="700" b="1">
                <a:solidFill>
                  <a:srgbClr val="006BB7"/>
                </a:solidFill>
                <a:latin typeface="Microsoft YaHei" panose="020B0503020204020204" pitchFamily="34" charset="-122"/>
              </a:rPr>
              <a:t>03</a:t>
            </a:r>
            <a:endParaRPr lang="zh-CN" altLang="en-US" sz="700" b="1">
              <a:solidFill>
                <a:srgbClr val="006BB7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6A4B0016-3B59-555A-F736-4D3BB4497608}"/>
              </a:ext>
            </a:extLst>
          </p:cNvPr>
          <p:cNvSpPr/>
          <p:nvPr/>
        </p:nvSpPr>
        <p:spPr>
          <a:xfrm>
            <a:off x="736600" y="1371600"/>
            <a:ext cx="3302000" cy="109220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33BDAC9D-16B3-9840-ED26-0ADA793E218A}"/>
              </a:ext>
            </a:extLst>
          </p:cNvPr>
          <p:cNvSpPr/>
          <p:nvPr/>
        </p:nvSpPr>
        <p:spPr>
          <a:xfrm>
            <a:off x="736600" y="1371600"/>
            <a:ext cx="76200" cy="1092200"/>
          </a:xfrm>
          <a:prstGeom prst="rect">
            <a:avLst/>
          </a:prstGeom>
          <a:solidFill>
            <a:srgbClr val="006BB7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0B4617E2-3E18-9924-0C21-11BFE982AD55}"/>
              </a:ext>
            </a:extLst>
          </p:cNvPr>
          <p:cNvSpPr txBox="1"/>
          <p:nvPr/>
        </p:nvSpPr>
        <p:spPr>
          <a:xfrm>
            <a:off x="927100" y="1498600"/>
            <a:ext cx="2997200" cy="215444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400" b="1">
                <a:solidFill>
                  <a:srgbClr val="0A2E4E"/>
                </a:solidFill>
                <a:latin typeface="Microsoft YaHei" panose="020B0503020204020204" pitchFamily="34" charset="-122"/>
              </a:rPr>
              <a:t>后验概率决策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5B5B3421-BD15-0631-5DED-62895F2EB736}"/>
              </a:ext>
            </a:extLst>
          </p:cNvPr>
          <p:cNvSpPr txBox="1"/>
          <p:nvPr/>
        </p:nvSpPr>
        <p:spPr>
          <a:xfrm>
            <a:off x="927100" y="1854200"/>
            <a:ext cx="2997200" cy="36933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200">
                <a:solidFill>
                  <a:srgbClr val="38566F"/>
                </a:solidFill>
                <a:latin typeface="Microsoft YaHei" panose="020B0503020204020204" pitchFamily="34" charset="-122"/>
              </a:rPr>
              <a:t>选择给定特征后最可能的类别，本质是把观测特征映射到类别后验。</a:t>
            </a:r>
          </a:p>
        </p:txBody>
      </p:sp>
      <p:sp>
        <p:nvSpPr>
          <p:cNvPr id="15" name="矩形: 圆角 14">
            <a:extLst>
              <a:ext uri="{FF2B5EF4-FFF2-40B4-BE49-F238E27FC236}">
                <a16:creationId xmlns:a16="http://schemas.microsoft.com/office/drawing/2014/main" id="{D9CFB747-F665-6305-672B-31520E28153E}"/>
              </a:ext>
            </a:extLst>
          </p:cNvPr>
          <p:cNvSpPr/>
          <p:nvPr/>
        </p:nvSpPr>
        <p:spPr>
          <a:xfrm>
            <a:off x="4445000" y="1371600"/>
            <a:ext cx="3302000" cy="109220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1952E1DF-B875-A96A-D0D1-3BC2C8CA2366}"/>
              </a:ext>
            </a:extLst>
          </p:cNvPr>
          <p:cNvSpPr/>
          <p:nvPr/>
        </p:nvSpPr>
        <p:spPr>
          <a:xfrm>
            <a:off x="4445000" y="1371600"/>
            <a:ext cx="76200" cy="1092200"/>
          </a:xfrm>
          <a:prstGeom prst="rect">
            <a:avLst/>
          </a:prstGeom>
          <a:solidFill>
            <a:srgbClr val="0A7FC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D78A2EDF-402C-1B69-BCE6-1A1CBFAB7F1E}"/>
              </a:ext>
            </a:extLst>
          </p:cNvPr>
          <p:cNvSpPr txBox="1"/>
          <p:nvPr/>
        </p:nvSpPr>
        <p:spPr>
          <a:xfrm>
            <a:off x="4635500" y="1498600"/>
            <a:ext cx="2997200" cy="215444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400" b="1">
                <a:solidFill>
                  <a:srgbClr val="0A2E4E"/>
                </a:solidFill>
                <a:latin typeface="Microsoft YaHei" panose="020B0503020204020204" pitchFamily="34" charset="-122"/>
              </a:rPr>
              <a:t>高斯参数估计</a:t>
            </a: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852E75CA-8EB3-C4FB-F99B-F056030026A4}"/>
              </a:ext>
            </a:extLst>
          </p:cNvPr>
          <p:cNvSpPr txBox="1"/>
          <p:nvPr/>
        </p:nvSpPr>
        <p:spPr>
          <a:xfrm>
            <a:off x="4635500" y="1854200"/>
            <a:ext cx="2997200" cy="36933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200">
                <a:solidFill>
                  <a:srgbClr val="38566F"/>
                </a:solidFill>
                <a:latin typeface="Microsoft YaHei" panose="020B0503020204020204" pitchFamily="34" charset="-122"/>
              </a:rPr>
              <a:t>在正态假设下估计均值 </a:t>
            </a:r>
            <a:r>
              <a:rPr lang="en-US" altLang="zh-CN" sz="1200">
                <a:solidFill>
                  <a:srgbClr val="38566F"/>
                </a:solidFill>
                <a:latin typeface="Microsoft YaHei" panose="020B0503020204020204" pitchFamily="34" charset="-122"/>
              </a:rPr>
              <a:t>μ </a:t>
            </a:r>
            <a:r>
              <a:rPr lang="zh-CN" altLang="en-US" sz="1200">
                <a:solidFill>
                  <a:srgbClr val="38566F"/>
                </a:solidFill>
                <a:latin typeface="Microsoft YaHei" panose="020B0503020204020204" pitchFamily="34" charset="-122"/>
              </a:rPr>
              <a:t>与协方差 </a:t>
            </a:r>
            <a:r>
              <a:rPr lang="en-US" altLang="zh-CN" sz="1200">
                <a:solidFill>
                  <a:srgbClr val="38566F"/>
                </a:solidFill>
                <a:latin typeface="Microsoft YaHei" panose="020B0503020204020204" pitchFamily="34" charset="-122"/>
              </a:rPr>
              <a:t>Σ</a:t>
            </a:r>
            <a:r>
              <a:rPr lang="zh-CN" altLang="en-US" sz="1200">
                <a:solidFill>
                  <a:srgbClr val="38566F"/>
                </a:solidFill>
                <a:latin typeface="Microsoft YaHei" panose="020B0503020204020204" pitchFamily="34" charset="-122"/>
              </a:rPr>
              <a:t>，得到二次判别函数。</a:t>
            </a:r>
          </a:p>
        </p:txBody>
      </p:sp>
      <p:sp>
        <p:nvSpPr>
          <p:cNvPr id="19" name="矩形: 圆角 18">
            <a:extLst>
              <a:ext uri="{FF2B5EF4-FFF2-40B4-BE49-F238E27FC236}">
                <a16:creationId xmlns:a16="http://schemas.microsoft.com/office/drawing/2014/main" id="{A6906FCF-DD03-73A0-35EA-F23507069613}"/>
              </a:ext>
            </a:extLst>
          </p:cNvPr>
          <p:cNvSpPr/>
          <p:nvPr/>
        </p:nvSpPr>
        <p:spPr>
          <a:xfrm>
            <a:off x="8153400" y="1371600"/>
            <a:ext cx="2921000" cy="109220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C303F4F2-7A74-EC77-B814-8C8F857FB4A4}"/>
              </a:ext>
            </a:extLst>
          </p:cNvPr>
          <p:cNvSpPr/>
          <p:nvPr/>
        </p:nvSpPr>
        <p:spPr>
          <a:xfrm>
            <a:off x="8153400" y="1371600"/>
            <a:ext cx="76200" cy="1092200"/>
          </a:xfrm>
          <a:prstGeom prst="rect">
            <a:avLst/>
          </a:prstGeom>
          <a:solidFill>
            <a:srgbClr val="D4A84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2B8C78CA-6848-DF68-B864-127D8F663547}"/>
              </a:ext>
            </a:extLst>
          </p:cNvPr>
          <p:cNvSpPr txBox="1"/>
          <p:nvPr/>
        </p:nvSpPr>
        <p:spPr>
          <a:xfrm>
            <a:off x="8343900" y="1498600"/>
            <a:ext cx="2616200" cy="215444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400" b="1">
                <a:solidFill>
                  <a:srgbClr val="0A2E4E"/>
                </a:solidFill>
                <a:latin typeface="Microsoft YaHei" panose="020B0503020204020204" pitchFamily="34" charset="-122"/>
              </a:rPr>
              <a:t>风险敏感决策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83C51A7F-4BF7-C24C-2748-12CD5D64A8A9}"/>
              </a:ext>
            </a:extLst>
          </p:cNvPr>
          <p:cNvSpPr txBox="1"/>
          <p:nvPr/>
        </p:nvSpPr>
        <p:spPr>
          <a:xfrm>
            <a:off x="8343900" y="1854200"/>
            <a:ext cx="2616200" cy="36933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200">
                <a:solidFill>
                  <a:srgbClr val="38566F"/>
                </a:solidFill>
                <a:latin typeface="Microsoft YaHei" panose="020B0503020204020204" pitchFamily="34" charset="-122"/>
              </a:rPr>
              <a:t>用损失表刻画不同错误代价，选择条件风险最小的动作。</a:t>
            </a:r>
          </a:p>
        </p:txBody>
      </p:sp>
      <p:sp>
        <p:nvSpPr>
          <p:cNvPr id="23" name="矩形: 圆角 22">
            <a:extLst>
              <a:ext uri="{FF2B5EF4-FFF2-40B4-BE49-F238E27FC236}">
                <a16:creationId xmlns:a16="http://schemas.microsoft.com/office/drawing/2014/main" id="{BB5BA27B-FE9A-942F-A632-EBAA17D7E557}"/>
              </a:ext>
            </a:extLst>
          </p:cNvPr>
          <p:cNvSpPr/>
          <p:nvPr/>
        </p:nvSpPr>
        <p:spPr>
          <a:xfrm>
            <a:off x="990600" y="3200400"/>
            <a:ext cx="10210800" cy="1092200"/>
          </a:xfrm>
          <a:prstGeom prst="roundRect">
            <a:avLst/>
          </a:prstGeom>
          <a:solidFill>
            <a:srgbClr val="E3F2FD"/>
          </a:solidFill>
          <a:ln w="8890">
            <a:solidFill>
              <a:srgbClr val="A7F3D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25" name="图片 24">
            <a:extLst>
              <a:ext uri="{FF2B5EF4-FFF2-40B4-BE49-F238E27FC236}">
                <a16:creationId xmlns:a16="http://schemas.microsoft.com/office/drawing/2014/main" id="{5A863FF9-5935-DBEA-D1C5-72A995865F3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192294" y="3252955"/>
            <a:ext cx="14576588" cy="987091"/>
          </a:xfrm>
          <a:prstGeom prst="rect">
            <a:avLst/>
          </a:prstGeom>
        </p:spPr>
      </p:pic>
      <p:sp>
        <p:nvSpPr>
          <p:cNvPr id="26" name="文本框 25">
            <a:extLst>
              <a:ext uri="{FF2B5EF4-FFF2-40B4-BE49-F238E27FC236}">
                <a16:creationId xmlns:a16="http://schemas.microsoft.com/office/drawing/2014/main" id="{8858AB1D-638D-AA60-A267-5F8808192897}"/>
              </a:ext>
            </a:extLst>
          </p:cNvPr>
          <p:cNvSpPr txBox="1"/>
          <p:nvPr/>
        </p:nvSpPr>
        <p:spPr>
          <a:xfrm>
            <a:off x="1016000" y="4851400"/>
            <a:ext cx="9906000" cy="515526"/>
          </a:xfrm>
          <a:prstGeom prst="rect">
            <a:avLst/>
          </a:prstGeom>
          <a:noFill/>
        </p:spPr>
        <p:txBody>
          <a:bodyPr vert="horz" lIns="101600" tIns="25400" rIns="25400" bIns="25400" rtlCol="0">
            <a:spAutoFit/>
          </a:bodyPr>
          <a:lstStyle/>
          <a:p>
            <a:pPr marL="342900" indent="-342900">
              <a:spcAft>
                <a:spcPts val="500"/>
              </a:spcAft>
              <a:buFont typeface="+mj-lt"/>
              <a:buAutoNum type="arabicPeriod"/>
            </a:pPr>
            <a:r>
              <a:rPr lang="zh-CN" altLang="en-US" sz="1300">
                <a:solidFill>
                  <a:srgbClr val="38566F"/>
                </a:solidFill>
                <a:latin typeface="Microsoft YaHei" panose="020B0503020204020204" pitchFamily="34" charset="-122"/>
              </a:rPr>
              <a:t>课程相关：参数估计、先验概率、贝叶斯判别函数、最小风险决策</a:t>
            </a:r>
          </a:p>
          <a:p>
            <a:pPr marL="342900" indent="-342900">
              <a:spcAft>
                <a:spcPts val="500"/>
              </a:spcAft>
              <a:buFont typeface="+mj-lt"/>
              <a:buAutoNum type="arabicPeriod"/>
            </a:pPr>
            <a:r>
              <a:rPr lang="zh-CN" altLang="en-US" sz="1300">
                <a:solidFill>
                  <a:srgbClr val="38566F"/>
                </a:solidFill>
                <a:latin typeface="Microsoft YaHei" panose="020B0503020204020204" pitchFamily="34" charset="-122"/>
              </a:rPr>
              <a:t>实验目的：观察特征、先验、协方差假设和风险表对分类性能的影响</a:t>
            </a:r>
          </a:p>
        </p:txBody>
      </p:sp>
    </p:spTree>
    <p:extLst>
      <p:ext uri="{BB962C8B-B14F-4D97-AF65-F5344CB8AC3E}">
        <p14:creationId xmlns:p14="http://schemas.microsoft.com/office/powerpoint/2010/main" val="120466098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61B2F0DE-0272-0F54-5CC1-9AAEDF21A089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C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F2577EC-FED1-ED4C-3DB1-E05A18A8A073}"/>
              </a:ext>
            </a:extLst>
          </p:cNvPr>
          <p:cNvSpPr/>
          <p:nvPr/>
        </p:nvSpPr>
        <p:spPr>
          <a:xfrm>
            <a:off x="0" y="0"/>
            <a:ext cx="12192000" cy="1016000"/>
          </a:xfrm>
          <a:prstGeom prst="rect">
            <a:avLst/>
          </a:prstGeom>
          <a:solidFill>
            <a:srgbClr val="006BB7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平行四边形 3">
            <a:extLst>
              <a:ext uri="{FF2B5EF4-FFF2-40B4-BE49-F238E27FC236}">
                <a16:creationId xmlns:a16="http://schemas.microsoft.com/office/drawing/2014/main" id="{CB0A34D4-55D9-293C-6F26-A57588A1D2D9}"/>
              </a:ext>
            </a:extLst>
          </p:cNvPr>
          <p:cNvSpPr/>
          <p:nvPr/>
        </p:nvSpPr>
        <p:spPr>
          <a:xfrm>
            <a:off x="8953500" y="-228600"/>
            <a:ext cx="3581400" cy="1346200"/>
          </a:xfrm>
          <a:prstGeom prst="parallelogram">
            <a:avLst>
              <a:gd name="adj" fmla="val 20000"/>
            </a:avLst>
          </a:prstGeom>
          <a:solidFill>
            <a:srgbClr val="3A9BD9">
              <a:alpha val="85000"/>
            </a:srgbClr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平行四边形 4">
            <a:extLst>
              <a:ext uri="{FF2B5EF4-FFF2-40B4-BE49-F238E27FC236}">
                <a16:creationId xmlns:a16="http://schemas.microsoft.com/office/drawing/2014/main" id="{483B7765-72D0-036E-57BE-44586A438A23}"/>
              </a:ext>
            </a:extLst>
          </p:cNvPr>
          <p:cNvSpPr/>
          <p:nvPr/>
        </p:nvSpPr>
        <p:spPr>
          <a:xfrm>
            <a:off x="-508000" y="6324600"/>
            <a:ext cx="5969000" cy="660400"/>
          </a:xfrm>
          <a:prstGeom prst="parallelogram">
            <a:avLst>
              <a:gd name="adj" fmla="val 20000"/>
            </a:avLst>
          </a:prstGeom>
          <a:solidFill>
            <a:srgbClr val="DDF0F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5144C17C-A54A-6A77-6FD7-7A0C05199AED}"/>
              </a:ext>
            </a:extLst>
          </p:cNvPr>
          <p:cNvSpPr txBox="1"/>
          <p:nvPr/>
        </p:nvSpPr>
        <p:spPr>
          <a:xfrm>
            <a:off x="736600" y="254000"/>
            <a:ext cx="4953000" cy="10772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700" b="1">
                <a:solidFill>
                  <a:srgbClr val="CDEBFF"/>
                </a:solidFill>
                <a:latin typeface="Microsoft YaHei" panose="020B0503020204020204" pitchFamily="34" charset="-122"/>
              </a:rPr>
              <a:t>BAYES INTUITION</a:t>
            </a:r>
            <a:endParaRPr lang="zh-CN" altLang="en-US" sz="700" b="1">
              <a:solidFill>
                <a:srgbClr val="CDEBFF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D221D3FD-8343-96BE-473F-859905B7D10C}"/>
              </a:ext>
            </a:extLst>
          </p:cNvPr>
          <p:cNvSpPr txBox="1"/>
          <p:nvPr/>
        </p:nvSpPr>
        <p:spPr>
          <a:xfrm>
            <a:off x="736600" y="533400"/>
            <a:ext cx="8509000" cy="41549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2700" b="1">
                <a:solidFill>
                  <a:srgbClr val="FFFFFF"/>
                </a:solidFill>
                <a:latin typeface="Microsoft YaHei" panose="020B0503020204020204" pitchFamily="34" charset="-122"/>
              </a:rPr>
              <a:t>实验一理论展开：</a:t>
            </a:r>
            <a:r>
              <a:rPr lang="en-US" altLang="zh-CN" sz="2700" b="1">
                <a:solidFill>
                  <a:srgbClr val="FFFFFF"/>
                </a:solidFill>
                <a:latin typeface="Microsoft YaHei" panose="020B0503020204020204" pitchFamily="34" charset="-122"/>
              </a:rPr>
              <a:t>Bayes </a:t>
            </a:r>
            <a:r>
              <a:rPr lang="zh-CN" altLang="en-US" sz="2700" b="1">
                <a:solidFill>
                  <a:srgbClr val="FFFFFF"/>
                </a:solidFill>
                <a:latin typeface="Microsoft YaHei" panose="020B0503020204020204" pitchFamily="34" charset="-122"/>
              </a:rPr>
              <a:t>分类器到底在算什么</a:t>
            </a:r>
          </a:p>
        </p:txBody>
      </p:sp>
      <p:cxnSp>
        <p:nvCxnSpPr>
          <p:cNvPr id="8" name="直接连接符 7">
            <a:extLst>
              <a:ext uri="{FF2B5EF4-FFF2-40B4-BE49-F238E27FC236}">
                <a16:creationId xmlns:a16="http://schemas.microsoft.com/office/drawing/2014/main" id="{A0C73B01-957A-5331-B490-49E9F0E06915}"/>
              </a:ext>
            </a:extLst>
          </p:cNvPr>
          <p:cNvCxnSpPr/>
          <p:nvPr/>
        </p:nvCxnSpPr>
        <p:spPr>
          <a:xfrm>
            <a:off x="736600" y="1295400"/>
            <a:ext cx="1168400" cy="0"/>
          </a:xfrm>
          <a:prstGeom prst="line">
            <a:avLst/>
          </a:prstGeom>
          <a:ln w="38100">
            <a:solidFill>
              <a:srgbClr val="D4A84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文本框 8">
            <a:extLst>
              <a:ext uri="{FF2B5EF4-FFF2-40B4-BE49-F238E27FC236}">
                <a16:creationId xmlns:a16="http://schemas.microsoft.com/office/drawing/2014/main" id="{55BDE739-B2F7-DFEA-3D3B-EA2C5A9842F1}"/>
              </a:ext>
            </a:extLst>
          </p:cNvPr>
          <p:cNvSpPr txBox="1"/>
          <p:nvPr/>
        </p:nvSpPr>
        <p:spPr>
          <a:xfrm>
            <a:off x="533400" y="6527800"/>
            <a:ext cx="3937000" cy="10772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700">
                <a:solidFill>
                  <a:srgbClr val="8FA8BA"/>
                </a:solidFill>
                <a:latin typeface="Microsoft YaHei" panose="020B0503020204020204" pitchFamily="34" charset="-122"/>
              </a:rPr>
              <a:t>模式识别课程实验汇报 </a:t>
            </a:r>
            <a:r>
              <a:rPr lang="en-US" altLang="zh-CN" sz="700">
                <a:solidFill>
                  <a:srgbClr val="8FA8BA"/>
                </a:solidFill>
                <a:latin typeface="Microsoft YaHei" panose="020B0503020204020204" pitchFamily="34" charset="-122"/>
              </a:rPr>
              <a:t>· </a:t>
            </a:r>
            <a:r>
              <a:rPr lang="zh-CN" altLang="en-US" sz="700">
                <a:solidFill>
                  <a:srgbClr val="8FA8BA"/>
                </a:solidFill>
                <a:latin typeface="Microsoft YaHei" panose="020B0503020204020204" pitchFamily="34" charset="-122"/>
              </a:rPr>
              <a:t>蓝白科研汇报模板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1E191BFF-B94D-8820-3AAE-1B6A390388C4}"/>
              </a:ext>
            </a:extLst>
          </p:cNvPr>
          <p:cNvSpPr txBox="1"/>
          <p:nvPr/>
        </p:nvSpPr>
        <p:spPr>
          <a:xfrm>
            <a:off x="11366500" y="6477000"/>
            <a:ext cx="355600" cy="10772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r"/>
            <a:r>
              <a:rPr lang="en-US" altLang="zh-CN" sz="700" b="1">
                <a:solidFill>
                  <a:srgbClr val="006BB7"/>
                </a:solidFill>
                <a:latin typeface="Microsoft YaHei" panose="020B0503020204020204" pitchFamily="34" charset="-122"/>
              </a:rPr>
              <a:t>04</a:t>
            </a:r>
            <a:endParaRPr lang="zh-CN" altLang="en-US" sz="700" b="1">
              <a:solidFill>
                <a:srgbClr val="006BB7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127FA0C7-3321-38D0-C38E-1AF5251809F2}"/>
              </a:ext>
            </a:extLst>
          </p:cNvPr>
          <p:cNvSpPr/>
          <p:nvPr/>
        </p:nvSpPr>
        <p:spPr>
          <a:xfrm>
            <a:off x="736600" y="1371600"/>
            <a:ext cx="3175000" cy="132080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74B1049A-718B-77A6-6E73-A80C8991DCA2}"/>
              </a:ext>
            </a:extLst>
          </p:cNvPr>
          <p:cNvSpPr/>
          <p:nvPr/>
        </p:nvSpPr>
        <p:spPr>
          <a:xfrm>
            <a:off x="736600" y="1371600"/>
            <a:ext cx="76200" cy="1320800"/>
          </a:xfrm>
          <a:prstGeom prst="rect">
            <a:avLst/>
          </a:prstGeom>
          <a:solidFill>
            <a:srgbClr val="006BB7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2CE654AC-E188-08F3-C520-46DBD3EE7BD0}"/>
              </a:ext>
            </a:extLst>
          </p:cNvPr>
          <p:cNvSpPr txBox="1"/>
          <p:nvPr/>
        </p:nvSpPr>
        <p:spPr>
          <a:xfrm>
            <a:off x="927100" y="1498600"/>
            <a:ext cx="2870200" cy="215444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1400" b="1">
                <a:solidFill>
                  <a:srgbClr val="0A2E4E"/>
                </a:solidFill>
                <a:latin typeface="Microsoft YaHei" panose="020B0503020204020204" pitchFamily="34" charset="-122"/>
              </a:rPr>
              <a:t>1. </a:t>
            </a:r>
            <a:r>
              <a:rPr lang="zh-CN" altLang="en-US" sz="1400" b="1">
                <a:solidFill>
                  <a:srgbClr val="0A2E4E"/>
                </a:solidFill>
                <a:latin typeface="Microsoft YaHei" panose="020B0503020204020204" pitchFamily="34" charset="-122"/>
              </a:rPr>
              <a:t>先看样本像谁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3ACD2499-FDBD-497B-50C1-90B6BFAEBBE5}"/>
              </a:ext>
            </a:extLst>
          </p:cNvPr>
          <p:cNvSpPr txBox="1"/>
          <p:nvPr/>
        </p:nvSpPr>
        <p:spPr>
          <a:xfrm>
            <a:off x="927100" y="1854200"/>
            <a:ext cx="2870200" cy="55399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200">
                <a:solidFill>
                  <a:srgbClr val="38566F"/>
                </a:solidFill>
                <a:latin typeface="Microsoft YaHei" panose="020B0503020204020204" pitchFamily="34" charset="-122"/>
              </a:rPr>
              <a:t>身高、体重是观测到的特征 </a:t>
            </a:r>
            <a:r>
              <a:rPr lang="en-US" altLang="zh-CN" sz="1200">
                <a:solidFill>
                  <a:srgbClr val="38566F"/>
                </a:solidFill>
                <a:latin typeface="Microsoft YaHei" panose="020B0503020204020204" pitchFamily="34" charset="-122"/>
              </a:rPr>
              <a:t>x</a:t>
            </a:r>
            <a:r>
              <a:rPr lang="zh-CN" altLang="en-US" sz="1200">
                <a:solidFill>
                  <a:srgbClr val="38566F"/>
                </a:solidFill>
                <a:latin typeface="Microsoft YaHei" panose="020B0503020204020204" pitchFamily="34" charset="-122"/>
              </a:rPr>
              <a:t>。分类器先比较这个 </a:t>
            </a:r>
            <a:r>
              <a:rPr lang="en-US" altLang="zh-CN" sz="1200">
                <a:solidFill>
                  <a:srgbClr val="38566F"/>
                </a:solidFill>
                <a:latin typeface="Microsoft YaHei" panose="020B0503020204020204" pitchFamily="34" charset="-122"/>
              </a:rPr>
              <a:t>x </a:t>
            </a:r>
            <a:r>
              <a:rPr lang="zh-CN" altLang="en-US" sz="1200">
                <a:solidFill>
                  <a:srgbClr val="38566F"/>
                </a:solidFill>
                <a:latin typeface="Microsoft YaHei" panose="020B0503020204020204" pitchFamily="34" charset="-122"/>
              </a:rPr>
              <a:t>在女生分布和男生分布中出现的可能性。</a:t>
            </a:r>
          </a:p>
        </p:txBody>
      </p:sp>
      <p:sp>
        <p:nvSpPr>
          <p:cNvPr id="15" name="矩形: 圆角 14">
            <a:extLst>
              <a:ext uri="{FF2B5EF4-FFF2-40B4-BE49-F238E27FC236}">
                <a16:creationId xmlns:a16="http://schemas.microsoft.com/office/drawing/2014/main" id="{05EC1BB3-7CE1-ACAC-574E-A4FC33863879}"/>
              </a:ext>
            </a:extLst>
          </p:cNvPr>
          <p:cNvSpPr/>
          <p:nvPr/>
        </p:nvSpPr>
        <p:spPr>
          <a:xfrm>
            <a:off x="4508500" y="1371600"/>
            <a:ext cx="3175000" cy="132080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6EE07986-7734-3396-EE98-4944532859DF}"/>
              </a:ext>
            </a:extLst>
          </p:cNvPr>
          <p:cNvSpPr/>
          <p:nvPr/>
        </p:nvSpPr>
        <p:spPr>
          <a:xfrm>
            <a:off x="4508500" y="1371600"/>
            <a:ext cx="76200" cy="1320800"/>
          </a:xfrm>
          <a:prstGeom prst="rect">
            <a:avLst/>
          </a:prstGeom>
          <a:solidFill>
            <a:srgbClr val="0A7FC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0F5D079E-0920-F002-A97C-8D5898126E6F}"/>
              </a:ext>
            </a:extLst>
          </p:cNvPr>
          <p:cNvSpPr txBox="1"/>
          <p:nvPr/>
        </p:nvSpPr>
        <p:spPr>
          <a:xfrm>
            <a:off x="4699000" y="1498600"/>
            <a:ext cx="2870200" cy="215444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1400" b="1">
                <a:solidFill>
                  <a:srgbClr val="0A2E4E"/>
                </a:solidFill>
                <a:latin typeface="Microsoft YaHei" panose="020B0503020204020204" pitchFamily="34" charset="-122"/>
              </a:rPr>
              <a:t>2. </a:t>
            </a:r>
            <a:r>
              <a:rPr lang="zh-CN" altLang="en-US" sz="1400" b="1">
                <a:solidFill>
                  <a:srgbClr val="0A2E4E"/>
                </a:solidFill>
                <a:latin typeface="Microsoft YaHei" panose="020B0503020204020204" pitchFamily="34" charset="-122"/>
              </a:rPr>
              <a:t>再考虑先验比例</a:t>
            </a: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096868E9-1531-BEE4-1764-818AB143BFBC}"/>
              </a:ext>
            </a:extLst>
          </p:cNvPr>
          <p:cNvSpPr txBox="1"/>
          <p:nvPr/>
        </p:nvSpPr>
        <p:spPr>
          <a:xfrm>
            <a:off x="4699000" y="1854200"/>
            <a:ext cx="2870200" cy="36933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200">
                <a:solidFill>
                  <a:srgbClr val="38566F"/>
                </a:solidFill>
                <a:latin typeface="Microsoft YaHei" panose="020B0503020204020204" pitchFamily="34" charset="-122"/>
              </a:rPr>
              <a:t>如果测试集中男生更多，</a:t>
            </a:r>
            <a:r>
              <a:rPr lang="en-US" altLang="zh-CN" sz="1200">
                <a:solidFill>
                  <a:srgbClr val="38566F"/>
                </a:solidFill>
                <a:latin typeface="Microsoft YaHei" panose="020B0503020204020204" pitchFamily="34" charset="-122"/>
              </a:rPr>
              <a:t>P(M) </a:t>
            </a:r>
            <a:r>
              <a:rPr lang="zh-CN" altLang="en-US" sz="1200">
                <a:solidFill>
                  <a:srgbClr val="38566F"/>
                </a:solidFill>
                <a:latin typeface="Microsoft YaHei" panose="020B0503020204020204" pitchFamily="34" charset="-122"/>
              </a:rPr>
              <a:t>更大；同样的 </a:t>
            </a:r>
            <a:r>
              <a:rPr lang="en-US" altLang="zh-CN" sz="1200">
                <a:solidFill>
                  <a:srgbClr val="38566F"/>
                </a:solidFill>
                <a:latin typeface="Microsoft YaHei" panose="020B0503020204020204" pitchFamily="34" charset="-122"/>
              </a:rPr>
              <a:t>x </a:t>
            </a:r>
            <a:r>
              <a:rPr lang="zh-CN" altLang="en-US" sz="1200">
                <a:solidFill>
                  <a:srgbClr val="38566F"/>
                </a:solidFill>
                <a:latin typeface="Microsoft YaHei" panose="020B0503020204020204" pitchFamily="34" charset="-122"/>
              </a:rPr>
              <a:t>可能更容易被判为男生。</a:t>
            </a:r>
          </a:p>
        </p:txBody>
      </p:sp>
      <p:sp>
        <p:nvSpPr>
          <p:cNvPr id="19" name="矩形: 圆角 18">
            <a:extLst>
              <a:ext uri="{FF2B5EF4-FFF2-40B4-BE49-F238E27FC236}">
                <a16:creationId xmlns:a16="http://schemas.microsoft.com/office/drawing/2014/main" id="{2DAB3B81-0891-5263-086B-DDC8CAC0C011}"/>
              </a:ext>
            </a:extLst>
          </p:cNvPr>
          <p:cNvSpPr/>
          <p:nvPr/>
        </p:nvSpPr>
        <p:spPr>
          <a:xfrm>
            <a:off x="8280400" y="1371600"/>
            <a:ext cx="2921000" cy="132080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1DC6F41F-8660-FAE3-B0E4-70F4FD940DB9}"/>
              </a:ext>
            </a:extLst>
          </p:cNvPr>
          <p:cNvSpPr/>
          <p:nvPr/>
        </p:nvSpPr>
        <p:spPr>
          <a:xfrm>
            <a:off x="8280400" y="1371600"/>
            <a:ext cx="76200" cy="1320800"/>
          </a:xfrm>
          <a:prstGeom prst="rect">
            <a:avLst/>
          </a:prstGeom>
          <a:solidFill>
            <a:srgbClr val="D4A84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B8286508-8B0C-49F4-ABB5-B1CEA0C17324}"/>
              </a:ext>
            </a:extLst>
          </p:cNvPr>
          <p:cNvSpPr txBox="1"/>
          <p:nvPr/>
        </p:nvSpPr>
        <p:spPr>
          <a:xfrm>
            <a:off x="8470900" y="1498600"/>
            <a:ext cx="2616200" cy="215444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1400" b="1">
                <a:solidFill>
                  <a:srgbClr val="0A2E4E"/>
                </a:solidFill>
                <a:latin typeface="Microsoft YaHei" panose="020B0503020204020204" pitchFamily="34" charset="-122"/>
              </a:rPr>
              <a:t>3. </a:t>
            </a:r>
            <a:r>
              <a:rPr lang="zh-CN" altLang="en-US" sz="1400" b="1">
                <a:solidFill>
                  <a:srgbClr val="0A2E4E"/>
                </a:solidFill>
                <a:latin typeface="Microsoft YaHei" panose="020B0503020204020204" pitchFamily="34" charset="-122"/>
              </a:rPr>
              <a:t>最后选择后验最大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01E0335E-2DF4-EF49-55E5-E01113A8BB56}"/>
              </a:ext>
            </a:extLst>
          </p:cNvPr>
          <p:cNvSpPr txBox="1"/>
          <p:nvPr/>
        </p:nvSpPr>
        <p:spPr>
          <a:xfrm>
            <a:off x="8470900" y="1854200"/>
            <a:ext cx="2616200" cy="36933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200">
                <a:solidFill>
                  <a:srgbClr val="38566F"/>
                </a:solidFill>
                <a:latin typeface="Microsoft YaHei" panose="020B0503020204020204" pitchFamily="34" charset="-122"/>
              </a:rPr>
              <a:t>后验概率综合了类条件密度和先验概率，是做类别决策的直接依据。</a:t>
            </a:r>
          </a:p>
        </p:txBody>
      </p:sp>
      <p:sp>
        <p:nvSpPr>
          <p:cNvPr id="23" name="矩形: 圆角 22">
            <a:extLst>
              <a:ext uri="{FF2B5EF4-FFF2-40B4-BE49-F238E27FC236}">
                <a16:creationId xmlns:a16="http://schemas.microsoft.com/office/drawing/2014/main" id="{BDA37844-2C33-936B-61E2-3219909CC6D7}"/>
              </a:ext>
            </a:extLst>
          </p:cNvPr>
          <p:cNvSpPr/>
          <p:nvPr/>
        </p:nvSpPr>
        <p:spPr>
          <a:xfrm>
            <a:off x="1041400" y="3327400"/>
            <a:ext cx="10109200" cy="863600"/>
          </a:xfrm>
          <a:prstGeom prst="roundRect">
            <a:avLst/>
          </a:prstGeom>
          <a:solidFill>
            <a:srgbClr val="E3F2FD"/>
          </a:solidFill>
          <a:ln w="8890">
            <a:solidFill>
              <a:srgbClr val="A7F3D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25" name="图片 24">
            <a:extLst>
              <a:ext uri="{FF2B5EF4-FFF2-40B4-BE49-F238E27FC236}">
                <a16:creationId xmlns:a16="http://schemas.microsoft.com/office/drawing/2014/main" id="{B88952CF-74BB-C2B7-07E1-FE7616A9A22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27458" y="3519720"/>
            <a:ext cx="2537084" cy="478960"/>
          </a:xfrm>
          <a:prstGeom prst="rect">
            <a:avLst/>
          </a:prstGeom>
        </p:spPr>
      </p:pic>
      <p:sp>
        <p:nvSpPr>
          <p:cNvPr id="26" name="文本框 25">
            <a:extLst>
              <a:ext uri="{FF2B5EF4-FFF2-40B4-BE49-F238E27FC236}">
                <a16:creationId xmlns:a16="http://schemas.microsoft.com/office/drawing/2014/main" id="{1E7D9B3B-7425-20EB-F649-759E0487E8E3}"/>
              </a:ext>
            </a:extLst>
          </p:cNvPr>
          <p:cNvSpPr txBox="1"/>
          <p:nvPr/>
        </p:nvSpPr>
        <p:spPr>
          <a:xfrm>
            <a:off x="1143000" y="4826000"/>
            <a:ext cx="9779000" cy="779701"/>
          </a:xfrm>
          <a:prstGeom prst="rect">
            <a:avLst/>
          </a:prstGeom>
          <a:noFill/>
        </p:spPr>
        <p:txBody>
          <a:bodyPr vert="horz" lIns="101600" tIns="25400" rIns="25400" bIns="25400" rtlCol="0">
            <a:spAutoFit/>
          </a:bodyPr>
          <a:lstStyle/>
          <a:p>
            <a:pPr marL="342900" indent="-342900">
              <a:spcAft>
                <a:spcPts val="500"/>
              </a:spcAft>
              <a:buFont typeface="+mj-lt"/>
              <a:buAutoNum type="arabicPeriod"/>
            </a:pPr>
            <a:r>
              <a:rPr lang="zh-CN" altLang="en-US" sz="1300">
                <a:solidFill>
                  <a:srgbClr val="38566F"/>
                </a:solidFill>
                <a:latin typeface="Microsoft YaHei" panose="020B0503020204020204" pitchFamily="34" charset="-122"/>
              </a:rPr>
              <a:t>类条件密度：某一类别内部的特征分布，例如女生身高体重大多集中在哪里。</a:t>
            </a:r>
          </a:p>
          <a:p>
            <a:pPr marL="342900" indent="-342900">
              <a:spcAft>
                <a:spcPts val="500"/>
              </a:spcAft>
              <a:buFont typeface="+mj-lt"/>
              <a:buAutoNum type="arabicPeriod"/>
            </a:pPr>
            <a:r>
              <a:rPr lang="zh-CN" altLang="en-US" sz="1300">
                <a:solidFill>
                  <a:srgbClr val="38566F"/>
                </a:solidFill>
                <a:latin typeface="Microsoft YaHei" panose="020B0503020204020204" pitchFamily="34" charset="-122"/>
              </a:rPr>
              <a:t>先验概率：在看到特征之前，某一类本来出现的概率。</a:t>
            </a:r>
          </a:p>
          <a:p>
            <a:pPr marL="342900" indent="-342900">
              <a:spcAft>
                <a:spcPts val="500"/>
              </a:spcAft>
              <a:buFont typeface="+mj-lt"/>
              <a:buAutoNum type="arabicPeriod"/>
            </a:pPr>
            <a:r>
              <a:rPr lang="zh-CN" altLang="en-US" sz="1300">
                <a:solidFill>
                  <a:srgbClr val="38566F"/>
                </a:solidFill>
                <a:latin typeface="Microsoft YaHei" panose="020B0503020204020204" pitchFamily="34" charset="-122"/>
              </a:rPr>
              <a:t>两类比较时，归一化项相同，实际只需要比较：密度乘以先验。</a:t>
            </a:r>
          </a:p>
        </p:txBody>
      </p:sp>
    </p:spTree>
    <p:extLst>
      <p:ext uri="{BB962C8B-B14F-4D97-AF65-F5344CB8AC3E}">
        <p14:creationId xmlns:p14="http://schemas.microsoft.com/office/powerpoint/2010/main" val="122396697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BC610631-8CCA-3700-1912-EE33403A9ADB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C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F309F7D2-97DB-DC1E-2E81-C18826CB2245}"/>
              </a:ext>
            </a:extLst>
          </p:cNvPr>
          <p:cNvSpPr/>
          <p:nvPr/>
        </p:nvSpPr>
        <p:spPr>
          <a:xfrm>
            <a:off x="0" y="0"/>
            <a:ext cx="12192000" cy="1016000"/>
          </a:xfrm>
          <a:prstGeom prst="rect">
            <a:avLst/>
          </a:prstGeom>
          <a:solidFill>
            <a:srgbClr val="006BB7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平行四边形 3">
            <a:extLst>
              <a:ext uri="{FF2B5EF4-FFF2-40B4-BE49-F238E27FC236}">
                <a16:creationId xmlns:a16="http://schemas.microsoft.com/office/drawing/2014/main" id="{A60A7F45-C96C-1615-1B2F-960B3C3DF581}"/>
              </a:ext>
            </a:extLst>
          </p:cNvPr>
          <p:cNvSpPr/>
          <p:nvPr/>
        </p:nvSpPr>
        <p:spPr>
          <a:xfrm>
            <a:off x="8953500" y="-228600"/>
            <a:ext cx="3581400" cy="1346200"/>
          </a:xfrm>
          <a:prstGeom prst="parallelogram">
            <a:avLst>
              <a:gd name="adj" fmla="val 20000"/>
            </a:avLst>
          </a:prstGeom>
          <a:solidFill>
            <a:srgbClr val="3A9BD9">
              <a:alpha val="85000"/>
            </a:srgbClr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平行四边形 4">
            <a:extLst>
              <a:ext uri="{FF2B5EF4-FFF2-40B4-BE49-F238E27FC236}">
                <a16:creationId xmlns:a16="http://schemas.microsoft.com/office/drawing/2014/main" id="{F7E5099B-4626-5FE7-01AD-F55C6048B804}"/>
              </a:ext>
            </a:extLst>
          </p:cNvPr>
          <p:cNvSpPr/>
          <p:nvPr/>
        </p:nvSpPr>
        <p:spPr>
          <a:xfrm>
            <a:off x="-508000" y="6324600"/>
            <a:ext cx="5969000" cy="660400"/>
          </a:xfrm>
          <a:prstGeom prst="parallelogram">
            <a:avLst>
              <a:gd name="adj" fmla="val 20000"/>
            </a:avLst>
          </a:prstGeom>
          <a:solidFill>
            <a:srgbClr val="DDF0F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9CE2D901-EB1F-AE0E-F596-39784A747E25}"/>
              </a:ext>
            </a:extLst>
          </p:cNvPr>
          <p:cNvSpPr txBox="1"/>
          <p:nvPr/>
        </p:nvSpPr>
        <p:spPr>
          <a:xfrm>
            <a:off x="736600" y="254000"/>
            <a:ext cx="4953000" cy="10772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700" b="1">
                <a:solidFill>
                  <a:srgbClr val="CDEBFF"/>
                </a:solidFill>
                <a:latin typeface="Microsoft YaHei" panose="020B0503020204020204" pitchFamily="34" charset="-122"/>
              </a:rPr>
              <a:t>DISCRIMINANT FUNCTION</a:t>
            </a:r>
            <a:endParaRPr lang="zh-CN" altLang="en-US" sz="700" b="1">
              <a:solidFill>
                <a:srgbClr val="CDEBFF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E0393ACF-48B0-D50F-EBD7-498464BAEB9E}"/>
              </a:ext>
            </a:extLst>
          </p:cNvPr>
          <p:cNvSpPr txBox="1"/>
          <p:nvPr/>
        </p:nvSpPr>
        <p:spPr>
          <a:xfrm>
            <a:off x="736600" y="533400"/>
            <a:ext cx="8509000" cy="41549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2700" b="1">
                <a:solidFill>
                  <a:srgbClr val="FFFFFF"/>
                </a:solidFill>
                <a:latin typeface="Microsoft YaHei" panose="020B0503020204020204" pitchFamily="34" charset="-122"/>
              </a:rPr>
              <a:t>实验一理论展开：为什么会出现曲线决策边界</a:t>
            </a:r>
          </a:p>
        </p:txBody>
      </p:sp>
      <p:cxnSp>
        <p:nvCxnSpPr>
          <p:cNvPr id="8" name="直接连接符 7">
            <a:extLst>
              <a:ext uri="{FF2B5EF4-FFF2-40B4-BE49-F238E27FC236}">
                <a16:creationId xmlns:a16="http://schemas.microsoft.com/office/drawing/2014/main" id="{4FAA6BCD-597E-853A-370F-E226A76A69DC}"/>
              </a:ext>
            </a:extLst>
          </p:cNvPr>
          <p:cNvCxnSpPr/>
          <p:nvPr/>
        </p:nvCxnSpPr>
        <p:spPr>
          <a:xfrm>
            <a:off x="736600" y="1295400"/>
            <a:ext cx="1168400" cy="0"/>
          </a:xfrm>
          <a:prstGeom prst="line">
            <a:avLst/>
          </a:prstGeom>
          <a:ln w="38100">
            <a:solidFill>
              <a:srgbClr val="D4A84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文本框 8">
            <a:extLst>
              <a:ext uri="{FF2B5EF4-FFF2-40B4-BE49-F238E27FC236}">
                <a16:creationId xmlns:a16="http://schemas.microsoft.com/office/drawing/2014/main" id="{6FDDFED7-E3D1-6D5C-138E-D42964809C69}"/>
              </a:ext>
            </a:extLst>
          </p:cNvPr>
          <p:cNvSpPr txBox="1"/>
          <p:nvPr/>
        </p:nvSpPr>
        <p:spPr>
          <a:xfrm>
            <a:off x="533400" y="6527800"/>
            <a:ext cx="3937000" cy="10772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700">
                <a:solidFill>
                  <a:srgbClr val="8FA8BA"/>
                </a:solidFill>
                <a:latin typeface="Microsoft YaHei" panose="020B0503020204020204" pitchFamily="34" charset="-122"/>
              </a:rPr>
              <a:t>模式识别课程实验汇报 </a:t>
            </a:r>
            <a:r>
              <a:rPr lang="en-US" altLang="zh-CN" sz="700">
                <a:solidFill>
                  <a:srgbClr val="8FA8BA"/>
                </a:solidFill>
                <a:latin typeface="Microsoft YaHei" panose="020B0503020204020204" pitchFamily="34" charset="-122"/>
              </a:rPr>
              <a:t>· </a:t>
            </a:r>
            <a:r>
              <a:rPr lang="zh-CN" altLang="en-US" sz="700">
                <a:solidFill>
                  <a:srgbClr val="8FA8BA"/>
                </a:solidFill>
                <a:latin typeface="Microsoft YaHei" panose="020B0503020204020204" pitchFamily="34" charset="-122"/>
              </a:rPr>
              <a:t>蓝白科研汇报模板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6723A31E-1485-4535-0B4E-B1ED072F6B34}"/>
              </a:ext>
            </a:extLst>
          </p:cNvPr>
          <p:cNvSpPr txBox="1"/>
          <p:nvPr/>
        </p:nvSpPr>
        <p:spPr>
          <a:xfrm>
            <a:off x="11366500" y="6477000"/>
            <a:ext cx="355600" cy="10772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r"/>
            <a:r>
              <a:rPr lang="en-US" altLang="zh-CN" sz="700" b="1">
                <a:solidFill>
                  <a:srgbClr val="006BB7"/>
                </a:solidFill>
                <a:latin typeface="Microsoft YaHei" panose="020B0503020204020204" pitchFamily="34" charset="-122"/>
              </a:rPr>
              <a:t>05</a:t>
            </a:r>
            <a:endParaRPr lang="zh-CN" altLang="en-US" sz="700" b="1">
              <a:solidFill>
                <a:srgbClr val="006BB7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DBF57E92-BE4F-C11A-9D00-ECDEF7CE5BE9}"/>
              </a:ext>
            </a:extLst>
          </p:cNvPr>
          <p:cNvSpPr/>
          <p:nvPr/>
        </p:nvSpPr>
        <p:spPr>
          <a:xfrm>
            <a:off x="863600" y="1498600"/>
            <a:ext cx="3175000" cy="124460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09FD4C73-7362-8DD7-5698-73FC01FED159}"/>
              </a:ext>
            </a:extLst>
          </p:cNvPr>
          <p:cNvSpPr/>
          <p:nvPr/>
        </p:nvSpPr>
        <p:spPr>
          <a:xfrm>
            <a:off x="863600" y="1498600"/>
            <a:ext cx="76200" cy="1244600"/>
          </a:xfrm>
          <a:prstGeom prst="rect">
            <a:avLst/>
          </a:prstGeom>
          <a:solidFill>
            <a:srgbClr val="006BB7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249E0B03-A9D3-BB3D-5E0C-CDC2273FED0C}"/>
              </a:ext>
            </a:extLst>
          </p:cNvPr>
          <p:cNvSpPr txBox="1"/>
          <p:nvPr/>
        </p:nvSpPr>
        <p:spPr>
          <a:xfrm>
            <a:off x="1054100" y="1625600"/>
            <a:ext cx="2870200" cy="215444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400" b="1">
                <a:solidFill>
                  <a:srgbClr val="0A2E4E"/>
                </a:solidFill>
                <a:latin typeface="Microsoft YaHei" panose="020B0503020204020204" pitchFamily="34" charset="-122"/>
              </a:rPr>
              <a:t>一维特征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D1FE138D-DAA0-4B68-BD06-39C8335B16F7}"/>
              </a:ext>
            </a:extLst>
          </p:cNvPr>
          <p:cNvSpPr txBox="1"/>
          <p:nvPr/>
        </p:nvSpPr>
        <p:spPr>
          <a:xfrm>
            <a:off x="1054100" y="1981200"/>
            <a:ext cx="2870200" cy="55399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200">
                <a:solidFill>
                  <a:srgbClr val="38566F"/>
                </a:solidFill>
                <a:latin typeface="Microsoft YaHei" panose="020B0503020204020204" pitchFamily="34" charset="-122"/>
              </a:rPr>
              <a:t>只用身高或体重时，每个类别是一条正态曲线。两条曲线加上先验后，交点就是阈值。</a:t>
            </a:r>
          </a:p>
        </p:txBody>
      </p:sp>
      <p:sp>
        <p:nvSpPr>
          <p:cNvPr id="15" name="矩形: 圆角 14">
            <a:extLst>
              <a:ext uri="{FF2B5EF4-FFF2-40B4-BE49-F238E27FC236}">
                <a16:creationId xmlns:a16="http://schemas.microsoft.com/office/drawing/2014/main" id="{8EBAD0C2-2888-C61C-4959-FB8156CF6927}"/>
              </a:ext>
            </a:extLst>
          </p:cNvPr>
          <p:cNvSpPr/>
          <p:nvPr/>
        </p:nvSpPr>
        <p:spPr>
          <a:xfrm>
            <a:off x="4508500" y="1498600"/>
            <a:ext cx="3175000" cy="124460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BE963398-9C1F-86E2-3873-FEE241B56916}"/>
              </a:ext>
            </a:extLst>
          </p:cNvPr>
          <p:cNvSpPr/>
          <p:nvPr/>
        </p:nvSpPr>
        <p:spPr>
          <a:xfrm>
            <a:off x="4508500" y="1498600"/>
            <a:ext cx="76200" cy="1244600"/>
          </a:xfrm>
          <a:prstGeom prst="rect">
            <a:avLst/>
          </a:prstGeom>
          <a:solidFill>
            <a:srgbClr val="0A7FC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2822607-8E95-CC48-409E-C00A5567CF3A}"/>
              </a:ext>
            </a:extLst>
          </p:cNvPr>
          <p:cNvSpPr txBox="1"/>
          <p:nvPr/>
        </p:nvSpPr>
        <p:spPr>
          <a:xfrm>
            <a:off x="4699000" y="1625600"/>
            <a:ext cx="2870200" cy="215444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400" b="1">
                <a:solidFill>
                  <a:srgbClr val="0A2E4E"/>
                </a:solidFill>
                <a:latin typeface="Microsoft YaHei" panose="020B0503020204020204" pitchFamily="34" charset="-122"/>
              </a:rPr>
              <a:t>二维特征</a:t>
            </a: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1E904AA3-FE97-FAA7-75F4-2D136228C61E}"/>
              </a:ext>
            </a:extLst>
          </p:cNvPr>
          <p:cNvSpPr txBox="1"/>
          <p:nvPr/>
        </p:nvSpPr>
        <p:spPr>
          <a:xfrm>
            <a:off x="4699000" y="1981200"/>
            <a:ext cx="2870200" cy="36933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200">
                <a:solidFill>
                  <a:srgbClr val="38566F"/>
                </a:solidFill>
                <a:latin typeface="Microsoft YaHei" panose="020B0503020204020204" pitchFamily="34" charset="-122"/>
              </a:rPr>
              <a:t>同时使用身高和体重时，每个类别是二维高斯分布，等概率位置形成决策边界。</a:t>
            </a:r>
          </a:p>
        </p:txBody>
      </p:sp>
      <p:sp>
        <p:nvSpPr>
          <p:cNvPr id="19" name="矩形: 圆角 18">
            <a:extLst>
              <a:ext uri="{FF2B5EF4-FFF2-40B4-BE49-F238E27FC236}">
                <a16:creationId xmlns:a16="http://schemas.microsoft.com/office/drawing/2014/main" id="{1C448503-9B0C-43B4-B8AE-4EE220FDD44A}"/>
              </a:ext>
            </a:extLst>
          </p:cNvPr>
          <p:cNvSpPr/>
          <p:nvPr/>
        </p:nvSpPr>
        <p:spPr>
          <a:xfrm>
            <a:off x="8153400" y="1498600"/>
            <a:ext cx="3022600" cy="124460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5A722B4B-5D5D-A818-ABE2-C44C9382D0D8}"/>
              </a:ext>
            </a:extLst>
          </p:cNvPr>
          <p:cNvSpPr/>
          <p:nvPr/>
        </p:nvSpPr>
        <p:spPr>
          <a:xfrm>
            <a:off x="8153400" y="1498600"/>
            <a:ext cx="76200" cy="1244600"/>
          </a:xfrm>
          <a:prstGeom prst="rect">
            <a:avLst/>
          </a:prstGeom>
          <a:solidFill>
            <a:srgbClr val="D4A84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FBCFFB2F-E095-22BF-FA29-9A4D7E427CDD}"/>
              </a:ext>
            </a:extLst>
          </p:cNvPr>
          <p:cNvSpPr txBox="1"/>
          <p:nvPr/>
        </p:nvSpPr>
        <p:spPr>
          <a:xfrm>
            <a:off x="8343900" y="1625600"/>
            <a:ext cx="2717800" cy="215444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400" b="1">
                <a:solidFill>
                  <a:srgbClr val="0A2E4E"/>
                </a:solidFill>
                <a:latin typeface="Microsoft YaHei" panose="020B0503020204020204" pitchFamily="34" charset="-122"/>
              </a:rPr>
              <a:t>协方差的作用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374BF70A-48D5-26D6-900C-AA98C1710E12}"/>
              </a:ext>
            </a:extLst>
          </p:cNvPr>
          <p:cNvSpPr txBox="1"/>
          <p:nvPr/>
        </p:nvSpPr>
        <p:spPr>
          <a:xfrm>
            <a:off x="8343900" y="1981200"/>
            <a:ext cx="2717800" cy="55399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200">
                <a:solidFill>
                  <a:srgbClr val="38566F"/>
                </a:solidFill>
                <a:latin typeface="Microsoft YaHei" panose="020B0503020204020204" pitchFamily="34" charset="-122"/>
              </a:rPr>
              <a:t>完整协方差会描述身高和体重的相关性，因此边界可以弯曲；对角协方差会更简化。</a:t>
            </a:r>
          </a:p>
        </p:txBody>
      </p:sp>
      <p:sp>
        <p:nvSpPr>
          <p:cNvPr id="23" name="矩形: 圆角 22">
            <a:extLst>
              <a:ext uri="{FF2B5EF4-FFF2-40B4-BE49-F238E27FC236}">
                <a16:creationId xmlns:a16="http://schemas.microsoft.com/office/drawing/2014/main" id="{324B8A64-3FCD-71F5-CC63-1A3D5E300472}"/>
              </a:ext>
            </a:extLst>
          </p:cNvPr>
          <p:cNvSpPr/>
          <p:nvPr/>
        </p:nvSpPr>
        <p:spPr>
          <a:xfrm>
            <a:off x="1016000" y="3479800"/>
            <a:ext cx="10160000" cy="889000"/>
          </a:xfrm>
          <a:prstGeom prst="roundRect">
            <a:avLst/>
          </a:prstGeom>
          <a:solidFill>
            <a:srgbClr val="EFF6FF"/>
          </a:solidFill>
          <a:ln w="8890">
            <a:solidFill>
              <a:srgbClr val="BFDBF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25" name="图片 24">
            <a:extLst>
              <a:ext uri="{FF2B5EF4-FFF2-40B4-BE49-F238E27FC236}">
                <a16:creationId xmlns:a16="http://schemas.microsoft.com/office/drawing/2014/main" id="{21CD049C-12F0-A235-D38E-53D5154AB82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3626" y="3527823"/>
            <a:ext cx="11584749" cy="792955"/>
          </a:xfrm>
          <a:prstGeom prst="rect">
            <a:avLst/>
          </a:prstGeom>
        </p:spPr>
      </p:pic>
      <p:sp>
        <p:nvSpPr>
          <p:cNvPr id="26" name="文本框 25">
            <a:extLst>
              <a:ext uri="{FF2B5EF4-FFF2-40B4-BE49-F238E27FC236}">
                <a16:creationId xmlns:a16="http://schemas.microsoft.com/office/drawing/2014/main" id="{BD6101B9-EC1D-71FA-C99B-B29B883B0831}"/>
              </a:ext>
            </a:extLst>
          </p:cNvPr>
          <p:cNvSpPr txBox="1"/>
          <p:nvPr/>
        </p:nvSpPr>
        <p:spPr>
          <a:xfrm>
            <a:off x="1117600" y="4902200"/>
            <a:ext cx="9779000" cy="779701"/>
          </a:xfrm>
          <a:prstGeom prst="rect">
            <a:avLst/>
          </a:prstGeom>
          <a:noFill/>
        </p:spPr>
        <p:txBody>
          <a:bodyPr vert="horz" lIns="101600" tIns="25400" rIns="25400" bIns="25400" rtlCol="0">
            <a:spAutoFit/>
          </a:bodyPr>
          <a:lstStyle/>
          <a:p>
            <a:pPr marL="342900" indent="-342900">
              <a:spcAft>
                <a:spcPts val="500"/>
              </a:spcAft>
              <a:buFont typeface="+mj-lt"/>
              <a:buAutoNum type="arabicPeriod"/>
            </a:pPr>
            <a:r>
              <a:rPr lang="zh-CN" altLang="en-US" sz="1300">
                <a:solidFill>
                  <a:srgbClr val="38566F"/>
                </a:solidFill>
                <a:latin typeface="Microsoft YaHei" panose="020B0503020204020204" pitchFamily="34" charset="-122"/>
              </a:rPr>
              <a:t>决策边界本质上是两类判别函数相等的位置。</a:t>
            </a:r>
          </a:p>
          <a:p>
            <a:pPr marL="342900" indent="-342900">
              <a:spcAft>
                <a:spcPts val="500"/>
              </a:spcAft>
              <a:buFont typeface="+mj-lt"/>
              <a:buAutoNum type="arabicPeriod"/>
            </a:pPr>
            <a:r>
              <a:rPr lang="zh-CN" altLang="en-US" sz="1300">
                <a:solidFill>
                  <a:srgbClr val="38566F"/>
                </a:solidFill>
                <a:latin typeface="Microsoft YaHei" panose="020B0503020204020204" pitchFamily="34" charset="-122"/>
              </a:rPr>
              <a:t>边界附近的样本最容易被错分，因为它们同时像两个类别。</a:t>
            </a:r>
          </a:p>
          <a:p>
            <a:pPr marL="342900" indent="-342900">
              <a:spcAft>
                <a:spcPts val="500"/>
              </a:spcAft>
              <a:buFont typeface="+mj-lt"/>
              <a:buAutoNum type="arabicPeriod"/>
            </a:pPr>
            <a:r>
              <a:rPr lang="zh-CN" altLang="en-US" sz="1300">
                <a:solidFill>
                  <a:srgbClr val="38566F"/>
                </a:solidFill>
                <a:latin typeface="Microsoft YaHei" panose="020B0503020204020204" pitchFamily="34" charset="-122"/>
              </a:rPr>
              <a:t>本实验 </a:t>
            </a:r>
            <a:r>
              <a:rPr lang="en-US" altLang="zh-CN" sz="1300">
                <a:solidFill>
                  <a:srgbClr val="38566F"/>
                </a:solidFill>
                <a:latin typeface="Microsoft YaHei" panose="020B0503020204020204" pitchFamily="34" charset="-122"/>
              </a:rPr>
              <a:t>test2 </a:t>
            </a:r>
            <a:r>
              <a:rPr lang="zh-CN" altLang="en-US" sz="1300">
                <a:solidFill>
                  <a:srgbClr val="38566F"/>
                </a:solidFill>
                <a:latin typeface="Microsoft YaHei" panose="020B0503020204020204" pitchFamily="34" charset="-122"/>
              </a:rPr>
              <a:t>中男生样本更多，先验设置会明显影响边界向哪一侧移动。</a:t>
            </a:r>
          </a:p>
        </p:txBody>
      </p:sp>
    </p:spTree>
    <p:extLst>
      <p:ext uri="{BB962C8B-B14F-4D97-AF65-F5344CB8AC3E}">
        <p14:creationId xmlns:p14="http://schemas.microsoft.com/office/powerpoint/2010/main" val="263394353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69178842-371D-87EE-5608-CACBD69DB76D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C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91DEA3E6-E731-573A-180F-75B1C9BF26A2}"/>
              </a:ext>
            </a:extLst>
          </p:cNvPr>
          <p:cNvSpPr/>
          <p:nvPr/>
        </p:nvSpPr>
        <p:spPr>
          <a:xfrm>
            <a:off x="0" y="0"/>
            <a:ext cx="12192000" cy="1016000"/>
          </a:xfrm>
          <a:prstGeom prst="rect">
            <a:avLst/>
          </a:prstGeom>
          <a:solidFill>
            <a:srgbClr val="006BB7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平行四边形 3">
            <a:extLst>
              <a:ext uri="{FF2B5EF4-FFF2-40B4-BE49-F238E27FC236}">
                <a16:creationId xmlns:a16="http://schemas.microsoft.com/office/drawing/2014/main" id="{B6F303C9-44D3-DB13-8898-93BF296645F3}"/>
              </a:ext>
            </a:extLst>
          </p:cNvPr>
          <p:cNvSpPr/>
          <p:nvPr/>
        </p:nvSpPr>
        <p:spPr>
          <a:xfrm>
            <a:off x="8953500" y="-228600"/>
            <a:ext cx="3581400" cy="1346200"/>
          </a:xfrm>
          <a:prstGeom prst="parallelogram">
            <a:avLst>
              <a:gd name="adj" fmla="val 20000"/>
            </a:avLst>
          </a:prstGeom>
          <a:solidFill>
            <a:srgbClr val="3A9BD9">
              <a:alpha val="85000"/>
            </a:srgbClr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平行四边形 4">
            <a:extLst>
              <a:ext uri="{FF2B5EF4-FFF2-40B4-BE49-F238E27FC236}">
                <a16:creationId xmlns:a16="http://schemas.microsoft.com/office/drawing/2014/main" id="{4F0582C1-889A-3067-14B9-21594D8283EB}"/>
              </a:ext>
            </a:extLst>
          </p:cNvPr>
          <p:cNvSpPr/>
          <p:nvPr/>
        </p:nvSpPr>
        <p:spPr>
          <a:xfrm>
            <a:off x="-508000" y="6324600"/>
            <a:ext cx="5969000" cy="660400"/>
          </a:xfrm>
          <a:prstGeom prst="parallelogram">
            <a:avLst>
              <a:gd name="adj" fmla="val 20000"/>
            </a:avLst>
          </a:prstGeom>
          <a:solidFill>
            <a:srgbClr val="DDF0F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3E011C4A-F261-E1A1-881D-D215216C1FC1}"/>
              </a:ext>
            </a:extLst>
          </p:cNvPr>
          <p:cNvSpPr txBox="1"/>
          <p:nvPr/>
        </p:nvSpPr>
        <p:spPr>
          <a:xfrm>
            <a:off x="736600" y="254000"/>
            <a:ext cx="4953000" cy="10772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700" b="1">
                <a:solidFill>
                  <a:srgbClr val="CDEBFF"/>
                </a:solidFill>
                <a:latin typeface="Microsoft YaHei" panose="020B0503020204020204" pitchFamily="34" charset="-122"/>
              </a:rPr>
              <a:t>EXPERIMENT DESIGN</a:t>
            </a:r>
            <a:endParaRPr lang="zh-CN" altLang="en-US" sz="700" b="1">
              <a:solidFill>
                <a:srgbClr val="CDEBFF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2BF6FF19-689C-DE2F-B1BB-54DECA44788F}"/>
              </a:ext>
            </a:extLst>
          </p:cNvPr>
          <p:cNvSpPr txBox="1"/>
          <p:nvPr/>
        </p:nvSpPr>
        <p:spPr>
          <a:xfrm>
            <a:off x="736600" y="533400"/>
            <a:ext cx="8509000" cy="41549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2700" b="1">
                <a:solidFill>
                  <a:srgbClr val="FFFFFF"/>
                </a:solidFill>
                <a:latin typeface="Microsoft YaHei" panose="020B0503020204020204" pitchFamily="34" charset="-122"/>
              </a:rPr>
              <a:t>实验一设置：数据、特征与实现流程</a:t>
            </a:r>
          </a:p>
        </p:txBody>
      </p:sp>
      <p:cxnSp>
        <p:nvCxnSpPr>
          <p:cNvPr id="8" name="直接连接符 7">
            <a:extLst>
              <a:ext uri="{FF2B5EF4-FFF2-40B4-BE49-F238E27FC236}">
                <a16:creationId xmlns:a16="http://schemas.microsoft.com/office/drawing/2014/main" id="{C3468F34-355D-580B-CE9A-2CB2266D7FFE}"/>
              </a:ext>
            </a:extLst>
          </p:cNvPr>
          <p:cNvCxnSpPr/>
          <p:nvPr/>
        </p:nvCxnSpPr>
        <p:spPr>
          <a:xfrm>
            <a:off x="736600" y="1295400"/>
            <a:ext cx="1168400" cy="0"/>
          </a:xfrm>
          <a:prstGeom prst="line">
            <a:avLst/>
          </a:prstGeom>
          <a:ln w="38100">
            <a:solidFill>
              <a:srgbClr val="D4A84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文本框 8">
            <a:extLst>
              <a:ext uri="{FF2B5EF4-FFF2-40B4-BE49-F238E27FC236}">
                <a16:creationId xmlns:a16="http://schemas.microsoft.com/office/drawing/2014/main" id="{C9B7491A-F6BA-5375-0184-3F08FD020F16}"/>
              </a:ext>
            </a:extLst>
          </p:cNvPr>
          <p:cNvSpPr txBox="1"/>
          <p:nvPr/>
        </p:nvSpPr>
        <p:spPr>
          <a:xfrm>
            <a:off x="533400" y="6527800"/>
            <a:ext cx="3937000" cy="10772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700">
                <a:solidFill>
                  <a:srgbClr val="8FA8BA"/>
                </a:solidFill>
                <a:latin typeface="Microsoft YaHei" panose="020B0503020204020204" pitchFamily="34" charset="-122"/>
              </a:rPr>
              <a:t>模式识别课程实验汇报 </a:t>
            </a:r>
            <a:r>
              <a:rPr lang="en-US" altLang="zh-CN" sz="700">
                <a:solidFill>
                  <a:srgbClr val="8FA8BA"/>
                </a:solidFill>
                <a:latin typeface="Microsoft YaHei" panose="020B0503020204020204" pitchFamily="34" charset="-122"/>
              </a:rPr>
              <a:t>· </a:t>
            </a:r>
            <a:r>
              <a:rPr lang="zh-CN" altLang="en-US" sz="700">
                <a:solidFill>
                  <a:srgbClr val="8FA8BA"/>
                </a:solidFill>
                <a:latin typeface="Microsoft YaHei" panose="020B0503020204020204" pitchFamily="34" charset="-122"/>
              </a:rPr>
              <a:t>蓝白科研汇报模板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2295EE71-AA81-F1EE-4E7C-5F363C7E1947}"/>
              </a:ext>
            </a:extLst>
          </p:cNvPr>
          <p:cNvSpPr txBox="1"/>
          <p:nvPr/>
        </p:nvSpPr>
        <p:spPr>
          <a:xfrm>
            <a:off x="11366500" y="6477000"/>
            <a:ext cx="355600" cy="10772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r"/>
            <a:r>
              <a:rPr lang="en-US" altLang="zh-CN" sz="700" b="1">
                <a:solidFill>
                  <a:srgbClr val="006BB7"/>
                </a:solidFill>
                <a:latin typeface="Microsoft YaHei" panose="020B0503020204020204" pitchFamily="34" charset="-122"/>
              </a:rPr>
              <a:t>06</a:t>
            </a:r>
            <a:endParaRPr lang="zh-CN" altLang="en-US" sz="700" b="1">
              <a:solidFill>
                <a:srgbClr val="006BB7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1" name="椭圆 10">
            <a:extLst>
              <a:ext uri="{FF2B5EF4-FFF2-40B4-BE49-F238E27FC236}">
                <a16:creationId xmlns:a16="http://schemas.microsoft.com/office/drawing/2014/main" id="{6721742E-ED8F-CCEF-E5D4-3E4DA0FDBD50}"/>
              </a:ext>
            </a:extLst>
          </p:cNvPr>
          <p:cNvSpPr/>
          <p:nvPr/>
        </p:nvSpPr>
        <p:spPr>
          <a:xfrm>
            <a:off x="889000" y="1498600"/>
            <a:ext cx="381000" cy="381000"/>
          </a:xfrm>
          <a:prstGeom prst="ellipse">
            <a:avLst/>
          </a:prstGeom>
          <a:solidFill>
            <a:srgbClr val="006BB7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C8051775-A0F6-4C8D-FEFD-0F7AED41699C}"/>
              </a:ext>
            </a:extLst>
          </p:cNvPr>
          <p:cNvSpPr txBox="1"/>
          <p:nvPr/>
        </p:nvSpPr>
        <p:spPr>
          <a:xfrm>
            <a:off x="901700" y="1574800"/>
            <a:ext cx="355600" cy="184666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ctr"/>
            <a:r>
              <a:rPr lang="en-US" altLang="zh-CN" sz="1200" b="1">
                <a:solidFill>
                  <a:srgbClr val="FFFFFF"/>
                </a:solidFill>
                <a:latin typeface="Microsoft YaHei" panose="020B0503020204020204" pitchFamily="34" charset="-122"/>
              </a:rPr>
              <a:t>1</a:t>
            </a:r>
            <a:endParaRPr lang="zh-CN" altLang="en-US" sz="1200" b="1">
              <a:solidFill>
                <a:srgbClr val="FFFFFF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D95DD48E-2C85-ABA8-B3B3-391A57092EAA}"/>
              </a:ext>
            </a:extLst>
          </p:cNvPr>
          <p:cNvSpPr txBox="1"/>
          <p:nvPr/>
        </p:nvSpPr>
        <p:spPr>
          <a:xfrm>
            <a:off x="1422400" y="1460500"/>
            <a:ext cx="3556000" cy="215444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400" b="1">
                <a:solidFill>
                  <a:srgbClr val="0A2E4E"/>
                </a:solidFill>
                <a:latin typeface="Microsoft YaHei" panose="020B0503020204020204" pitchFamily="34" charset="-122"/>
              </a:rPr>
              <a:t>读取数据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0EB8C6F0-266A-D2F3-1B2E-3B8F1D1D52A8}"/>
              </a:ext>
            </a:extLst>
          </p:cNvPr>
          <p:cNvSpPr txBox="1"/>
          <p:nvPr/>
        </p:nvSpPr>
        <p:spPr>
          <a:xfrm>
            <a:off x="1422400" y="1778000"/>
            <a:ext cx="3619500" cy="184666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1200">
                <a:solidFill>
                  <a:srgbClr val="38566F"/>
                </a:solidFill>
                <a:latin typeface="Microsoft YaHei" panose="020B0503020204020204" pitchFamily="34" charset="-122"/>
              </a:rPr>
              <a:t>FEMALE/MALE </a:t>
            </a:r>
            <a:r>
              <a:rPr lang="zh-CN" altLang="en-US" sz="1200">
                <a:solidFill>
                  <a:srgbClr val="38566F"/>
                </a:solidFill>
                <a:latin typeface="Microsoft YaHei" panose="020B0503020204020204" pitchFamily="34" charset="-122"/>
              </a:rPr>
              <a:t>作为训练集；</a:t>
            </a:r>
            <a:r>
              <a:rPr lang="en-US" altLang="zh-CN" sz="1200">
                <a:solidFill>
                  <a:srgbClr val="38566F"/>
                </a:solidFill>
                <a:latin typeface="Microsoft YaHei" panose="020B0503020204020204" pitchFamily="34" charset="-122"/>
              </a:rPr>
              <a:t>test1/test2 </a:t>
            </a:r>
            <a:r>
              <a:rPr lang="zh-CN" altLang="en-US" sz="1200">
                <a:solidFill>
                  <a:srgbClr val="38566F"/>
                </a:solidFill>
                <a:latin typeface="Microsoft YaHei" panose="020B0503020204020204" pitchFamily="34" charset="-122"/>
              </a:rPr>
              <a:t>作为测试集</a:t>
            </a:r>
          </a:p>
        </p:txBody>
      </p:sp>
      <p:sp>
        <p:nvSpPr>
          <p:cNvPr id="15" name="椭圆 14">
            <a:extLst>
              <a:ext uri="{FF2B5EF4-FFF2-40B4-BE49-F238E27FC236}">
                <a16:creationId xmlns:a16="http://schemas.microsoft.com/office/drawing/2014/main" id="{95C0C3B6-9427-291A-28B0-0529743EEE97}"/>
              </a:ext>
            </a:extLst>
          </p:cNvPr>
          <p:cNvSpPr/>
          <p:nvPr/>
        </p:nvSpPr>
        <p:spPr>
          <a:xfrm>
            <a:off x="889000" y="2514600"/>
            <a:ext cx="381000" cy="381000"/>
          </a:xfrm>
          <a:prstGeom prst="ellipse">
            <a:avLst/>
          </a:prstGeom>
          <a:solidFill>
            <a:srgbClr val="0A7FC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B81A6A68-6E24-2DED-131E-73E6039C5D91}"/>
              </a:ext>
            </a:extLst>
          </p:cNvPr>
          <p:cNvSpPr txBox="1"/>
          <p:nvPr/>
        </p:nvSpPr>
        <p:spPr>
          <a:xfrm>
            <a:off x="901700" y="2590800"/>
            <a:ext cx="355600" cy="184666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ctr"/>
            <a:r>
              <a:rPr lang="en-US" altLang="zh-CN" sz="1200" b="1">
                <a:solidFill>
                  <a:srgbClr val="FFFFFF"/>
                </a:solidFill>
                <a:latin typeface="Microsoft YaHei" panose="020B0503020204020204" pitchFamily="34" charset="-122"/>
              </a:rPr>
              <a:t>2</a:t>
            </a:r>
            <a:endParaRPr lang="zh-CN" altLang="en-US" sz="1200" b="1">
              <a:solidFill>
                <a:srgbClr val="FFFFFF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CF89F1A4-534A-7E01-5D41-3EA4B2161A09}"/>
              </a:ext>
            </a:extLst>
          </p:cNvPr>
          <p:cNvSpPr txBox="1"/>
          <p:nvPr/>
        </p:nvSpPr>
        <p:spPr>
          <a:xfrm>
            <a:off x="1422400" y="2476500"/>
            <a:ext cx="3556000" cy="215444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400" b="1">
                <a:solidFill>
                  <a:srgbClr val="0A2E4E"/>
                </a:solidFill>
                <a:latin typeface="Microsoft YaHei" panose="020B0503020204020204" pitchFamily="34" charset="-122"/>
              </a:rPr>
              <a:t>选择特征</a:t>
            </a: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9715E31C-4B19-0FD1-364E-77B56CF7D22B}"/>
              </a:ext>
            </a:extLst>
          </p:cNvPr>
          <p:cNvSpPr txBox="1"/>
          <p:nvPr/>
        </p:nvSpPr>
        <p:spPr>
          <a:xfrm>
            <a:off x="1422400" y="2794000"/>
            <a:ext cx="3619500" cy="184666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200">
                <a:solidFill>
                  <a:srgbClr val="38566F"/>
                </a:solidFill>
                <a:latin typeface="Microsoft YaHei" panose="020B0503020204020204" pitchFamily="34" charset="-122"/>
              </a:rPr>
              <a:t>身高、体重、身高</a:t>
            </a:r>
            <a:r>
              <a:rPr lang="en-US" altLang="zh-CN" sz="1200">
                <a:solidFill>
                  <a:srgbClr val="38566F"/>
                </a:solidFill>
                <a:latin typeface="Microsoft YaHei" panose="020B0503020204020204" pitchFamily="34" charset="-122"/>
              </a:rPr>
              <a:t>+</a:t>
            </a:r>
            <a:r>
              <a:rPr lang="zh-CN" altLang="en-US" sz="1200">
                <a:solidFill>
                  <a:srgbClr val="38566F"/>
                </a:solidFill>
                <a:latin typeface="Microsoft YaHei" panose="020B0503020204020204" pitchFamily="34" charset="-122"/>
              </a:rPr>
              <a:t>体重三组对比</a:t>
            </a:r>
          </a:p>
        </p:txBody>
      </p:sp>
      <p:sp>
        <p:nvSpPr>
          <p:cNvPr id="19" name="椭圆 18">
            <a:extLst>
              <a:ext uri="{FF2B5EF4-FFF2-40B4-BE49-F238E27FC236}">
                <a16:creationId xmlns:a16="http://schemas.microsoft.com/office/drawing/2014/main" id="{B24D33EF-F2BC-5D10-4FB0-79D88D8021A1}"/>
              </a:ext>
            </a:extLst>
          </p:cNvPr>
          <p:cNvSpPr/>
          <p:nvPr/>
        </p:nvSpPr>
        <p:spPr>
          <a:xfrm>
            <a:off x="889000" y="3530600"/>
            <a:ext cx="381000" cy="381000"/>
          </a:xfrm>
          <a:prstGeom prst="ellipse">
            <a:avLst/>
          </a:prstGeom>
          <a:solidFill>
            <a:srgbClr val="D4A84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329A1D32-AD71-CA46-C074-F2AAA376AC41}"/>
              </a:ext>
            </a:extLst>
          </p:cNvPr>
          <p:cNvSpPr txBox="1"/>
          <p:nvPr/>
        </p:nvSpPr>
        <p:spPr>
          <a:xfrm>
            <a:off x="901700" y="3606800"/>
            <a:ext cx="355600" cy="184666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ctr"/>
            <a:r>
              <a:rPr lang="en-US" altLang="zh-CN" sz="1200" b="1">
                <a:solidFill>
                  <a:srgbClr val="FFFFFF"/>
                </a:solidFill>
                <a:latin typeface="Microsoft YaHei" panose="020B0503020204020204" pitchFamily="34" charset="-122"/>
              </a:rPr>
              <a:t>3</a:t>
            </a:r>
            <a:endParaRPr lang="zh-CN" altLang="en-US" sz="1200" b="1">
              <a:solidFill>
                <a:srgbClr val="FFFFFF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E5A96798-3CFE-139F-760C-1FE46F007F04}"/>
              </a:ext>
            </a:extLst>
          </p:cNvPr>
          <p:cNvSpPr txBox="1"/>
          <p:nvPr/>
        </p:nvSpPr>
        <p:spPr>
          <a:xfrm>
            <a:off x="1422400" y="3492500"/>
            <a:ext cx="3556000" cy="215444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400" b="1">
                <a:solidFill>
                  <a:srgbClr val="0A2E4E"/>
                </a:solidFill>
                <a:latin typeface="Microsoft YaHei" panose="020B0503020204020204" pitchFamily="34" charset="-122"/>
              </a:rPr>
              <a:t>估计分布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CE2C07AE-8F83-7C93-947B-D4949C93C40B}"/>
              </a:ext>
            </a:extLst>
          </p:cNvPr>
          <p:cNvSpPr txBox="1"/>
          <p:nvPr/>
        </p:nvSpPr>
        <p:spPr>
          <a:xfrm>
            <a:off x="1422400" y="3810000"/>
            <a:ext cx="3619500" cy="184666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200">
                <a:solidFill>
                  <a:srgbClr val="38566F"/>
                </a:solidFill>
                <a:latin typeface="Microsoft YaHei" panose="020B0503020204020204" pitchFamily="34" charset="-122"/>
              </a:rPr>
              <a:t>最大似然估计 </a:t>
            </a:r>
            <a:r>
              <a:rPr lang="el-GR" altLang="zh-CN" sz="1200">
                <a:solidFill>
                  <a:srgbClr val="38566F"/>
                </a:solidFill>
                <a:latin typeface="Microsoft YaHei" panose="020B0503020204020204" pitchFamily="34" charset="-122"/>
              </a:rPr>
              <a:t>μ</a:t>
            </a:r>
            <a:r>
              <a:rPr lang="zh-CN" altLang="el-GR" sz="1200">
                <a:solidFill>
                  <a:srgbClr val="38566F"/>
                </a:solidFill>
                <a:latin typeface="Microsoft YaHei" panose="020B0503020204020204" pitchFamily="34" charset="-122"/>
              </a:rPr>
              <a:t>、</a:t>
            </a:r>
            <a:r>
              <a:rPr lang="el-GR" altLang="zh-CN" sz="1200">
                <a:solidFill>
                  <a:srgbClr val="38566F"/>
                </a:solidFill>
                <a:latin typeface="Microsoft YaHei" panose="020B0503020204020204" pitchFamily="34" charset="-122"/>
              </a:rPr>
              <a:t>σ </a:t>
            </a:r>
            <a:r>
              <a:rPr lang="zh-CN" altLang="en-US" sz="1200">
                <a:solidFill>
                  <a:srgbClr val="38566F"/>
                </a:solidFill>
                <a:latin typeface="Microsoft YaHei" panose="020B0503020204020204" pitchFamily="34" charset="-122"/>
              </a:rPr>
              <a:t>或 </a:t>
            </a:r>
            <a:r>
              <a:rPr lang="el-GR" altLang="zh-CN" sz="1200">
                <a:solidFill>
                  <a:srgbClr val="38566F"/>
                </a:solidFill>
                <a:latin typeface="Microsoft YaHei" panose="020B0503020204020204" pitchFamily="34" charset="-122"/>
              </a:rPr>
              <a:t>Σ</a:t>
            </a:r>
            <a:endParaRPr lang="zh-CN" altLang="en-US" sz="1200">
              <a:solidFill>
                <a:srgbClr val="38566F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23" name="椭圆 22">
            <a:extLst>
              <a:ext uri="{FF2B5EF4-FFF2-40B4-BE49-F238E27FC236}">
                <a16:creationId xmlns:a16="http://schemas.microsoft.com/office/drawing/2014/main" id="{1A8A28BE-7793-FA22-43E8-64FC6FAF7461}"/>
              </a:ext>
            </a:extLst>
          </p:cNvPr>
          <p:cNvSpPr/>
          <p:nvPr/>
        </p:nvSpPr>
        <p:spPr>
          <a:xfrm>
            <a:off x="889000" y="4546600"/>
            <a:ext cx="381000" cy="381000"/>
          </a:xfrm>
          <a:prstGeom prst="ellipse">
            <a:avLst/>
          </a:prstGeom>
          <a:solidFill>
            <a:srgbClr val="2F80C9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B7C149E0-4C51-B190-8D46-FB2B9FF3F738}"/>
              </a:ext>
            </a:extLst>
          </p:cNvPr>
          <p:cNvSpPr txBox="1"/>
          <p:nvPr/>
        </p:nvSpPr>
        <p:spPr>
          <a:xfrm>
            <a:off x="901700" y="4622800"/>
            <a:ext cx="355600" cy="184666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ctr"/>
            <a:r>
              <a:rPr lang="en-US" altLang="zh-CN" sz="1200" b="1">
                <a:solidFill>
                  <a:srgbClr val="FFFFFF"/>
                </a:solidFill>
                <a:latin typeface="Microsoft YaHei" panose="020B0503020204020204" pitchFamily="34" charset="-122"/>
              </a:rPr>
              <a:t>4</a:t>
            </a:r>
            <a:endParaRPr lang="zh-CN" altLang="en-US" sz="1200" b="1">
              <a:solidFill>
                <a:srgbClr val="FFFFFF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8E46E13A-B1C1-69C6-FF8B-1AFC7935C80C}"/>
              </a:ext>
            </a:extLst>
          </p:cNvPr>
          <p:cNvSpPr txBox="1"/>
          <p:nvPr/>
        </p:nvSpPr>
        <p:spPr>
          <a:xfrm>
            <a:off x="1422400" y="4508500"/>
            <a:ext cx="3556000" cy="215444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400" b="1">
                <a:solidFill>
                  <a:srgbClr val="0A2E4E"/>
                </a:solidFill>
                <a:latin typeface="Microsoft YaHei" panose="020B0503020204020204" pitchFamily="34" charset="-122"/>
              </a:rPr>
              <a:t>分类评估</a:t>
            </a:r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F873B20C-90E8-D2E8-0918-67E46463360C}"/>
              </a:ext>
            </a:extLst>
          </p:cNvPr>
          <p:cNvSpPr txBox="1"/>
          <p:nvPr/>
        </p:nvSpPr>
        <p:spPr>
          <a:xfrm>
            <a:off x="1422400" y="4826000"/>
            <a:ext cx="3619500" cy="184666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200">
                <a:solidFill>
                  <a:srgbClr val="38566F"/>
                </a:solidFill>
                <a:latin typeface="Microsoft YaHei" panose="020B0503020204020204" pitchFamily="34" charset="-122"/>
              </a:rPr>
              <a:t>准确率、召回率、混淆矩阵、错误分析</a:t>
            </a:r>
          </a:p>
        </p:txBody>
      </p:sp>
      <p:graphicFrame>
        <p:nvGraphicFramePr>
          <p:cNvPr id="27" name="表格 26">
            <a:extLst>
              <a:ext uri="{FF2B5EF4-FFF2-40B4-BE49-F238E27FC236}">
                <a16:creationId xmlns:a16="http://schemas.microsoft.com/office/drawing/2014/main" id="{6B832CD4-8186-9A68-B5EA-6184B10B19E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74407705"/>
              </p:ext>
            </p:extLst>
          </p:nvPr>
        </p:nvGraphicFramePr>
        <p:xfrm>
          <a:off x="5943600" y="1524000"/>
          <a:ext cx="4953000" cy="23495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76500">
                  <a:extLst>
                    <a:ext uri="{9D8B030D-6E8A-4147-A177-3AD203B41FA5}">
                      <a16:colId xmlns:a16="http://schemas.microsoft.com/office/drawing/2014/main" val="127879895"/>
                    </a:ext>
                  </a:extLst>
                </a:gridCol>
                <a:gridCol w="2476500">
                  <a:extLst>
                    <a:ext uri="{9D8B030D-6E8A-4147-A177-3AD203B41FA5}">
                      <a16:colId xmlns:a16="http://schemas.microsoft.com/office/drawing/2014/main" val="2801017599"/>
                    </a:ext>
                  </a:extLst>
                </a:gridCol>
              </a:tblGrid>
              <a:tr h="46990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100" b="1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设置项</a:t>
                      </a:r>
                    </a:p>
                  </a:txBody>
                  <a:tcPr marL="38100" marR="38100" marT="25400" marB="25400" anchor="ctr">
                    <a:solidFill>
                      <a:srgbClr val="006BB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100" b="1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取值</a:t>
                      </a:r>
                    </a:p>
                  </a:txBody>
                  <a:tcPr marL="38100" marR="38100" marT="25400" marB="25400" anchor="ctr">
                    <a:solidFill>
                      <a:srgbClr val="006BB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70281957"/>
                  </a:ext>
                </a:extLst>
              </a:tr>
              <a:tr h="46990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先验概率</a:t>
                      </a:r>
                    </a:p>
                  </a:txBody>
                  <a:tcPr marL="38100" marR="38100" marT="25400" marB="254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0.5/0.5</a:t>
                      </a:r>
                      <a:r>
                        <a:rPr lang="zh-CN" altLang="en-US" sz="10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，</a:t>
                      </a:r>
                      <a:r>
                        <a:rPr lang="en-US" altLang="zh-CN" sz="10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0.75/0.25</a:t>
                      </a:r>
                      <a:r>
                        <a:rPr lang="zh-CN" altLang="en-US" sz="10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，</a:t>
                      </a:r>
                      <a:r>
                        <a:rPr lang="en-US" altLang="zh-CN" sz="10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0.9/0.1</a:t>
                      </a:r>
                      <a:endParaRPr lang="zh-CN" altLang="en-US" sz="1000" b="0">
                        <a:solidFill>
                          <a:srgbClr val="000000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marL="38100" marR="38100" marT="25400" marB="25400" anchor="ctr"/>
                </a:tc>
                <a:extLst>
                  <a:ext uri="{0D108BD9-81ED-4DB2-BD59-A6C34878D82A}">
                    <a16:rowId xmlns:a16="http://schemas.microsoft.com/office/drawing/2014/main" val="1583021201"/>
                  </a:ext>
                </a:extLst>
              </a:tr>
              <a:tr h="46990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协方差</a:t>
                      </a:r>
                    </a:p>
                  </a:txBody>
                  <a:tcPr marL="38100" marR="38100" marT="25400" marB="254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完整协方差 </a:t>
                      </a:r>
                      <a:r>
                        <a:rPr lang="en-US" altLang="zh-CN" sz="10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/ </a:t>
                      </a:r>
                      <a:r>
                        <a:rPr lang="zh-CN" altLang="en-US" sz="10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对角协方差</a:t>
                      </a:r>
                    </a:p>
                  </a:txBody>
                  <a:tcPr marL="38100" marR="38100" marT="25400" marB="25400" anchor="ctr"/>
                </a:tc>
                <a:extLst>
                  <a:ext uri="{0D108BD9-81ED-4DB2-BD59-A6C34878D82A}">
                    <a16:rowId xmlns:a16="http://schemas.microsoft.com/office/drawing/2014/main" val="3778210780"/>
                  </a:ext>
                </a:extLst>
              </a:tr>
              <a:tr h="46990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风险表</a:t>
                      </a:r>
                    </a:p>
                  </a:txBody>
                  <a:tcPr marL="38100" marR="38100" marT="25400" marB="254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l-GR" altLang="zh-CN" sz="10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λ(</a:t>
                      </a:r>
                      <a:r>
                        <a:rPr lang="en-US" altLang="zh-CN" sz="10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M|F)=2</a:t>
                      </a:r>
                      <a:r>
                        <a:rPr lang="zh-CN" altLang="en-US" sz="10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，</a:t>
                      </a:r>
                      <a:r>
                        <a:rPr lang="el-GR" altLang="zh-CN" sz="10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λ(</a:t>
                      </a:r>
                      <a:r>
                        <a:rPr lang="en-US" altLang="zh-CN" sz="10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F|M)=1</a:t>
                      </a:r>
                      <a:endParaRPr lang="zh-CN" altLang="en-US" sz="1000" b="0">
                        <a:solidFill>
                          <a:srgbClr val="000000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marL="38100" marR="38100" marT="25400" marB="25400" anchor="ctr"/>
                </a:tc>
                <a:extLst>
                  <a:ext uri="{0D108BD9-81ED-4DB2-BD59-A6C34878D82A}">
                    <a16:rowId xmlns:a16="http://schemas.microsoft.com/office/drawing/2014/main" val="678979276"/>
                  </a:ext>
                </a:extLst>
              </a:tr>
              <a:tr h="46990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非参数补充</a:t>
                      </a:r>
                    </a:p>
                  </a:txBody>
                  <a:tcPr marL="38100" marR="38100" marT="25400" marB="254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Parzen </a:t>
                      </a:r>
                      <a:r>
                        <a:rPr lang="zh-CN" altLang="en-US" sz="10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窗、</a:t>
                      </a:r>
                      <a:r>
                        <a:rPr lang="en-US" altLang="zh-CN" sz="10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kNN</a:t>
                      </a:r>
                      <a:endParaRPr lang="zh-CN" altLang="en-US" sz="1000" b="0">
                        <a:solidFill>
                          <a:srgbClr val="000000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marL="38100" marR="38100" marT="25400" marB="25400" anchor="ctr"/>
                </a:tc>
                <a:extLst>
                  <a:ext uri="{0D108BD9-81ED-4DB2-BD59-A6C34878D82A}">
                    <a16:rowId xmlns:a16="http://schemas.microsoft.com/office/drawing/2014/main" val="2122645602"/>
                  </a:ext>
                </a:extLst>
              </a:tr>
            </a:tbl>
          </a:graphicData>
        </a:graphic>
      </p:graphicFrame>
      <p:sp>
        <p:nvSpPr>
          <p:cNvPr id="28" name="矩形: 圆角 27">
            <a:extLst>
              <a:ext uri="{FF2B5EF4-FFF2-40B4-BE49-F238E27FC236}">
                <a16:creationId xmlns:a16="http://schemas.microsoft.com/office/drawing/2014/main" id="{124C5C81-FF59-D13B-094B-45ABBA339B6C}"/>
              </a:ext>
            </a:extLst>
          </p:cNvPr>
          <p:cNvSpPr/>
          <p:nvPr/>
        </p:nvSpPr>
        <p:spPr>
          <a:xfrm>
            <a:off x="6197600" y="4521200"/>
            <a:ext cx="4445000" cy="71120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C6EB70FE-87A5-EB4D-FAAF-094E18B1A120}"/>
              </a:ext>
            </a:extLst>
          </p:cNvPr>
          <p:cNvSpPr/>
          <p:nvPr/>
        </p:nvSpPr>
        <p:spPr>
          <a:xfrm>
            <a:off x="6197600" y="4521200"/>
            <a:ext cx="76200" cy="711200"/>
          </a:xfrm>
          <a:prstGeom prst="rect">
            <a:avLst/>
          </a:prstGeom>
          <a:solidFill>
            <a:srgbClr val="006BB7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0" name="文本框 29">
            <a:extLst>
              <a:ext uri="{FF2B5EF4-FFF2-40B4-BE49-F238E27FC236}">
                <a16:creationId xmlns:a16="http://schemas.microsoft.com/office/drawing/2014/main" id="{67AE24B0-8221-0A11-E0C9-9DE4BC713DC3}"/>
              </a:ext>
            </a:extLst>
          </p:cNvPr>
          <p:cNvSpPr txBox="1"/>
          <p:nvPr/>
        </p:nvSpPr>
        <p:spPr>
          <a:xfrm>
            <a:off x="6388100" y="4648200"/>
            <a:ext cx="4140200" cy="215444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400" b="1">
                <a:solidFill>
                  <a:srgbClr val="0A2E4E"/>
                </a:solidFill>
                <a:latin typeface="Microsoft YaHei" panose="020B0503020204020204" pitchFamily="34" charset="-122"/>
              </a:rPr>
              <a:t>实现要点</a:t>
            </a:r>
          </a:p>
        </p:txBody>
      </p:sp>
      <p:sp>
        <p:nvSpPr>
          <p:cNvPr id="31" name="文本框 30">
            <a:extLst>
              <a:ext uri="{FF2B5EF4-FFF2-40B4-BE49-F238E27FC236}">
                <a16:creationId xmlns:a16="http://schemas.microsoft.com/office/drawing/2014/main" id="{255B664D-5381-D5DC-2E6C-7DB59C55D89E}"/>
              </a:ext>
            </a:extLst>
          </p:cNvPr>
          <p:cNvSpPr txBox="1"/>
          <p:nvPr/>
        </p:nvSpPr>
        <p:spPr>
          <a:xfrm>
            <a:off x="6388100" y="5003800"/>
            <a:ext cx="4140200" cy="36933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200">
                <a:solidFill>
                  <a:srgbClr val="38566F"/>
                </a:solidFill>
                <a:latin typeface="Microsoft YaHei" panose="020B0503020204020204" pitchFamily="34" charset="-122"/>
              </a:rPr>
              <a:t>所有分类器统一输出 </a:t>
            </a:r>
            <a:r>
              <a:rPr lang="en-US" altLang="zh-CN" sz="1200">
                <a:solidFill>
                  <a:srgbClr val="38566F"/>
                </a:solidFill>
                <a:latin typeface="Microsoft YaHei" panose="020B0503020204020204" pitchFamily="34" charset="-122"/>
              </a:rPr>
              <a:t>train</a:t>
            </a:r>
            <a:r>
              <a:rPr lang="zh-CN" altLang="en-US" sz="1200">
                <a:solidFill>
                  <a:srgbClr val="38566F"/>
                </a:solidFill>
                <a:latin typeface="Microsoft YaHei" panose="020B0503020204020204" pitchFamily="34" charset="-122"/>
              </a:rPr>
              <a:t>、</a:t>
            </a:r>
            <a:r>
              <a:rPr lang="en-US" altLang="zh-CN" sz="1200">
                <a:solidFill>
                  <a:srgbClr val="38566F"/>
                </a:solidFill>
                <a:latin typeface="Microsoft YaHei" panose="020B0503020204020204" pitchFamily="34" charset="-122"/>
              </a:rPr>
              <a:t>test1</a:t>
            </a:r>
            <a:r>
              <a:rPr lang="zh-CN" altLang="en-US" sz="1200">
                <a:solidFill>
                  <a:srgbClr val="38566F"/>
                </a:solidFill>
                <a:latin typeface="Microsoft YaHei" panose="020B0503020204020204" pitchFamily="34" charset="-122"/>
              </a:rPr>
              <a:t>、</a:t>
            </a:r>
            <a:r>
              <a:rPr lang="en-US" altLang="zh-CN" sz="1200">
                <a:solidFill>
                  <a:srgbClr val="38566F"/>
                </a:solidFill>
                <a:latin typeface="Microsoft YaHei" panose="020B0503020204020204" pitchFamily="34" charset="-122"/>
              </a:rPr>
              <a:t>test2 </a:t>
            </a:r>
            <a:r>
              <a:rPr lang="zh-CN" altLang="en-US" sz="1200">
                <a:solidFill>
                  <a:srgbClr val="38566F"/>
                </a:solidFill>
                <a:latin typeface="Microsoft YaHei" panose="020B0503020204020204" pitchFamily="34" charset="-122"/>
              </a:rPr>
              <a:t>上的性能，便于横向比较。</a:t>
            </a:r>
          </a:p>
        </p:txBody>
      </p:sp>
    </p:spTree>
    <p:extLst>
      <p:ext uri="{BB962C8B-B14F-4D97-AF65-F5344CB8AC3E}">
        <p14:creationId xmlns:p14="http://schemas.microsoft.com/office/powerpoint/2010/main" val="284372168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AB04B3DE-7409-C6BB-7974-4C99768B3262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C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35E01A83-A330-E84C-6263-0D393E3784FE}"/>
              </a:ext>
            </a:extLst>
          </p:cNvPr>
          <p:cNvSpPr/>
          <p:nvPr/>
        </p:nvSpPr>
        <p:spPr>
          <a:xfrm>
            <a:off x="0" y="0"/>
            <a:ext cx="12192000" cy="1016000"/>
          </a:xfrm>
          <a:prstGeom prst="rect">
            <a:avLst/>
          </a:prstGeom>
          <a:solidFill>
            <a:srgbClr val="006BB7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平行四边形 3">
            <a:extLst>
              <a:ext uri="{FF2B5EF4-FFF2-40B4-BE49-F238E27FC236}">
                <a16:creationId xmlns:a16="http://schemas.microsoft.com/office/drawing/2014/main" id="{1123ACEF-6E9F-5607-8DC5-A850545D65AC}"/>
              </a:ext>
            </a:extLst>
          </p:cNvPr>
          <p:cNvSpPr/>
          <p:nvPr/>
        </p:nvSpPr>
        <p:spPr>
          <a:xfrm>
            <a:off x="8953500" y="-228600"/>
            <a:ext cx="3581400" cy="1346200"/>
          </a:xfrm>
          <a:prstGeom prst="parallelogram">
            <a:avLst>
              <a:gd name="adj" fmla="val 20000"/>
            </a:avLst>
          </a:prstGeom>
          <a:solidFill>
            <a:srgbClr val="3A9BD9">
              <a:alpha val="85000"/>
            </a:srgbClr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平行四边形 4">
            <a:extLst>
              <a:ext uri="{FF2B5EF4-FFF2-40B4-BE49-F238E27FC236}">
                <a16:creationId xmlns:a16="http://schemas.microsoft.com/office/drawing/2014/main" id="{185C8097-E260-BAB5-FFAF-3558F5A710EF}"/>
              </a:ext>
            </a:extLst>
          </p:cNvPr>
          <p:cNvSpPr/>
          <p:nvPr/>
        </p:nvSpPr>
        <p:spPr>
          <a:xfrm>
            <a:off x="-508000" y="6324600"/>
            <a:ext cx="5969000" cy="660400"/>
          </a:xfrm>
          <a:prstGeom prst="parallelogram">
            <a:avLst>
              <a:gd name="adj" fmla="val 20000"/>
            </a:avLst>
          </a:prstGeom>
          <a:solidFill>
            <a:srgbClr val="DDF0F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4B0CD415-5FCA-DC62-6959-422E9392F2C4}"/>
              </a:ext>
            </a:extLst>
          </p:cNvPr>
          <p:cNvSpPr txBox="1"/>
          <p:nvPr/>
        </p:nvSpPr>
        <p:spPr>
          <a:xfrm>
            <a:off x="736600" y="254000"/>
            <a:ext cx="4953000" cy="10772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700" b="1">
                <a:solidFill>
                  <a:srgbClr val="CDEBFF"/>
                </a:solidFill>
                <a:latin typeface="Microsoft YaHei" panose="020B0503020204020204" pitchFamily="34" charset="-122"/>
              </a:rPr>
              <a:t>RESULT VISUALS</a:t>
            </a:r>
            <a:endParaRPr lang="zh-CN" altLang="en-US" sz="700" b="1">
              <a:solidFill>
                <a:srgbClr val="CDEBFF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23E4ABB1-0895-7D94-FCC9-90244122A949}"/>
              </a:ext>
            </a:extLst>
          </p:cNvPr>
          <p:cNvSpPr txBox="1"/>
          <p:nvPr/>
        </p:nvSpPr>
        <p:spPr>
          <a:xfrm>
            <a:off x="736600" y="533400"/>
            <a:ext cx="8509000" cy="41549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2700" b="1">
                <a:solidFill>
                  <a:srgbClr val="FFFFFF"/>
                </a:solidFill>
                <a:latin typeface="Microsoft YaHei" panose="020B0503020204020204" pitchFamily="34" charset="-122"/>
              </a:rPr>
              <a:t>实验一结果：数据分布与 </a:t>
            </a:r>
            <a:r>
              <a:rPr lang="en-US" altLang="zh-CN" sz="2700" b="1">
                <a:solidFill>
                  <a:srgbClr val="FFFFFF"/>
                </a:solidFill>
                <a:latin typeface="Microsoft YaHei" panose="020B0503020204020204" pitchFamily="34" charset="-122"/>
              </a:rPr>
              <a:t>Bayes </a:t>
            </a:r>
            <a:r>
              <a:rPr lang="zh-CN" altLang="en-US" sz="2700" b="1">
                <a:solidFill>
                  <a:srgbClr val="FFFFFF"/>
                </a:solidFill>
                <a:latin typeface="Microsoft YaHei" panose="020B0503020204020204" pitchFamily="34" charset="-122"/>
              </a:rPr>
              <a:t>决策边界</a:t>
            </a:r>
          </a:p>
        </p:txBody>
      </p:sp>
      <p:cxnSp>
        <p:nvCxnSpPr>
          <p:cNvPr id="8" name="直接连接符 7">
            <a:extLst>
              <a:ext uri="{FF2B5EF4-FFF2-40B4-BE49-F238E27FC236}">
                <a16:creationId xmlns:a16="http://schemas.microsoft.com/office/drawing/2014/main" id="{A802AFF4-0983-CB68-E001-6DAAABCE2872}"/>
              </a:ext>
            </a:extLst>
          </p:cNvPr>
          <p:cNvCxnSpPr/>
          <p:nvPr/>
        </p:nvCxnSpPr>
        <p:spPr>
          <a:xfrm>
            <a:off x="736600" y="1295400"/>
            <a:ext cx="1168400" cy="0"/>
          </a:xfrm>
          <a:prstGeom prst="line">
            <a:avLst/>
          </a:prstGeom>
          <a:ln w="38100">
            <a:solidFill>
              <a:srgbClr val="D4A84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文本框 8">
            <a:extLst>
              <a:ext uri="{FF2B5EF4-FFF2-40B4-BE49-F238E27FC236}">
                <a16:creationId xmlns:a16="http://schemas.microsoft.com/office/drawing/2014/main" id="{2D9969BC-13BB-AFA7-1BD1-C3E688D9B192}"/>
              </a:ext>
            </a:extLst>
          </p:cNvPr>
          <p:cNvSpPr txBox="1"/>
          <p:nvPr/>
        </p:nvSpPr>
        <p:spPr>
          <a:xfrm>
            <a:off x="533400" y="6527800"/>
            <a:ext cx="3937000" cy="10772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700">
                <a:solidFill>
                  <a:srgbClr val="8FA8BA"/>
                </a:solidFill>
                <a:latin typeface="Microsoft YaHei" panose="020B0503020204020204" pitchFamily="34" charset="-122"/>
              </a:rPr>
              <a:t>模式识别课程实验汇报 </a:t>
            </a:r>
            <a:r>
              <a:rPr lang="en-US" altLang="zh-CN" sz="700">
                <a:solidFill>
                  <a:srgbClr val="8FA8BA"/>
                </a:solidFill>
                <a:latin typeface="Microsoft YaHei" panose="020B0503020204020204" pitchFamily="34" charset="-122"/>
              </a:rPr>
              <a:t>· </a:t>
            </a:r>
            <a:r>
              <a:rPr lang="zh-CN" altLang="en-US" sz="700">
                <a:solidFill>
                  <a:srgbClr val="8FA8BA"/>
                </a:solidFill>
                <a:latin typeface="Microsoft YaHei" panose="020B0503020204020204" pitchFamily="34" charset="-122"/>
              </a:rPr>
              <a:t>蓝白科研汇报模板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E09D11A6-D6B0-16E9-EF28-1744A2E28B3B}"/>
              </a:ext>
            </a:extLst>
          </p:cNvPr>
          <p:cNvSpPr txBox="1"/>
          <p:nvPr/>
        </p:nvSpPr>
        <p:spPr>
          <a:xfrm>
            <a:off x="11366500" y="6477000"/>
            <a:ext cx="355600" cy="10772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r"/>
            <a:r>
              <a:rPr lang="en-US" altLang="zh-CN" sz="700" b="1">
                <a:solidFill>
                  <a:srgbClr val="006BB7"/>
                </a:solidFill>
                <a:latin typeface="Microsoft YaHei" panose="020B0503020204020204" pitchFamily="34" charset="-122"/>
              </a:rPr>
              <a:t>07</a:t>
            </a:r>
            <a:endParaRPr lang="zh-CN" altLang="en-US" sz="700" b="1">
              <a:solidFill>
                <a:srgbClr val="006BB7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2C7619A7-8E8C-26CA-A888-5BB0FC55EF4B}"/>
              </a:ext>
            </a:extLst>
          </p:cNvPr>
          <p:cNvSpPr/>
          <p:nvPr/>
        </p:nvSpPr>
        <p:spPr>
          <a:xfrm>
            <a:off x="736600" y="1397000"/>
            <a:ext cx="5207000" cy="381000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3" name="图片 12">
            <a:extLst>
              <a:ext uri="{FF2B5EF4-FFF2-40B4-BE49-F238E27FC236}">
                <a16:creationId xmlns:a16="http://schemas.microsoft.com/office/drawing/2014/main" id="{65D727CC-FA1F-3593-B28E-880F02797EF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04194" y="1847782"/>
            <a:ext cx="4071811" cy="2908436"/>
          </a:xfrm>
          <a:prstGeom prst="rect">
            <a:avLst/>
          </a:prstGeom>
        </p:spPr>
      </p:pic>
      <p:sp>
        <p:nvSpPr>
          <p:cNvPr id="14" name="矩形: 圆角 13">
            <a:extLst>
              <a:ext uri="{FF2B5EF4-FFF2-40B4-BE49-F238E27FC236}">
                <a16:creationId xmlns:a16="http://schemas.microsoft.com/office/drawing/2014/main" id="{1244700D-51BF-E4B2-835E-3390470E8EDF}"/>
              </a:ext>
            </a:extLst>
          </p:cNvPr>
          <p:cNvSpPr/>
          <p:nvPr/>
        </p:nvSpPr>
        <p:spPr>
          <a:xfrm>
            <a:off x="6248400" y="1397000"/>
            <a:ext cx="5207000" cy="381000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6" name="图片 15">
            <a:extLst>
              <a:ext uri="{FF2B5EF4-FFF2-40B4-BE49-F238E27FC236}">
                <a16:creationId xmlns:a16="http://schemas.microsoft.com/office/drawing/2014/main" id="{C48848CF-D615-2CA4-9B10-330E3AE1F92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15995" y="1847782"/>
            <a:ext cx="4071811" cy="2908436"/>
          </a:xfrm>
          <a:prstGeom prst="rect">
            <a:avLst/>
          </a:prstGeom>
        </p:spPr>
      </p:pic>
      <p:sp>
        <p:nvSpPr>
          <p:cNvPr id="17" name="矩形: 圆角 16">
            <a:extLst>
              <a:ext uri="{FF2B5EF4-FFF2-40B4-BE49-F238E27FC236}">
                <a16:creationId xmlns:a16="http://schemas.microsoft.com/office/drawing/2014/main" id="{FABF22D5-CEF9-2C61-98C8-F81C9AF32F45}"/>
              </a:ext>
            </a:extLst>
          </p:cNvPr>
          <p:cNvSpPr/>
          <p:nvPr/>
        </p:nvSpPr>
        <p:spPr>
          <a:xfrm>
            <a:off x="1016000" y="5461000"/>
            <a:ext cx="1905000" cy="660400"/>
          </a:xfrm>
          <a:prstGeom prst="roundRect">
            <a:avLst/>
          </a:prstGeom>
          <a:solidFill>
            <a:srgbClr val="FAFCFF"/>
          </a:solidFill>
          <a:ln w="889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463B8D8C-2A87-2E62-CCED-DC65AB637F17}"/>
              </a:ext>
            </a:extLst>
          </p:cNvPr>
          <p:cNvSpPr txBox="1"/>
          <p:nvPr/>
        </p:nvSpPr>
        <p:spPr>
          <a:xfrm>
            <a:off x="1168400" y="5562600"/>
            <a:ext cx="1625600" cy="36933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2400" b="1">
                <a:solidFill>
                  <a:srgbClr val="006BB7"/>
                </a:solidFill>
                <a:latin typeface="Microsoft YaHei" panose="020B0503020204020204" pitchFamily="34" charset="-122"/>
              </a:rPr>
              <a:t>88.00%</a:t>
            </a:r>
            <a:endParaRPr lang="zh-CN" altLang="en-US" sz="2400" b="1">
              <a:solidFill>
                <a:srgbClr val="006BB7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4471A414-91ED-2B55-47B6-96DA67AA9CA5}"/>
              </a:ext>
            </a:extLst>
          </p:cNvPr>
          <p:cNvSpPr txBox="1"/>
          <p:nvPr/>
        </p:nvSpPr>
        <p:spPr>
          <a:xfrm>
            <a:off x="1168400" y="5969000"/>
            <a:ext cx="1625600" cy="184666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200">
                <a:solidFill>
                  <a:srgbClr val="6B7F90"/>
                </a:solidFill>
                <a:latin typeface="Microsoft YaHei" panose="020B0503020204020204" pitchFamily="34" charset="-122"/>
              </a:rPr>
              <a:t>二维 </a:t>
            </a:r>
            <a:r>
              <a:rPr lang="en-US" altLang="zh-CN" sz="1200">
                <a:solidFill>
                  <a:srgbClr val="6B7F90"/>
                </a:solidFill>
                <a:latin typeface="Microsoft YaHei" panose="020B0503020204020204" pitchFamily="34" charset="-122"/>
              </a:rPr>
              <a:t>Bayes </a:t>
            </a:r>
            <a:r>
              <a:rPr lang="zh-CN" altLang="en-US" sz="1200">
                <a:solidFill>
                  <a:srgbClr val="6B7F90"/>
                </a:solidFill>
                <a:latin typeface="Microsoft YaHei" panose="020B0503020204020204" pitchFamily="34" charset="-122"/>
              </a:rPr>
              <a:t>训练准确率</a:t>
            </a:r>
          </a:p>
        </p:txBody>
      </p:sp>
      <p:sp>
        <p:nvSpPr>
          <p:cNvPr id="20" name="矩形: 圆角 19">
            <a:extLst>
              <a:ext uri="{FF2B5EF4-FFF2-40B4-BE49-F238E27FC236}">
                <a16:creationId xmlns:a16="http://schemas.microsoft.com/office/drawing/2014/main" id="{F9E9A3AD-3458-BFEE-8DF7-03010DD3ACEA}"/>
              </a:ext>
            </a:extLst>
          </p:cNvPr>
          <p:cNvSpPr/>
          <p:nvPr/>
        </p:nvSpPr>
        <p:spPr>
          <a:xfrm>
            <a:off x="3302000" y="5461000"/>
            <a:ext cx="1905000" cy="660400"/>
          </a:xfrm>
          <a:prstGeom prst="roundRect">
            <a:avLst/>
          </a:prstGeom>
          <a:solidFill>
            <a:srgbClr val="FAFCFF"/>
          </a:solidFill>
          <a:ln w="889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1D1E2AC3-C094-2A39-07DD-9794990FF992}"/>
              </a:ext>
            </a:extLst>
          </p:cNvPr>
          <p:cNvSpPr txBox="1"/>
          <p:nvPr/>
        </p:nvSpPr>
        <p:spPr>
          <a:xfrm>
            <a:off x="3454400" y="5562600"/>
            <a:ext cx="1625600" cy="36933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2400" b="1">
                <a:solidFill>
                  <a:srgbClr val="0A7FCC"/>
                </a:solidFill>
                <a:latin typeface="Microsoft YaHei" panose="020B0503020204020204" pitchFamily="34" charset="-122"/>
              </a:rPr>
              <a:t>97.14%</a:t>
            </a:r>
            <a:endParaRPr lang="zh-CN" altLang="en-US" sz="2400" b="1">
              <a:solidFill>
                <a:srgbClr val="0A7FCC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BE943D22-2F13-7748-ADD5-FF6C84F28BD6}"/>
              </a:ext>
            </a:extLst>
          </p:cNvPr>
          <p:cNvSpPr txBox="1"/>
          <p:nvPr/>
        </p:nvSpPr>
        <p:spPr>
          <a:xfrm>
            <a:off x="3454400" y="5969000"/>
            <a:ext cx="1625600" cy="184666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1200">
                <a:solidFill>
                  <a:srgbClr val="6B7F90"/>
                </a:solidFill>
                <a:latin typeface="Microsoft YaHei" panose="020B0503020204020204" pitchFamily="34" charset="-122"/>
              </a:rPr>
              <a:t>test1 </a:t>
            </a:r>
            <a:r>
              <a:rPr lang="zh-CN" altLang="en-US" sz="1200">
                <a:solidFill>
                  <a:srgbClr val="6B7F90"/>
                </a:solidFill>
                <a:latin typeface="Microsoft YaHei" panose="020B0503020204020204" pitchFamily="34" charset="-122"/>
              </a:rPr>
              <a:t>准确率</a:t>
            </a:r>
          </a:p>
        </p:txBody>
      </p:sp>
      <p:sp>
        <p:nvSpPr>
          <p:cNvPr id="23" name="矩形: 圆角 22">
            <a:extLst>
              <a:ext uri="{FF2B5EF4-FFF2-40B4-BE49-F238E27FC236}">
                <a16:creationId xmlns:a16="http://schemas.microsoft.com/office/drawing/2014/main" id="{D9091147-6136-D94A-99A5-7729CA26F9D3}"/>
              </a:ext>
            </a:extLst>
          </p:cNvPr>
          <p:cNvSpPr/>
          <p:nvPr/>
        </p:nvSpPr>
        <p:spPr>
          <a:xfrm>
            <a:off x="5588000" y="5461000"/>
            <a:ext cx="1905000" cy="660400"/>
          </a:xfrm>
          <a:prstGeom prst="roundRect">
            <a:avLst/>
          </a:prstGeom>
          <a:solidFill>
            <a:srgbClr val="FAFCFF"/>
          </a:solidFill>
          <a:ln w="889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653492C8-603B-1C57-BE45-53E2E05B2148}"/>
              </a:ext>
            </a:extLst>
          </p:cNvPr>
          <p:cNvSpPr txBox="1"/>
          <p:nvPr/>
        </p:nvSpPr>
        <p:spPr>
          <a:xfrm>
            <a:off x="5740400" y="5562600"/>
            <a:ext cx="1625600" cy="36933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2400" b="1">
                <a:solidFill>
                  <a:srgbClr val="D4A84B"/>
                </a:solidFill>
                <a:latin typeface="Microsoft YaHei" panose="020B0503020204020204" pitchFamily="34" charset="-122"/>
              </a:rPr>
              <a:t>89.33%</a:t>
            </a:r>
            <a:endParaRPr lang="zh-CN" altLang="en-US" sz="2400" b="1">
              <a:solidFill>
                <a:srgbClr val="D4A84B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4AAA5AFD-32B4-ED1C-375E-7C12C74062C3}"/>
              </a:ext>
            </a:extLst>
          </p:cNvPr>
          <p:cNvSpPr txBox="1"/>
          <p:nvPr/>
        </p:nvSpPr>
        <p:spPr>
          <a:xfrm>
            <a:off x="5740400" y="5969000"/>
            <a:ext cx="1625600" cy="184666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1200">
                <a:solidFill>
                  <a:srgbClr val="6B7F90"/>
                </a:solidFill>
                <a:latin typeface="Microsoft YaHei" panose="020B0503020204020204" pitchFamily="34" charset="-122"/>
              </a:rPr>
              <a:t>test2 </a:t>
            </a:r>
            <a:r>
              <a:rPr lang="zh-CN" altLang="en-US" sz="1200">
                <a:solidFill>
                  <a:srgbClr val="6B7F90"/>
                </a:solidFill>
                <a:latin typeface="Microsoft YaHei" panose="020B0503020204020204" pitchFamily="34" charset="-122"/>
              </a:rPr>
              <a:t>准确率</a:t>
            </a:r>
          </a:p>
        </p:txBody>
      </p:sp>
      <p:sp>
        <p:nvSpPr>
          <p:cNvPr id="26" name="矩形: 圆角 25">
            <a:extLst>
              <a:ext uri="{FF2B5EF4-FFF2-40B4-BE49-F238E27FC236}">
                <a16:creationId xmlns:a16="http://schemas.microsoft.com/office/drawing/2014/main" id="{CF38429B-339D-FEB0-F7BF-1D10F25DDD5C}"/>
              </a:ext>
            </a:extLst>
          </p:cNvPr>
          <p:cNvSpPr/>
          <p:nvPr/>
        </p:nvSpPr>
        <p:spPr>
          <a:xfrm>
            <a:off x="7874000" y="5461000"/>
            <a:ext cx="1905000" cy="660400"/>
          </a:xfrm>
          <a:prstGeom prst="roundRect">
            <a:avLst/>
          </a:prstGeom>
          <a:solidFill>
            <a:srgbClr val="FAFCFF"/>
          </a:solidFill>
          <a:ln w="889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57647C5C-1D1D-BCE2-8E27-93C4E4F319C3}"/>
              </a:ext>
            </a:extLst>
          </p:cNvPr>
          <p:cNvSpPr txBox="1"/>
          <p:nvPr/>
        </p:nvSpPr>
        <p:spPr>
          <a:xfrm>
            <a:off x="8026400" y="5562600"/>
            <a:ext cx="1625600" cy="36933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2400" b="1">
                <a:solidFill>
                  <a:srgbClr val="2F80C9"/>
                </a:solidFill>
                <a:latin typeface="Microsoft YaHei" panose="020B0503020204020204" pitchFamily="34" charset="-122"/>
              </a:rPr>
              <a:t>90.33%</a:t>
            </a:r>
            <a:endParaRPr lang="zh-CN" altLang="en-US" sz="2400" b="1">
              <a:solidFill>
                <a:srgbClr val="2F80C9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28" name="文本框 27">
            <a:extLst>
              <a:ext uri="{FF2B5EF4-FFF2-40B4-BE49-F238E27FC236}">
                <a16:creationId xmlns:a16="http://schemas.microsoft.com/office/drawing/2014/main" id="{60E5F516-1472-29D6-ECB9-C86877BDBCC2}"/>
              </a:ext>
            </a:extLst>
          </p:cNvPr>
          <p:cNvSpPr txBox="1"/>
          <p:nvPr/>
        </p:nvSpPr>
        <p:spPr>
          <a:xfrm>
            <a:off x="8026400" y="5969000"/>
            <a:ext cx="1625600" cy="184666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200">
                <a:solidFill>
                  <a:srgbClr val="6B7F90"/>
                </a:solidFill>
                <a:latin typeface="Microsoft YaHei" panose="020B0503020204020204" pitchFamily="34" charset="-122"/>
              </a:rPr>
              <a:t>对角协方差 </a:t>
            </a:r>
            <a:r>
              <a:rPr lang="en-US" altLang="zh-CN" sz="1200">
                <a:solidFill>
                  <a:srgbClr val="6B7F90"/>
                </a:solidFill>
                <a:latin typeface="Microsoft YaHei" panose="020B0503020204020204" pitchFamily="34" charset="-122"/>
              </a:rPr>
              <a:t>test2</a:t>
            </a:r>
            <a:endParaRPr lang="zh-CN" altLang="en-US" sz="1200">
              <a:solidFill>
                <a:srgbClr val="6B7F90"/>
              </a:solidFill>
              <a:latin typeface="Microsoft YaHei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29909321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D3F4D265-2F27-C911-7642-9653060034F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C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DB92037B-0A14-9E0A-0E36-3FB2901A0A15}"/>
              </a:ext>
            </a:extLst>
          </p:cNvPr>
          <p:cNvSpPr/>
          <p:nvPr/>
        </p:nvSpPr>
        <p:spPr>
          <a:xfrm>
            <a:off x="0" y="0"/>
            <a:ext cx="12192000" cy="1016000"/>
          </a:xfrm>
          <a:prstGeom prst="rect">
            <a:avLst/>
          </a:prstGeom>
          <a:solidFill>
            <a:srgbClr val="006BB7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平行四边形 3">
            <a:extLst>
              <a:ext uri="{FF2B5EF4-FFF2-40B4-BE49-F238E27FC236}">
                <a16:creationId xmlns:a16="http://schemas.microsoft.com/office/drawing/2014/main" id="{147327C6-4006-C813-93A7-21C86636447D}"/>
              </a:ext>
            </a:extLst>
          </p:cNvPr>
          <p:cNvSpPr/>
          <p:nvPr/>
        </p:nvSpPr>
        <p:spPr>
          <a:xfrm>
            <a:off x="8953500" y="-228600"/>
            <a:ext cx="3581400" cy="1346200"/>
          </a:xfrm>
          <a:prstGeom prst="parallelogram">
            <a:avLst>
              <a:gd name="adj" fmla="val 20000"/>
            </a:avLst>
          </a:prstGeom>
          <a:solidFill>
            <a:srgbClr val="3A9BD9">
              <a:alpha val="85000"/>
            </a:srgbClr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平行四边形 4">
            <a:extLst>
              <a:ext uri="{FF2B5EF4-FFF2-40B4-BE49-F238E27FC236}">
                <a16:creationId xmlns:a16="http://schemas.microsoft.com/office/drawing/2014/main" id="{E3CF0F4C-FFD3-2B23-5312-A3D682A37474}"/>
              </a:ext>
            </a:extLst>
          </p:cNvPr>
          <p:cNvSpPr/>
          <p:nvPr/>
        </p:nvSpPr>
        <p:spPr>
          <a:xfrm>
            <a:off x="-508000" y="6324600"/>
            <a:ext cx="5969000" cy="660400"/>
          </a:xfrm>
          <a:prstGeom prst="parallelogram">
            <a:avLst>
              <a:gd name="adj" fmla="val 20000"/>
            </a:avLst>
          </a:prstGeom>
          <a:solidFill>
            <a:srgbClr val="DDF0F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0483152-A56F-2275-DB60-4E7F37873869}"/>
              </a:ext>
            </a:extLst>
          </p:cNvPr>
          <p:cNvSpPr txBox="1"/>
          <p:nvPr/>
        </p:nvSpPr>
        <p:spPr>
          <a:xfrm>
            <a:off x="736600" y="254000"/>
            <a:ext cx="4953000" cy="10772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700" b="1">
                <a:solidFill>
                  <a:srgbClr val="CDEBFF"/>
                </a:solidFill>
                <a:latin typeface="Microsoft YaHei" panose="020B0503020204020204" pitchFamily="34" charset="-122"/>
              </a:rPr>
              <a:t>ANALYSIS</a:t>
            </a:r>
            <a:endParaRPr lang="zh-CN" altLang="en-US" sz="700" b="1">
              <a:solidFill>
                <a:srgbClr val="CDEBFF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3F087A13-3A0B-B5A6-9B6E-7239450F8C28}"/>
              </a:ext>
            </a:extLst>
          </p:cNvPr>
          <p:cNvSpPr txBox="1"/>
          <p:nvPr/>
        </p:nvSpPr>
        <p:spPr>
          <a:xfrm>
            <a:off x="736600" y="533400"/>
            <a:ext cx="8509000" cy="41549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2700" b="1">
                <a:solidFill>
                  <a:srgbClr val="FFFFFF"/>
                </a:solidFill>
                <a:latin typeface="Microsoft YaHei" panose="020B0503020204020204" pitchFamily="34" charset="-122"/>
              </a:rPr>
              <a:t>实验一分析：先验与风险改变决策偏向</a:t>
            </a:r>
          </a:p>
        </p:txBody>
      </p:sp>
      <p:cxnSp>
        <p:nvCxnSpPr>
          <p:cNvPr id="8" name="直接连接符 7">
            <a:extLst>
              <a:ext uri="{FF2B5EF4-FFF2-40B4-BE49-F238E27FC236}">
                <a16:creationId xmlns:a16="http://schemas.microsoft.com/office/drawing/2014/main" id="{3E40D948-FEC6-D98E-1553-4A258E4C68D0}"/>
              </a:ext>
            </a:extLst>
          </p:cNvPr>
          <p:cNvCxnSpPr/>
          <p:nvPr/>
        </p:nvCxnSpPr>
        <p:spPr>
          <a:xfrm>
            <a:off x="736600" y="1295400"/>
            <a:ext cx="1168400" cy="0"/>
          </a:xfrm>
          <a:prstGeom prst="line">
            <a:avLst/>
          </a:prstGeom>
          <a:ln w="38100">
            <a:solidFill>
              <a:srgbClr val="D4A84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文本框 8">
            <a:extLst>
              <a:ext uri="{FF2B5EF4-FFF2-40B4-BE49-F238E27FC236}">
                <a16:creationId xmlns:a16="http://schemas.microsoft.com/office/drawing/2014/main" id="{8206B371-0BDE-2879-CD31-2F3E4111EC3A}"/>
              </a:ext>
            </a:extLst>
          </p:cNvPr>
          <p:cNvSpPr txBox="1"/>
          <p:nvPr/>
        </p:nvSpPr>
        <p:spPr>
          <a:xfrm>
            <a:off x="533400" y="6527800"/>
            <a:ext cx="3937000" cy="10772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700">
                <a:solidFill>
                  <a:srgbClr val="8FA8BA"/>
                </a:solidFill>
                <a:latin typeface="Microsoft YaHei" panose="020B0503020204020204" pitchFamily="34" charset="-122"/>
              </a:rPr>
              <a:t>模式识别课程实验汇报 </a:t>
            </a:r>
            <a:r>
              <a:rPr lang="en-US" altLang="zh-CN" sz="700">
                <a:solidFill>
                  <a:srgbClr val="8FA8BA"/>
                </a:solidFill>
                <a:latin typeface="Microsoft YaHei" panose="020B0503020204020204" pitchFamily="34" charset="-122"/>
              </a:rPr>
              <a:t>· </a:t>
            </a:r>
            <a:r>
              <a:rPr lang="zh-CN" altLang="en-US" sz="700">
                <a:solidFill>
                  <a:srgbClr val="8FA8BA"/>
                </a:solidFill>
                <a:latin typeface="Microsoft YaHei" panose="020B0503020204020204" pitchFamily="34" charset="-122"/>
              </a:rPr>
              <a:t>蓝白科研汇报模板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DAC2DB52-CAA5-4164-67C7-EABF69C7D97B}"/>
              </a:ext>
            </a:extLst>
          </p:cNvPr>
          <p:cNvSpPr txBox="1"/>
          <p:nvPr/>
        </p:nvSpPr>
        <p:spPr>
          <a:xfrm>
            <a:off x="11366500" y="6477000"/>
            <a:ext cx="355600" cy="10772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r"/>
            <a:r>
              <a:rPr lang="en-US" altLang="zh-CN" sz="700" b="1">
                <a:solidFill>
                  <a:srgbClr val="006BB7"/>
                </a:solidFill>
                <a:latin typeface="Microsoft YaHei" panose="020B0503020204020204" pitchFamily="34" charset="-122"/>
              </a:rPr>
              <a:t>08</a:t>
            </a:r>
            <a:endParaRPr lang="zh-CN" altLang="en-US" sz="700" b="1">
              <a:solidFill>
                <a:srgbClr val="006BB7"/>
              </a:solidFill>
              <a:latin typeface="Microsoft YaHei" panose="020B0503020204020204" pitchFamily="34" charset="-122"/>
            </a:endParaRPr>
          </a:p>
        </p:txBody>
      </p:sp>
      <p:graphicFrame>
        <p:nvGraphicFramePr>
          <p:cNvPr id="11" name="表格 10">
            <a:extLst>
              <a:ext uri="{FF2B5EF4-FFF2-40B4-BE49-F238E27FC236}">
                <a16:creationId xmlns:a16="http://schemas.microsoft.com/office/drawing/2014/main" id="{CBF6D2F5-B6E3-F336-F600-2BC0BBEDF6E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1589371"/>
              </p:ext>
            </p:extLst>
          </p:nvPr>
        </p:nvGraphicFramePr>
        <p:xfrm>
          <a:off x="762000" y="1333500"/>
          <a:ext cx="6350000" cy="2413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87500">
                  <a:extLst>
                    <a:ext uri="{9D8B030D-6E8A-4147-A177-3AD203B41FA5}">
                      <a16:colId xmlns:a16="http://schemas.microsoft.com/office/drawing/2014/main" val="3027789833"/>
                    </a:ext>
                  </a:extLst>
                </a:gridCol>
                <a:gridCol w="1587500">
                  <a:extLst>
                    <a:ext uri="{9D8B030D-6E8A-4147-A177-3AD203B41FA5}">
                      <a16:colId xmlns:a16="http://schemas.microsoft.com/office/drawing/2014/main" val="691787794"/>
                    </a:ext>
                  </a:extLst>
                </a:gridCol>
                <a:gridCol w="1587500">
                  <a:extLst>
                    <a:ext uri="{9D8B030D-6E8A-4147-A177-3AD203B41FA5}">
                      <a16:colId xmlns:a16="http://schemas.microsoft.com/office/drawing/2014/main" val="4091569993"/>
                    </a:ext>
                  </a:extLst>
                </a:gridCol>
                <a:gridCol w="1587500">
                  <a:extLst>
                    <a:ext uri="{9D8B030D-6E8A-4147-A177-3AD203B41FA5}">
                      <a16:colId xmlns:a16="http://schemas.microsoft.com/office/drawing/2014/main" val="2278608409"/>
                    </a:ext>
                  </a:extLst>
                </a:gridCol>
              </a:tblGrid>
              <a:tr h="402167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100" b="1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方法</a:t>
                      </a:r>
                    </a:p>
                  </a:txBody>
                  <a:tcPr marL="38100" marR="38100" marT="25400" marB="25400" anchor="ctr">
                    <a:solidFill>
                      <a:srgbClr val="006BB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100" b="1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训练集</a:t>
                      </a:r>
                    </a:p>
                  </a:txBody>
                  <a:tcPr marL="38100" marR="38100" marT="25400" marB="25400" anchor="ctr">
                    <a:solidFill>
                      <a:srgbClr val="006BB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100" b="1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test1</a:t>
                      </a:r>
                      <a:endParaRPr lang="zh-CN" altLang="en-US" sz="1100" b="1">
                        <a:solidFill>
                          <a:srgbClr val="000000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marL="38100" marR="38100" marT="25400" marB="25400" anchor="ctr">
                    <a:solidFill>
                      <a:srgbClr val="006BB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100" b="1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test2</a:t>
                      </a:r>
                      <a:endParaRPr lang="zh-CN" altLang="en-US" sz="1100" b="1">
                        <a:solidFill>
                          <a:srgbClr val="000000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marL="38100" marR="38100" marT="25400" marB="25400" anchor="ctr">
                    <a:solidFill>
                      <a:srgbClr val="006BB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09966521"/>
                  </a:ext>
                </a:extLst>
              </a:tr>
              <a:tr h="402167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二维 </a:t>
                      </a:r>
                      <a:r>
                        <a:rPr lang="en-US" altLang="zh-CN" sz="10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Bayes </a:t>
                      </a:r>
                      <a:r>
                        <a:rPr lang="zh-CN" altLang="en-US" sz="10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完整协方差</a:t>
                      </a:r>
                    </a:p>
                  </a:txBody>
                  <a:tcPr marL="38100" marR="38100" marT="25400" marB="254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88.00%</a:t>
                      </a:r>
                      <a:endParaRPr lang="zh-CN" altLang="en-US" sz="1000" b="0">
                        <a:solidFill>
                          <a:srgbClr val="000000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marL="38100" marR="38100" marT="25400" marB="254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97.14%</a:t>
                      </a:r>
                      <a:endParaRPr lang="zh-CN" altLang="en-US" sz="1000" b="0">
                        <a:solidFill>
                          <a:srgbClr val="000000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marL="38100" marR="38100" marT="25400" marB="254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89.33%</a:t>
                      </a:r>
                      <a:endParaRPr lang="zh-CN" altLang="en-US" sz="1000" b="0">
                        <a:solidFill>
                          <a:srgbClr val="000000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marL="38100" marR="38100" marT="25400" marB="25400" anchor="ctr"/>
                </a:tc>
                <a:extLst>
                  <a:ext uri="{0D108BD9-81ED-4DB2-BD59-A6C34878D82A}">
                    <a16:rowId xmlns:a16="http://schemas.microsoft.com/office/drawing/2014/main" val="2343471998"/>
                  </a:ext>
                </a:extLst>
              </a:tr>
              <a:tr h="402167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二维 </a:t>
                      </a:r>
                      <a:r>
                        <a:rPr lang="en-US" altLang="zh-CN" sz="10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Bayes </a:t>
                      </a:r>
                      <a:r>
                        <a:rPr lang="zh-CN" altLang="en-US" sz="10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对角协方差</a:t>
                      </a:r>
                    </a:p>
                  </a:txBody>
                  <a:tcPr marL="38100" marR="38100" marT="25400" marB="254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88.00%</a:t>
                      </a:r>
                      <a:endParaRPr lang="zh-CN" altLang="en-US" sz="1000" b="0">
                        <a:solidFill>
                          <a:srgbClr val="000000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marL="38100" marR="38100" marT="25400" marB="254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97.14%</a:t>
                      </a:r>
                      <a:endParaRPr lang="zh-CN" altLang="en-US" sz="1000" b="0">
                        <a:solidFill>
                          <a:srgbClr val="000000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marL="38100" marR="38100" marT="25400" marB="254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90.33%</a:t>
                      </a:r>
                      <a:endParaRPr lang="zh-CN" altLang="en-US" sz="1000" b="0">
                        <a:solidFill>
                          <a:srgbClr val="000000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marL="38100" marR="38100" marT="25400" marB="25400" anchor="ctr"/>
                </a:tc>
                <a:extLst>
                  <a:ext uri="{0D108BD9-81ED-4DB2-BD59-A6C34878D82A}">
                    <a16:rowId xmlns:a16="http://schemas.microsoft.com/office/drawing/2014/main" val="2060275503"/>
                  </a:ext>
                </a:extLst>
              </a:tr>
              <a:tr h="402167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最小风险 </a:t>
                      </a:r>
                      <a:r>
                        <a:rPr lang="en-US" altLang="zh-CN" sz="10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Bayes</a:t>
                      </a:r>
                      <a:endParaRPr lang="zh-CN" altLang="en-US" sz="1000" b="0">
                        <a:solidFill>
                          <a:srgbClr val="000000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marL="38100" marR="38100" marT="25400" marB="254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84.00%</a:t>
                      </a:r>
                      <a:endParaRPr lang="zh-CN" altLang="en-US" sz="1000" b="0">
                        <a:solidFill>
                          <a:srgbClr val="000000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marL="38100" marR="38100" marT="25400" marB="254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94.29%</a:t>
                      </a:r>
                      <a:endParaRPr lang="zh-CN" altLang="en-US" sz="1000" b="0">
                        <a:solidFill>
                          <a:srgbClr val="000000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marL="38100" marR="38100" marT="25400" marB="254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84.33%</a:t>
                      </a:r>
                      <a:endParaRPr lang="zh-CN" altLang="en-US" sz="1000" b="0">
                        <a:solidFill>
                          <a:srgbClr val="000000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marL="38100" marR="38100" marT="25400" marB="25400" anchor="ctr"/>
                </a:tc>
                <a:extLst>
                  <a:ext uri="{0D108BD9-81ED-4DB2-BD59-A6C34878D82A}">
                    <a16:rowId xmlns:a16="http://schemas.microsoft.com/office/drawing/2014/main" val="2212166541"/>
                  </a:ext>
                </a:extLst>
              </a:tr>
              <a:tr h="402167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Parzen Bayes</a:t>
                      </a:r>
                      <a:endParaRPr lang="zh-CN" altLang="en-US" sz="1000" b="0">
                        <a:solidFill>
                          <a:srgbClr val="000000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marL="38100" marR="38100" marT="25400" marB="254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87.00%</a:t>
                      </a:r>
                      <a:endParaRPr lang="zh-CN" altLang="en-US" sz="1000" b="0">
                        <a:solidFill>
                          <a:srgbClr val="000000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marL="38100" marR="38100" marT="25400" marB="254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97.14%</a:t>
                      </a:r>
                      <a:endParaRPr lang="zh-CN" altLang="en-US" sz="1000" b="0">
                        <a:solidFill>
                          <a:srgbClr val="000000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marL="38100" marR="38100" marT="25400" marB="254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90.33%</a:t>
                      </a:r>
                      <a:endParaRPr lang="zh-CN" altLang="en-US" sz="1000" b="0">
                        <a:solidFill>
                          <a:srgbClr val="000000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marL="38100" marR="38100" marT="25400" marB="25400" anchor="ctr"/>
                </a:tc>
                <a:extLst>
                  <a:ext uri="{0D108BD9-81ED-4DB2-BD59-A6C34878D82A}">
                    <a16:rowId xmlns:a16="http://schemas.microsoft.com/office/drawing/2014/main" val="2729699549"/>
                  </a:ext>
                </a:extLst>
              </a:tr>
              <a:tr h="402167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kNN</a:t>
                      </a:r>
                      <a:r>
                        <a:rPr lang="zh-CN" altLang="en-US" sz="10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，</a:t>
                      </a:r>
                      <a:r>
                        <a:rPr lang="en-US" altLang="zh-CN" sz="10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k=5</a:t>
                      </a:r>
                      <a:endParaRPr lang="zh-CN" altLang="en-US" sz="1000" b="0">
                        <a:solidFill>
                          <a:srgbClr val="000000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marL="38100" marR="38100" marT="25400" marB="254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89.00%</a:t>
                      </a:r>
                      <a:endParaRPr lang="zh-CN" altLang="en-US" sz="1000" b="0">
                        <a:solidFill>
                          <a:srgbClr val="000000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marL="38100" marR="38100" marT="25400" marB="254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100.00%</a:t>
                      </a:r>
                      <a:endParaRPr lang="zh-CN" altLang="en-US" sz="1000" b="0">
                        <a:solidFill>
                          <a:srgbClr val="000000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marL="38100" marR="38100" marT="25400" marB="254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90.33%</a:t>
                      </a:r>
                      <a:endParaRPr lang="zh-CN" altLang="en-US" sz="1000" b="0">
                        <a:solidFill>
                          <a:srgbClr val="000000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marL="38100" marR="38100" marT="25400" marB="25400" anchor="ctr"/>
                </a:tc>
                <a:extLst>
                  <a:ext uri="{0D108BD9-81ED-4DB2-BD59-A6C34878D82A}">
                    <a16:rowId xmlns:a16="http://schemas.microsoft.com/office/drawing/2014/main" val="210535391"/>
                  </a:ext>
                </a:extLst>
              </a:tr>
            </a:tbl>
          </a:graphicData>
        </a:graphic>
      </p:graphicFrame>
      <p:sp>
        <p:nvSpPr>
          <p:cNvPr id="12" name="矩形: 圆角 11">
            <a:extLst>
              <a:ext uri="{FF2B5EF4-FFF2-40B4-BE49-F238E27FC236}">
                <a16:creationId xmlns:a16="http://schemas.microsoft.com/office/drawing/2014/main" id="{0B4C4DA7-8B2B-3ADF-FD5F-1ED16FEB540D}"/>
              </a:ext>
            </a:extLst>
          </p:cNvPr>
          <p:cNvSpPr/>
          <p:nvPr/>
        </p:nvSpPr>
        <p:spPr>
          <a:xfrm>
            <a:off x="7848600" y="1333500"/>
            <a:ext cx="2794000" cy="241300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4" name="图片 13">
            <a:extLst>
              <a:ext uri="{FF2B5EF4-FFF2-40B4-BE49-F238E27FC236}">
                <a16:creationId xmlns:a16="http://schemas.microsoft.com/office/drawing/2014/main" id="{250C7314-2BAD-47FA-9AAE-C147DBE3966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01917" y="1731129"/>
            <a:ext cx="1887366" cy="1617742"/>
          </a:xfrm>
          <a:prstGeom prst="rect">
            <a:avLst/>
          </a:prstGeom>
        </p:spPr>
      </p:pic>
      <p:sp>
        <p:nvSpPr>
          <p:cNvPr id="15" name="文本框 14">
            <a:extLst>
              <a:ext uri="{FF2B5EF4-FFF2-40B4-BE49-F238E27FC236}">
                <a16:creationId xmlns:a16="http://schemas.microsoft.com/office/drawing/2014/main" id="{AC6818A4-51FB-C53F-DC23-A10D06275D00}"/>
              </a:ext>
            </a:extLst>
          </p:cNvPr>
          <p:cNvSpPr txBox="1"/>
          <p:nvPr/>
        </p:nvSpPr>
        <p:spPr>
          <a:xfrm>
            <a:off x="914400" y="4445000"/>
            <a:ext cx="9906000" cy="779701"/>
          </a:xfrm>
          <a:prstGeom prst="rect">
            <a:avLst/>
          </a:prstGeom>
          <a:noFill/>
        </p:spPr>
        <p:txBody>
          <a:bodyPr vert="horz" lIns="101600" tIns="25400" rIns="25400" bIns="25400" rtlCol="0">
            <a:spAutoFit/>
          </a:bodyPr>
          <a:lstStyle/>
          <a:p>
            <a:pPr marL="342900" indent="-342900">
              <a:spcAft>
                <a:spcPts val="500"/>
              </a:spcAft>
              <a:buFont typeface="+mj-lt"/>
              <a:buAutoNum type="arabicPeriod"/>
            </a:pPr>
            <a:r>
              <a:rPr lang="zh-CN" altLang="en-US" sz="1300">
                <a:solidFill>
                  <a:srgbClr val="38566F"/>
                </a:solidFill>
                <a:latin typeface="Microsoft YaHei" panose="020B0503020204020204" pitchFamily="34" charset="-122"/>
              </a:rPr>
              <a:t>身高和体重组合能利用互补信息，整体比单特征更稳定</a:t>
            </a:r>
          </a:p>
          <a:p>
            <a:pPr marL="342900" indent="-342900">
              <a:spcAft>
                <a:spcPts val="500"/>
              </a:spcAft>
              <a:buFont typeface="+mj-lt"/>
              <a:buAutoNum type="arabicPeriod"/>
            </a:pPr>
            <a:r>
              <a:rPr lang="en-US" altLang="zh-CN" sz="1300">
                <a:solidFill>
                  <a:srgbClr val="38566F"/>
                </a:solidFill>
                <a:latin typeface="Microsoft YaHei" panose="020B0503020204020204" pitchFamily="34" charset="-122"/>
              </a:rPr>
              <a:t>test2 </a:t>
            </a:r>
            <a:r>
              <a:rPr lang="zh-CN" altLang="en-US" sz="1300">
                <a:solidFill>
                  <a:srgbClr val="38566F"/>
                </a:solidFill>
                <a:latin typeface="Microsoft YaHei" panose="020B0503020204020204" pitchFamily="34" charset="-122"/>
              </a:rPr>
              <a:t>中男生比例更高，若人为设置女生先验过大，会显著降低整体准确率</a:t>
            </a:r>
          </a:p>
          <a:p>
            <a:pPr marL="342900" indent="-342900">
              <a:spcAft>
                <a:spcPts val="500"/>
              </a:spcAft>
              <a:buFont typeface="+mj-lt"/>
              <a:buAutoNum type="arabicPeriod"/>
            </a:pPr>
            <a:r>
              <a:rPr lang="zh-CN" altLang="en-US" sz="1300">
                <a:solidFill>
                  <a:srgbClr val="38566F"/>
                </a:solidFill>
                <a:latin typeface="Microsoft YaHei" panose="020B0503020204020204" pitchFamily="34" charset="-122"/>
              </a:rPr>
              <a:t>最小风险决策体现错误代价不同时的分类器设计思想</a:t>
            </a:r>
          </a:p>
        </p:txBody>
      </p:sp>
    </p:spTree>
    <p:extLst>
      <p:ext uri="{BB962C8B-B14F-4D97-AF65-F5344CB8AC3E}">
        <p14:creationId xmlns:p14="http://schemas.microsoft.com/office/powerpoint/2010/main" val="91699346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7762B6B4-2C47-C402-0706-BD01D37BC2DA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4A82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平行四边形 2">
            <a:extLst>
              <a:ext uri="{FF2B5EF4-FFF2-40B4-BE49-F238E27FC236}">
                <a16:creationId xmlns:a16="http://schemas.microsoft.com/office/drawing/2014/main" id="{05183DAA-5610-ABBD-230E-01ED9FB6114C}"/>
              </a:ext>
            </a:extLst>
          </p:cNvPr>
          <p:cNvSpPr/>
          <p:nvPr/>
        </p:nvSpPr>
        <p:spPr>
          <a:xfrm>
            <a:off x="-889000" y="4826000"/>
            <a:ext cx="7302500" cy="2159000"/>
          </a:xfrm>
          <a:prstGeom prst="parallelogram">
            <a:avLst>
              <a:gd name="adj" fmla="val 18000"/>
            </a:avLst>
          </a:prstGeom>
          <a:solidFill>
            <a:srgbClr val="006BB7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平行四边形 3">
            <a:extLst>
              <a:ext uri="{FF2B5EF4-FFF2-40B4-BE49-F238E27FC236}">
                <a16:creationId xmlns:a16="http://schemas.microsoft.com/office/drawing/2014/main" id="{B207009A-2B50-2FA5-98EA-D74DBD87A8AE}"/>
              </a:ext>
            </a:extLst>
          </p:cNvPr>
          <p:cNvSpPr/>
          <p:nvPr/>
        </p:nvSpPr>
        <p:spPr>
          <a:xfrm>
            <a:off x="8128000" y="-355600"/>
            <a:ext cx="4953000" cy="2095500"/>
          </a:xfrm>
          <a:prstGeom prst="parallelogram">
            <a:avLst>
              <a:gd name="adj" fmla="val 20000"/>
            </a:avLst>
          </a:prstGeom>
          <a:solidFill>
            <a:srgbClr val="3A9BD9">
              <a:alpha val="85000"/>
            </a:srgbClr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AF5F6931-DAFF-4715-3A79-F8B2F6F3E535}"/>
              </a:ext>
            </a:extLst>
          </p:cNvPr>
          <p:cNvSpPr txBox="1"/>
          <p:nvPr/>
        </p:nvSpPr>
        <p:spPr>
          <a:xfrm>
            <a:off x="889000" y="1168400"/>
            <a:ext cx="1651000" cy="41549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2700" b="1">
                <a:solidFill>
                  <a:srgbClr val="D4A84B"/>
                </a:solidFill>
                <a:latin typeface="Microsoft YaHei" panose="020B0503020204020204" pitchFamily="34" charset="-122"/>
              </a:rPr>
              <a:t>02</a:t>
            </a:r>
            <a:endParaRPr lang="zh-CN" altLang="en-US" sz="2700" b="1">
              <a:solidFill>
                <a:srgbClr val="D4A84B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42233A6-1D35-D4DD-9E52-6333FDB9C30D}"/>
              </a:ext>
            </a:extLst>
          </p:cNvPr>
          <p:cNvSpPr txBox="1"/>
          <p:nvPr/>
        </p:nvSpPr>
        <p:spPr>
          <a:xfrm>
            <a:off x="889000" y="2006600"/>
            <a:ext cx="9652000" cy="600164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3900" b="1">
                <a:solidFill>
                  <a:srgbClr val="FFFFFF"/>
                </a:solidFill>
                <a:latin typeface="Microsoft YaHei" panose="020B0503020204020204" pitchFamily="34" charset="-122"/>
              </a:rPr>
              <a:t>实验二：非参数估计与 </a:t>
            </a:r>
            <a:r>
              <a:rPr lang="en-US" altLang="zh-CN" sz="3900" b="1">
                <a:solidFill>
                  <a:srgbClr val="FFFFFF"/>
                </a:solidFill>
                <a:latin typeface="Microsoft YaHei" panose="020B0503020204020204" pitchFamily="34" charset="-122"/>
              </a:rPr>
              <a:t>Fisher </a:t>
            </a:r>
            <a:r>
              <a:rPr lang="zh-CN" altLang="en-US" sz="3900" b="1">
                <a:solidFill>
                  <a:srgbClr val="FFFFFF"/>
                </a:solidFill>
                <a:latin typeface="Microsoft YaHei" panose="020B0503020204020204" pitchFamily="34" charset="-122"/>
              </a:rPr>
              <a:t>判别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57B8E8F-CD01-FFD5-074B-6037AB269DF7}"/>
              </a:ext>
            </a:extLst>
          </p:cNvPr>
          <p:cNvSpPr txBox="1"/>
          <p:nvPr/>
        </p:nvSpPr>
        <p:spPr>
          <a:xfrm>
            <a:off x="939800" y="2946400"/>
            <a:ext cx="8890000" cy="261610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700">
                <a:solidFill>
                  <a:srgbClr val="D9ECFF"/>
                </a:solidFill>
                <a:latin typeface="Microsoft YaHei" panose="020B0503020204020204" pitchFamily="34" charset="-122"/>
              </a:rPr>
              <a:t>比较概率密度估计方法与直接设计线性分类器的方法</a:t>
            </a:r>
          </a:p>
        </p:txBody>
      </p:sp>
      <p:cxnSp>
        <p:nvCxnSpPr>
          <p:cNvPr id="8" name="直接连接符 7">
            <a:extLst>
              <a:ext uri="{FF2B5EF4-FFF2-40B4-BE49-F238E27FC236}">
                <a16:creationId xmlns:a16="http://schemas.microsoft.com/office/drawing/2014/main" id="{40082BC0-3448-A71B-3E41-7F400B94C33D}"/>
              </a:ext>
            </a:extLst>
          </p:cNvPr>
          <p:cNvCxnSpPr/>
          <p:nvPr/>
        </p:nvCxnSpPr>
        <p:spPr>
          <a:xfrm>
            <a:off x="939800" y="3810000"/>
            <a:ext cx="2489200" cy="0"/>
          </a:xfrm>
          <a:prstGeom prst="line">
            <a:avLst/>
          </a:prstGeom>
          <a:ln w="50800">
            <a:solidFill>
              <a:srgbClr val="D4A84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156247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6D698A0A-75AC-8184-FDB5-0E4E14B76EAC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C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915A3435-FDB7-C517-ECEC-9B69B8765CDF}"/>
              </a:ext>
            </a:extLst>
          </p:cNvPr>
          <p:cNvSpPr/>
          <p:nvPr/>
        </p:nvSpPr>
        <p:spPr>
          <a:xfrm>
            <a:off x="0" y="0"/>
            <a:ext cx="12192000" cy="1016000"/>
          </a:xfrm>
          <a:prstGeom prst="rect">
            <a:avLst/>
          </a:prstGeom>
          <a:solidFill>
            <a:srgbClr val="006BB7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平行四边形 3">
            <a:extLst>
              <a:ext uri="{FF2B5EF4-FFF2-40B4-BE49-F238E27FC236}">
                <a16:creationId xmlns:a16="http://schemas.microsoft.com/office/drawing/2014/main" id="{FD56E331-45CD-F2CA-F40A-C48A5F0A918F}"/>
              </a:ext>
            </a:extLst>
          </p:cNvPr>
          <p:cNvSpPr/>
          <p:nvPr/>
        </p:nvSpPr>
        <p:spPr>
          <a:xfrm>
            <a:off x="8953500" y="-228600"/>
            <a:ext cx="3581400" cy="1346200"/>
          </a:xfrm>
          <a:prstGeom prst="parallelogram">
            <a:avLst>
              <a:gd name="adj" fmla="val 20000"/>
            </a:avLst>
          </a:prstGeom>
          <a:solidFill>
            <a:srgbClr val="3A9BD9">
              <a:alpha val="85000"/>
            </a:srgbClr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平行四边形 4">
            <a:extLst>
              <a:ext uri="{FF2B5EF4-FFF2-40B4-BE49-F238E27FC236}">
                <a16:creationId xmlns:a16="http://schemas.microsoft.com/office/drawing/2014/main" id="{36448ED6-D05E-565F-37AE-4F276DC10D99}"/>
              </a:ext>
            </a:extLst>
          </p:cNvPr>
          <p:cNvSpPr/>
          <p:nvPr/>
        </p:nvSpPr>
        <p:spPr>
          <a:xfrm>
            <a:off x="-508000" y="6324600"/>
            <a:ext cx="5969000" cy="660400"/>
          </a:xfrm>
          <a:prstGeom prst="parallelogram">
            <a:avLst>
              <a:gd name="adj" fmla="val 20000"/>
            </a:avLst>
          </a:prstGeom>
          <a:solidFill>
            <a:srgbClr val="DDF0F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38D41D9E-AD54-A52B-90A4-6B9ED83B31BF}"/>
              </a:ext>
            </a:extLst>
          </p:cNvPr>
          <p:cNvSpPr txBox="1"/>
          <p:nvPr/>
        </p:nvSpPr>
        <p:spPr>
          <a:xfrm>
            <a:off x="736600" y="254000"/>
            <a:ext cx="4953000" cy="10772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700" b="1">
                <a:solidFill>
                  <a:srgbClr val="CDEBFF"/>
                </a:solidFill>
                <a:latin typeface="Microsoft YaHei" panose="020B0503020204020204" pitchFamily="34" charset="-122"/>
              </a:rPr>
              <a:t>NONPARAMETRIC &amp; LINEAR</a:t>
            </a:r>
            <a:endParaRPr lang="zh-CN" altLang="en-US" sz="700" b="1">
              <a:solidFill>
                <a:srgbClr val="CDEBFF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DF451A9B-EE93-1D51-5C8C-0DB7DC071687}"/>
              </a:ext>
            </a:extLst>
          </p:cNvPr>
          <p:cNvSpPr txBox="1"/>
          <p:nvPr/>
        </p:nvSpPr>
        <p:spPr>
          <a:xfrm>
            <a:off x="736600" y="533400"/>
            <a:ext cx="8509000" cy="41549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2700" b="1">
                <a:solidFill>
                  <a:srgbClr val="FFFFFF"/>
                </a:solidFill>
                <a:latin typeface="Microsoft YaHei" panose="020B0503020204020204" pitchFamily="34" charset="-122"/>
              </a:rPr>
              <a:t>实验二理论：</a:t>
            </a:r>
            <a:r>
              <a:rPr lang="en-US" altLang="zh-CN" sz="2700" b="1">
                <a:solidFill>
                  <a:srgbClr val="FFFFFF"/>
                </a:solidFill>
                <a:latin typeface="Microsoft YaHei" panose="020B0503020204020204" pitchFamily="34" charset="-122"/>
              </a:rPr>
              <a:t>Parzen</a:t>
            </a:r>
            <a:r>
              <a:rPr lang="zh-CN" altLang="en-US" sz="2700" b="1">
                <a:solidFill>
                  <a:srgbClr val="FFFFFF"/>
                </a:solidFill>
                <a:latin typeface="Microsoft YaHei" panose="020B0503020204020204" pitchFamily="34" charset="-122"/>
              </a:rPr>
              <a:t>、</a:t>
            </a:r>
            <a:r>
              <a:rPr lang="en-US" altLang="zh-CN" sz="2700" b="1">
                <a:solidFill>
                  <a:srgbClr val="FFFFFF"/>
                </a:solidFill>
                <a:latin typeface="Microsoft YaHei" panose="020B0503020204020204" pitchFamily="34" charset="-122"/>
              </a:rPr>
              <a:t>Fisher </a:t>
            </a:r>
            <a:r>
              <a:rPr lang="zh-CN" altLang="en-US" sz="2700" b="1">
                <a:solidFill>
                  <a:srgbClr val="FFFFFF"/>
                </a:solidFill>
                <a:latin typeface="Microsoft YaHei" panose="020B0503020204020204" pitchFamily="34" charset="-122"/>
              </a:rPr>
              <a:t>与留一法</a:t>
            </a:r>
          </a:p>
        </p:txBody>
      </p:sp>
      <p:cxnSp>
        <p:nvCxnSpPr>
          <p:cNvPr id="8" name="直接连接符 7">
            <a:extLst>
              <a:ext uri="{FF2B5EF4-FFF2-40B4-BE49-F238E27FC236}">
                <a16:creationId xmlns:a16="http://schemas.microsoft.com/office/drawing/2014/main" id="{79F76B93-D084-0F33-8849-8D29DB84DD57}"/>
              </a:ext>
            </a:extLst>
          </p:cNvPr>
          <p:cNvCxnSpPr/>
          <p:nvPr/>
        </p:nvCxnSpPr>
        <p:spPr>
          <a:xfrm>
            <a:off x="736600" y="1295400"/>
            <a:ext cx="1168400" cy="0"/>
          </a:xfrm>
          <a:prstGeom prst="line">
            <a:avLst/>
          </a:prstGeom>
          <a:ln w="38100">
            <a:solidFill>
              <a:srgbClr val="D4A84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文本框 8">
            <a:extLst>
              <a:ext uri="{FF2B5EF4-FFF2-40B4-BE49-F238E27FC236}">
                <a16:creationId xmlns:a16="http://schemas.microsoft.com/office/drawing/2014/main" id="{C0172ECE-0AE8-1AF4-A522-85891988D503}"/>
              </a:ext>
            </a:extLst>
          </p:cNvPr>
          <p:cNvSpPr txBox="1"/>
          <p:nvPr/>
        </p:nvSpPr>
        <p:spPr>
          <a:xfrm>
            <a:off x="533400" y="6527800"/>
            <a:ext cx="3937000" cy="10772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700">
                <a:solidFill>
                  <a:srgbClr val="8FA8BA"/>
                </a:solidFill>
                <a:latin typeface="Microsoft YaHei" panose="020B0503020204020204" pitchFamily="34" charset="-122"/>
              </a:rPr>
              <a:t>模式识别课程实验汇报 </a:t>
            </a:r>
            <a:r>
              <a:rPr lang="en-US" altLang="zh-CN" sz="700">
                <a:solidFill>
                  <a:srgbClr val="8FA8BA"/>
                </a:solidFill>
                <a:latin typeface="Microsoft YaHei" panose="020B0503020204020204" pitchFamily="34" charset="-122"/>
              </a:rPr>
              <a:t>· </a:t>
            </a:r>
            <a:r>
              <a:rPr lang="zh-CN" altLang="en-US" sz="700">
                <a:solidFill>
                  <a:srgbClr val="8FA8BA"/>
                </a:solidFill>
                <a:latin typeface="Microsoft YaHei" panose="020B0503020204020204" pitchFamily="34" charset="-122"/>
              </a:rPr>
              <a:t>蓝白科研汇报模板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0478E756-0E79-36DA-243B-C902361A3720}"/>
              </a:ext>
            </a:extLst>
          </p:cNvPr>
          <p:cNvSpPr txBox="1"/>
          <p:nvPr/>
        </p:nvSpPr>
        <p:spPr>
          <a:xfrm>
            <a:off x="11366500" y="6477000"/>
            <a:ext cx="355600" cy="10772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r"/>
            <a:r>
              <a:rPr lang="en-US" altLang="zh-CN" sz="700" b="1">
                <a:solidFill>
                  <a:srgbClr val="006BB7"/>
                </a:solidFill>
                <a:latin typeface="Microsoft YaHei" panose="020B0503020204020204" pitchFamily="34" charset="-122"/>
              </a:rPr>
              <a:t>09</a:t>
            </a:r>
            <a:endParaRPr lang="zh-CN" altLang="en-US" sz="700" b="1">
              <a:solidFill>
                <a:srgbClr val="006BB7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66D9759D-CBD6-81A8-6700-7F0A724E85E7}"/>
              </a:ext>
            </a:extLst>
          </p:cNvPr>
          <p:cNvSpPr/>
          <p:nvPr/>
        </p:nvSpPr>
        <p:spPr>
          <a:xfrm>
            <a:off x="736600" y="1371600"/>
            <a:ext cx="3302000" cy="114300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B8AC8924-FCBF-EE85-58A8-D97C8E497580}"/>
              </a:ext>
            </a:extLst>
          </p:cNvPr>
          <p:cNvSpPr/>
          <p:nvPr/>
        </p:nvSpPr>
        <p:spPr>
          <a:xfrm>
            <a:off x="736600" y="1371600"/>
            <a:ext cx="76200" cy="1143000"/>
          </a:xfrm>
          <a:prstGeom prst="rect">
            <a:avLst/>
          </a:prstGeom>
          <a:solidFill>
            <a:srgbClr val="006BB7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E54B6612-8FE6-955F-1BAB-39BB6A74F7A8}"/>
              </a:ext>
            </a:extLst>
          </p:cNvPr>
          <p:cNvSpPr txBox="1"/>
          <p:nvPr/>
        </p:nvSpPr>
        <p:spPr>
          <a:xfrm>
            <a:off x="927100" y="1498600"/>
            <a:ext cx="2997200" cy="215444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1400" b="1">
                <a:solidFill>
                  <a:srgbClr val="0A2E4E"/>
                </a:solidFill>
                <a:latin typeface="Microsoft YaHei" panose="020B0503020204020204" pitchFamily="34" charset="-122"/>
              </a:rPr>
              <a:t>Parzen </a:t>
            </a:r>
            <a:r>
              <a:rPr lang="zh-CN" altLang="en-US" sz="1400" b="1">
                <a:solidFill>
                  <a:srgbClr val="0A2E4E"/>
                </a:solidFill>
                <a:latin typeface="Microsoft YaHei" panose="020B0503020204020204" pitchFamily="34" charset="-122"/>
              </a:rPr>
              <a:t>窗估计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D9376A03-7FE8-271E-CD3E-E5CB82939BFB}"/>
              </a:ext>
            </a:extLst>
          </p:cNvPr>
          <p:cNvSpPr txBox="1"/>
          <p:nvPr/>
        </p:nvSpPr>
        <p:spPr>
          <a:xfrm>
            <a:off x="927100" y="1854200"/>
            <a:ext cx="2997200" cy="36933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200">
                <a:solidFill>
                  <a:srgbClr val="38566F"/>
                </a:solidFill>
                <a:latin typeface="Microsoft YaHei" panose="020B0503020204020204" pitchFamily="34" charset="-122"/>
              </a:rPr>
              <a:t>不预设概率密度形式，用高斯核叠加估计类别条件密度。</a:t>
            </a:r>
          </a:p>
        </p:txBody>
      </p:sp>
      <p:sp>
        <p:nvSpPr>
          <p:cNvPr id="15" name="矩形: 圆角 14">
            <a:extLst>
              <a:ext uri="{FF2B5EF4-FFF2-40B4-BE49-F238E27FC236}">
                <a16:creationId xmlns:a16="http://schemas.microsoft.com/office/drawing/2014/main" id="{6827608F-030B-AD04-BE97-74C8B92E5F39}"/>
              </a:ext>
            </a:extLst>
          </p:cNvPr>
          <p:cNvSpPr/>
          <p:nvPr/>
        </p:nvSpPr>
        <p:spPr>
          <a:xfrm>
            <a:off x="4445000" y="1371600"/>
            <a:ext cx="3302000" cy="114300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F7ADE11E-3B48-CA92-5E6C-4E813A57C428}"/>
              </a:ext>
            </a:extLst>
          </p:cNvPr>
          <p:cNvSpPr/>
          <p:nvPr/>
        </p:nvSpPr>
        <p:spPr>
          <a:xfrm>
            <a:off x="4445000" y="1371600"/>
            <a:ext cx="76200" cy="1143000"/>
          </a:xfrm>
          <a:prstGeom prst="rect">
            <a:avLst/>
          </a:prstGeom>
          <a:solidFill>
            <a:srgbClr val="0A7FC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9790F593-5020-B3CB-0C8A-F5182FE5DFA0}"/>
              </a:ext>
            </a:extLst>
          </p:cNvPr>
          <p:cNvSpPr txBox="1"/>
          <p:nvPr/>
        </p:nvSpPr>
        <p:spPr>
          <a:xfrm>
            <a:off x="4635500" y="1498600"/>
            <a:ext cx="2997200" cy="215444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1400" b="1">
                <a:solidFill>
                  <a:srgbClr val="0A2E4E"/>
                </a:solidFill>
                <a:latin typeface="Microsoft YaHei" panose="020B0503020204020204" pitchFamily="34" charset="-122"/>
              </a:rPr>
              <a:t>Fisher </a:t>
            </a:r>
            <a:r>
              <a:rPr lang="zh-CN" altLang="en-US" sz="1400" b="1">
                <a:solidFill>
                  <a:srgbClr val="0A2E4E"/>
                </a:solidFill>
                <a:latin typeface="Microsoft YaHei" panose="020B0503020204020204" pitchFamily="34" charset="-122"/>
              </a:rPr>
              <a:t>线性判别</a:t>
            </a: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B0A56B64-CB37-EF52-8A35-43072EACE3BD}"/>
              </a:ext>
            </a:extLst>
          </p:cNvPr>
          <p:cNvSpPr txBox="1"/>
          <p:nvPr/>
        </p:nvSpPr>
        <p:spPr>
          <a:xfrm>
            <a:off x="4635500" y="1854200"/>
            <a:ext cx="2997200" cy="36933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200">
                <a:solidFill>
                  <a:srgbClr val="38566F"/>
                </a:solidFill>
                <a:latin typeface="Microsoft YaHei" panose="020B0503020204020204" pitchFamily="34" charset="-122"/>
              </a:rPr>
              <a:t>最大化类间离散度与类内离散度之比，得到线性投影方向。</a:t>
            </a:r>
          </a:p>
        </p:txBody>
      </p:sp>
      <p:sp>
        <p:nvSpPr>
          <p:cNvPr id="19" name="矩形: 圆角 18">
            <a:extLst>
              <a:ext uri="{FF2B5EF4-FFF2-40B4-BE49-F238E27FC236}">
                <a16:creationId xmlns:a16="http://schemas.microsoft.com/office/drawing/2014/main" id="{3C46FC8A-DB67-E70A-B071-0DD107E9AE95}"/>
              </a:ext>
            </a:extLst>
          </p:cNvPr>
          <p:cNvSpPr/>
          <p:nvPr/>
        </p:nvSpPr>
        <p:spPr>
          <a:xfrm>
            <a:off x="8153400" y="1371600"/>
            <a:ext cx="2921000" cy="114300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EC65269C-6B34-C837-251E-468449F3BC52}"/>
              </a:ext>
            </a:extLst>
          </p:cNvPr>
          <p:cNvSpPr/>
          <p:nvPr/>
        </p:nvSpPr>
        <p:spPr>
          <a:xfrm>
            <a:off x="8153400" y="1371600"/>
            <a:ext cx="76200" cy="1143000"/>
          </a:xfrm>
          <a:prstGeom prst="rect">
            <a:avLst/>
          </a:prstGeom>
          <a:solidFill>
            <a:srgbClr val="D4A84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45A6C119-DC0D-CBD4-D4EA-FB52091E9B35}"/>
              </a:ext>
            </a:extLst>
          </p:cNvPr>
          <p:cNvSpPr txBox="1"/>
          <p:nvPr/>
        </p:nvSpPr>
        <p:spPr>
          <a:xfrm>
            <a:off x="8343900" y="1498600"/>
            <a:ext cx="2616200" cy="215444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400" b="1">
                <a:solidFill>
                  <a:srgbClr val="0A2E4E"/>
                </a:solidFill>
                <a:latin typeface="Microsoft YaHei" panose="020B0503020204020204" pitchFamily="34" charset="-122"/>
              </a:rPr>
              <a:t>留一法估计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D95CA359-9D2D-4A0F-5EDB-3ECC522EABD7}"/>
              </a:ext>
            </a:extLst>
          </p:cNvPr>
          <p:cNvSpPr txBox="1"/>
          <p:nvPr/>
        </p:nvSpPr>
        <p:spPr>
          <a:xfrm>
            <a:off x="8343900" y="1854200"/>
            <a:ext cx="2616200" cy="36933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200">
                <a:solidFill>
                  <a:srgbClr val="38566F"/>
                </a:solidFill>
                <a:latin typeface="Microsoft YaHei" panose="020B0503020204020204" pitchFamily="34" charset="-122"/>
              </a:rPr>
              <a:t>每次留出一个样本验证，适合小样本泛化误差估计。</a:t>
            </a:r>
          </a:p>
        </p:txBody>
      </p:sp>
      <p:sp>
        <p:nvSpPr>
          <p:cNvPr id="23" name="矩形: 圆角 22">
            <a:extLst>
              <a:ext uri="{FF2B5EF4-FFF2-40B4-BE49-F238E27FC236}">
                <a16:creationId xmlns:a16="http://schemas.microsoft.com/office/drawing/2014/main" id="{64C446DC-9DEF-4593-F8FE-1A9F6441C31F}"/>
              </a:ext>
            </a:extLst>
          </p:cNvPr>
          <p:cNvSpPr/>
          <p:nvPr/>
        </p:nvSpPr>
        <p:spPr>
          <a:xfrm>
            <a:off x="1143000" y="3251200"/>
            <a:ext cx="9906000" cy="914400"/>
          </a:xfrm>
          <a:prstGeom prst="roundRect">
            <a:avLst/>
          </a:prstGeom>
          <a:solidFill>
            <a:srgbClr val="EFF6FF"/>
          </a:solidFill>
          <a:ln w="8890">
            <a:solidFill>
              <a:srgbClr val="BFDBF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25" name="图片 24">
            <a:extLst>
              <a:ext uri="{FF2B5EF4-FFF2-40B4-BE49-F238E27FC236}">
                <a16:creationId xmlns:a16="http://schemas.microsoft.com/office/drawing/2014/main" id="{0F5D2B60-6FC7-22F1-93CD-85CE74F2B69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69415" y="3425932"/>
            <a:ext cx="5053171" cy="564936"/>
          </a:xfrm>
          <a:prstGeom prst="rect">
            <a:avLst/>
          </a:prstGeom>
        </p:spPr>
      </p:pic>
      <p:sp>
        <p:nvSpPr>
          <p:cNvPr id="26" name="文本框 25">
            <a:extLst>
              <a:ext uri="{FF2B5EF4-FFF2-40B4-BE49-F238E27FC236}">
                <a16:creationId xmlns:a16="http://schemas.microsoft.com/office/drawing/2014/main" id="{A522F333-936E-393A-03D3-C1BE97757CDF}"/>
              </a:ext>
            </a:extLst>
          </p:cNvPr>
          <p:cNvSpPr txBox="1"/>
          <p:nvPr/>
        </p:nvSpPr>
        <p:spPr>
          <a:xfrm>
            <a:off x="1016000" y="4851400"/>
            <a:ext cx="9906000" cy="515526"/>
          </a:xfrm>
          <a:prstGeom prst="rect">
            <a:avLst/>
          </a:prstGeom>
          <a:noFill/>
        </p:spPr>
        <p:txBody>
          <a:bodyPr vert="horz" lIns="101600" tIns="25400" rIns="25400" bIns="25400" rtlCol="0">
            <a:spAutoFit/>
          </a:bodyPr>
          <a:lstStyle/>
          <a:p>
            <a:pPr marL="342900" indent="-342900">
              <a:spcAft>
                <a:spcPts val="500"/>
              </a:spcAft>
              <a:buFont typeface="+mj-lt"/>
              <a:buAutoNum type="arabicPeriod"/>
            </a:pPr>
            <a:r>
              <a:rPr lang="zh-CN" altLang="en-US" sz="1300">
                <a:solidFill>
                  <a:srgbClr val="38566F"/>
                </a:solidFill>
                <a:latin typeface="Microsoft YaHei" panose="020B0503020204020204" pitchFamily="34" charset="-122"/>
              </a:rPr>
              <a:t>课程重点：参数估计与非参数估计的差别；概率模型与判别模型的差别</a:t>
            </a:r>
          </a:p>
          <a:p>
            <a:pPr marL="342900" indent="-342900">
              <a:spcAft>
                <a:spcPts val="500"/>
              </a:spcAft>
              <a:buFont typeface="+mj-lt"/>
              <a:buAutoNum type="arabicPeriod"/>
            </a:pPr>
            <a:r>
              <a:rPr lang="zh-CN" altLang="en-US" sz="1300">
                <a:solidFill>
                  <a:srgbClr val="38566F"/>
                </a:solidFill>
                <a:latin typeface="Microsoft YaHei" panose="020B0503020204020204" pitchFamily="34" charset="-122"/>
              </a:rPr>
              <a:t>实验问题：非参数 </a:t>
            </a:r>
            <a:r>
              <a:rPr lang="en-US" altLang="zh-CN" sz="1300">
                <a:solidFill>
                  <a:srgbClr val="38566F"/>
                </a:solidFill>
                <a:latin typeface="Microsoft YaHei" panose="020B0503020204020204" pitchFamily="34" charset="-122"/>
              </a:rPr>
              <a:t>Bayes </a:t>
            </a:r>
            <a:r>
              <a:rPr lang="zh-CN" altLang="en-US" sz="1300">
                <a:solidFill>
                  <a:srgbClr val="38566F"/>
                </a:solidFill>
                <a:latin typeface="Microsoft YaHei" panose="020B0503020204020204" pitchFamily="34" charset="-122"/>
              </a:rPr>
              <a:t>和 </a:t>
            </a:r>
            <a:r>
              <a:rPr lang="en-US" altLang="zh-CN" sz="1300">
                <a:solidFill>
                  <a:srgbClr val="38566F"/>
                </a:solidFill>
                <a:latin typeface="Microsoft YaHei" panose="020B0503020204020204" pitchFamily="34" charset="-122"/>
              </a:rPr>
              <a:t>Fisher </a:t>
            </a:r>
            <a:r>
              <a:rPr lang="zh-CN" altLang="en-US" sz="1300">
                <a:solidFill>
                  <a:srgbClr val="38566F"/>
                </a:solidFill>
                <a:latin typeface="Microsoft YaHei" panose="020B0503020204020204" pitchFamily="34" charset="-122"/>
              </a:rPr>
              <a:t>是否能达到高斯 </a:t>
            </a:r>
            <a:r>
              <a:rPr lang="en-US" altLang="zh-CN" sz="1300">
                <a:solidFill>
                  <a:srgbClr val="38566F"/>
                </a:solidFill>
                <a:latin typeface="Microsoft YaHei" panose="020B0503020204020204" pitchFamily="34" charset="-122"/>
              </a:rPr>
              <a:t>Bayes </a:t>
            </a:r>
            <a:r>
              <a:rPr lang="zh-CN" altLang="en-US" sz="1300">
                <a:solidFill>
                  <a:srgbClr val="38566F"/>
                </a:solidFill>
                <a:latin typeface="Microsoft YaHei" panose="020B0503020204020204" pitchFamily="34" charset="-122"/>
              </a:rPr>
              <a:t>的性能</a:t>
            </a:r>
          </a:p>
        </p:txBody>
      </p:sp>
    </p:spTree>
    <p:extLst>
      <p:ext uri="{BB962C8B-B14F-4D97-AF65-F5344CB8AC3E}">
        <p14:creationId xmlns:p14="http://schemas.microsoft.com/office/powerpoint/2010/main" val="114199747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000B209B-4C36-C740-5215-19C25C1A0E75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C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7DAD623D-E3DE-2F11-8F7D-5281180C9D3C}"/>
              </a:ext>
            </a:extLst>
          </p:cNvPr>
          <p:cNvSpPr/>
          <p:nvPr/>
        </p:nvSpPr>
        <p:spPr>
          <a:xfrm>
            <a:off x="0" y="0"/>
            <a:ext cx="12192000" cy="1016000"/>
          </a:xfrm>
          <a:prstGeom prst="rect">
            <a:avLst/>
          </a:prstGeom>
          <a:solidFill>
            <a:srgbClr val="006BB7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平行四边形 3">
            <a:extLst>
              <a:ext uri="{FF2B5EF4-FFF2-40B4-BE49-F238E27FC236}">
                <a16:creationId xmlns:a16="http://schemas.microsoft.com/office/drawing/2014/main" id="{4092F2DE-98E3-9A49-F8BE-7736F24CAF80}"/>
              </a:ext>
            </a:extLst>
          </p:cNvPr>
          <p:cNvSpPr/>
          <p:nvPr/>
        </p:nvSpPr>
        <p:spPr>
          <a:xfrm>
            <a:off x="8953500" y="-228600"/>
            <a:ext cx="3581400" cy="1346200"/>
          </a:xfrm>
          <a:prstGeom prst="parallelogram">
            <a:avLst>
              <a:gd name="adj" fmla="val 20000"/>
            </a:avLst>
          </a:prstGeom>
          <a:solidFill>
            <a:srgbClr val="3A9BD9">
              <a:alpha val="85000"/>
            </a:srgbClr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平行四边形 4">
            <a:extLst>
              <a:ext uri="{FF2B5EF4-FFF2-40B4-BE49-F238E27FC236}">
                <a16:creationId xmlns:a16="http://schemas.microsoft.com/office/drawing/2014/main" id="{72CC4612-E207-7493-5691-E4CE238C2BFD}"/>
              </a:ext>
            </a:extLst>
          </p:cNvPr>
          <p:cNvSpPr/>
          <p:nvPr/>
        </p:nvSpPr>
        <p:spPr>
          <a:xfrm>
            <a:off x="-508000" y="6324600"/>
            <a:ext cx="5969000" cy="660400"/>
          </a:xfrm>
          <a:prstGeom prst="parallelogram">
            <a:avLst>
              <a:gd name="adj" fmla="val 20000"/>
            </a:avLst>
          </a:prstGeom>
          <a:solidFill>
            <a:srgbClr val="DDF0F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9F314050-E968-9B98-442C-CCE7947D19CD}"/>
              </a:ext>
            </a:extLst>
          </p:cNvPr>
          <p:cNvSpPr txBox="1"/>
          <p:nvPr/>
        </p:nvSpPr>
        <p:spPr>
          <a:xfrm>
            <a:off x="736600" y="254000"/>
            <a:ext cx="4953000" cy="10772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700" b="1">
                <a:solidFill>
                  <a:srgbClr val="CDEBFF"/>
                </a:solidFill>
                <a:latin typeface="Microsoft YaHei" panose="020B0503020204020204" pitchFamily="34" charset="-122"/>
              </a:rPr>
              <a:t>METHOD COMPARISON</a:t>
            </a:r>
            <a:endParaRPr lang="zh-CN" altLang="en-US" sz="700" b="1">
              <a:solidFill>
                <a:srgbClr val="CDEBFF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3F745C8-6656-07F2-D22D-DFBD69F457C9}"/>
              </a:ext>
            </a:extLst>
          </p:cNvPr>
          <p:cNvSpPr txBox="1"/>
          <p:nvPr/>
        </p:nvSpPr>
        <p:spPr>
          <a:xfrm>
            <a:off x="736600" y="533400"/>
            <a:ext cx="8509000" cy="41549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2700" b="1">
                <a:solidFill>
                  <a:srgbClr val="FFFFFF"/>
                </a:solidFill>
                <a:latin typeface="Microsoft YaHei" panose="020B0503020204020204" pitchFamily="34" charset="-122"/>
              </a:rPr>
              <a:t>实验二理论展开：密度估计和直接判别的区别</a:t>
            </a:r>
          </a:p>
        </p:txBody>
      </p:sp>
      <p:cxnSp>
        <p:nvCxnSpPr>
          <p:cNvPr id="8" name="直接连接符 7">
            <a:extLst>
              <a:ext uri="{FF2B5EF4-FFF2-40B4-BE49-F238E27FC236}">
                <a16:creationId xmlns:a16="http://schemas.microsoft.com/office/drawing/2014/main" id="{5513BCA1-1DE0-4581-662D-ED48251E0A71}"/>
              </a:ext>
            </a:extLst>
          </p:cNvPr>
          <p:cNvCxnSpPr/>
          <p:nvPr/>
        </p:nvCxnSpPr>
        <p:spPr>
          <a:xfrm>
            <a:off x="736600" y="1295400"/>
            <a:ext cx="1168400" cy="0"/>
          </a:xfrm>
          <a:prstGeom prst="line">
            <a:avLst/>
          </a:prstGeom>
          <a:ln w="38100">
            <a:solidFill>
              <a:srgbClr val="D4A84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文本框 8">
            <a:extLst>
              <a:ext uri="{FF2B5EF4-FFF2-40B4-BE49-F238E27FC236}">
                <a16:creationId xmlns:a16="http://schemas.microsoft.com/office/drawing/2014/main" id="{E254292F-C3E4-0939-B516-9AB2F49953D0}"/>
              </a:ext>
            </a:extLst>
          </p:cNvPr>
          <p:cNvSpPr txBox="1"/>
          <p:nvPr/>
        </p:nvSpPr>
        <p:spPr>
          <a:xfrm>
            <a:off x="533400" y="6527800"/>
            <a:ext cx="3937000" cy="10772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700">
                <a:solidFill>
                  <a:srgbClr val="8FA8BA"/>
                </a:solidFill>
                <a:latin typeface="Microsoft YaHei" panose="020B0503020204020204" pitchFamily="34" charset="-122"/>
              </a:rPr>
              <a:t>模式识别课程实验汇报 </a:t>
            </a:r>
            <a:r>
              <a:rPr lang="en-US" altLang="zh-CN" sz="700">
                <a:solidFill>
                  <a:srgbClr val="8FA8BA"/>
                </a:solidFill>
                <a:latin typeface="Microsoft YaHei" panose="020B0503020204020204" pitchFamily="34" charset="-122"/>
              </a:rPr>
              <a:t>· </a:t>
            </a:r>
            <a:r>
              <a:rPr lang="zh-CN" altLang="en-US" sz="700">
                <a:solidFill>
                  <a:srgbClr val="8FA8BA"/>
                </a:solidFill>
                <a:latin typeface="Microsoft YaHei" panose="020B0503020204020204" pitchFamily="34" charset="-122"/>
              </a:rPr>
              <a:t>蓝白科研汇报模板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B98F794A-9F1C-0825-B073-AB614417E281}"/>
              </a:ext>
            </a:extLst>
          </p:cNvPr>
          <p:cNvSpPr txBox="1"/>
          <p:nvPr/>
        </p:nvSpPr>
        <p:spPr>
          <a:xfrm>
            <a:off x="11366500" y="6477000"/>
            <a:ext cx="355600" cy="10772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r"/>
            <a:r>
              <a:rPr lang="en-US" altLang="zh-CN" sz="700" b="1">
                <a:solidFill>
                  <a:srgbClr val="006BB7"/>
                </a:solidFill>
                <a:latin typeface="Microsoft YaHei" panose="020B0503020204020204" pitchFamily="34" charset="-122"/>
              </a:rPr>
              <a:t>10</a:t>
            </a:r>
            <a:endParaRPr lang="zh-CN" altLang="en-US" sz="700" b="1">
              <a:solidFill>
                <a:srgbClr val="006BB7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D68E180D-43B6-4FD5-A0D1-F383FA4D2128}"/>
              </a:ext>
            </a:extLst>
          </p:cNvPr>
          <p:cNvSpPr/>
          <p:nvPr/>
        </p:nvSpPr>
        <p:spPr>
          <a:xfrm>
            <a:off x="736600" y="1371600"/>
            <a:ext cx="3175000" cy="134620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E64A2D12-4842-2ACD-3240-030ADD0F6D04}"/>
              </a:ext>
            </a:extLst>
          </p:cNvPr>
          <p:cNvSpPr/>
          <p:nvPr/>
        </p:nvSpPr>
        <p:spPr>
          <a:xfrm>
            <a:off x="736600" y="1371600"/>
            <a:ext cx="76200" cy="1346200"/>
          </a:xfrm>
          <a:prstGeom prst="rect">
            <a:avLst/>
          </a:prstGeom>
          <a:solidFill>
            <a:srgbClr val="006BB7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C0362748-D9DC-7760-1D35-DD1A1A4D775C}"/>
              </a:ext>
            </a:extLst>
          </p:cNvPr>
          <p:cNvSpPr txBox="1"/>
          <p:nvPr/>
        </p:nvSpPr>
        <p:spPr>
          <a:xfrm>
            <a:off x="927100" y="1498600"/>
            <a:ext cx="2870200" cy="215444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400" b="1">
                <a:solidFill>
                  <a:srgbClr val="0A2E4E"/>
                </a:solidFill>
                <a:latin typeface="Microsoft YaHei" panose="020B0503020204020204" pitchFamily="34" charset="-122"/>
              </a:rPr>
              <a:t>参数估计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93E38F51-67A5-086C-D4AB-3E2C21C1FEA4}"/>
              </a:ext>
            </a:extLst>
          </p:cNvPr>
          <p:cNvSpPr txBox="1"/>
          <p:nvPr/>
        </p:nvSpPr>
        <p:spPr>
          <a:xfrm>
            <a:off x="927100" y="1854200"/>
            <a:ext cx="2870200" cy="55399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200">
                <a:solidFill>
                  <a:srgbClr val="38566F"/>
                </a:solidFill>
                <a:latin typeface="Microsoft YaHei" panose="020B0503020204020204" pitchFamily="34" charset="-122"/>
              </a:rPr>
              <a:t>先假设数据服从某种分布，例如正态分布，再估计少量参数。优点是稳定，缺点是假设可能不准。</a:t>
            </a:r>
          </a:p>
        </p:txBody>
      </p:sp>
      <p:sp>
        <p:nvSpPr>
          <p:cNvPr id="15" name="矩形: 圆角 14">
            <a:extLst>
              <a:ext uri="{FF2B5EF4-FFF2-40B4-BE49-F238E27FC236}">
                <a16:creationId xmlns:a16="http://schemas.microsoft.com/office/drawing/2014/main" id="{4ED4AE87-C462-310D-14EC-B73B1A4811B3}"/>
              </a:ext>
            </a:extLst>
          </p:cNvPr>
          <p:cNvSpPr/>
          <p:nvPr/>
        </p:nvSpPr>
        <p:spPr>
          <a:xfrm>
            <a:off x="4508500" y="1371600"/>
            <a:ext cx="3175000" cy="134620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26A132F7-555F-AA9B-FCDC-4A0BF8D67711}"/>
              </a:ext>
            </a:extLst>
          </p:cNvPr>
          <p:cNvSpPr/>
          <p:nvPr/>
        </p:nvSpPr>
        <p:spPr>
          <a:xfrm>
            <a:off x="4508500" y="1371600"/>
            <a:ext cx="76200" cy="1346200"/>
          </a:xfrm>
          <a:prstGeom prst="rect">
            <a:avLst/>
          </a:prstGeom>
          <a:solidFill>
            <a:srgbClr val="0A7FC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83C1E899-3131-D429-6AA9-4B519B9E69FF}"/>
              </a:ext>
            </a:extLst>
          </p:cNvPr>
          <p:cNvSpPr txBox="1"/>
          <p:nvPr/>
        </p:nvSpPr>
        <p:spPr>
          <a:xfrm>
            <a:off x="4699000" y="1498600"/>
            <a:ext cx="2870200" cy="215444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400" b="1">
                <a:solidFill>
                  <a:srgbClr val="0A2E4E"/>
                </a:solidFill>
                <a:latin typeface="Microsoft YaHei" panose="020B0503020204020204" pitchFamily="34" charset="-122"/>
              </a:rPr>
              <a:t>非参数估计</a:t>
            </a: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76ED3E1E-3217-C831-CFA1-6FBBA59DDE02}"/>
              </a:ext>
            </a:extLst>
          </p:cNvPr>
          <p:cNvSpPr txBox="1"/>
          <p:nvPr/>
        </p:nvSpPr>
        <p:spPr>
          <a:xfrm>
            <a:off x="4699000" y="1854200"/>
            <a:ext cx="2870200" cy="55399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200">
                <a:solidFill>
                  <a:srgbClr val="38566F"/>
                </a:solidFill>
                <a:latin typeface="Microsoft YaHei" panose="020B0503020204020204" pitchFamily="34" charset="-122"/>
              </a:rPr>
              <a:t>不强行指定密度形状，而是让训练样本本身决定分布外形。</a:t>
            </a:r>
            <a:r>
              <a:rPr lang="en-US" altLang="zh-CN" sz="1200">
                <a:solidFill>
                  <a:srgbClr val="38566F"/>
                </a:solidFill>
                <a:latin typeface="Microsoft YaHei" panose="020B0503020204020204" pitchFamily="34" charset="-122"/>
              </a:rPr>
              <a:t>Parzen </a:t>
            </a:r>
            <a:r>
              <a:rPr lang="zh-CN" altLang="en-US" sz="1200">
                <a:solidFill>
                  <a:srgbClr val="38566F"/>
                </a:solidFill>
                <a:latin typeface="Microsoft YaHei" panose="020B0503020204020204" pitchFamily="34" charset="-122"/>
              </a:rPr>
              <a:t>窗可以看作给每个样本放一个小核。</a:t>
            </a:r>
          </a:p>
        </p:txBody>
      </p:sp>
      <p:sp>
        <p:nvSpPr>
          <p:cNvPr id="19" name="矩形: 圆角 18">
            <a:extLst>
              <a:ext uri="{FF2B5EF4-FFF2-40B4-BE49-F238E27FC236}">
                <a16:creationId xmlns:a16="http://schemas.microsoft.com/office/drawing/2014/main" id="{1512296A-CC3B-0B3B-D401-EB4F89A2936B}"/>
              </a:ext>
            </a:extLst>
          </p:cNvPr>
          <p:cNvSpPr/>
          <p:nvPr/>
        </p:nvSpPr>
        <p:spPr>
          <a:xfrm>
            <a:off x="8280400" y="1371600"/>
            <a:ext cx="2921000" cy="134620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741A734E-B7FC-E216-B076-2D32EB9998F6}"/>
              </a:ext>
            </a:extLst>
          </p:cNvPr>
          <p:cNvSpPr/>
          <p:nvPr/>
        </p:nvSpPr>
        <p:spPr>
          <a:xfrm>
            <a:off x="8280400" y="1371600"/>
            <a:ext cx="76200" cy="1346200"/>
          </a:xfrm>
          <a:prstGeom prst="rect">
            <a:avLst/>
          </a:prstGeom>
          <a:solidFill>
            <a:srgbClr val="D4A84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0DB1CBDE-0542-DCA0-3806-42A3104C75B8}"/>
              </a:ext>
            </a:extLst>
          </p:cNvPr>
          <p:cNvSpPr txBox="1"/>
          <p:nvPr/>
        </p:nvSpPr>
        <p:spPr>
          <a:xfrm>
            <a:off x="8470900" y="1498600"/>
            <a:ext cx="2616200" cy="215444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400" b="1">
                <a:solidFill>
                  <a:srgbClr val="0A2E4E"/>
                </a:solidFill>
                <a:latin typeface="Microsoft YaHei" panose="020B0503020204020204" pitchFamily="34" charset="-122"/>
              </a:rPr>
              <a:t>直接判别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30ADCEFC-1A21-6986-3B8D-C4F58AEAB232}"/>
              </a:ext>
            </a:extLst>
          </p:cNvPr>
          <p:cNvSpPr txBox="1"/>
          <p:nvPr/>
        </p:nvSpPr>
        <p:spPr>
          <a:xfrm>
            <a:off x="8470900" y="1854200"/>
            <a:ext cx="2616200" cy="55399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1200">
                <a:solidFill>
                  <a:srgbClr val="38566F"/>
                </a:solidFill>
                <a:latin typeface="Microsoft YaHei" panose="020B0503020204020204" pitchFamily="34" charset="-122"/>
              </a:rPr>
              <a:t>Fisher </a:t>
            </a:r>
            <a:r>
              <a:rPr lang="zh-CN" altLang="en-US" sz="1200">
                <a:solidFill>
                  <a:srgbClr val="38566F"/>
                </a:solidFill>
                <a:latin typeface="Microsoft YaHei" panose="020B0503020204020204" pitchFamily="34" charset="-122"/>
              </a:rPr>
              <a:t>不估计概率密度，而是直接找一条投影轴，让两类均值尽量远、类内尽量集中。</a:t>
            </a:r>
          </a:p>
        </p:txBody>
      </p:sp>
      <p:sp>
        <p:nvSpPr>
          <p:cNvPr id="23" name="矩形: 圆角 22">
            <a:extLst>
              <a:ext uri="{FF2B5EF4-FFF2-40B4-BE49-F238E27FC236}">
                <a16:creationId xmlns:a16="http://schemas.microsoft.com/office/drawing/2014/main" id="{292A0B86-CCE0-DBE6-CA5E-8311C973A0D8}"/>
              </a:ext>
            </a:extLst>
          </p:cNvPr>
          <p:cNvSpPr/>
          <p:nvPr/>
        </p:nvSpPr>
        <p:spPr>
          <a:xfrm>
            <a:off x="1168400" y="3429000"/>
            <a:ext cx="4521200" cy="1168400"/>
          </a:xfrm>
          <a:prstGeom prst="roundRect">
            <a:avLst/>
          </a:prstGeom>
          <a:solidFill>
            <a:srgbClr val="E3F2FD"/>
          </a:solidFill>
          <a:ln w="8890">
            <a:solidFill>
              <a:srgbClr val="A7F3D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58BE8AD4-1353-9E80-329C-1B315C5A3BA1}"/>
              </a:ext>
            </a:extLst>
          </p:cNvPr>
          <p:cNvSpPr txBox="1"/>
          <p:nvPr/>
        </p:nvSpPr>
        <p:spPr>
          <a:xfrm>
            <a:off x="1473200" y="3708400"/>
            <a:ext cx="3937000" cy="246221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1600" b="1">
                <a:solidFill>
                  <a:srgbClr val="006BB7"/>
                </a:solidFill>
                <a:latin typeface="Microsoft YaHei" panose="020B0503020204020204" pitchFamily="34" charset="-122"/>
              </a:rPr>
              <a:t>Parzen</a:t>
            </a:r>
            <a:r>
              <a:rPr lang="zh-CN" altLang="en-US" sz="1600" b="1">
                <a:solidFill>
                  <a:srgbClr val="006BB7"/>
                </a:solidFill>
                <a:latin typeface="Microsoft YaHei" panose="020B0503020204020204" pitchFamily="34" charset="-122"/>
              </a:rPr>
              <a:t>：用样本堆出类别密度</a:t>
            </a:r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CD7D68B5-3ED6-EDB1-AC6B-DBB698E18E1A}"/>
              </a:ext>
            </a:extLst>
          </p:cNvPr>
          <p:cNvSpPr txBox="1"/>
          <p:nvPr/>
        </p:nvSpPr>
        <p:spPr>
          <a:xfrm>
            <a:off x="1473200" y="4089400"/>
            <a:ext cx="3810000" cy="36933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200">
                <a:solidFill>
                  <a:srgbClr val="38566F"/>
                </a:solidFill>
                <a:latin typeface="Microsoft YaHei" panose="020B0503020204020204" pitchFamily="34" charset="-122"/>
              </a:rPr>
              <a:t>窗口 </a:t>
            </a:r>
            <a:r>
              <a:rPr lang="en-US" altLang="zh-CN" sz="1200">
                <a:solidFill>
                  <a:srgbClr val="38566F"/>
                </a:solidFill>
                <a:latin typeface="Microsoft YaHei" panose="020B0503020204020204" pitchFamily="34" charset="-122"/>
              </a:rPr>
              <a:t>h </a:t>
            </a:r>
            <a:r>
              <a:rPr lang="zh-CN" altLang="en-US" sz="1200">
                <a:solidFill>
                  <a:srgbClr val="38566F"/>
                </a:solidFill>
                <a:latin typeface="Microsoft YaHei" panose="020B0503020204020204" pitchFamily="34" charset="-122"/>
              </a:rPr>
              <a:t>小：密度起伏大，容易过拟合；</a:t>
            </a:r>
            <a:r>
              <a:rPr lang="en-US" altLang="zh-CN" sz="1200">
                <a:solidFill>
                  <a:srgbClr val="38566F"/>
                </a:solidFill>
                <a:latin typeface="Microsoft YaHei" panose="020B0503020204020204" pitchFamily="34" charset="-122"/>
              </a:rPr>
              <a:t>h </a:t>
            </a:r>
            <a:r>
              <a:rPr lang="zh-CN" altLang="en-US" sz="1200">
                <a:solidFill>
                  <a:srgbClr val="38566F"/>
                </a:solidFill>
                <a:latin typeface="Microsoft YaHei" panose="020B0503020204020204" pitchFamily="34" charset="-122"/>
              </a:rPr>
              <a:t>大：密度过平滑，细节会丢失。</a:t>
            </a:r>
          </a:p>
        </p:txBody>
      </p:sp>
      <p:sp>
        <p:nvSpPr>
          <p:cNvPr id="26" name="矩形: 圆角 25">
            <a:extLst>
              <a:ext uri="{FF2B5EF4-FFF2-40B4-BE49-F238E27FC236}">
                <a16:creationId xmlns:a16="http://schemas.microsoft.com/office/drawing/2014/main" id="{34CCD048-9A7E-3B4A-DD90-C67DBDED9799}"/>
              </a:ext>
            </a:extLst>
          </p:cNvPr>
          <p:cNvSpPr/>
          <p:nvPr/>
        </p:nvSpPr>
        <p:spPr>
          <a:xfrm>
            <a:off x="6502400" y="3429000"/>
            <a:ext cx="4521200" cy="1168400"/>
          </a:xfrm>
          <a:prstGeom prst="roundRect">
            <a:avLst/>
          </a:prstGeom>
          <a:solidFill>
            <a:srgbClr val="EFF6FF"/>
          </a:solidFill>
          <a:ln w="8890">
            <a:solidFill>
              <a:srgbClr val="BFDBF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A625E03F-8D51-2B45-BF9D-56ED61390B63}"/>
              </a:ext>
            </a:extLst>
          </p:cNvPr>
          <p:cNvSpPr txBox="1"/>
          <p:nvPr/>
        </p:nvSpPr>
        <p:spPr>
          <a:xfrm>
            <a:off x="6807200" y="3708400"/>
            <a:ext cx="3937000" cy="246221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1600" b="1">
                <a:solidFill>
                  <a:srgbClr val="0A7FCC"/>
                </a:solidFill>
                <a:latin typeface="Microsoft YaHei" panose="020B0503020204020204" pitchFamily="34" charset="-122"/>
              </a:rPr>
              <a:t>Fisher</a:t>
            </a:r>
            <a:r>
              <a:rPr lang="zh-CN" altLang="en-US" sz="1600" b="1">
                <a:solidFill>
                  <a:srgbClr val="0A7FCC"/>
                </a:solidFill>
                <a:latin typeface="Microsoft YaHei" panose="020B0503020204020204" pitchFamily="34" charset="-122"/>
              </a:rPr>
              <a:t>：用投影方向分开类别</a:t>
            </a:r>
          </a:p>
        </p:txBody>
      </p:sp>
      <p:sp>
        <p:nvSpPr>
          <p:cNvPr id="28" name="文本框 27">
            <a:extLst>
              <a:ext uri="{FF2B5EF4-FFF2-40B4-BE49-F238E27FC236}">
                <a16:creationId xmlns:a16="http://schemas.microsoft.com/office/drawing/2014/main" id="{9EBB340E-3B1F-56F0-E195-51F91E15CB5F}"/>
              </a:ext>
            </a:extLst>
          </p:cNvPr>
          <p:cNvSpPr txBox="1"/>
          <p:nvPr/>
        </p:nvSpPr>
        <p:spPr>
          <a:xfrm>
            <a:off x="6807200" y="4089400"/>
            <a:ext cx="3810000" cy="36933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200">
                <a:solidFill>
                  <a:srgbClr val="38566F"/>
                </a:solidFill>
                <a:latin typeface="Microsoft YaHei" panose="020B0503020204020204" pitchFamily="34" charset="-122"/>
              </a:rPr>
              <a:t>它关心的不是密度形状，而是投影后一维空间里两类是否容易用阈值分开。</a:t>
            </a:r>
          </a:p>
        </p:txBody>
      </p:sp>
      <p:sp>
        <p:nvSpPr>
          <p:cNvPr id="29" name="文本框 28">
            <a:extLst>
              <a:ext uri="{FF2B5EF4-FFF2-40B4-BE49-F238E27FC236}">
                <a16:creationId xmlns:a16="http://schemas.microsoft.com/office/drawing/2014/main" id="{D022828A-C3D7-A1C3-7451-2B23050CA54B}"/>
              </a:ext>
            </a:extLst>
          </p:cNvPr>
          <p:cNvSpPr txBox="1"/>
          <p:nvPr/>
        </p:nvSpPr>
        <p:spPr>
          <a:xfrm>
            <a:off x="1117600" y="5054600"/>
            <a:ext cx="9652000" cy="515526"/>
          </a:xfrm>
          <a:prstGeom prst="rect">
            <a:avLst/>
          </a:prstGeom>
          <a:noFill/>
        </p:spPr>
        <p:txBody>
          <a:bodyPr vert="horz" lIns="101600" tIns="25400" rIns="25400" bIns="25400" rtlCol="0">
            <a:spAutoFit/>
          </a:bodyPr>
          <a:lstStyle/>
          <a:p>
            <a:pPr marL="342900" indent="-342900">
              <a:spcAft>
                <a:spcPts val="500"/>
              </a:spcAft>
              <a:buFont typeface="+mj-lt"/>
              <a:buAutoNum type="arabicPeriod"/>
            </a:pPr>
            <a:r>
              <a:rPr lang="zh-CN" altLang="en-US" sz="1300">
                <a:solidFill>
                  <a:srgbClr val="38566F"/>
                </a:solidFill>
                <a:latin typeface="Microsoft YaHei" panose="020B0503020204020204" pitchFamily="34" charset="-122"/>
              </a:rPr>
              <a:t>本实验用同一组身高体重特征比较三类思想：高斯 </a:t>
            </a:r>
            <a:r>
              <a:rPr lang="en-US" altLang="zh-CN" sz="1300">
                <a:solidFill>
                  <a:srgbClr val="38566F"/>
                </a:solidFill>
                <a:latin typeface="Microsoft YaHei" panose="020B0503020204020204" pitchFamily="34" charset="-122"/>
              </a:rPr>
              <a:t>Bayes</a:t>
            </a:r>
            <a:r>
              <a:rPr lang="zh-CN" altLang="en-US" sz="1300">
                <a:solidFill>
                  <a:srgbClr val="38566F"/>
                </a:solidFill>
                <a:latin typeface="Microsoft YaHei" panose="020B0503020204020204" pitchFamily="34" charset="-122"/>
              </a:rPr>
              <a:t>、</a:t>
            </a:r>
            <a:r>
              <a:rPr lang="en-US" altLang="zh-CN" sz="1300">
                <a:solidFill>
                  <a:srgbClr val="38566F"/>
                </a:solidFill>
                <a:latin typeface="Microsoft YaHei" panose="020B0503020204020204" pitchFamily="34" charset="-122"/>
              </a:rPr>
              <a:t>Parzen Bayes</a:t>
            </a:r>
            <a:r>
              <a:rPr lang="zh-CN" altLang="en-US" sz="1300">
                <a:solidFill>
                  <a:srgbClr val="38566F"/>
                </a:solidFill>
                <a:latin typeface="Microsoft YaHei" panose="020B0503020204020204" pitchFamily="34" charset="-122"/>
              </a:rPr>
              <a:t>、</a:t>
            </a:r>
            <a:r>
              <a:rPr lang="en-US" altLang="zh-CN" sz="1300">
                <a:solidFill>
                  <a:srgbClr val="38566F"/>
                </a:solidFill>
                <a:latin typeface="Microsoft YaHei" panose="020B0503020204020204" pitchFamily="34" charset="-122"/>
              </a:rPr>
              <a:t>Fisher</a:t>
            </a:r>
            <a:r>
              <a:rPr lang="zh-CN" altLang="en-US" sz="1300">
                <a:solidFill>
                  <a:srgbClr val="38566F"/>
                </a:solidFill>
                <a:latin typeface="Microsoft YaHei" panose="020B0503020204020204" pitchFamily="34" charset="-122"/>
              </a:rPr>
              <a:t>。</a:t>
            </a:r>
          </a:p>
          <a:p>
            <a:pPr marL="342900" indent="-342900">
              <a:spcAft>
                <a:spcPts val="500"/>
              </a:spcAft>
              <a:buFont typeface="+mj-lt"/>
              <a:buAutoNum type="arabicPeriod"/>
            </a:pPr>
            <a:r>
              <a:rPr lang="zh-CN" altLang="en-US" sz="1300">
                <a:solidFill>
                  <a:srgbClr val="38566F"/>
                </a:solidFill>
                <a:latin typeface="Microsoft YaHei" panose="020B0503020204020204" pitchFamily="34" charset="-122"/>
              </a:rPr>
              <a:t>如果三者性能接近，说明这个数据集的类别结构比较简单，线性边界已经足够有效。</a:t>
            </a:r>
          </a:p>
        </p:txBody>
      </p:sp>
    </p:spTree>
    <p:extLst>
      <p:ext uri="{BB962C8B-B14F-4D97-AF65-F5344CB8AC3E}">
        <p14:creationId xmlns:p14="http://schemas.microsoft.com/office/powerpoint/2010/main" val="209107601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2D9DA7DC-D31B-7EA3-C419-2564A301A0EF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C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4CAB79A3-DA59-2AAD-714B-0F7301D0C93B}"/>
              </a:ext>
            </a:extLst>
          </p:cNvPr>
          <p:cNvSpPr/>
          <p:nvPr/>
        </p:nvSpPr>
        <p:spPr>
          <a:xfrm>
            <a:off x="0" y="0"/>
            <a:ext cx="12192000" cy="1016000"/>
          </a:xfrm>
          <a:prstGeom prst="rect">
            <a:avLst/>
          </a:prstGeom>
          <a:solidFill>
            <a:srgbClr val="006BB7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平行四边形 3">
            <a:extLst>
              <a:ext uri="{FF2B5EF4-FFF2-40B4-BE49-F238E27FC236}">
                <a16:creationId xmlns:a16="http://schemas.microsoft.com/office/drawing/2014/main" id="{2F715744-E4E9-F8B3-5655-26C0867DFD25}"/>
              </a:ext>
            </a:extLst>
          </p:cNvPr>
          <p:cNvSpPr/>
          <p:nvPr/>
        </p:nvSpPr>
        <p:spPr>
          <a:xfrm>
            <a:off x="8953500" y="-228600"/>
            <a:ext cx="3581400" cy="1346200"/>
          </a:xfrm>
          <a:prstGeom prst="parallelogram">
            <a:avLst>
              <a:gd name="adj" fmla="val 20000"/>
            </a:avLst>
          </a:prstGeom>
          <a:solidFill>
            <a:srgbClr val="3A9BD9">
              <a:alpha val="85000"/>
            </a:srgbClr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平行四边形 4">
            <a:extLst>
              <a:ext uri="{FF2B5EF4-FFF2-40B4-BE49-F238E27FC236}">
                <a16:creationId xmlns:a16="http://schemas.microsoft.com/office/drawing/2014/main" id="{550D3B7C-582F-DDE6-A68C-CB0301A3374E}"/>
              </a:ext>
            </a:extLst>
          </p:cNvPr>
          <p:cNvSpPr/>
          <p:nvPr/>
        </p:nvSpPr>
        <p:spPr>
          <a:xfrm>
            <a:off x="-508000" y="6324600"/>
            <a:ext cx="5969000" cy="660400"/>
          </a:xfrm>
          <a:prstGeom prst="parallelogram">
            <a:avLst>
              <a:gd name="adj" fmla="val 20000"/>
            </a:avLst>
          </a:prstGeom>
          <a:solidFill>
            <a:srgbClr val="DDF0F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A01E295-3AE0-D37C-75A7-C9181F613D63}"/>
              </a:ext>
            </a:extLst>
          </p:cNvPr>
          <p:cNvSpPr txBox="1"/>
          <p:nvPr/>
        </p:nvSpPr>
        <p:spPr>
          <a:xfrm>
            <a:off x="736600" y="254000"/>
            <a:ext cx="4953000" cy="10772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700" b="1">
                <a:solidFill>
                  <a:srgbClr val="CDEBFF"/>
                </a:solidFill>
                <a:latin typeface="Microsoft YaHei" panose="020B0503020204020204" pitchFamily="34" charset="-122"/>
              </a:rPr>
              <a:t>VISUAL COMPARISON</a:t>
            </a:r>
            <a:endParaRPr lang="zh-CN" altLang="en-US" sz="700" b="1">
              <a:solidFill>
                <a:srgbClr val="CDEBFF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E2F58A77-46F5-A174-23D7-4AB1792DA18C}"/>
              </a:ext>
            </a:extLst>
          </p:cNvPr>
          <p:cNvSpPr txBox="1"/>
          <p:nvPr/>
        </p:nvSpPr>
        <p:spPr>
          <a:xfrm>
            <a:off x="736600" y="533400"/>
            <a:ext cx="8509000" cy="41549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2700" b="1">
                <a:solidFill>
                  <a:srgbClr val="FFFFFF"/>
                </a:solidFill>
                <a:latin typeface="Microsoft YaHei" panose="020B0503020204020204" pitchFamily="34" charset="-122"/>
              </a:rPr>
              <a:t>实验二结果：线性边界与投影分布</a:t>
            </a:r>
          </a:p>
        </p:txBody>
      </p:sp>
      <p:cxnSp>
        <p:nvCxnSpPr>
          <p:cNvPr id="8" name="直接连接符 7">
            <a:extLst>
              <a:ext uri="{FF2B5EF4-FFF2-40B4-BE49-F238E27FC236}">
                <a16:creationId xmlns:a16="http://schemas.microsoft.com/office/drawing/2014/main" id="{A150B461-6516-2142-6D79-AC7715E8A9EC}"/>
              </a:ext>
            </a:extLst>
          </p:cNvPr>
          <p:cNvCxnSpPr/>
          <p:nvPr/>
        </p:nvCxnSpPr>
        <p:spPr>
          <a:xfrm>
            <a:off x="736600" y="1295400"/>
            <a:ext cx="1168400" cy="0"/>
          </a:xfrm>
          <a:prstGeom prst="line">
            <a:avLst/>
          </a:prstGeom>
          <a:ln w="38100">
            <a:solidFill>
              <a:srgbClr val="D4A84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文本框 8">
            <a:extLst>
              <a:ext uri="{FF2B5EF4-FFF2-40B4-BE49-F238E27FC236}">
                <a16:creationId xmlns:a16="http://schemas.microsoft.com/office/drawing/2014/main" id="{E8E5CA63-7862-9644-E08A-58E2712DE0CF}"/>
              </a:ext>
            </a:extLst>
          </p:cNvPr>
          <p:cNvSpPr txBox="1"/>
          <p:nvPr/>
        </p:nvSpPr>
        <p:spPr>
          <a:xfrm>
            <a:off x="533400" y="6527800"/>
            <a:ext cx="3937000" cy="10772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700">
                <a:solidFill>
                  <a:srgbClr val="8FA8BA"/>
                </a:solidFill>
                <a:latin typeface="Microsoft YaHei" panose="020B0503020204020204" pitchFamily="34" charset="-122"/>
              </a:rPr>
              <a:t>模式识别课程实验汇报 </a:t>
            </a:r>
            <a:r>
              <a:rPr lang="en-US" altLang="zh-CN" sz="700">
                <a:solidFill>
                  <a:srgbClr val="8FA8BA"/>
                </a:solidFill>
                <a:latin typeface="Microsoft YaHei" panose="020B0503020204020204" pitchFamily="34" charset="-122"/>
              </a:rPr>
              <a:t>· </a:t>
            </a:r>
            <a:r>
              <a:rPr lang="zh-CN" altLang="en-US" sz="700">
                <a:solidFill>
                  <a:srgbClr val="8FA8BA"/>
                </a:solidFill>
                <a:latin typeface="Microsoft YaHei" panose="020B0503020204020204" pitchFamily="34" charset="-122"/>
              </a:rPr>
              <a:t>蓝白科研汇报模板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1B6AE47E-3083-FA7F-5B00-790C39A6A875}"/>
              </a:ext>
            </a:extLst>
          </p:cNvPr>
          <p:cNvSpPr txBox="1"/>
          <p:nvPr/>
        </p:nvSpPr>
        <p:spPr>
          <a:xfrm>
            <a:off x="11366500" y="6477000"/>
            <a:ext cx="355600" cy="10772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r"/>
            <a:r>
              <a:rPr lang="en-US" altLang="zh-CN" sz="700" b="1">
                <a:solidFill>
                  <a:srgbClr val="006BB7"/>
                </a:solidFill>
                <a:latin typeface="Microsoft YaHei" panose="020B0503020204020204" pitchFamily="34" charset="-122"/>
              </a:rPr>
              <a:t>11</a:t>
            </a:r>
            <a:endParaRPr lang="zh-CN" altLang="en-US" sz="700" b="1">
              <a:solidFill>
                <a:srgbClr val="006BB7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75FACCF4-E056-2961-93B9-6746AC477453}"/>
              </a:ext>
            </a:extLst>
          </p:cNvPr>
          <p:cNvSpPr/>
          <p:nvPr/>
        </p:nvSpPr>
        <p:spPr>
          <a:xfrm>
            <a:off x="736600" y="1397000"/>
            <a:ext cx="5207000" cy="381000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3" name="图片 12">
            <a:extLst>
              <a:ext uri="{FF2B5EF4-FFF2-40B4-BE49-F238E27FC236}">
                <a16:creationId xmlns:a16="http://schemas.microsoft.com/office/drawing/2014/main" id="{123D46C0-17F7-F43F-FF3C-53077437F0E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04194" y="1847782"/>
            <a:ext cx="4071811" cy="2908436"/>
          </a:xfrm>
          <a:prstGeom prst="rect">
            <a:avLst/>
          </a:prstGeom>
        </p:spPr>
      </p:pic>
      <p:sp>
        <p:nvSpPr>
          <p:cNvPr id="14" name="矩形: 圆角 13">
            <a:extLst>
              <a:ext uri="{FF2B5EF4-FFF2-40B4-BE49-F238E27FC236}">
                <a16:creationId xmlns:a16="http://schemas.microsoft.com/office/drawing/2014/main" id="{2267117A-AB73-23A2-CF0C-21C88678FB5B}"/>
              </a:ext>
            </a:extLst>
          </p:cNvPr>
          <p:cNvSpPr/>
          <p:nvPr/>
        </p:nvSpPr>
        <p:spPr>
          <a:xfrm>
            <a:off x="6248400" y="1397000"/>
            <a:ext cx="5207000" cy="381000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6" name="图片 15">
            <a:extLst>
              <a:ext uri="{FF2B5EF4-FFF2-40B4-BE49-F238E27FC236}">
                <a16:creationId xmlns:a16="http://schemas.microsoft.com/office/drawing/2014/main" id="{BAD56418-4182-34B8-0405-98466301058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15994" y="2195178"/>
            <a:ext cx="4071812" cy="2213644"/>
          </a:xfrm>
          <a:prstGeom prst="rect">
            <a:avLst/>
          </a:prstGeom>
        </p:spPr>
      </p:pic>
      <p:sp>
        <p:nvSpPr>
          <p:cNvPr id="17" name="矩形: 圆角 16">
            <a:extLst>
              <a:ext uri="{FF2B5EF4-FFF2-40B4-BE49-F238E27FC236}">
                <a16:creationId xmlns:a16="http://schemas.microsoft.com/office/drawing/2014/main" id="{3AC9CAEA-3BCF-AE7F-9F52-E99302599F3B}"/>
              </a:ext>
            </a:extLst>
          </p:cNvPr>
          <p:cNvSpPr/>
          <p:nvPr/>
        </p:nvSpPr>
        <p:spPr>
          <a:xfrm>
            <a:off x="1016000" y="5461000"/>
            <a:ext cx="4572000" cy="63500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9F9BD3E2-8BAC-4EFA-6B2B-195CD91B9FB9}"/>
              </a:ext>
            </a:extLst>
          </p:cNvPr>
          <p:cNvSpPr/>
          <p:nvPr/>
        </p:nvSpPr>
        <p:spPr>
          <a:xfrm>
            <a:off x="1016000" y="5461000"/>
            <a:ext cx="76200" cy="635000"/>
          </a:xfrm>
          <a:prstGeom prst="rect">
            <a:avLst/>
          </a:prstGeom>
          <a:solidFill>
            <a:srgbClr val="0A7FC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52AE28FF-5AB2-653C-D646-B17F49750E5D}"/>
              </a:ext>
            </a:extLst>
          </p:cNvPr>
          <p:cNvSpPr txBox="1"/>
          <p:nvPr/>
        </p:nvSpPr>
        <p:spPr>
          <a:xfrm>
            <a:off x="1206500" y="5588000"/>
            <a:ext cx="4267200" cy="215444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400" b="1">
                <a:solidFill>
                  <a:srgbClr val="0A2E4E"/>
                </a:solidFill>
                <a:latin typeface="Microsoft YaHei" panose="020B0503020204020204" pitchFamily="34" charset="-122"/>
              </a:rPr>
              <a:t>观察 </a:t>
            </a:r>
            <a:r>
              <a:rPr lang="en-US" altLang="zh-CN" sz="1400" b="1">
                <a:solidFill>
                  <a:srgbClr val="0A2E4E"/>
                </a:solidFill>
                <a:latin typeface="Microsoft YaHei" panose="020B0503020204020204" pitchFamily="34" charset="-122"/>
              </a:rPr>
              <a:t>1</a:t>
            </a:r>
            <a:endParaRPr lang="zh-CN" altLang="en-US" sz="1400" b="1">
              <a:solidFill>
                <a:srgbClr val="0A2E4E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FA8AD6EB-933D-3952-44F9-AE2821C03538}"/>
              </a:ext>
            </a:extLst>
          </p:cNvPr>
          <p:cNvSpPr txBox="1"/>
          <p:nvPr/>
        </p:nvSpPr>
        <p:spPr>
          <a:xfrm>
            <a:off x="1206500" y="5943600"/>
            <a:ext cx="4267200" cy="184666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1200">
                <a:solidFill>
                  <a:srgbClr val="38566F"/>
                </a:solidFill>
                <a:latin typeface="Microsoft YaHei" panose="020B0503020204020204" pitchFamily="34" charset="-122"/>
              </a:rPr>
              <a:t>Fisher </a:t>
            </a:r>
            <a:r>
              <a:rPr lang="zh-CN" altLang="en-US" sz="1200">
                <a:solidFill>
                  <a:srgbClr val="38566F"/>
                </a:solidFill>
                <a:latin typeface="Microsoft YaHei" panose="020B0503020204020204" pitchFamily="34" charset="-122"/>
              </a:rPr>
              <a:t>给出简单线性边界，</a:t>
            </a:r>
            <a:r>
              <a:rPr lang="en-US" altLang="zh-CN" sz="1200">
                <a:solidFill>
                  <a:srgbClr val="38566F"/>
                </a:solidFill>
                <a:latin typeface="Microsoft YaHei" panose="020B0503020204020204" pitchFamily="34" charset="-122"/>
              </a:rPr>
              <a:t>Bayes </a:t>
            </a:r>
            <a:r>
              <a:rPr lang="zh-CN" altLang="en-US" sz="1200">
                <a:solidFill>
                  <a:srgbClr val="38566F"/>
                </a:solidFill>
                <a:latin typeface="Microsoft YaHei" panose="020B0503020204020204" pitchFamily="34" charset="-122"/>
              </a:rPr>
              <a:t>边界受密度估计影响。</a:t>
            </a:r>
          </a:p>
        </p:txBody>
      </p:sp>
      <p:sp>
        <p:nvSpPr>
          <p:cNvPr id="21" name="矩形: 圆角 20">
            <a:extLst>
              <a:ext uri="{FF2B5EF4-FFF2-40B4-BE49-F238E27FC236}">
                <a16:creationId xmlns:a16="http://schemas.microsoft.com/office/drawing/2014/main" id="{CABED745-9E90-A774-8913-40AC567D8D08}"/>
              </a:ext>
            </a:extLst>
          </p:cNvPr>
          <p:cNvSpPr/>
          <p:nvPr/>
        </p:nvSpPr>
        <p:spPr>
          <a:xfrm>
            <a:off x="6604000" y="5461000"/>
            <a:ext cx="4572000" cy="63500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5B665408-E9FA-5141-15DC-D11F445B4ACF}"/>
              </a:ext>
            </a:extLst>
          </p:cNvPr>
          <p:cNvSpPr/>
          <p:nvPr/>
        </p:nvSpPr>
        <p:spPr>
          <a:xfrm>
            <a:off x="6604000" y="5461000"/>
            <a:ext cx="76200" cy="635000"/>
          </a:xfrm>
          <a:prstGeom prst="rect">
            <a:avLst/>
          </a:prstGeom>
          <a:solidFill>
            <a:srgbClr val="006BB7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AF3C5A2A-4F74-8AE6-393F-281B1E258C9C}"/>
              </a:ext>
            </a:extLst>
          </p:cNvPr>
          <p:cNvSpPr txBox="1"/>
          <p:nvPr/>
        </p:nvSpPr>
        <p:spPr>
          <a:xfrm>
            <a:off x="6794500" y="5588000"/>
            <a:ext cx="4267200" cy="215444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400" b="1">
                <a:solidFill>
                  <a:srgbClr val="0A2E4E"/>
                </a:solidFill>
                <a:latin typeface="Microsoft YaHei" panose="020B0503020204020204" pitchFamily="34" charset="-122"/>
              </a:rPr>
              <a:t>观察 </a:t>
            </a:r>
            <a:r>
              <a:rPr lang="en-US" altLang="zh-CN" sz="1400" b="1">
                <a:solidFill>
                  <a:srgbClr val="0A2E4E"/>
                </a:solidFill>
                <a:latin typeface="Microsoft YaHei" panose="020B0503020204020204" pitchFamily="34" charset="-122"/>
              </a:rPr>
              <a:t>2</a:t>
            </a:r>
            <a:endParaRPr lang="zh-CN" altLang="en-US" sz="1400" b="1">
              <a:solidFill>
                <a:srgbClr val="0A2E4E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74B8D40E-0DA4-9104-1FD8-8345F1AA9606}"/>
              </a:ext>
            </a:extLst>
          </p:cNvPr>
          <p:cNvSpPr txBox="1"/>
          <p:nvPr/>
        </p:nvSpPr>
        <p:spPr>
          <a:xfrm>
            <a:off x="6794500" y="5943600"/>
            <a:ext cx="4267200" cy="184666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200">
                <a:solidFill>
                  <a:srgbClr val="38566F"/>
                </a:solidFill>
                <a:latin typeface="Microsoft YaHei" panose="020B0503020204020204" pitchFamily="34" charset="-122"/>
              </a:rPr>
              <a:t>投影后男女样本主体分离，但边界区域仍有重叠。</a:t>
            </a:r>
          </a:p>
        </p:txBody>
      </p:sp>
    </p:spTree>
    <p:extLst>
      <p:ext uri="{BB962C8B-B14F-4D97-AF65-F5344CB8AC3E}">
        <p14:creationId xmlns:p14="http://schemas.microsoft.com/office/powerpoint/2010/main" val="162671156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C3BB3B3F-33B7-7AE9-4789-54C2D5B85DED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C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2A29E7EC-FE24-C9BB-38AD-D9646E3DD5A1}"/>
              </a:ext>
            </a:extLst>
          </p:cNvPr>
          <p:cNvSpPr/>
          <p:nvPr/>
        </p:nvSpPr>
        <p:spPr>
          <a:xfrm>
            <a:off x="0" y="0"/>
            <a:ext cx="12192000" cy="1016000"/>
          </a:xfrm>
          <a:prstGeom prst="rect">
            <a:avLst/>
          </a:prstGeom>
          <a:solidFill>
            <a:srgbClr val="006BB7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平行四边形 3">
            <a:extLst>
              <a:ext uri="{FF2B5EF4-FFF2-40B4-BE49-F238E27FC236}">
                <a16:creationId xmlns:a16="http://schemas.microsoft.com/office/drawing/2014/main" id="{3063BCFF-625F-3444-300A-376873BB8D6C}"/>
              </a:ext>
            </a:extLst>
          </p:cNvPr>
          <p:cNvSpPr/>
          <p:nvPr/>
        </p:nvSpPr>
        <p:spPr>
          <a:xfrm>
            <a:off x="8953500" y="-228600"/>
            <a:ext cx="3581400" cy="1346200"/>
          </a:xfrm>
          <a:prstGeom prst="parallelogram">
            <a:avLst>
              <a:gd name="adj" fmla="val 20000"/>
            </a:avLst>
          </a:prstGeom>
          <a:solidFill>
            <a:srgbClr val="3A9BD9">
              <a:alpha val="85000"/>
            </a:srgbClr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平行四边形 4">
            <a:extLst>
              <a:ext uri="{FF2B5EF4-FFF2-40B4-BE49-F238E27FC236}">
                <a16:creationId xmlns:a16="http://schemas.microsoft.com/office/drawing/2014/main" id="{B7EA0B78-917B-A7E4-4CE8-7FA0BCED67FF}"/>
              </a:ext>
            </a:extLst>
          </p:cNvPr>
          <p:cNvSpPr/>
          <p:nvPr/>
        </p:nvSpPr>
        <p:spPr>
          <a:xfrm>
            <a:off x="-508000" y="6324600"/>
            <a:ext cx="5969000" cy="660400"/>
          </a:xfrm>
          <a:prstGeom prst="parallelogram">
            <a:avLst>
              <a:gd name="adj" fmla="val 20000"/>
            </a:avLst>
          </a:prstGeom>
          <a:solidFill>
            <a:srgbClr val="DDF0F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1CF44B1-4EB6-FC57-A3FF-6871415ED5C4}"/>
              </a:ext>
            </a:extLst>
          </p:cNvPr>
          <p:cNvSpPr txBox="1"/>
          <p:nvPr/>
        </p:nvSpPr>
        <p:spPr>
          <a:xfrm>
            <a:off x="736600" y="254000"/>
            <a:ext cx="4953000" cy="10772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700" b="1">
                <a:solidFill>
                  <a:srgbClr val="CDEBFF"/>
                </a:solidFill>
                <a:latin typeface="Microsoft YaHei" panose="020B0503020204020204" pitchFamily="34" charset="-122"/>
              </a:rPr>
              <a:t>METRICS</a:t>
            </a:r>
            <a:endParaRPr lang="zh-CN" altLang="en-US" sz="700" b="1">
              <a:solidFill>
                <a:srgbClr val="CDEBFF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3D7CD7E9-AF0F-C743-7B7A-DA9AF238AB42}"/>
              </a:ext>
            </a:extLst>
          </p:cNvPr>
          <p:cNvSpPr txBox="1"/>
          <p:nvPr/>
        </p:nvSpPr>
        <p:spPr>
          <a:xfrm>
            <a:off x="736600" y="533400"/>
            <a:ext cx="8509000" cy="41549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2700" b="1">
                <a:solidFill>
                  <a:srgbClr val="FFFFFF"/>
                </a:solidFill>
                <a:latin typeface="Microsoft YaHei" panose="020B0503020204020204" pitchFamily="34" charset="-122"/>
              </a:rPr>
              <a:t>实验二结果：错误率对比</a:t>
            </a:r>
          </a:p>
        </p:txBody>
      </p:sp>
      <p:cxnSp>
        <p:nvCxnSpPr>
          <p:cNvPr id="8" name="直接连接符 7">
            <a:extLst>
              <a:ext uri="{FF2B5EF4-FFF2-40B4-BE49-F238E27FC236}">
                <a16:creationId xmlns:a16="http://schemas.microsoft.com/office/drawing/2014/main" id="{12868744-93BE-550A-549E-FB7B302D62AB}"/>
              </a:ext>
            </a:extLst>
          </p:cNvPr>
          <p:cNvCxnSpPr/>
          <p:nvPr/>
        </p:nvCxnSpPr>
        <p:spPr>
          <a:xfrm>
            <a:off x="736600" y="1295400"/>
            <a:ext cx="1168400" cy="0"/>
          </a:xfrm>
          <a:prstGeom prst="line">
            <a:avLst/>
          </a:prstGeom>
          <a:ln w="38100">
            <a:solidFill>
              <a:srgbClr val="D4A84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文本框 8">
            <a:extLst>
              <a:ext uri="{FF2B5EF4-FFF2-40B4-BE49-F238E27FC236}">
                <a16:creationId xmlns:a16="http://schemas.microsoft.com/office/drawing/2014/main" id="{61837B32-4B7D-7DB0-70A8-D82488BE15AD}"/>
              </a:ext>
            </a:extLst>
          </p:cNvPr>
          <p:cNvSpPr txBox="1"/>
          <p:nvPr/>
        </p:nvSpPr>
        <p:spPr>
          <a:xfrm>
            <a:off x="533400" y="6527800"/>
            <a:ext cx="3937000" cy="10772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700">
                <a:solidFill>
                  <a:srgbClr val="8FA8BA"/>
                </a:solidFill>
                <a:latin typeface="Microsoft YaHei" panose="020B0503020204020204" pitchFamily="34" charset="-122"/>
              </a:rPr>
              <a:t>模式识别课程实验汇报 </a:t>
            </a:r>
            <a:r>
              <a:rPr lang="en-US" altLang="zh-CN" sz="700">
                <a:solidFill>
                  <a:srgbClr val="8FA8BA"/>
                </a:solidFill>
                <a:latin typeface="Microsoft YaHei" panose="020B0503020204020204" pitchFamily="34" charset="-122"/>
              </a:rPr>
              <a:t>· </a:t>
            </a:r>
            <a:r>
              <a:rPr lang="zh-CN" altLang="en-US" sz="700">
                <a:solidFill>
                  <a:srgbClr val="8FA8BA"/>
                </a:solidFill>
                <a:latin typeface="Microsoft YaHei" panose="020B0503020204020204" pitchFamily="34" charset="-122"/>
              </a:rPr>
              <a:t>蓝白科研汇报模板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7F3A9CD5-1C44-0BD8-28C4-55A6ABBA6E9E}"/>
              </a:ext>
            </a:extLst>
          </p:cNvPr>
          <p:cNvSpPr txBox="1"/>
          <p:nvPr/>
        </p:nvSpPr>
        <p:spPr>
          <a:xfrm>
            <a:off x="11366500" y="6477000"/>
            <a:ext cx="355600" cy="10772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r"/>
            <a:r>
              <a:rPr lang="en-US" altLang="zh-CN" sz="700" b="1">
                <a:solidFill>
                  <a:srgbClr val="006BB7"/>
                </a:solidFill>
                <a:latin typeface="Microsoft YaHei" panose="020B0503020204020204" pitchFamily="34" charset="-122"/>
              </a:rPr>
              <a:t>12</a:t>
            </a:r>
            <a:endParaRPr lang="zh-CN" altLang="en-US" sz="700" b="1">
              <a:solidFill>
                <a:srgbClr val="006BB7"/>
              </a:solidFill>
              <a:latin typeface="Microsoft YaHei" panose="020B0503020204020204" pitchFamily="34" charset="-122"/>
            </a:endParaRPr>
          </a:p>
        </p:txBody>
      </p:sp>
      <p:graphicFrame>
        <p:nvGraphicFramePr>
          <p:cNvPr id="11" name="表格 10">
            <a:extLst>
              <a:ext uri="{FF2B5EF4-FFF2-40B4-BE49-F238E27FC236}">
                <a16:creationId xmlns:a16="http://schemas.microsoft.com/office/drawing/2014/main" id="{23512BD5-CB18-DA18-7305-563411A8C03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91177180"/>
              </p:ext>
            </p:extLst>
          </p:nvPr>
        </p:nvGraphicFramePr>
        <p:xfrm>
          <a:off x="889000" y="1549400"/>
          <a:ext cx="10414000" cy="1905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82800">
                  <a:extLst>
                    <a:ext uri="{9D8B030D-6E8A-4147-A177-3AD203B41FA5}">
                      <a16:colId xmlns:a16="http://schemas.microsoft.com/office/drawing/2014/main" val="247802561"/>
                    </a:ext>
                  </a:extLst>
                </a:gridCol>
                <a:gridCol w="2082800">
                  <a:extLst>
                    <a:ext uri="{9D8B030D-6E8A-4147-A177-3AD203B41FA5}">
                      <a16:colId xmlns:a16="http://schemas.microsoft.com/office/drawing/2014/main" val="1825126270"/>
                    </a:ext>
                  </a:extLst>
                </a:gridCol>
                <a:gridCol w="2082800">
                  <a:extLst>
                    <a:ext uri="{9D8B030D-6E8A-4147-A177-3AD203B41FA5}">
                      <a16:colId xmlns:a16="http://schemas.microsoft.com/office/drawing/2014/main" val="1390946810"/>
                    </a:ext>
                  </a:extLst>
                </a:gridCol>
                <a:gridCol w="2082800">
                  <a:extLst>
                    <a:ext uri="{9D8B030D-6E8A-4147-A177-3AD203B41FA5}">
                      <a16:colId xmlns:a16="http://schemas.microsoft.com/office/drawing/2014/main" val="1582240902"/>
                    </a:ext>
                  </a:extLst>
                </a:gridCol>
                <a:gridCol w="2082800">
                  <a:extLst>
                    <a:ext uri="{9D8B030D-6E8A-4147-A177-3AD203B41FA5}">
                      <a16:colId xmlns:a16="http://schemas.microsoft.com/office/drawing/2014/main" val="380356753"/>
                    </a:ext>
                  </a:extLst>
                </a:gridCol>
              </a:tblGrid>
              <a:tr h="47625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100" b="1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方法</a:t>
                      </a:r>
                    </a:p>
                  </a:txBody>
                  <a:tcPr marL="38100" marR="38100" marT="25400" marB="25400" anchor="ctr">
                    <a:solidFill>
                      <a:srgbClr val="0A7FC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100" b="1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训练错误率</a:t>
                      </a:r>
                    </a:p>
                  </a:txBody>
                  <a:tcPr marL="38100" marR="38100" marT="25400" marB="25400" anchor="ctr">
                    <a:solidFill>
                      <a:srgbClr val="0A7FC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100" b="1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test1 </a:t>
                      </a:r>
                      <a:r>
                        <a:rPr lang="zh-CN" altLang="en-US" sz="1100" b="1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错误率</a:t>
                      </a:r>
                    </a:p>
                  </a:txBody>
                  <a:tcPr marL="38100" marR="38100" marT="25400" marB="25400" anchor="ctr">
                    <a:solidFill>
                      <a:srgbClr val="0A7FC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100" b="1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test2 </a:t>
                      </a:r>
                      <a:r>
                        <a:rPr lang="zh-CN" altLang="en-US" sz="1100" b="1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错误率</a:t>
                      </a:r>
                    </a:p>
                  </a:txBody>
                  <a:tcPr marL="38100" marR="38100" marT="25400" marB="25400" anchor="ctr">
                    <a:solidFill>
                      <a:srgbClr val="0A7FC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100" b="1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留一法错误率</a:t>
                      </a:r>
                    </a:p>
                  </a:txBody>
                  <a:tcPr marL="38100" marR="38100" marT="25400" marB="25400" anchor="ctr">
                    <a:solidFill>
                      <a:srgbClr val="0A7F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02642815"/>
                  </a:ext>
                </a:extLst>
              </a:tr>
              <a:tr h="47625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Gaussian Bayes</a:t>
                      </a:r>
                      <a:endParaRPr lang="zh-CN" altLang="en-US" sz="1000" b="0">
                        <a:solidFill>
                          <a:srgbClr val="000000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marL="38100" marR="38100" marT="25400" marB="254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12.00%</a:t>
                      </a:r>
                      <a:endParaRPr lang="zh-CN" altLang="en-US" sz="1000" b="0">
                        <a:solidFill>
                          <a:srgbClr val="000000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marL="38100" marR="38100" marT="25400" marB="254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2.86%</a:t>
                      </a:r>
                      <a:endParaRPr lang="zh-CN" altLang="en-US" sz="1000" b="0">
                        <a:solidFill>
                          <a:srgbClr val="000000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marL="38100" marR="38100" marT="25400" marB="254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10.67%</a:t>
                      </a:r>
                      <a:endParaRPr lang="zh-CN" altLang="en-US" sz="1000" b="0">
                        <a:solidFill>
                          <a:srgbClr val="000000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marL="38100" marR="38100" marT="25400" marB="254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12.00%</a:t>
                      </a:r>
                      <a:endParaRPr lang="zh-CN" altLang="en-US" sz="1000" b="0">
                        <a:solidFill>
                          <a:srgbClr val="000000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marL="38100" marR="38100" marT="25400" marB="25400" anchor="ctr"/>
                </a:tc>
                <a:extLst>
                  <a:ext uri="{0D108BD9-81ED-4DB2-BD59-A6C34878D82A}">
                    <a16:rowId xmlns:a16="http://schemas.microsoft.com/office/drawing/2014/main" val="4144455259"/>
                  </a:ext>
                </a:extLst>
              </a:tr>
              <a:tr h="47625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Parzen Bayes</a:t>
                      </a:r>
                      <a:endParaRPr lang="zh-CN" altLang="en-US" sz="1000" b="0">
                        <a:solidFill>
                          <a:srgbClr val="000000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marL="38100" marR="38100" marT="25400" marB="254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13.00%</a:t>
                      </a:r>
                      <a:endParaRPr lang="zh-CN" altLang="en-US" sz="1000" b="0">
                        <a:solidFill>
                          <a:srgbClr val="000000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marL="38100" marR="38100" marT="25400" marB="254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2.86%</a:t>
                      </a:r>
                      <a:endParaRPr lang="zh-CN" altLang="en-US" sz="1000" b="0">
                        <a:solidFill>
                          <a:srgbClr val="000000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marL="38100" marR="38100" marT="25400" marB="254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9.67%</a:t>
                      </a:r>
                      <a:endParaRPr lang="zh-CN" altLang="en-US" sz="1000" b="0">
                        <a:solidFill>
                          <a:srgbClr val="000000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marL="38100" marR="38100" marT="25400" marB="254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14.00%</a:t>
                      </a:r>
                      <a:endParaRPr lang="zh-CN" altLang="en-US" sz="1000" b="0">
                        <a:solidFill>
                          <a:srgbClr val="000000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marL="38100" marR="38100" marT="25400" marB="25400" anchor="ctr"/>
                </a:tc>
                <a:extLst>
                  <a:ext uri="{0D108BD9-81ED-4DB2-BD59-A6C34878D82A}">
                    <a16:rowId xmlns:a16="http://schemas.microsoft.com/office/drawing/2014/main" val="1939006260"/>
                  </a:ext>
                </a:extLst>
              </a:tr>
              <a:tr h="47625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Fisher</a:t>
                      </a:r>
                      <a:endParaRPr lang="zh-CN" altLang="en-US" sz="1000" b="0">
                        <a:solidFill>
                          <a:srgbClr val="000000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marL="38100" marR="38100" marT="25400" marB="254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12.00%</a:t>
                      </a:r>
                      <a:endParaRPr lang="zh-CN" altLang="en-US" sz="1000" b="0">
                        <a:solidFill>
                          <a:srgbClr val="000000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marL="38100" marR="38100" marT="25400" marB="254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2.86%</a:t>
                      </a:r>
                      <a:endParaRPr lang="zh-CN" altLang="en-US" sz="1000" b="0">
                        <a:solidFill>
                          <a:srgbClr val="000000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marL="38100" marR="38100" marT="25400" marB="254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9.67%</a:t>
                      </a:r>
                      <a:endParaRPr lang="zh-CN" altLang="en-US" sz="1000" b="0">
                        <a:solidFill>
                          <a:srgbClr val="000000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marL="38100" marR="38100" marT="25400" marB="254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13.00%</a:t>
                      </a:r>
                      <a:endParaRPr lang="zh-CN" altLang="en-US" sz="1000" b="0">
                        <a:solidFill>
                          <a:srgbClr val="000000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marL="38100" marR="38100" marT="25400" marB="25400" anchor="ctr"/>
                </a:tc>
                <a:extLst>
                  <a:ext uri="{0D108BD9-81ED-4DB2-BD59-A6C34878D82A}">
                    <a16:rowId xmlns:a16="http://schemas.microsoft.com/office/drawing/2014/main" val="935306547"/>
                  </a:ext>
                </a:extLst>
              </a:tr>
            </a:tbl>
          </a:graphicData>
        </a:graphic>
      </p:graphicFrame>
      <p:sp>
        <p:nvSpPr>
          <p:cNvPr id="12" name="文本框 11">
            <a:extLst>
              <a:ext uri="{FF2B5EF4-FFF2-40B4-BE49-F238E27FC236}">
                <a16:creationId xmlns:a16="http://schemas.microsoft.com/office/drawing/2014/main" id="{6293564E-C334-8ACC-9758-D2A0CE964631}"/>
              </a:ext>
            </a:extLst>
          </p:cNvPr>
          <p:cNvSpPr txBox="1"/>
          <p:nvPr/>
        </p:nvSpPr>
        <p:spPr>
          <a:xfrm>
            <a:off x="1143000" y="4191000"/>
            <a:ext cx="1905000" cy="10772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700">
                <a:solidFill>
                  <a:srgbClr val="38566F"/>
                </a:solidFill>
                <a:latin typeface="Microsoft YaHei" panose="020B0503020204020204" pitchFamily="34" charset="-122"/>
              </a:rPr>
              <a:t>Gaussian Bayes test2 acc.</a:t>
            </a:r>
            <a:endParaRPr lang="zh-CN" altLang="en-US" sz="700">
              <a:solidFill>
                <a:srgbClr val="38566F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D810DDB1-FFCB-E241-3F0A-05A1EFE558BD}"/>
              </a:ext>
            </a:extLst>
          </p:cNvPr>
          <p:cNvSpPr/>
          <p:nvPr/>
        </p:nvSpPr>
        <p:spPr>
          <a:xfrm>
            <a:off x="3175000" y="4241800"/>
            <a:ext cx="2159000" cy="88900"/>
          </a:xfrm>
          <a:prstGeom prst="rect">
            <a:avLst/>
          </a:prstGeom>
          <a:solidFill>
            <a:srgbClr val="E2E8F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0778570E-A2F7-A5F0-953B-4E1E109687AA}"/>
              </a:ext>
            </a:extLst>
          </p:cNvPr>
          <p:cNvSpPr/>
          <p:nvPr/>
        </p:nvSpPr>
        <p:spPr>
          <a:xfrm>
            <a:off x="3175000" y="4241800"/>
            <a:ext cx="1928635" cy="88900"/>
          </a:xfrm>
          <a:prstGeom prst="rect">
            <a:avLst/>
          </a:prstGeom>
          <a:solidFill>
            <a:srgbClr val="006BB7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1863EFAB-8954-10BE-FB7C-5D1FBCBDA3BA}"/>
              </a:ext>
            </a:extLst>
          </p:cNvPr>
          <p:cNvSpPr txBox="1"/>
          <p:nvPr/>
        </p:nvSpPr>
        <p:spPr>
          <a:xfrm>
            <a:off x="5435600" y="4178300"/>
            <a:ext cx="635000" cy="10772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r"/>
            <a:r>
              <a:rPr lang="en-US" altLang="zh-CN" sz="700" b="1">
                <a:solidFill>
                  <a:srgbClr val="0A2E4E"/>
                </a:solidFill>
                <a:latin typeface="Microsoft YaHei" panose="020B0503020204020204" pitchFamily="34" charset="-122"/>
              </a:rPr>
              <a:t>89.33%</a:t>
            </a:r>
            <a:endParaRPr lang="zh-CN" altLang="en-US" sz="700" b="1">
              <a:solidFill>
                <a:srgbClr val="0A2E4E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3C1AFB6E-7B28-2752-2089-59BC1BE6BA0E}"/>
              </a:ext>
            </a:extLst>
          </p:cNvPr>
          <p:cNvSpPr txBox="1"/>
          <p:nvPr/>
        </p:nvSpPr>
        <p:spPr>
          <a:xfrm>
            <a:off x="1143000" y="4635500"/>
            <a:ext cx="1905000" cy="10772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700">
                <a:solidFill>
                  <a:srgbClr val="38566F"/>
                </a:solidFill>
                <a:latin typeface="Microsoft YaHei" panose="020B0503020204020204" pitchFamily="34" charset="-122"/>
              </a:rPr>
              <a:t>Parzen Bayes test2 acc.</a:t>
            </a:r>
            <a:endParaRPr lang="zh-CN" altLang="en-US" sz="700">
              <a:solidFill>
                <a:srgbClr val="38566F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A1F62719-D038-FDAE-383C-89175C69E71A}"/>
              </a:ext>
            </a:extLst>
          </p:cNvPr>
          <p:cNvSpPr/>
          <p:nvPr/>
        </p:nvSpPr>
        <p:spPr>
          <a:xfrm>
            <a:off x="3175000" y="4686300"/>
            <a:ext cx="2159000" cy="88900"/>
          </a:xfrm>
          <a:prstGeom prst="rect">
            <a:avLst/>
          </a:prstGeom>
          <a:solidFill>
            <a:srgbClr val="E2E8F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CCAD5B05-2A63-7201-AA5A-8646D0763807}"/>
              </a:ext>
            </a:extLst>
          </p:cNvPr>
          <p:cNvSpPr/>
          <p:nvPr/>
        </p:nvSpPr>
        <p:spPr>
          <a:xfrm>
            <a:off x="3175000" y="4686300"/>
            <a:ext cx="1950225" cy="88900"/>
          </a:xfrm>
          <a:prstGeom prst="rect">
            <a:avLst/>
          </a:prstGeom>
          <a:solidFill>
            <a:srgbClr val="0A7FC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AF2F1185-C170-07EE-21FA-17DDF92C0269}"/>
              </a:ext>
            </a:extLst>
          </p:cNvPr>
          <p:cNvSpPr txBox="1"/>
          <p:nvPr/>
        </p:nvSpPr>
        <p:spPr>
          <a:xfrm>
            <a:off x="5435600" y="4622800"/>
            <a:ext cx="635000" cy="10772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r"/>
            <a:r>
              <a:rPr lang="en-US" altLang="zh-CN" sz="700" b="1">
                <a:solidFill>
                  <a:srgbClr val="0A2E4E"/>
                </a:solidFill>
                <a:latin typeface="Microsoft YaHei" panose="020B0503020204020204" pitchFamily="34" charset="-122"/>
              </a:rPr>
              <a:t>90.33%</a:t>
            </a:r>
            <a:endParaRPr lang="zh-CN" altLang="en-US" sz="700" b="1">
              <a:solidFill>
                <a:srgbClr val="0A2E4E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9E5B4153-005B-AE46-6DEC-48E83F80B303}"/>
              </a:ext>
            </a:extLst>
          </p:cNvPr>
          <p:cNvSpPr txBox="1"/>
          <p:nvPr/>
        </p:nvSpPr>
        <p:spPr>
          <a:xfrm>
            <a:off x="1143000" y="5080000"/>
            <a:ext cx="1905000" cy="10772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700">
                <a:solidFill>
                  <a:srgbClr val="38566F"/>
                </a:solidFill>
                <a:latin typeface="Microsoft YaHei" panose="020B0503020204020204" pitchFamily="34" charset="-122"/>
              </a:rPr>
              <a:t>Fisher test2 acc.</a:t>
            </a:r>
            <a:endParaRPr lang="zh-CN" altLang="en-US" sz="700">
              <a:solidFill>
                <a:srgbClr val="38566F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9682AE6F-6523-D914-29B9-6C633A422514}"/>
              </a:ext>
            </a:extLst>
          </p:cNvPr>
          <p:cNvSpPr/>
          <p:nvPr/>
        </p:nvSpPr>
        <p:spPr>
          <a:xfrm>
            <a:off x="3175000" y="5130800"/>
            <a:ext cx="2159000" cy="88900"/>
          </a:xfrm>
          <a:prstGeom prst="rect">
            <a:avLst/>
          </a:prstGeom>
          <a:solidFill>
            <a:srgbClr val="E2E8F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9D0E70B1-A709-1659-F16F-C7BCBFE83F43}"/>
              </a:ext>
            </a:extLst>
          </p:cNvPr>
          <p:cNvSpPr/>
          <p:nvPr/>
        </p:nvSpPr>
        <p:spPr>
          <a:xfrm>
            <a:off x="3175000" y="5130800"/>
            <a:ext cx="1950225" cy="88900"/>
          </a:xfrm>
          <a:prstGeom prst="rect">
            <a:avLst/>
          </a:prstGeom>
          <a:solidFill>
            <a:srgbClr val="D4A84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AAD16AF5-67B9-658A-9B54-BBAFC10E1DC6}"/>
              </a:ext>
            </a:extLst>
          </p:cNvPr>
          <p:cNvSpPr txBox="1"/>
          <p:nvPr/>
        </p:nvSpPr>
        <p:spPr>
          <a:xfrm>
            <a:off x="5435600" y="5067300"/>
            <a:ext cx="635000" cy="10772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r"/>
            <a:r>
              <a:rPr lang="en-US" altLang="zh-CN" sz="700" b="1">
                <a:solidFill>
                  <a:srgbClr val="0A2E4E"/>
                </a:solidFill>
                <a:latin typeface="Microsoft YaHei" panose="020B0503020204020204" pitchFamily="34" charset="-122"/>
              </a:rPr>
              <a:t>90.33%</a:t>
            </a:r>
            <a:endParaRPr lang="zh-CN" altLang="en-US" sz="700" b="1">
              <a:solidFill>
                <a:srgbClr val="0A2E4E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24" name="矩形: 圆角 23">
            <a:extLst>
              <a:ext uri="{FF2B5EF4-FFF2-40B4-BE49-F238E27FC236}">
                <a16:creationId xmlns:a16="http://schemas.microsoft.com/office/drawing/2014/main" id="{7C59C0D1-A978-82E8-4CE5-A2319D76DA41}"/>
              </a:ext>
            </a:extLst>
          </p:cNvPr>
          <p:cNvSpPr/>
          <p:nvPr/>
        </p:nvSpPr>
        <p:spPr>
          <a:xfrm>
            <a:off x="7048500" y="4064000"/>
            <a:ext cx="3810000" cy="114300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AB25A97F-5D1E-20D8-1D10-854D9F39D131}"/>
              </a:ext>
            </a:extLst>
          </p:cNvPr>
          <p:cNvSpPr/>
          <p:nvPr/>
        </p:nvSpPr>
        <p:spPr>
          <a:xfrm>
            <a:off x="7048500" y="4064000"/>
            <a:ext cx="76200" cy="1143000"/>
          </a:xfrm>
          <a:prstGeom prst="rect">
            <a:avLst/>
          </a:prstGeom>
          <a:solidFill>
            <a:srgbClr val="006BB7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B5C8CD23-0075-1F1F-62B8-5361B3465178}"/>
              </a:ext>
            </a:extLst>
          </p:cNvPr>
          <p:cNvSpPr txBox="1"/>
          <p:nvPr/>
        </p:nvSpPr>
        <p:spPr>
          <a:xfrm>
            <a:off x="7239000" y="4191000"/>
            <a:ext cx="3505200" cy="215444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400" b="1">
                <a:solidFill>
                  <a:srgbClr val="0A2E4E"/>
                </a:solidFill>
                <a:latin typeface="Microsoft YaHei" panose="020B0503020204020204" pitchFamily="34" charset="-122"/>
              </a:rPr>
              <a:t>结论</a:t>
            </a: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C5F83FFA-B4C0-42EB-59BA-DDA28E248F12}"/>
              </a:ext>
            </a:extLst>
          </p:cNvPr>
          <p:cNvSpPr txBox="1"/>
          <p:nvPr/>
        </p:nvSpPr>
        <p:spPr>
          <a:xfrm>
            <a:off x="7239000" y="4546600"/>
            <a:ext cx="3505200" cy="36933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200">
                <a:solidFill>
                  <a:srgbClr val="38566F"/>
                </a:solidFill>
                <a:latin typeface="Microsoft YaHei" panose="020B0503020204020204" pitchFamily="34" charset="-122"/>
              </a:rPr>
              <a:t>三种方法表现接近。</a:t>
            </a:r>
            <a:r>
              <a:rPr lang="en-US" altLang="zh-CN" sz="1200">
                <a:solidFill>
                  <a:srgbClr val="38566F"/>
                </a:solidFill>
                <a:latin typeface="Microsoft YaHei" panose="020B0503020204020204" pitchFamily="34" charset="-122"/>
              </a:rPr>
              <a:t>Fisher </a:t>
            </a:r>
            <a:r>
              <a:rPr lang="zh-CN" altLang="en-US" sz="1200">
                <a:solidFill>
                  <a:srgbClr val="38566F"/>
                </a:solidFill>
                <a:latin typeface="Microsoft YaHei" panose="020B0503020204020204" pitchFamily="34" charset="-122"/>
              </a:rPr>
              <a:t>用更简单的线性边界取得与非参数 </a:t>
            </a:r>
            <a:r>
              <a:rPr lang="en-US" altLang="zh-CN" sz="1200">
                <a:solidFill>
                  <a:srgbClr val="38566F"/>
                </a:solidFill>
                <a:latin typeface="Microsoft YaHei" panose="020B0503020204020204" pitchFamily="34" charset="-122"/>
              </a:rPr>
              <a:t>Bayes </a:t>
            </a:r>
            <a:r>
              <a:rPr lang="zh-CN" altLang="en-US" sz="1200">
                <a:solidFill>
                  <a:srgbClr val="38566F"/>
                </a:solidFill>
                <a:latin typeface="Microsoft YaHei" panose="020B0503020204020204" pitchFamily="34" charset="-122"/>
              </a:rPr>
              <a:t>相当的 </a:t>
            </a:r>
            <a:r>
              <a:rPr lang="en-US" altLang="zh-CN" sz="1200">
                <a:solidFill>
                  <a:srgbClr val="38566F"/>
                </a:solidFill>
                <a:latin typeface="Microsoft YaHei" panose="020B0503020204020204" pitchFamily="34" charset="-122"/>
              </a:rPr>
              <a:t>test2 </a:t>
            </a:r>
            <a:r>
              <a:rPr lang="zh-CN" altLang="en-US" sz="1200">
                <a:solidFill>
                  <a:srgbClr val="38566F"/>
                </a:solidFill>
                <a:latin typeface="Microsoft YaHei" panose="020B0503020204020204" pitchFamily="34" charset="-122"/>
              </a:rPr>
              <a:t>准确率。</a:t>
            </a:r>
          </a:p>
        </p:txBody>
      </p:sp>
    </p:spTree>
    <p:extLst>
      <p:ext uri="{BB962C8B-B14F-4D97-AF65-F5344CB8AC3E}">
        <p14:creationId xmlns:p14="http://schemas.microsoft.com/office/powerpoint/2010/main" val="176451114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26F34A95-85E3-3774-A97E-AB82247739E8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C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A2B45115-0FC7-A7FE-C01B-1398B7198798}"/>
              </a:ext>
            </a:extLst>
          </p:cNvPr>
          <p:cNvSpPr/>
          <p:nvPr/>
        </p:nvSpPr>
        <p:spPr>
          <a:xfrm>
            <a:off x="0" y="0"/>
            <a:ext cx="12192000" cy="1016000"/>
          </a:xfrm>
          <a:prstGeom prst="rect">
            <a:avLst/>
          </a:prstGeom>
          <a:solidFill>
            <a:srgbClr val="006BB7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平行四边形 3">
            <a:extLst>
              <a:ext uri="{FF2B5EF4-FFF2-40B4-BE49-F238E27FC236}">
                <a16:creationId xmlns:a16="http://schemas.microsoft.com/office/drawing/2014/main" id="{B2644C64-1E26-4CF9-B1C4-FA6D6AA07EB1}"/>
              </a:ext>
            </a:extLst>
          </p:cNvPr>
          <p:cNvSpPr/>
          <p:nvPr/>
        </p:nvSpPr>
        <p:spPr>
          <a:xfrm>
            <a:off x="8953500" y="-228600"/>
            <a:ext cx="3581400" cy="1346200"/>
          </a:xfrm>
          <a:prstGeom prst="parallelogram">
            <a:avLst>
              <a:gd name="adj" fmla="val 20000"/>
            </a:avLst>
          </a:prstGeom>
          <a:solidFill>
            <a:srgbClr val="3A9BD9">
              <a:alpha val="85000"/>
            </a:srgbClr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平行四边形 4">
            <a:extLst>
              <a:ext uri="{FF2B5EF4-FFF2-40B4-BE49-F238E27FC236}">
                <a16:creationId xmlns:a16="http://schemas.microsoft.com/office/drawing/2014/main" id="{830065EA-058D-86AA-E04B-CBE49C85B96C}"/>
              </a:ext>
            </a:extLst>
          </p:cNvPr>
          <p:cNvSpPr/>
          <p:nvPr/>
        </p:nvSpPr>
        <p:spPr>
          <a:xfrm>
            <a:off x="-508000" y="6324600"/>
            <a:ext cx="5969000" cy="660400"/>
          </a:xfrm>
          <a:prstGeom prst="parallelogram">
            <a:avLst>
              <a:gd name="adj" fmla="val 20000"/>
            </a:avLst>
          </a:prstGeom>
          <a:solidFill>
            <a:srgbClr val="DDF0F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9830CCAD-9BCA-ADCB-DB05-E7504494C1BA}"/>
              </a:ext>
            </a:extLst>
          </p:cNvPr>
          <p:cNvSpPr txBox="1"/>
          <p:nvPr/>
        </p:nvSpPr>
        <p:spPr>
          <a:xfrm>
            <a:off x="736600" y="254000"/>
            <a:ext cx="4953000" cy="10772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700" b="1">
                <a:solidFill>
                  <a:srgbClr val="CDEBFF"/>
                </a:solidFill>
                <a:latin typeface="Microsoft YaHei" panose="020B0503020204020204" pitchFamily="34" charset="-122"/>
              </a:rPr>
              <a:t>TAKEAWAYS</a:t>
            </a:r>
            <a:endParaRPr lang="zh-CN" altLang="en-US" sz="700" b="1">
              <a:solidFill>
                <a:srgbClr val="CDEBFF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E6D39B4A-C4F3-67F1-F095-69385616ED88}"/>
              </a:ext>
            </a:extLst>
          </p:cNvPr>
          <p:cNvSpPr txBox="1"/>
          <p:nvPr/>
        </p:nvSpPr>
        <p:spPr>
          <a:xfrm>
            <a:off x="736600" y="533400"/>
            <a:ext cx="8509000" cy="41549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2700" b="1">
                <a:solidFill>
                  <a:srgbClr val="FFFFFF"/>
                </a:solidFill>
                <a:latin typeface="Microsoft YaHei" panose="020B0503020204020204" pitchFamily="34" charset="-122"/>
              </a:rPr>
              <a:t>实验二分析：模型复杂度与泛化</a:t>
            </a:r>
          </a:p>
        </p:txBody>
      </p:sp>
      <p:cxnSp>
        <p:nvCxnSpPr>
          <p:cNvPr id="8" name="直接连接符 7">
            <a:extLst>
              <a:ext uri="{FF2B5EF4-FFF2-40B4-BE49-F238E27FC236}">
                <a16:creationId xmlns:a16="http://schemas.microsoft.com/office/drawing/2014/main" id="{971B1D24-AD7E-375D-FBCC-FBBE3084F092}"/>
              </a:ext>
            </a:extLst>
          </p:cNvPr>
          <p:cNvCxnSpPr/>
          <p:nvPr/>
        </p:nvCxnSpPr>
        <p:spPr>
          <a:xfrm>
            <a:off x="736600" y="1295400"/>
            <a:ext cx="1168400" cy="0"/>
          </a:xfrm>
          <a:prstGeom prst="line">
            <a:avLst/>
          </a:prstGeom>
          <a:ln w="38100">
            <a:solidFill>
              <a:srgbClr val="D4A84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文本框 8">
            <a:extLst>
              <a:ext uri="{FF2B5EF4-FFF2-40B4-BE49-F238E27FC236}">
                <a16:creationId xmlns:a16="http://schemas.microsoft.com/office/drawing/2014/main" id="{E641FD71-5D02-2CB0-E0C7-6C89385D75A9}"/>
              </a:ext>
            </a:extLst>
          </p:cNvPr>
          <p:cNvSpPr txBox="1"/>
          <p:nvPr/>
        </p:nvSpPr>
        <p:spPr>
          <a:xfrm>
            <a:off x="533400" y="6527800"/>
            <a:ext cx="3937000" cy="10772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700">
                <a:solidFill>
                  <a:srgbClr val="8FA8BA"/>
                </a:solidFill>
                <a:latin typeface="Microsoft YaHei" panose="020B0503020204020204" pitchFamily="34" charset="-122"/>
              </a:rPr>
              <a:t>模式识别课程实验汇报 </a:t>
            </a:r>
            <a:r>
              <a:rPr lang="en-US" altLang="zh-CN" sz="700">
                <a:solidFill>
                  <a:srgbClr val="8FA8BA"/>
                </a:solidFill>
                <a:latin typeface="Microsoft YaHei" panose="020B0503020204020204" pitchFamily="34" charset="-122"/>
              </a:rPr>
              <a:t>· </a:t>
            </a:r>
            <a:r>
              <a:rPr lang="zh-CN" altLang="en-US" sz="700">
                <a:solidFill>
                  <a:srgbClr val="8FA8BA"/>
                </a:solidFill>
                <a:latin typeface="Microsoft YaHei" panose="020B0503020204020204" pitchFamily="34" charset="-122"/>
              </a:rPr>
              <a:t>蓝白科研汇报模板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47C803FE-C527-0249-E3E9-77953F1B610B}"/>
              </a:ext>
            </a:extLst>
          </p:cNvPr>
          <p:cNvSpPr txBox="1"/>
          <p:nvPr/>
        </p:nvSpPr>
        <p:spPr>
          <a:xfrm>
            <a:off x="11366500" y="6477000"/>
            <a:ext cx="355600" cy="10772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r"/>
            <a:r>
              <a:rPr lang="en-US" altLang="zh-CN" sz="700" b="1">
                <a:solidFill>
                  <a:srgbClr val="006BB7"/>
                </a:solidFill>
                <a:latin typeface="Microsoft YaHei" panose="020B0503020204020204" pitchFamily="34" charset="-122"/>
              </a:rPr>
              <a:t>13</a:t>
            </a:r>
            <a:endParaRPr lang="zh-CN" altLang="en-US" sz="700" b="1">
              <a:solidFill>
                <a:srgbClr val="006BB7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4D97BEB3-3C1C-5F9D-CB86-3046EBFB71F6}"/>
              </a:ext>
            </a:extLst>
          </p:cNvPr>
          <p:cNvSpPr/>
          <p:nvPr/>
        </p:nvSpPr>
        <p:spPr>
          <a:xfrm>
            <a:off x="889000" y="1587500"/>
            <a:ext cx="3111500" cy="127000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52729D7C-DCC6-1298-333A-2488538BFC83}"/>
              </a:ext>
            </a:extLst>
          </p:cNvPr>
          <p:cNvSpPr/>
          <p:nvPr/>
        </p:nvSpPr>
        <p:spPr>
          <a:xfrm>
            <a:off x="889000" y="1587500"/>
            <a:ext cx="76200" cy="1270000"/>
          </a:xfrm>
          <a:prstGeom prst="rect">
            <a:avLst/>
          </a:prstGeom>
          <a:solidFill>
            <a:srgbClr val="006BB7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61093694-15A2-76F0-6D4D-A2E0B6064C55}"/>
              </a:ext>
            </a:extLst>
          </p:cNvPr>
          <p:cNvSpPr txBox="1"/>
          <p:nvPr/>
        </p:nvSpPr>
        <p:spPr>
          <a:xfrm>
            <a:off x="1079500" y="1714500"/>
            <a:ext cx="2806700" cy="215444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400" b="1">
                <a:solidFill>
                  <a:srgbClr val="0A2E4E"/>
                </a:solidFill>
                <a:latin typeface="Microsoft YaHei" panose="020B0503020204020204" pitchFamily="34" charset="-122"/>
              </a:rPr>
              <a:t>参数 </a:t>
            </a:r>
            <a:r>
              <a:rPr lang="en-US" altLang="zh-CN" sz="1400" b="1">
                <a:solidFill>
                  <a:srgbClr val="0A2E4E"/>
                </a:solidFill>
                <a:latin typeface="Microsoft YaHei" panose="020B0503020204020204" pitchFamily="34" charset="-122"/>
              </a:rPr>
              <a:t>Bayes</a:t>
            </a:r>
            <a:endParaRPr lang="zh-CN" altLang="en-US" sz="1400" b="1">
              <a:solidFill>
                <a:srgbClr val="0A2E4E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FE93B902-1E83-BEAB-0C93-073D8DA470D6}"/>
              </a:ext>
            </a:extLst>
          </p:cNvPr>
          <p:cNvSpPr txBox="1"/>
          <p:nvPr/>
        </p:nvSpPr>
        <p:spPr>
          <a:xfrm>
            <a:off x="1079500" y="2070100"/>
            <a:ext cx="2806700" cy="36933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200">
                <a:solidFill>
                  <a:srgbClr val="38566F"/>
                </a:solidFill>
                <a:latin typeface="Microsoft YaHei" panose="020B0503020204020204" pitchFamily="34" charset="-122"/>
              </a:rPr>
              <a:t>形式清晰、样本效率高，但依赖正态分布假设。</a:t>
            </a:r>
          </a:p>
        </p:txBody>
      </p:sp>
      <p:sp>
        <p:nvSpPr>
          <p:cNvPr id="15" name="矩形: 圆角 14">
            <a:extLst>
              <a:ext uri="{FF2B5EF4-FFF2-40B4-BE49-F238E27FC236}">
                <a16:creationId xmlns:a16="http://schemas.microsoft.com/office/drawing/2014/main" id="{89C86982-7907-E6E5-2D64-7F1961106542}"/>
              </a:ext>
            </a:extLst>
          </p:cNvPr>
          <p:cNvSpPr/>
          <p:nvPr/>
        </p:nvSpPr>
        <p:spPr>
          <a:xfrm>
            <a:off x="4572000" y="1587500"/>
            <a:ext cx="3111500" cy="127000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94A5F7B7-A567-260D-C022-C607D5AD766F}"/>
              </a:ext>
            </a:extLst>
          </p:cNvPr>
          <p:cNvSpPr/>
          <p:nvPr/>
        </p:nvSpPr>
        <p:spPr>
          <a:xfrm>
            <a:off x="4572000" y="1587500"/>
            <a:ext cx="76200" cy="1270000"/>
          </a:xfrm>
          <a:prstGeom prst="rect">
            <a:avLst/>
          </a:prstGeom>
          <a:solidFill>
            <a:srgbClr val="0A7FC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330E2F94-4FFB-4D16-6986-9818855C1411}"/>
              </a:ext>
            </a:extLst>
          </p:cNvPr>
          <p:cNvSpPr txBox="1"/>
          <p:nvPr/>
        </p:nvSpPr>
        <p:spPr>
          <a:xfrm>
            <a:off x="4762500" y="1714500"/>
            <a:ext cx="2806700" cy="215444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1400" b="1">
                <a:solidFill>
                  <a:srgbClr val="0A2E4E"/>
                </a:solidFill>
                <a:latin typeface="Microsoft YaHei" panose="020B0503020204020204" pitchFamily="34" charset="-122"/>
              </a:rPr>
              <a:t>Parzen Bayes</a:t>
            </a:r>
            <a:endParaRPr lang="zh-CN" altLang="en-US" sz="1400" b="1">
              <a:solidFill>
                <a:srgbClr val="0A2E4E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F7CF6C09-BB29-9009-58E7-21127EBC4685}"/>
              </a:ext>
            </a:extLst>
          </p:cNvPr>
          <p:cNvSpPr txBox="1"/>
          <p:nvPr/>
        </p:nvSpPr>
        <p:spPr>
          <a:xfrm>
            <a:off x="4762500" y="2070100"/>
            <a:ext cx="2806700" cy="36933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200">
                <a:solidFill>
                  <a:srgbClr val="38566F"/>
                </a:solidFill>
                <a:latin typeface="Microsoft YaHei" panose="020B0503020204020204" pitchFamily="34" charset="-122"/>
              </a:rPr>
              <a:t>密度形式灵活，但窗口宽度 </a:t>
            </a:r>
            <a:r>
              <a:rPr lang="en-US" altLang="zh-CN" sz="1200">
                <a:solidFill>
                  <a:srgbClr val="38566F"/>
                </a:solidFill>
                <a:latin typeface="Microsoft YaHei" panose="020B0503020204020204" pitchFamily="34" charset="-122"/>
              </a:rPr>
              <a:t>h </a:t>
            </a:r>
            <a:r>
              <a:rPr lang="zh-CN" altLang="en-US" sz="1200">
                <a:solidFill>
                  <a:srgbClr val="38566F"/>
                </a:solidFill>
                <a:latin typeface="Microsoft YaHei" panose="020B0503020204020204" pitchFamily="34" charset="-122"/>
              </a:rPr>
              <a:t>和样本规模影响明显。</a:t>
            </a:r>
          </a:p>
        </p:txBody>
      </p:sp>
      <p:sp>
        <p:nvSpPr>
          <p:cNvPr id="19" name="矩形: 圆角 18">
            <a:extLst>
              <a:ext uri="{FF2B5EF4-FFF2-40B4-BE49-F238E27FC236}">
                <a16:creationId xmlns:a16="http://schemas.microsoft.com/office/drawing/2014/main" id="{8BEAB5D1-28ED-032C-5B58-8D745B5F6FCF}"/>
              </a:ext>
            </a:extLst>
          </p:cNvPr>
          <p:cNvSpPr/>
          <p:nvPr/>
        </p:nvSpPr>
        <p:spPr>
          <a:xfrm>
            <a:off x="8255000" y="1587500"/>
            <a:ext cx="2857500" cy="127000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6C106675-8B50-C99B-CFD3-3D87F6A11B90}"/>
              </a:ext>
            </a:extLst>
          </p:cNvPr>
          <p:cNvSpPr/>
          <p:nvPr/>
        </p:nvSpPr>
        <p:spPr>
          <a:xfrm>
            <a:off x="8255000" y="1587500"/>
            <a:ext cx="76200" cy="1270000"/>
          </a:xfrm>
          <a:prstGeom prst="rect">
            <a:avLst/>
          </a:prstGeom>
          <a:solidFill>
            <a:srgbClr val="D4A84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93A75B7B-550F-A3B0-12DF-56EDEE222E86}"/>
              </a:ext>
            </a:extLst>
          </p:cNvPr>
          <p:cNvSpPr txBox="1"/>
          <p:nvPr/>
        </p:nvSpPr>
        <p:spPr>
          <a:xfrm>
            <a:off x="8445500" y="1714500"/>
            <a:ext cx="2552700" cy="215444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1400" b="1">
                <a:solidFill>
                  <a:srgbClr val="0A2E4E"/>
                </a:solidFill>
                <a:latin typeface="Microsoft YaHei" panose="020B0503020204020204" pitchFamily="34" charset="-122"/>
              </a:rPr>
              <a:t>Fisher</a:t>
            </a:r>
            <a:endParaRPr lang="zh-CN" altLang="en-US" sz="1400" b="1">
              <a:solidFill>
                <a:srgbClr val="0A2E4E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D3F724AB-6DE2-0D62-628B-4CA908E42C82}"/>
              </a:ext>
            </a:extLst>
          </p:cNvPr>
          <p:cNvSpPr txBox="1"/>
          <p:nvPr/>
        </p:nvSpPr>
        <p:spPr>
          <a:xfrm>
            <a:off x="8445500" y="2070100"/>
            <a:ext cx="2552700" cy="36933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200">
                <a:solidFill>
                  <a:srgbClr val="38566F"/>
                </a:solidFill>
                <a:latin typeface="Microsoft YaHei" panose="020B0503020204020204" pitchFamily="34" charset="-122"/>
              </a:rPr>
              <a:t>不估计密度，直接寻找判别方向，解释性强。</a:t>
            </a:r>
          </a:p>
        </p:txBody>
      </p:sp>
      <p:sp>
        <p:nvSpPr>
          <p:cNvPr id="23" name="矩形: 圆角 22">
            <a:extLst>
              <a:ext uri="{FF2B5EF4-FFF2-40B4-BE49-F238E27FC236}">
                <a16:creationId xmlns:a16="http://schemas.microsoft.com/office/drawing/2014/main" id="{B5FE47A1-96D2-3186-90D0-8E3EB758C5B7}"/>
              </a:ext>
            </a:extLst>
          </p:cNvPr>
          <p:cNvSpPr/>
          <p:nvPr/>
        </p:nvSpPr>
        <p:spPr>
          <a:xfrm>
            <a:off x="1143000" y="4000500"/>
            <a:ext cx="9906000" cy="889000"/>
          </a:xfrm>
          <a:prstGeom prst="roundRect">
            <a:avLst/>
          </a:prstGeom>
          <a:solidFill>
            <a:srgbClr val="FFF7E0"/>
          </a:solidFill>
          <a:ln w="8890">
            <a:solidFill>
              <a:srgbClr val="FDE68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F4642F7E-60C0-5C2F-CA24-0B8AB0B6D024}"/>
              </a:ext>
            </a:extLst>
          </p:cNvPr>
          <p:cNvSpPr txBox="1"/>
          <p:nvPr/>
        </p:nvSpPr>
        <p:spPr>
          <a:xfrm>
            <a:off x="1498600" y="4318000"/>
            <a:ext cx="9144000" cy="246221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ctr"/>
            <a:r>
              <a:rPr lang="zh-CN" altLang="en-US" sz="1600" b="1">
                <a:solidFill>
                  <a:srgbClr val="92400E"/>
                </a:solidFill>
                <a:latin typeface="Microsoft YaHei" panose="020B0503020204020204" pitchFamily="34" charset="-122"/>
              </a:rPr>
              <a:t>留一法结果与 </a:t>
            </a:r>
            <a:r>
              <a:rPr lang="en-US" altLang="zh-CN" sz="1600" b="1">
                <a:solidFill>
                  <a:srgbClr val="92400E"/>
                </a:solidFill>
                <a:latin typeface="Microsoft YaHei" panose="020B0503020204020204" pitchFamily="34" charset="-122"/>
              </a:rPr>
              <a:t>test2 </a:t>
            </a:r>
            <a:r>
              <a:rPr lang="zh-CN" altLang="en-US" sz="1600" b="1">
                <a:solidFill>
                  <a:srgbClr val="92400E"/>
                </a:solidFill>
                <a:latin typeface="Microsoft YaHei" panose="020B0503020204020204" pitchFamily="34" charset="-122"/>
              </a:rPr>
              <a:t>错误率接近，说明它能在训练样本有限时给出较稳健的泛化误差估计。</a:t>
            </a:r>
          </a:p>
        </p:txBody>
      </p:sp>
    </p:spTree>
    <p:extLst>
      <p:ext uri="{BB962C8B-B14F-4D97-AF65-F5344CB8AC3E}">
        <p14:creationId xmlns:p14="http://schemas.microsoft.com/office/powerpoint/2010/main" val="163967043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B9C8CB1C-238E-CD91-2EC8-1C88A71B46B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4A82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平行四边形 2">
            <a:extLst>
              <a:ext uri="{FF2B5EF4-FFF2-40B4-BE49-F238E27FC236}">
                <a16:creationId xmlns:a16="http://schemas.microsoft.com/office/drawing/2014/main" id="{B0AF2DAE-B0EC-7DA2-DBA3-03CA5EBF2DD2}"/>
              </a:ext>
            </a:extLst>
          </p:cNvPr>
          <p:cNvSpPr/>
          <p:nvPr/>
        </p:nvSpPr>
        <p:spPr>
          <a:xfrm>
            <a:off x="-889000" y="4826000"/>
            <a:ext cx="7302500" cy="2159000"/>
          </a:xfrm>
          <a:prstGeom prst="parallelogram">
            <a:avLst>
              <a:gd name="adj" fmla="val 18000"/>
            </a:avLst>
          </a:prstGeom>
          <a:solidFill>
            <a:srgbClr val="006BB7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平行四边形 3">
            <a:extLst>
              <a:ext uri="{FF2B5EF4-FFF2-40B4-BE49-F238E27FC236}">
                <a16:creationId xmlns:a16="http://schemas.microsoft.com/office/drawing/2014/main" id="{C538C4FF-B5B7-1E9F-10F2-25E94A124713}"/>
              </a:ext>
            </a:extLst>
          </p:cNvPr>
          <p:cNvSpPr/>
          <p:nvPr/>
        </p:nvSpPr>
        <p:spPr>
          <a:xfrm>
            <a:off x="8128000" y="-355600"/>
            <a:ext cx="4953000" cy="2095500"/>
          </a:xfrm>
          <a:prstGeom prst="parallelogram">
            <a:avLst>
              <a:gd name="adj" fmla="val 20000"/>
            </a:avLst>
          </a:prstGeom>
          <a:solidFill>
            <a:srgbClr val="3A9BD9">
              <a:alpha val="85000"/>
            </a:srgbClr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2ABF2AA-81FB-E7C7-EF54-8907A5BBF7C4}"/>
              </a:ext>
            </a:extLst>
          </p:cNvPr>
          <p:cNvSpPr txBox="1"/>
          <p:nvPr/>
        </p:nvSpPr>
        <p:spPr>
          <a:xfrm>
            <a:off x="889000" y="1168400"/>
            <a:ext cx="1651000" cy="41549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2700" b="1">
                <a:solidFill>
                  <a:srgbClr val="D4A84B"/>
                </a:solidFill>
                <a:latin typeface="Microsoft YaHei" panose="020B0503020204020204" pitchFamily="34" charset="-122"/>
              </a:rPr>
              <a:t>03</a:t>
            </a:r>
            <a:endParaRPr lang="zh-CN" altLang="en-US" sz="2700" b="1">
              <a:solidFill>
                <a:srgbClr val="D4A84B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BEDC5716-B3D4-4EEF-A619-998A9DEEC3E7}"/>
              </a:ext>
            </a:extLst>
          </p:cNvPr>
          <p:cNvSpPr txBox="1"/>
          <p:nvPr/>
        </p:nvSpPr>
        <p:spPr>
          <a:xfrm>
            <a:off x="889000" y="2006600"/>
            <a:ext cx="9652000" cy="600164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3900" b="1">
                <a:solidFill>
                  <a:srgbClr val="FFFFFF"/>
                </a:solidFill>
                <a:latin typeface="Microsoft YaHei" panose="020B0503020204020204" pitchFamily="34" charset="-122"/>
              </a:rPr>
              <a:t>实验三：</a:t>
            </a:r>
            <a:r>
              <a:rPr lang="en-US" altLang="zh-CN" sz="3900" b="1">
                <a:solidFill>
                  <a:srgbClr val="FFFFFF"/>
                </a:solidFill>
                <a:latin typeface="Microsoft YaHei" panose="020B0503020204020204" pitchFamily="34" charset="-122"/>
              </a:rPr>
              <a:t>K-L </a:t>
            </a:r>
            <a:r>
              <a:rPr lang="zh-CN" altLang="en-US" sz="3900" b="1">
                <a:solidFill>
                  <a:srgbClr val="FFFFFF"/>
                </a:solidFill>
                <a:latin typeface="Microsoft YaHei" panose="020B0503020204020204" pitchFamily="34" charset="-122"/>
              </a:rPr>
              <a:t>变换进行特征提取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919A7CC-555F-914A-0139-26E8B2E22397}"/>
              </a:ext>
            </a:extLst>
          </p:cNvPr>
          <p:cNvSpPr txBox="1"/>
          <p:nvPr/>
        </p:nvSpPr>
        <p:spPr>
          <a:xfrm>
            <a:off x="939800" y="2946400"/>
            <a:ext cx="8890000" cy="261610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700">
                <a:solidFill>
                  <a:srgbClr val="D9ECFF"/>
                </a:solidFill>
                <a:latin typeface="Microsoft YaHei" panose="020B0503020204020204" pitchFamily="34" charset="-122"/>
              </a:rPr>
              <a:t>从无监督主成分方向理解身高体重样本的主要变化</a:t>
            </a:r>
          </a:p>
        </p:txBody>
      </p:sp>
      <p:cxnSp>
        <p:nvCxnSpPr>
          <p:cNvPr id="8" name="直接连接符 7">
            <a:extLst>
              <a:ext uri="{FF2B5EF4-FFF2-40B4-BE49-F238E27FC236}">
                <a16:creationId xmlns:a16="http://schemas.microsoft.com/office/drawing/2014/main" id="{C6F289F5-B3B4-F3B4-0C1E-52C886C83F51}"/>
              </a:ext>
            </a:extLst>
          </p:cNvPr>
          <p:cNvCxnSpPr/>
          <p:nvPr/>
        </p:nvCxnSpPr>
        <p:spPr>
          <a:xfrm>
            <a:off x="939800" y="3810000"/>
            <a:ext cx="2489200" cy="0"/>
          </a:xfrm>
          <a:prstGeom prst="line">
            <a:avLst/>
          </a:prstGeom>
          <a:ln w="50800">
            <a:solidFill>
              <a:srgbClr val="D4A84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6220622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1C145C65-C559-9AFA-1FC8-3C534B8825EE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C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698467CF-F79E-66F3-D379-FE1E55DECC0C}"/>
              </a:ext>
            </a:extLst>
          </p:cNvPr>
          <p:cNvSpPr/>
          <p:nvPr/>
        </p:nvSpPr>
        <p:spPr>
          <a:xfrm>
            <a:off x="0" y="0"/>
            <a:ext cx="12192000" cy="1016000"/>
          </a:xfrm>
          <a:prstGeom prst="rect">
            <a:avLst/>
          </a:prstGeom>
          <a:solidFill>
            <a:srgbClr val="006BB7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平行四边形 3">
            <a:extLst>
              <a:ext uri="{FF2B5EF4-FFF2-40B4-BE49-F238E27FC236}">
                <a16:creationId xmlns:a16="http://schemas.microsoft.com/office/drawing/2014/main" id="{E722D7CF-EC40-4FCE-9418-83088C92AC15}"/>
              </a:ext>
            </a:extLst>
          </p:cNvPr>
          <p:cNvSpPr/>
          <p:nvPr/>
        </p:nvSpPr>
        <p:spPr>
          <a:xfrm>
            <a:off x="8953500" y="-228600"/>
            <a:ext cx="3581400" cy="1346200"/>
          </a:xfrm>
          <a:prstGeom prst="parallelogram">
            <a:avLst>
              <a:gd name="adj" fmla="val 20000"/>
            </a:avLst>
          </a:prstGeom>
          <a:solidFill>
            <a:srgbClr val="3A9BD9">
              <a:alpha val="85000"/>
            </a:srgbClr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平行四边形 4">
            <a:extLst>
              <a:ext uri="{FF2B5EF4-FFF2-40B4-BE49-F238E27FC236}">
                <a16:creationId xmlns:a16="http://schemas.microsoft.com/office/drawing/2014/main" id="{5CAB739B-1061-8306-97B4-94F96DC3E54D}"/>
              </a:ext>
            </a:extLst>
          </p:cNvPr>
          <p:cNvSpPr/>
          <p:nvPr/>
        </p:nvSpPr>
        <p:spPr>
          <a:xfrm>
            <a:off x="-508000" y="6324600"/>
            <a:ext cx="5969000" cy="660400"/>
          </a:xfrm>
          <a:prstGeom prst="parallelogram">
            <a:avLst>
              <a:gd name="adj" fmla="val 20000"/>
            </a:avLst>
          </a:prstGeom>
          <a:solidFill>
            <a:srgbClr val="DDF0F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A40672B8-652A-7E31-19D8-4E82862F7C50}"/>
              </a:ext>
            </a:extLst>
          </p:cNvPr>
          <p:cNvSpPr txBox="1"/>
          <p:nvPr/>
        </p:nvSpPr>
        <p:spPr>
          <a:xfrm>
            <a:off x="736600" y="254000"/>
            <a:ext cx="4953000" cy="10772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700" b="1">
                <a:solidFill>
                  <a:srgbClr val="CDEBFF"/>
                </a:solidFill>
                <a:latin typeface="Microsoft YaHei" panose="020B0503020204020204" pitchFamily="34" charset="-122"/>
              </a:rPr>
              <a:t>FEATURE EXTRACTION</a:t>
            </a:r>
            <a:endParaRPr lang="zh-CN" altLang="en-US" sz="700" b="1">
              <a:solidFill>
                <a:srgbClr val="CDEBFF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28BF980-6462-5F13-8E1D-B8398067404A}"/>
              </a:ext>
            </a:extLst>
          </p:cNvPr>
          <p:cNvSpPr txBox="1"/>
          <p:nvPr/>
        </p:nvSpPr>
        <p:spPr>
          <a:xfrm>
            <a:off x="736600" y="533400"/>
            <a:ext cx="8509000" cy="41549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2700" b="1">
                <a:solidFill>
                  <a:srgbClr val="FFFFFF"/>
                </a:solidFill>
                <a:latin typeface="Microsoft YaHei" panose="020B0503020204020204" pitchFamily="34" charset="-122"/>
              </a:rPr>
              <a:t>实验三理论：</a:t>
            </a:r>
            <a:r>
              <a:rPr lang="en-US" altLang="zh-CN" sz="2700" b="1">
                <a:solidFill>
                  <a:srgbClr val="FFFFFF"/>
                </a:solidFill>
                <a:latin typeface="Microsoft YaHei" panose="020B0503020204020204" pitchFamily="34" charset="-122"/>
              </a:rPr>
              <a:t>K-L/PCA </a:t>
            </a:r>
            <a:r>
              <a:rPr lang="zh-CN" altLang="en-US" sz="2700" b="1">
                <a:solidFill>
                  <a:srgbClr val="FFFFFF"/>
                </a:solidFill>
                <a:latin typeface="Microsoft YaHei" panose="020B0503020204020204" pitchFamily="34" charset="-122"/>
              </a:rPr>
              <a:t>与 </a:t>
            </a:r>
            <a:r>
              <a:rPr lang="en-US" altLang="zh-CN" sz="2700" b="1">
                <a:solidFill>
                  <a:srgbClr val="FFFFFF"/>
                </a:solidFill>
                <a:latin typeface="Microsoft YaHei" panose="020B0503020204020204" pitchFamily="34" charset="-122"/>
              </a:rPr>
              <a:t>Fisher </a:t>
            </a:r>
            <a:r>
              <a:rPr lang="zh-CN" altLang="en-US" sz="2700" b="1">
                <a:solidFill>
                  <a:srgbClr val="FFFFFF"/>
                </a:solidFill>
                <a:latin typeface="Microsoft YaHei" panose="020B0503020204020204" pitchFamily="34" charset="-122"/>
              </a:rPr>
              <a:t>的差别</a:t>
            </a:r>
          </a:p>
        </p:txBody>
      </p:sp>
      <p:cxnSp>
        <p:nvCxnSpPr>
          <p:cNvPr id="8" name="直接连接符 7">
            <a:extLst>
              <a:ext uri="{FF2B5EF4-FFF2-40B4-BE49-F238E27FC236}">
                <a16:creationId xmlns:a16="http://schemas.microsoft.com/office/drawing/2014/main" id="{0D00CED2-59DD-7C1F-442D-B7C303310336}"/>
              </a:ext>
            </a:extLst>
          </p:cNvPr>
          <p:cNvCxnSpPr/>
          <p:nvPr/>
        </p:nvCxnSpPr>
        <p:spPr>
          <a:xfrm>
            <a:off x="736600" y="1295400"/>
            <a:ext cx="1168400" cy="0"/>
          </a:xfrm>
          <a:prstGeom prst="line">
            <a:avLst/>
          </a:prstGeom>
          <a:ln w="38100">
            <a:solidFill>
              <a:srgbClr val="D4A84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文本框 8">
            <a:extLst>
              <a:ext uri="{FF2B5EF4-FFF2-40B4-BE49-F238E27FC236}">
                <a16:creationId xmlns:a16="http://schemas.microsoft.com/office/drawing/2014/main" id="{D80529C4-CF27-664E-5088-28E27B8B39CC}"/>
              </a:ext>
            </a:extLst>
          </p:cNvPr>
          <p:cNvSpPr txBox="1"/>
          <p:nvPr/>
        </p:nvSpPr>
        <p:spPr>
          <a:xfrm>
            <a:off x="533400" y="6527800"/>
            <a:ext cx="3937000" cy="10772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700">
                <a:solidFill>
                  <a:srgbClr val="8FA8BA"/>
                </a:solidFill>
                <a:latin typeface="Microsoft YaHei" panose="020B0503020204020204" pitchFamily="34" charset="-122"/>
              </a:rPr>
              <a:t>模式识别课程实验汇报 </a:t>
            </a:r>
            <a:r>
              <a:rPr lang="en-US" altLang="zh-CN" sz="700">
                <a:solidFill>
                  <a:srgbClr val="8FA8BA"/>
                </a:solidFill>
                <a:latin typeface="Microsoft YaHei" panose="020B0503020204020204" pitchFamily="34" charset="-122"/>
              </a:rPr>
              <a:t>· </a:t>
            </a:r>
            <a:r>
              <a:rPr lang="zh-CN" altLang="en-US" sz="700">
                <a:solidFill>
                  <a:srgbClr val="8FA8BA"/>
                </a:solidFill>
                <a:latin typeface="Microsoft YaHei" panose="020B0503020204020204" pitchFamily="34" charset="-122"/>
              </a:rPr>
              <a:t>蓝白科研汇报模板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8143B0F0-4DB1-E953-2217-0707D98F361D}"/>
              </a:ext>
            </a:extLst>
          </p:cNvPr>
          <p:cNvSpPr txBox="1"/>
          <p:nvPr/>
        </p:nvSpPr>
        <p:spPr>
          <a:xfrm>
            <a:off x="11366500" y="6477000"/>
            <a:ext cx="355600" cy="10772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r"/>
            <a:r>
              <a:rPr lang="en-US" altLang="zh-CN" sz="700" b="1">
                <a:solidFill>
                  <a:srgbClr val="006BB7"/>
                </a:solidFill>
                <a:latin typeface="Microsoft YaHei" panose="020B0503020204020204" pitchFamily="34" charset="-122"/>
              </a:rPr>
              <a:t>14</a:t>
            </a:r>
            <a:endParaRPr lang="zh-CN" altLang="en-US" sz="700" b="1">
              <a:solidFill>
                <a:srgbClr val="006BB7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93E25E33-8D7B-3811-A0EC-EC2610AC72DE}"/>
              </a:ext>
            </a:extLst>
          </p:cNvPr>
          <p:cNvSpPr/>
          <p:nvPr/>
        </p:nvSpPr>
        <p:spPr>
          <a:xfrm>
            <a:off x="889000" y="1460500"/>
            <a:ext cx="4445000" cy="114300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34C15B03-F1A3-93A8-9E71-16E13D64352C}"/>
              </a:ext>
            </a:extLst>
          </p:cNvPr>
          <p:cNvSpPr/>
          <p:nvPr/>
        </p:nvSpPr>
        <p:spPr>
          <a:xfrm>
            <a:off x="889000" y="1460500"/>
            <a:ext cx="76200" cy="1143000"/>
          </a:xfrm>
          <a:prstGeom prst="rect">
            <a:avLst/>
          </a:prstGeom>
          <a:solidFill>
            <a:srgbClr val="006BB7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1E983B29-FE17-2C30-A1FA-347D156C309B}"/>
              </a:ext>
            </a:extLst>
          </p:cNvPr>
          <p:cNvSpPr txBox="1"/>
          <p:nvPr/>
        </p:nvSpPr>
        <p:spPr>
          <a:xfrm>
            <a:off x="1079500" y="1587500"/>
            <a:ext cx="4140200" cy="215444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1400" b="1">
                <a:solidFill>
                  <a:srgbClr val="0A2E4E"/>
                </a:solidFill>
                <a:latin typeface="Microsoft YaHei" panose="020B0503020204020204" pitchFamily="34" charset="-122"/>
              </a:rPr>
              <a:t>K-L / PCA</a:t>
            </a:r>
            <a:endParaRPr lang="zh-CN" altLang="en-US" sz="1400" b="1">
              <a:solidFill>
                <a:srgbClr val="0A2E4E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073BB22D-AFE7-6BC9-E8E3-341E81ABCA24}"/>
              </a:ext>
            </a:extLst>
          </p:cNvPr>
          <p:cNvSpPr txBox="1"/>
          <p:nvPr/>
        </p:nvSpPr>
        <p:spPr>
          <a:xfrm>
            <a:off x="1079500" y="1943100"/>
            <a:ext cx="4140200" cy="184666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200">
                <a:solidFill>
                  <a:srgbClr val="38566F"/>
                </a:solidFill>
                <a:latin typeface="Microsoft YaHei" panose="020B0503020204020204" pitchFamily="34" charset="-122"/>
              </a:rPr>
              <a:t>对协方差矩阵做特征分解，保留总体方差最大的方向。</a:t>
            </a:r>
          </a:p>
        </p:txBody>
      </p:sp>
      <p:sp>
        <p:nvSpPr>
          <p:cNvPr id="15" name="矩形: 圆角 14">
            <a:extLst>
              <a:ext uri="{FF2B5EF4-FFF2-40B4-BE49-F238E27FC236}">
                <a16:creationId xmlns:a16="http://schemas.microsoft.com/office/drawing/2014/main" id="{B279AC77-6570-61D8-2969-1CDAD02D972F}"/>
              </a:ext>
            </a:extLst>
          </p:cNvPr>
          <p:cNvSpPr/>
          <p:nvPr/>
        </p:nvSpPr>
        <p:spPr>
          <a:xfrm>
            <a:off x="6286500" y="1460500"/>
            <a:ext cx="4445000" cy="114300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8616CE9C-4C5F-7672-F631-FB9E2190962A}"/>
              </a:ext>
            </a:extLst>
          </p:cNvPr>
          <p:cNvSpPr/>
          <p:nvPr/>
        </p:nvSpPr>
        <p:spPr>
          <a:xfrm>
            <a:off x="6286500" y="1460500"/>
            <a:ext cx="76200" cy="1143000"/>
          </a:xfrm>
          <a:prstGeom prst="rect">
            <a:avLst/>
          </a:prstGeom>
          <a:solidFill>
            <a:srgbClr val="0A7FC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C9EE653F-246A-36A1-D04D-D65F149A81A2}"/>
              </a:ext>
            </a:extLst>
          </p:cNvPr>
          <p:cNvSpPr txBox="1"/>
          <p:nvPr/>
        </p:nvSpPr>
        <p:spPr>
          <a:xfrm>
            <a:off x="6477000" y="1587500"/>
            <a:ext cx="4140200" cy="215444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1400" b="1">
                <a:solidFill>
                  <a:srgbClr val="0A2E4E"/>
                </a:solidFill>
                <a:latin typeface="Microsoft YaHei" panose="020B0503020204020204" pitchFamily="34" charset="-122"/>
              </a:rPr>
              <a:t>Fisher</a:t>
            </a:r>
            <a:endParaRPr lang="zh-CN" altLang="en-US" sz="1400" b="1">
              <a:solidFill>
                <a:srgbClr val="0A2E4E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6C50DAE5-1422-B13A-8036-5B9E42AD73E1}"/>
              </a:ext>
            </a:extLst>
          </p:cNvPr>
          <p:cNvSpPr txBox="1"/>
          <p:nvPr/>
        </p:nvSpPr>
        <p:spPr>
          <a:xfrm>
            <a:off x="6477000" y="1943100"/>
            <a:ext cx="4140200" cy="184666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200">
                <a:solidFill>
                  <a:srgbClr val="38566F"/>
                </a:solidFill>
                <a:latin typeface="Microsoft YaHei" panose="020B0503020204020204" pitchFamily="34" charset="-122"/>
              </a:rPr>
              <a:t>利用类别标签，寻找最有利于分类的投影方向。</a:t>
            </a:r>
          </a:p>
        </p:txBody>
      </p:sp>
      <p:sp>
        <p:nvSpPr>
          <p:cNvPr id="19" name="矩形: 圆角 18">
            <a:extLst>
              <a:ext uri="{FF2B5EF4-FFF2-40B4-BE49-F238E27FC236}">
                <a16:creationId xmlns:a16="http://schemas.microsoft.com/office/drawing/2014/main" id="{B5BE7C3A-7AD3-CBCB-5829-E056B95EFDE3}"/>
              </a:ext>
            </a:extLst>
          </p:cNvPr>
          <p:cNvSpPr/>
          <p:nvPr/>
        </p:nvSpPr>
        <p:spPr>
          <a:xfrm>
            <a:off x="1270000" y="3276600"/>
            <a:ext cx="9652000" cy="990600"/>
          </a:xfrm>
          <a:prstGeom prst="roundRect">
            <a:avLst/>
          </a:prstGeom>
          <a:solidFill>
            <a:srgbClr val="E3F2FD"/>
          </a:solidFill>
          <a:ln w="8890">
            <a:solidFill>
              <a:srgbClr val="A7F3D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21" name="图片 20">
            <a:extLst>
              <a:ext uri="{FF2B5EF4-FFF2-40B4-BE49-F238E27FC236}">
                <a16:creationId xmlns:a16="http://schemas.microsoft.com/office/drawing/2014/main" id="{BA005E91-E747-2BA7-F9FC-FD1EEEC034A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92137" y="3348117"/>
            <a:ext cx="8007725" cy="847565"/>
          </a:xfrm>
          <a:prstGeom prst="rect">
            <a:avLst/>
          </a:prstGeom>
        </p:spPr>
      </p:pic>
      <p:sp>
        <p:nvSpPr>
          <p:cNvPr id="22" name="文本框 21">
            <a:extLst>
              <a:ext uri="{FF2B5EF4-FFF2-40B4-BE49-F238E27FC236}">
                <a16:creationId xmlns:a16="http://schemas.microsoft.com/office/drawing/2014/main" id="{B8AA2125-4FC2-7C9E-9440-1E202EE9E166}"/>
              </a:ext>
            </a:extLst>
          </p:cNvPr>
          <p:cNvSpPr txBox="1"/>
          <p:nvPr/>
        </p:nvSpPr>
        <p:spPr>
          <a:xfrm>
            <a:off x="1016000" y="4826000"/>
            <a:ext cx="9652000" cy="515526"/>
          </a:xfrm>
          <a:prstGeom prst="rect">
            <a:avLst/>
          </a:prstGeom>
          <a:noFill/>
        </p:spPr>
        <p:txBody>
          <a:bodyPr vert="horz" lIns="101600" tIns="25400" rIns="25400" bIns="25400" rtlCol="0">
            <a:spAutoFit/>
          </a:bodyPr>
          <a:lstStyle/>
          <a:p>
            <a:pPr marL="342900" indent="-342900">
              <a:spcAft>
                <a:spcPts val="500"/>
              </a:spcAft>
              <a:buFont typeface="+mj-lt"/>
              <a:buAutoNum type="arabicPeriod"/>
            </a:pPr>
            <a:r>
              <a:rPr lang="en-US" altLang="zh-CN" sz="1300">
                <a:solidFill>
                  <a:srgbClr val="38566F"/>
                </a:solidFill>
                <a:latin typeface="Microsoft YaHei" panose="020B0503020204020204" pitchFamily="34" charset="-122"/>
              </a:rPr>
              <a:t>PCA </a:t>
            </a:r>
            <a:r>
              <a:rPr lang="zh-CN" altLang="en-US" sz="1300">
                <a:solidFill>
                  <a:srgbClr val="38566F"/>
                </a:solidFill>
                <a:latin typeface="Microsoft YaHei" panose="020B0503020204020204" pitchFamily="34" charset="-122"/>
              </a:rPr>
              <a:t>的目标是表示数据，不是直接优化分类</a:t>
            </a:r>
          </a:p>
          <a:p>
            <a:pPr marL="342900" indent="-342900">
              <a:spcAft>
                <a:spcPts val="500"/>
              </a:spcAft>
              <a:buFont typeface="+mj-lt"/>
              <a:buAutoNum type="arabicPeriod"/>
            </a:pPr>
            <a:r>
              <a:rPr lang="zh-CN" altLang="en-US" sz="1300">
                <a:solidFill>
                  <a:srgbClr val="38566F"/>
                </a:solidFill>
                <a:latin typeface="Microsoft YaHei" panose="020B0503020204020204" pitchFamily="34" charset="-122"/>
              </a:rPr>
              <a:t>当最大方差方向与类别差异方向一致时，</a:t>
            </a:r>
            <a:r>
              <a:rPr lang="en-US" altLang="zh-CN" sz="1300">
                <a:solidFill>
                  <a:srgbClr val="38566F"/>
                </a:solidFill>
                <a:latin typeface="Microsoft YaHei" panose="020B0503020204020204" pitchFamily="34" charset="-122"/>
              </a:rPr>
              <a:t>PCA </a:t>
            </a:r>
            <a:r>
              <a:rPr lang="zh-CN" altLang="en-US" sz="1300">
                <a:solidFill>
                  <a:srgbClr val="38566F"/>
                </a:solidFill>
                <a:latin typeface="Microsoft YaHei" panose="020B0503020204020204" pitchFamily="34" charset="-122"/>
              </a:rPr>
              <a:t>也能得到较好分类效果</a:t>
            </a:r>
          </a:p>
        </p:txBody>
      </p:sp>
    </p:spTree>
    <p:extLst>
      <p:ext uri="{BB962C8B-B14F-4D97-AF65-F5344CB8AC3E}">
        <p14:creationId xmlns:p14="http://schemas.microsoft.com/office/powerpoint/2010/main" val="233676694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C94662C6-B223-8DE3-A3BF-D089E9367176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C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1C4DD9F1-0041-E4C3-DF8C-6EB5DAC95D62}"/>
              </a:ext>
            </a:extLst>
          </p:cNvPr>
          <p:cNvSpPr/>
          <p:nvPr/>
        </p:nvSpPr>
        <p:spPr>
          <a:xfrm>
            <a:off x="0" y="0"/>
            <a:ext cx="12192000" cy="1016000"/>
          </a:xfrm>
          <a:prstGeom prst="rect">
            <a:avLst/>
          </a:prstGeom>
          <a:solidFill>
            <a:srgbClr val="006BB7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平行四边形 3">
            <a:extLst>
              <a:ext uri="{FF2B5EF4-FFF2-40B4-BE49-F238E27FC236}">
                <a16:creationId xmlns:a16="http://schemas.microsoft.com/office/drawing/2014/main" id="{9C966AEF-47D3-19E3-C8BC-7D1D4FBA0E5E}"/>
              </a:ext>
            </a:extLst>
          </p:cNvPr>
          <p:cNvSpPr/>
          <p:nvPr/>
        </p:nvSpPr>
        <p:spPr>
          <a:xfrm>
            <a:off x="8953500" y="-228600"/>
            <a:ext cx="3581400" cy="1346200"/>
          </a:xfrm>
          <a:prstGeom prst="parallelogram">
            <a:avLst>
              <a:gd name="adj" fmla="val 20000"/>
            </a:avLst>
          </a:prstGeom>
          <a:solidFill>
            <a:srgbClr val="3A9BD9">
              <a:alpha val="85000"/>
            </a:srgbClr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平行四边形 4">
            <a:extLst>
              <a:ext uri="{FF2B5EF4-FFF2-40B4-BE49-F238E27FC236}">
                <a16:creationId xmlns:a16="http://schemas.microsoft.com/office/drawing/2014/main" id="{65F4A8AD-B93C-70A1-54B2-77749984D30B}"/>
              </a:ext>
            </a:extLst>
          </p:cNvPr>
          <p:cNvSpPr/>
          <p:nvPr/>
        </p:nvSpPr>
        <p:spPr>
          <a:xfrm>
            <a:off x="-508000" y="6324600"/>
            <a:ext cx="5969000" cy="660400"/>
          </a:xfrm>
          <a:prstGeom prst="parallelogram">
            <a:avLst>
              <a:gd name="adj" fmla="val 20000"/>
            </a:avLst>
          </a:prstGeom>
          <a:solidFill>
            <a:srgbClr val="DDF0F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905527DB-9C3F-AA9A-010E-35BED27991CD}"/>
              </a:ext>
            </a:extLst>
          </p:cNvPr>
          <p:cNvSpPr txBox="1"/>
          <p:nvPr/>
        </p:nvSpPr>
        <p:spPr>
          <a:xfrm>
            <a:off x="736600" y="254000"/>
            <a:ext cx="4953000" cy="10772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700" b="1">
                <a:solidFill>
                  <a:srgbClr val="CDEBFF"/>
                </a:solidFill>
                <a:latin typeface="Microsoft YaHei" panose="020B0503020204020204" pitchFamily="34" charset="-122"/>
              </a:rPr>
              <a:t>PCA INTUITION</a:t>
            </a:r>
            <a:endParaRPr lang="zh-CN" altLang="en-US" sz="700" b="1">
              <a:solidFill>
                <a:srgbClr val="CDEBFF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A25E4C68-57BB-5973-D553-7EF0D1D6FD88}"/>
              </a:ext>
            </a:extLst>
          </p:cNvPr>
          <p:cNvSpPr txBox="1"/>
          <p:nvPr/>
        </p:nvSpPr>
        <p:spPr>
          <a:xfrm>
            <a:off x="736600" y="533400"/>
            <a:ext cx="8509000" cy="41549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2700" b="1">
                <a:solidFill>
                  <a:srgbClr val="FFFFFF"/>
                </a:solidFill>
                <a:latin typeface="Microsoft YaHei" panose="020B0503020204020204" pitchFamily="34" charset="-122"/>
              </a:rPr>
              <a:t>实验三理论展开：</a:t>
            </a:r>
            <a:r>
              <a:rPr lang="en-US" altLang="zh-CN" sz="2700" b="1">
                <a:solidFill>
                  <a:srgbClr val="FFFFFF"/>
                </a:solidFill>
                <a:latin typeface="Microsoft YaHei" panose="020B0503020204020204" pitchFamily="34" charset="-122"/>
              </a:rPr>
              <a:t>K-L </a:t>
            </a:r>
            <a:r>
              <a:rPr lang="zh-CN" altLang="en-US" sz="2700" b="1">
                <a:solidFill>
                  <a:srgbClr val="FFFFFF"/>
                </a:solidFill>
                <a:latin typeface="Microsoft YaHei" panose="020B0503020204020204" pitchFamily="34" charset="-122"/>
              </a:rPr>
              <a:t>变换怎样提取新特征</a:t>
            </a:r>
          </a:p>
        </p:txBody>
      </p:sp>
      <p:cxnSp>
        <p:nvCxnSpPr>
          <p:cNvPr id="8" name="直接连接符 7">
            <a:extLst>
              <a:ext uri="{FF2B5EF4-FFF2-40B4-BE49-F238E27FC236}">
                <a16:creationId xmlns:a16="http://schemas.microsoft.com/office/drawing/2014/main" id="{BF8467C1-5152-1302-CEF3-67353C58019B}"/>
              </a:ext>
            </a:extLst>
          </p:cNvPr>
          <p:cNvCxnSpPr/>
          <p:nvPr/>
        </p:nvCxnSpPr>
        <p:spPr>
          <a:xfrm>
            <a:off x="736600" y="1295400"/>
            <a:ext cx="1168400" cy="0"/>
          </a:xfrm>
          <a:prstGeom prst="line">
            <a:avLst/>
          </a:prstGeom>
          <a:ln w="38100">
            <a:solidFill>
              <a:srgbClr val="D4A84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文本框 8">
            <a:extLst>
              <a:ext uri="{FF2B5EF4-FFF2-40B4-BE49-F238E27FC236}">
                <a16:creationId xmlns:a16="http://schemas.microsoft.com/office/drawing/2014/main" id="{2480D0F2-4807-6B6A-711A-C30A301D1767}"/>
              </a:ext>
            </a:extLst>
          </p:cNvPr>
          <p:cNvSpPr txBox="1"/>
          <p:nvPr/>
        </p:nvSpPr>
        <p:spPr>
          <a:xfrm>
            <a:off x="533400" y="6527800"/>
            <a:ext cx="3937000" cy="10772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700">
                <a:solidFill>
                  <a:srgbClr val="8FA8BA"/>
                </a:solidFill>
                <a:latin typeface="Microsoft YaHei" panose="020B0503020204020204" pitchFamily="34" charset="-122"/>
              </a:rPr>
              <a:t>模式识别课程实验汇报 </a:t>
            </a:r>
            <a:r>
              <a:rPr lang="en-US" altLang="zh-CN" sz="700">
                <a:solidFill>
                  <a:srgbClr val="8FA8BA"/>
                </a:solidFill>
                <a:latin typeface="Microsoft YaHei" panose="020B0503020204020204" pitchFamily="34" charset="-122"/>
              </a:rPr>
              <a:t>· </a:t>
            </a:r>
            <a:r>
              <a:rPr lang="zh-CN" altLang="en-US" sz="700">
                <a:solidFill>
                  <a:srgbClr val="8FA8BA"/>
                </a:solidFill>
                <a:latin typeface="Microsoft YaHei" panose="020B0503020204020204" pitchFamily="34" charset="-122"/>
              </a:rPr>
              <a:t>蓝白科研汇报模板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E7E2A7F1-F43F-87F7-DC25-7F618E3086BF}"/>
              </a:ext>
            </a:extLst>
          </p:cNvPr>
          <p:cNvSpPr txBox="1"/>
          <p:nvPr/>
        </p:nvSpPr>
        <p:spPr>
          <a:xfrm>
            <a:off x="11366500" y="6477000"/>
            <a:ext cx="355600" cy="10772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r"/>
            <a:r>
              <a:rPr lang="en-US" altLang="zh-CN" sz="700" b="1">
                <a:solidFill>
                  <a:srgbClr val="006BB7"/>
                </a:solidFill>
                <a:latin typeface="Microsoft YaHei" panose="020B0503020204020204" pitchFamily="34" charset="-122"/>
              </a:rPr>
              <a:t>15</a:t>
            </a:r>
            <a:endParaRPr lang="zh-CN" altLang="en-US" sz="700" b="1">
              <a:solidFill>
                <a:srgbClr val="006BB7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FC9BD119-2551-A0B6-FD91-11E5E374B296}"/>
              </a:ext>
            </a:extLst>
          </p:cNvPr>
          <p:cNvSpPr/>
          <p:nvPr/>
        </p:nvSpPr>
        <p:spPr>
          <a:xfrm>
            <a:off x="736600" y="1371600"/>
            <a:ext cx="3175000" cy="129540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94DC5612-E42A-D0CA-43A1-C6CF717A3B46}"/>
              </a:ext>
            </a:extLst>
          </p:cNvPr>
          <p:cNvSpPr/>
          <p:nvPr/>
        </p:nvSpPr>
        <p:spPr>
          <a:xfrm>
            <a:off x="736600" y="1371600"/>
            <a:ext cx="76200" cy="1295400"/>
          </a:xfrm>
          <a:prstGeom prst="rect">
            <a:avLst/>
          </a:prstGeom>
          <a:solidFill>
            <a:srgbClr val="006BB7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6287D389-5733-D8DF-0D76-0C2E0D5F8D07}"/>
              </a:ext>
            </a:extLst>
          </p:cNvPr>
          <p:cNvSpPr txBox="1"/>
          <p:nvPr/>
        </p:nvSpPr>
        <p:spPr>
          <a:xfrm>
            <a:off x="927100" y="1498600"/>
            <a:ext cx="2870200" cy="215444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1400" b="1">
                <a:solidFill>
                  <a:srgbClr val="0A2E4E"/>
                </a:solidFill>
                <a:latin typeface="Microsoft YaHei" panose="020B0503020204020204" pitchFamily="34" charset="-122"/>
              </a:rPr>
              <a:t>1. </a:t>
            </a:r>
            <a:r>
              <a:rPr lang="zh-CN" altLang="en-US" sz="1400" b="1">
                <a:solidFill>
                  <a:srgbClr val="0A2E4E"/>
                </a:solidFill>
                <a:latin typeface="Microsoft YaHei" panose="020B0503020204020204" pitchFamily="34" charset="-122"/>
              </a:rPr>
              <a:t>找数据中心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6D7C8B59-E69C-820F-8C38-021B60AC9B20}"/>
              </a:ext>
            </a:extLst>
          </p:cNvPr>
          <p:cNvSpPr txBox="1"/>
          <p:nvPr/>
        </p:nvSpPr>
        <p:spPr>
          <a:xfrm>
            <a:off x="927100" y="1854200"/>
            <a:ext cx="2870200" cy="36933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200">
                <a:solidFill>
                  <a:srgbClr val="38566F"/>
                </a:solidFill>
                <a:latin typeface="Microsoft YaHei" panose="020B0503020204020204" pitchFamily="34" charset="-122"/>
              </a:rPr>
              <a:t>先计算所有样本的平均向量，把样本平移到以均值为中心，关注相对变化。</a:t>
            </a:r>
          </a:p>
        </p:txBody>
      </p:sp>
      <p:sp>
        <p:nvSpPr>
          <p:cNvPr id="15" name="矩形: 圆角 14">
            <a:extLst>
              <a:ext uri="{FF2B5EF4-FFF2-40B4-BE49-F238E27FC236}">
                <a16:creationId xmlns:a16="http://schemas.microsoft.com/office/drawing/2014/main" id="{7B847327-A569-46B6-3812-D0E20C05697F}"/>
              </a:ext>
            </a:extLst>
          </p:cNvPr>
          <p:cNvSpPr/>
          <p:nvPr/>
        </p:nvSpPr>
        <p:spPr>
          <a:xfrm>
            <a:off x="4508500" y="1371600"/>
            <a:ext cx="3175000" cy="129540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EB292B9F-648B-99A6-2808-DD1EA5F1A923}"/>
              </a:ext>
            </a:extLst>
          </p:cNvPr>
          <p:cNvSpPr/>
          <p:nvPr/>
        </p:nvSpPr>
        <p:spPr>
          <a:xfrm>
            <a:off x="4508500" y="1371600"/>
            <a:ext cx="76200" cy="1295400"/>
          </a:xfrm>
          <a:prstGeom prst="rect">
            <a:avLst/>
          </a:prstGeom>
          <a:solidFill>
            <a:srgbClr val="0A7FC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C133B0D5-FA62-2D2B-7EFB-719A2FC71BA1}"/>
              </a:ext>
            </a:extLst>
          </p:cNvPr>
          <p:cNvSpPr txBox="1"/>
          <p:nvPr/>
        </p:nvSpPr>
        <p:spPr>
          <a:xfrm>
            <a:off x="4699000" y="1498600"/>
            <a:ext cx="2870200" cy="215444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1400" b="1">
                <a:solidFill>
                  <a:srgbClr val="0A2E4E"/>
                </a:solidFill>
                <a:latin typeface="Microsoft YaHei" panose="020B0503020204020204" pitchFamily="34" charset="-122"/>
              </a:rPr>
              <a:t>2. </a:t>
            </a:r>
            <a:r>
              <a:rPr lang="zh-CN" altLang="en-US" sz="1400" b="1">
                <a:solidFill>
                  <a:srgbClr val="0A2E4E"/>
                </a:solidFill>
                <a:latin typeface="Microsoft YaHei" panose="020B0503020204020204" pitchFamily="34" charset="-122"/>
              </a:rPr>
              <a:t>找变化方向</a:t>
            </a: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7D70EDAD-FD87-302B-CB9F-E42033484F97}"/>
              </a:ext>
            </a:extLst>
          </p:cNvPr>
          <p:cNvSpPr txBox="1"/>
          <p:nvPr/>
        </p:nvSpPr>
        <p:spPr>
          <a:xfrm>
            <a:off x="4699000" y="1854200"/>
            <a:ext cx="2870200" cy="55399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200">
                <a:solidFill>
                  <a:srgbClr val="38566F"/>
                </a:solidFill>
                <a:latin typeface="Microsoft YaHei" panose="020B0503020204020204" pitchFamily="34" charset="-122"/>
              </a:rPr>
              <a:t>协方差矩阵描述两个特征如何共同变化。特征向量给出新坐标轴，特征值表示该方向上变化有多大。</a:t>
            </a:r>
          </a:p>
        </p:txBody>
      </p:sp>
      <p:sp>
        <p:nvSpPr>
          <p:cNvPr id="19" name="矩形: 圆角 18">
            <a:extLst>
              <a:ext uri="{FF2B5EF4-FFF2-40B4-BE49-F238E27FC236}">
                <a16:creationId xmlns:a16="http://schemas.microsoft.com/office/drawing/2014/main" id="{7C0C4322-B26D-68B8-2F16-3E33426AF544}"/>
              </a:ext>
            </a:extLst>
          </p:cNvPr>
          <p:cNvSpPr/>
          <p:nvPr/>
        </p:nvSpPr>
        <p:spPr>
          <a:xfrm>
            <a:off x="8280400" y="1371600"/>
            <a:ext cx="2921000" cy="129540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164C4806-56E6-2171-8C65-D61A261FF1E4}"/>
              </a:ext>
            </a:extLst>
          </p:cNvPr>
          <p:cNvSpPr/>
          <p:nvPr/>
        </p:nvSpPr>
        <p:spPr>
          <a:xfrm>
            <a:off x="8280400" y="1371600"/>
            <a:ext cx="76200" cy="1295400"/>
          </a:xfrm>
          <a:prstGeom prst="rect">
            <a:avLst/>
          </a:prstGeom>
          <a:solidFill>
            <a:srgbClr val="D4A84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682706F7-7FB8-6F2A-D548-D89993ECF580}"/>
              </a:ext>
            </a:extLst>
          </p:cNvPr>
          <p:cNvSpPr txBox="1"/>
          <p:nvPr/>
        </p:nvSpPr>
        <p:spPr>
          <a:xfrm>
            <a:off x="8470900" y="1498600"/>
            <a:ext cx="2616200" cy="215444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1400" b="1">
                <a:solidFill>
                  <a:srgbClr val="0A2E4E"/>
                </a:solidFill>
                <a:latin typeface="Microsoft YaHei" panose="020B0503020204020204" pitchFamily="34" charset="-122"/>
              </a:rPr>
              <a:t>3. </a:t>
            </a:r>
            <a:r>
              <a:rPr lang="zh-CN" altLang="en-US" sz="1400" b="1">
                <a:solidFill>
                  <a:srgbClr val="0A2E4E"/>
                </a:solidFill>
                <a:latin typeface="Microsoft YaHei" panose="020B0503020204020204" pitchFamily="34" charset="-122"/>
              </a:rPr>
              <a:t>投影降维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9DEA7EF4-950B-80C2-1504-25AE83F7BB0F}"/>
              </a:ext>
            </a:extLst>
          </p:cNvPr>
          <p:cNvSpPr txBox="1"/>
          <p:nvPr/>
        </p:nvSpPr>
        <p:spPr>
          <a:xfrm>
            <a:off x="8470900" y="1854200"/>
            <a:ext cx="2616200" cy="36933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200">
                <a:solidFill>
                  <a:srgbClr val="38566F"/>
                </a:solidFill>
                <a:latin typeface="Microsoft YaHei" panose="020B0503020204020204" pitchFamily="34" charset="-122"/>
              </a:rPr>
              <a:t>把样本投影到最大特征值对应的方向，就得到保留主要变化的一维新特征。</a:t>
            </a:r>
          </a:p>
        </p:txBody>
      </p:sp>
      <p:sp>
        <p:nvSpPr>
          <p:cNvPr id="23" name="矩形: 圆角 22">
            <a:extLst>
              <a:ext uri="{FF2B5EF4-FFF2-40B4-BE49-F238E27FC236}">
                <a16:creationId xmlns:a16="http://schemas.microsoft.com/office/drawing/2014/main" id="{EE916F54-2C48-3218-4536-8E323677BD23}"/>
              </a:ext>
            </a:extLst>
          </p:cNvPr>
          <p:cNvSpPr/>
          <p:nvPr/>
        </p:nvSpPr>
        <p:spPr>
          <a:xfrm>
            <a:off x="1016000" y="3276600"/>
            <a:ext cx="10160000" cy="914400"/>
          </a:xfrm>
          <a:prstGeom prst="roundRect">
            <a:avLst/>
          </a:prstGeom>
          <a:solidFill>
            <a:srgbClr val="EFF6FF"/>
          </a:solidFill>
          <a:ln w="8890">
            <a:solidFill>
              <a:srgbClr val="BFDBF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9057BD9D-458B-B8F1-82E3-234FE3F2BED7}"/>
              </a:ext>
            </a:extLst>
          </p:cNvPr>
          <p:cNvSpPr txBox="1"/>
          <p:nvPr/>
        </p:nvSpPr>
        <p:spPr>
          <a:xfrm>
            <a:off x="1422400" y="3581400"/>
            <a:ext cx="9347200" cy="261610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ctr"/>
            <a:r>
              <a:rPr lang="zh-CN" altLang="en-US" sz="1700" b="1">
                <a:solidFill>
                  <a:srgbClr val="0A7FCC"/>
                </a:solidFill>
                <a:latin typeface="Microsoft YaHei" panose="020B0503020204020204" pitchFamily="34" charset="-122"/>
              </a:rPr>
              <a:t>通俗理解：</a:t>
            </a:r>
            <a:r>
              <a:rPr lang="en-US" altLang="zh-CN" sz="1700" b="1">
                <a:solidFill>
                  <a:srgbClr val="0A7FCC"/>
                </a:solidFill>
                <a:latin typeface="Microsoft YaHei" panose="020B0503020204020204" pitchFamily="34" charset="-122"/>
              </a:rPr>
              <a:t>PCA </a:t>
            </a:r>
            <a:r>
              <a:rPr lang="zh-CN" altLang="en-US" sz="1700" b="1">
                <a:solidFill>
                  <a:srgbClr val="0A7FCC"/>
                </a:solidFill>
                <a:latin typeface="Microsoft YaHei" panose="020B0503020204020204" pitchFamily="34" charset="-122"/>
              </a:rPr>
              <a:t>像是在散点图上找一根尺子，让样本沿这根尺子的展开范围最大。</a:t>
            </a:r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BBC1BF53-DE57-9D72-BB38-708277FBEF76}"/>
              </a:ext>
            </a:extLst>
          </p:cNvPr>
          <p:cNvSpPr txBox="1"/>
          <p:nvPr/>
        </p:nvSpPr>
        <p:spPr>
          <a:xfrm>
            <a:off x="1143000" y="4826000"/>
            <a:ext cx="9779000" cy="779701"/>
          </a:xfrm>
          <a:prstGeom prst="rect">
            <a:avLst/>
          </a:prstGeom>
          <a:noFill/>
        </p:spPr>
        <p:txBody>
          <a:bodyPr vert="horz" lIns="101600" tIns="25400" rIns="25400" bIns="25400" rtlCol="0">
            <a:spAutoFit/>
          </a:bodyPr>
          <a:lstStyle/>
          <a:p>
            <a:pPr marL="342900" indent="-342900">
              <a:spcAft>
                <a:spcPts val="500"/>
              </a:spcAft>
              <a:buFont typeface="+mj-lt"/>
              <a:buAutoNum type="arabicPeriod"/>
            </a:pPr>
            <a:r>
              <a:rPr lang="zh-CN" altLang="en-US" sz="1300">
                <a:solidFill>
                  <a:srgbClr val="38566F"/>
                </a:solidFill>
                <a:latin typeface="Microsoft YaHei" panose="020B0503020204020204" pitchFamily="34" charset="-122"/>
              </a:rPr>
              <a:t>如果男女样本主要沿这根尺子分开，那么 </a:t>
            </a:r>
            <a:r>
              <a:rPr lang="en-US" altLang="zh-CN" sz="1300">
                <a:solidFill>
                  <a:srgbClr val="38566F"/>
                </a:solidFill>
                <a:latin typeface="Microsoft YaHei" panose="020B0503020204020204" pitchFamily="34" charset="-122"/>
              </a:rPr>
              <a:t>PCA </a:t>
            </a:r>
            <a:r>
              <a:rPr lang="zh-CN" altLang="en-US" sz="1300">
                <a:solidFill>
                  <a:srgbClr val="38566F"/>
                </a:solidFill>
                <a:latin typeface="Microsoft YaHei" panose="020B0503020204020204" pitchFamily="34" charset="-122"/>
              </a:rPr>
              <a:t>第一主成分就能用于分类。</a:t>
            </a:r>
          </a:p>
          <a:p>
            <a:pPr marL="342900" indent="-342900">
              <a:spcAft>
                <a:spcPts val="500"/>
              </a:spcAft>
              <a:buFont typeface="+mj-lt"/>
              <a:buAutoNum type="arabicPeriod"/>
            </a:pPr>
            <a:r>
              <a:rPr lang="zh-CN" altLang="en-US" sz="1300">
                <a:solidFill>
                  <a:srgbClr val="38566F"/>
                </a:solidFill>
                <a:latin typeface="Microsoft YaHei" panose="020B0503020204020204" pitchFamily="34" charset="-122"/>
              </a:rPr>
              <a:t>如果最大变化来自身高体重以外的因素，</a:t>
            </a:r>
            <a:r>
              <a:rPr lang="en-US" altLang="zh-CN" sz="1300">
                <a:solidFill>
                  <a:srgbClr val="38566F"/>
                </a:solidFill>
                <a:latin typeface="Microsoft YaHei" panose="020B0503020204020204" pitchFamily="34" charset="-122"/>
              </a:rPr>
              <a:t>PCA </a:t>
            </a:r>
            <a:r>
              <a:rPr lang="zh-CN" altLang="en-US" sz="1300">
                <a:solidFill>
                  <a:srgbClr val="38566F"/>
                </a:solidFill>
                <a:latin typeface="Microsoft YaHei" panose="020B0503020204020204" pitchFamily="34" charset="-122"/>
              </a:rPr>
              <a:t>可能保留了方差，却没有保留判别信息。</a:t>
            </a:r>
          </a:p>
          <a:p>
            <a:pPr marL="342900" indent="-342900">
              <a:spcAft>
                <a:spcPts val="500"/>
              </a:spcAft>
              <a:buFont typeface="+mj-lt"/>
              <a:buAutoNum type="arabicPeriod"/>
            </a:pPr>
            <a:r>
              <a:rPr lang="zh-CN" altLang="en-US" sz="1300">
                <a:solidFill>
                  <a:srgbClr val="38566F"/>
                </a:solidFill>
                <a:latin typeface="Microsoft YaHei" panose="020B0503020204020204" pitchFamily="34" charset="-122"/>
              </a:rPr>
              <a:t>所以实验三要把 </a:t>
            </a:r>
            <a:r>
              <a:rPr lang="en-US" altLang="zh-CN" sz="1300">
                <a:solidFill>
                  <a:srgbClr val="38566F"/>
                </a:solidFill>
                <a:latin typeface="Microsoft YaHei" panose="020B0503020204020204" pitchFamily="34" charset="-122"/>
              </a:rPr>
              <a:t>PCA</a:t>
            </a:r>
            <a:r>
              <a:rPr lang="zh-CN" altLang="en-US" sz="1300">
                <a:solidFill>
                  <a:srgbClr val="38566F"/>
                </a:solidFill>
                <a:latin typeface="Microsoft YaHei" panose="020B0503020204020204" pitchFamily="34" charset="-122"/>
              </a:rPr>
              <a:t>、类均值方向、</a:t>
            </a:r>
            <a:r>
              <a:rPr lang="en-US" altLang="zh-CN" sz="1300">
                <a:solidFill>
                  <a:srgbClr val="38566F"/>
                </a:solidFill>
                <a:latin typeface="Microsoft YaHei" panose="020B0503020204020204" pitchFamily="34" charset="-122"/>
              </a:rPr>
              <a:t>Fisher </a:t>
            </a:r>
            <a:r>
              <a:rPr lang="zh-CN" altLang="en-US" sz="1300">
                <a:solidFill>
                  <a:srgbClr val="38566F"/>
                </a:solidFill>
                <a:latin typeface="Microsoft YaHei" panose="020B0503020204020204" pitchFamily="34" charset="-122"/>
              </a:rPr>
              <a:t>和 </a:t>
            </a:r>
            <a:r>
              <a:rPr lang="en-US" altLang="zh-CN" sz="1300">
                <a:solidFill>
                  <a:srgbClr val="38566F"/>
                </a:solidFill>
                <a:latin typeface="Microsoft YaHei" panose="020B0503020204020204" pitchFamily="34" charset="-122"/>
              </a:rPr>
              <a:t>Bayes </a:t>
            </a:r>
            <a:r>
              <a:rPr lang="zh-CN" altLang="en-US" sz="1300">
                <a:solidFill>
                  <a:srgbClr val="38566F"/>
                </a:solidFill>
                <a:latin typeface="Microsoft YaHei" panose="020B0503020204020204" pitchFamily="34" charset="-122"/>
              </a:rPr>
              <a:t>放在一起比较。</a:t>
            </a:r>
          </a:p>
        </p:txBody>
      </p:sp>
    </p:spTree>
    <p:extLst>
      <p:ext uri="{BB962C8B-B14F-4D97-AF65-F5344CB8AC3E}">
        <p14:creationId xmlns:p14="http://schemas.microsoft.com/office/powerpoint/2010/main" val="113853494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437D16D7-DA48-F965-35A9-779047EB87CF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C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C1E006F-4861-A92F-BF4C-FDF1A63730F6}"/>
              </a:ext>
            </a:extLst>
          </p:cNvPr>
          <p:cNvSpPr/>
          <p:nvPr/>
        </p:nvSpPr>
        <p:spPr>
          <a:xfrm>
            <a:off x="0" y="0"/>
            <a:ext cx="12192000" cy="1016000"/>
          </a:xfrm>
          <a:prstGeom prst="rect">
            <a:avLst/>
          </a:prstGeom>
          <a:solidFill>
            <a:srgbClr val="006BB7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平行四边形 3">
            <a:extLst>
              <a:ext uri="{FF2B5EF4-FFF2-40B4-BE49-F238E27FC236}">
                <a16:creationId xmlns:a16="http://schemas.microsoft.com/office/drawing/2014/main" id="{C2FD78A7-5F07-9DEA-E817-FB0ACC95615E}"/>
              </a:ext>
            </a:extLst>
          </p:cNvPr>
          <p:cNvSpPr/>
          <p:nvPr/>
        </p:nvSpPr>
        <p:spPr>
          <a:xfrm>
            <a:off x="8953500" y="-228600"/>
            <a:ext cx="3581400" cy="1346200"/>
          </a:xfrm>
          <a:prstGeom prst="parallelogram">
            <a:avLst>
              <a:gd name="adj" fmla="val 20000"/>
            </a:avLst>
          </a:prstGeom>
          <a:solidFill>
            <a:srgbClr val="3A9BD9">
              <a:alpha val="85000"/>
            </a:srgbClr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平行四边形 4">
            <a:extLst>
              <a:ext uri="{FF2B5EF4-FFF2-40B4-BE49-F238E27FC236}">
                <a16:creationId xmlns:a16="http://schemas.microsoft.com/office/drawing/2014/main" id="{0F03667E-B658-6FC3-C477-143832DC5331}"/>
              </a:ext>
            </a:extLst>
          </p:cNvPr>
          <p:cNvSpPr/>
          <p:nvPr/>
        </p:nvSpPr>
        <p:spPr>
          <a:xfrm>
            <a:off x="-508000" y="6324600"/>
            <a:ext cx="5969000" cy="660400"/>
          </a:xfrm>
          <a:prstGeom prst="parallelogram">
            <a:avLst>
              <a:gd name="adj" fmla="val 20000"/>
            </a:avLst>
          </a:prstGeom>
          <a:solidFill>
            <a:srgbClr val="DDF0F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A82DAC08-05C0-002B-04FC-8215BFDFFD54}"/>
              </a:ext>
            </a:extLst>
          </p:cNvPr>
          <p:cNvSpPr txBox="1"/>
          <p:nvPr/>
        </p:nvSpPr>
        <p:spPr>
          <a:xfrm>
            <a:off x="736600" y="254000"/>
            <a:ext cx="4953000" cy="10772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700" b="1">
                <a:solidFill>
                  <a:srgbClr val="CDEBFF"/>
                </a:solidFill>
                <a:latin typeface="Microsoft YaHei" panose="020B0503020204020204" pitchFamily="34" charset="-122"/>
              </a:rPr>
              <a:t>EXPERIMENT DESIGN</a:t>
            </a:r>
            <a:endParaRPr lang="zh-CN" altLang="en-US" sz="700" b="1">
              <a:solidFill>
                <a:srgbClr val="CDEBFF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3E41DFF5-D086-BAB4-0944-A4FAEBAC172C}"/>
              </a:ext>
            </a:extLst>
          </p:cNvPr>
          <p:cNvSpPr txBox="1"/>
          <p:nvPr/>
        </p:nvSpPr>
        <p:spPr>
          <a:xfrm>
            <a:off x="736600" y="533400"/>
            <a:ext cx="8509000" cy="41549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2700" b="1">
                <a:solidFill>
                  <a:srgbClr val="FFFFFF"/>
                </a:solidFill>
                <a:latin typeface="Microsoft YaHei" panose="020B0503020204020204" pitchFamily="34" charset="-122"/>
              </a:rPr>
              <a:t>实验三设置：二维特征的主方向分析</a:t>
            </a:r>
          </a:p>
        </p:txBody>
      </p:sp>
      <p:cxnSp>
        <p:nvCxnSpPr>
          <p:cNvPr id="8" name="直接连接符 7">
            <a:extLst>
              <a:ext uri="{FF2B5EF4-FFF2-40B4-BE49-F238E27FC236}">
                <a16:creationId xmlns:a16="http://schemas.microsoft.com/office/drawing/2014/main" id="{2B7B9840-4B02-6CAB-B894-E151B5B75D6A}"/>
              </a:ext>
            </a:extLst>
          </p:cNvPr>
          <p:cNvCxnSpPr/>
          <p:nvPr/>
        </p:nvCxnSpPr>
        <p:spPr>
          <a:xfrm>
            <a:off x="736600" y="1295400"/>
            <a:ext cx="1168400" cy="0"/>
          </a:xfrm>
          <a:prstGeom prst="line">
            <a:avLst/>
          </a:prstGeom>
          <a:ln w="38100">
            <a:solidFill>
              <a:srgbClr val="D4A84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文本框 8">
            <a:extLst>
              <a:ext uri="{FF2B5EF4-FFF2-40B4-BE49-F238E27FC236}">
                <a16:creationId xmlns:a16="http://schemas.microsoft.com/office/drawing/2014/main" id="{E28AF0A5-612E-E77B-4F76-80E3E2710231}"/>
              </a:ext>
            </a:extLst>
          </p:cNvPr>
          <p:cNvSpPr txBox="1"/>
          <p:nvPr/>
        </p:nvSpPr>
        <p:spPr>
          <a:xfrm>
            <a:off x="533400" y="6527800"/>
            <a:ext cx="3937000" cy="10772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700">
                <a:solidFill>
                  <a:srgbClr val="8FA8BA"/>
                </a:solidFill>
                <a:latin typeface="Microsoft YaHei" panose="020B0503020204020204" pitchFamily="34" charset="-122"/>
              </a:rPr>
              <a:t>模式识别课程实验汇报 </a:t>
            </a:r>
            <a:r>
              <a:rPr lang="en-US" altLang="zh-CN" sz="700">
                <a:solidFill>
                  <a:srgbClr val="8FA8BA"/>
                </a:solidFill>
                <a:latin typeface="Microsoft YaHei" panose="020B0503020204020204" pitchFamily="34" charset="-122"/>
              </a:rPr>
              <a:t>· </a:t>
            </a:r>
            <a:r>
              <a:rPr lang="zh-CN" altLang="en-US" sz="700">
                <a:solidFill>
                  <a:srgbClr val="8FA8BA"/>
                </a:solidFill>
                <a:latin typeface="Microsoft YaHei" panose="020B0503020204020204" pitchFamily="34" charset="-122"/>
              </a:rPr>
              <a:t>蓝白科研汇报模板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1B8B057A-75D0-723C-F95F-9FD4099C50B6}"/>
              </a:ext>
            </a:extLst>
          </p:cNvPr>
          <p:cNvSpPr txBox="1"/>
          <p:nvPr/>
        </p:nvSpPr>
        <p:spPr>
          <a:xfrm>
            <a:off x="11366500" y="6477000"/>
            <a:ext cx="355600" cy="10772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r"/>
            <a:r>
              <a:rPr lang="en-US" altLang="zh-CN" sz="700" b="1">
                <a:solidFill>
                  <a:srgbClr val="006BB7"/>
                </a:solidFill>
                <a:latin typeface="Microsoft YaHei" panose="020B0503020204020204" pitchFamily="34" charset="-122"/>
              </a:rPr>
              <a:t>16</a:t>
            </a:r>
            <a:endParaRPr lang="zh-CN" altLang="en-US" sz="700" b="1">
              <a:solidFill>
                <a:srgbClr val="006BB7"/>
              </a:solidFill>
              <a:latin typeface="Microsoft YaHei" panose="020B0503020204020204" pitchFamily="34" charset="-122"/>
            </a:endParaRPr>
          </a:p>
        </p:txBody>
      </p:sp>
      <p:graphicFrame>
        <p:nvGraphicFramePr>
          <p:cNvPr id="11" name="表格 10">
            <a:extLst>
              <a:ext uri="{FF2B5EF4-FFF2-40B4-BE49-F238E27FC236}">
                <a16:creationId xmlns:a16="http://schemas.microsoft.com/office/drawing/2014/main" id="{1D637146-9C83-F433-E0BA-3B2B3BD4FB9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27013501"/>
              </p:ext>
            </p:extLst>
          </p:nvPr>
        </p:nvGraphicFramePr>
        <p:xfrm>
          <a:off x="825500" y="1397000"/>
          <a:ext cx="4445000" cy="254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22500">
                  <a:extLst>
                    <a:ext uri="{9D8B030D-6E8A-4147-A177-3AD203B41FA5}">
                      <a16:colId xmlns:a16="http://schemas.microsoft.com/office/drawing/2014/main" val="3699859538"/>
                    </a:ext>
                  </a:extLst>
                </a:gridCol>
                <a:gridCol w="2222500">
                  <a:extLst>
                    <a:ext uri="{9D8B030D-6E8A-4147-A177-3AD203B41FA5}">
                      <a16:colId xmlns:a16="http://schemas.microsoft.com/office/drawing/2014/main" val="1374849765"/>
                    </a:ext>
                  </a:extLst>
                </a:gridCol>
              </a:tblGrid>
              <a:tr h="423333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100" b="1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项目</a:t>
                      </a:r>
                    </a:p>
                  </a:txBody>
                  <a:tcPr marL="38100" marR="38100" marT="25400" marB="25400" anchor="ctr">
                    <a:solidFill>
                      <a:srgbClr val="006BB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100" b="1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数值</a:t>
                      </a:r>
                      <a:r>
                        <a:rPr lang="en-US" altLang="zh-CN" sz="1100" b="1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/</a:t>
                      </a:r>
                      <a:r>
                        <a:rPr lang="zh-CN" altLang="en-US" sz="1100" b="1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说明</a:t>
                      </a:r>
                    </a:p>
                  </a:txBody>
                  <a:tcPr marL="38100" marR="38100" marT="25400" marB="25400" anchor="ctr">
                    <a:solidFill>
                      <a:srgbClr val="006BB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00306616"/>
                  </a:ext>
                </a:extLst>
              </a:tr>
              <a:tr h="423333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数据</a:t>
                      </a:r>
                    </a:p>
                  </a:txBody>
                  <a:tcPr marL="38100" marR="38100" marT="25400" marB="254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FEMALE + MALE</a:t>
                      </a:r>
                      <a:r>
                        <a:rPr lang="zh-CN" altLang="en-US" sz="10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，共 </a:t>
                      </a:r>
                      <a:r>
                        <a:rPr lang="en-US" altLang="zh-CN" sz="10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100 </a:t>
                      </a:r>
                      <a:r>
                        <a:rPr lang="zh-CN" altLang="en-US" sz="10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个训练样本</a:t>
                      </a:r>
                    </a:p>
                  </a:txBody>
                  <a:tcPr marL="38100" marR="38100" marT="25400" marB="25400" anchor="ctr"/>
                </a:tc>
                <a:extLst>
                  <a:ext uri="{0D108BD9-81ED-4DB2-BD59-A6C34878D82A}">
                    <a16:rowId xmlns:a16="http://schemas.microsoft.com/office/drawing/2014/main" val="2245720645"/>
                  </a:ext>
                </a:extLst>
              </a:tr>
              <a:tr h="423333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特征</a:t>
                      </a:r>
                    </a:p>
                  </a:txBody>
                  <a:tcPr marL="38100" marR="38100" marT="25400" marB="254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身高、体重</a:t>
                      </a:r>
                    </a:p>
                  </a:txBody>
                  <a:tcPr marL="38100" marR="38100" marT="25400" marB="25400" anchor="ctr"/>
                </a:tc>
                <a:extLst>
                  <a:ext uri="{0D108BD9-81ED-4DB2-BD59-A6C34878D82A}">
                    <a16:rowId xmlns:a16="http://schemas.microsoft.com/office/drawing/2014/main" val="1419123623"/>
                  </a:ext>
                </a:extLst>
              </a:tr>
              <a:tr h="423333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第一主成分解释率</a:t>
                      </a:r>
                    </a:p>
                  </a:txBody>
                  <a:tcPr marL="38100" marR="38100" marT="25400" marB="254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87.52%</a:t>
                      </a:r>
                      <a:endParaRPr lang="zh-CN" altLang="en-US" sz="1000" b="0">
                        <a:solidFill>
                          <a:srgbClr val="000000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marL="38100" marR="38100" marT="25400" marB="25400" anchor="ctr"/>
                </a:tc>
                <a:extLst>
                  <a:ext uri="{0D108BD9-81ED-4DB2-BD59-A6C34878D82A}">
                    <a16:rowId xmlns:a16="http://schemas.microsoft.com/office/drawing/2014/main" val="2532052909"/>
                  </a:ext>
                </a:extLst>
              </a:tr>
              <a:tr h="423333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PC1</a:t>
                      </a:r>
                      <a:endParaRPr lang="zh-CN" altLang="en-US" sz="1000" b="0">
                        <a:solidFill>
                          <a:srgbClr val="000000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marL="38100" marR="38100" marT="25400" marB="254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(0.6269, 0.7791)</a:t>
                      </a:r>
                      <a:endParaRPr lang="zh-CN" altLang="en-US" sz="1000" b="0">
                        <a:solidFill>
                          <a:srgbClr val="000000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marL="38100" marR="38100" marT="25400" marB="25400" anchor="ctr"/>
                </a:tc>
                <a:extLst>
                  <a:ext uri="{0D108BD9-81ED-4DB2-BD59-A6C34878D82A}">
                    <a16:rowId xmlns:a16="http://schemas.microsoft.com/office/drawing/2014/main" val="1197430332"/>
                  </a:ext>
                </a:extLst>
              </a:tr>
              <a:tr h="423333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类均值方向</a:t>
                      </a:r>
                    </a:p>
                  </a:txBody>
                  <a:tcPr marL="38100" marR="38100" marT="25400" marB="254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(0.6514, 0.7587)</a:t>
                      </a:r>
                      <a:endParaRPr lang="zh-CN" altLang="en-US" sz="1000" b="0">
                        <a:solidFill>
                          <a:srgbClr val="000000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marL="38100" marR="38100" marT="25400" marB="25400" anchor="ctr"/>
                </a:tc>
                <a:extLst>
                  <a:ext uri="{0D108BD9-81ED-4DB2-BD59-A6C34878D82A}">
                    <a16:rowId xmlns:a16="http://schemas.microsoft.com/office/drawing/2014/main" val="2823771175"/>
                  </a:ext>
                </a:extLst>
              </a:tr>
            </a:tbl>
          </a:graphicData>
        </a:graphic>
      </p:graphicFrame>
      <p:sp>
        <p:nvSpPr>
          <p:cNvPr id="12" name="矩形: 圆角 11">
            <a:extLst>
              <a:ext uri="{FF2B5EF4-FFF2-40B4-BE49-F238E27FC236}">
                <a16:creationId xmlns:a16="http://schemas.microsoft.com/office/drawing/2014/main" id="{E65657A7-4DF3-CFEF-1D78-C32BAFC94830}"/>
              </a:ext>
            </a:extLst>
          </p:cNvPr>
          <p:cNvSpPr/>
          <p:nvPr/>
        </p:nvSpPr>
        <p:spPr>
          <a:xfrm>
            <a:off x="5778500" y="1333500"/>
            <a:ext cx="5270500" cy="393700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4" name="图片 13">
            <a:extLst>
              <a:ext uri="{FF2B5EF4-FFF2-40B4-BE49-F238E27FC236}">
                <a16:creationId xmlns:a16="http://schemas.microsoft.com/office/drawing/2014/main" id="{D7A9C9EF-0178-3C37-7BB2-3B77654A842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26886" y="1811382"/>
            <a:ext cx="4173729" cy="2981235"/>
          </a:xfrm>
          <a:prstGeom prst="rect">
            <a:avLst/>
          </a:prstGeom>
        </p:spPr>
      </p:pic>
      <p:sp>
        <p:nvSpPr>
          <p:cNvPr id="15" name="矩形: 圆角 14">
            <a:extLst>
              <a:ext uri="{FF2B5EF4-FFF2-40B4-BE49-F238E27FC236}">
                <a16:creationId xmlns:a16="http://schemas.microsoft.com/office/drawing/2014/main" id="{465F3408-65B9-1D46-F0F1-49ADFE04105A}"/>
              </a:ext>
            </a:extLst>
          </p:cNvPr>
          <p:cNvSpPr/>
          <p:nvPr/>
        </p:nvSpPr>
        <p:spPr>
          <a:xfrm>
            <a:off x="1016000" y="4927600"/>
            <a:ext cx="4000500" cy="71120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4374985F-856A-285C-AD15-69492C67F4DF}"/>
              </a:ext>
            </a:extLst>
          </p:cNvPr>
          <p:cNvSpPr/>
          <p:nvPr/>
        </p:nvSpPr>
        <p:spPr>
          <a:xfrm>
            <a:off x="1016000" y="4927600"/>
            <a:ext cx="76200" cy="711200"/>
          </a:xfrm>
          <a:prstGeom prst="rect">
            <a:avLst/>
          </a:prstGeom>
          <a:solidFill>
            <a:srgbClr val="006BB7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492B42CD-65CD-58D4-BF45-452BFBDCBF3C}"/>
              </a:ext>
            </a:extLst>
          </p:cNvPr>
          <p:cNvSpPr txBox="1"/>
          <p:nvPr/>
        </p:nvSpPr>
        <p:spPr>
          <a:xfrm>
            <a:off x="1206500" y="5054600"/>
            <a:ext cx="3695700" cy="215444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400" b="1">
                <a:solidFill>
                  <a:srgbClr val="0A2E4E"/>
                </a:solidFill>
                <a:latin typeface="Microsoft YaHei" panose="020B0503020204020204" pitchFamily="34" charset="-122"/>
              </a:rPr>
              <a:t>设置说明</a:t>
            </a: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8354668F-A451-1730-A534-04FC48AB297D}"/>
              </a:ext>
            </a:extLst>
          </p:cNvPr>
          <p:cNvSpPr txBox="1"/>
          <p:nvPr/>
        </p:nvSpPr>
        <p:spPr>
          <a:xfrm>
            <a:off x="1206500" y="5410200"/>
            <a:ext cx="3695700" cy="36933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200">
                <a:solidFill>
                  <a:srgbClr val="38566F"/>
                </a:solidFill>
                <a:latin typeface="Microsoft YaHei" panose="020B0503020204020204" pitchFamily="34" charset="-122"/>
              </a:rPr>
              <a:t>分别使用 </a:t>
            </a:r>
            <a:r>
              <a:rPr lang="en-US" altLang="zh-CN" sz="1200">
                <a:solidFill>
                  <a:srgbClr val="38566F"/>
                </a:solidFill>
                <a:latin typeface="Microsoft YaHei" panose="020B0503020204020204" pitchFamily="34" charset="-122"/>
              </a:rPr>
              <a:t>PCA </a:t>
            </a:r>
            <a:r>
              <a:rPr lang="zh-CN" altLang="en-US" sz="1200">
                <a:solidFill>
                  <a:srgbClr val="38566F"/>
                </a:solidFill>
                <a:latin typeface="Microsoft YaHei" panose="020B0503020204020204" pitchFamily="34" charset="-122"/>
              </a:rPr>
              <a:t>第一主成分、类均值差方向、</a:t>
            </a:r>
            <a:r>
              <a:rPr lang="en-US" altLang="zh-CN" sz="1200">
                <a:solidFill>
                  <a:srgbClr val="38566F"/>
                </a:solidFill>
                <a:latin typeface="Microsoft YaHei" panose="020B0503020204020204" pitchFamily="34" charset="-122"/>
              </a:rPr>
              <a:t>Fisher </a:t>
            </a:r>
            <a:r>
              <a:rPr lang="zh-CN" altLang="en-US" sz="1200">
                <a:solidFill>
                  <a:srgbClr val="38566F"/>
                </a:solidFill>
                <a:latin typeface="Microsoft YaHei" panose="020B0503020204020204" pitchFamily="34" charset="-122"/>
              </a:rPr>
              <a:t>和 </a:t>
            </a:r>
            <a:r>
              <a:rPr lang="en-US" altLang="zh-CN" sz="1200">
                <a:solidFill>
                  <a:srgbClr val="38566F"/>
                </a:solidFill>
                <a:latin typeface="Microsoft YaHei" panose="020B0503020204020204" pitchFamily="34" charset="-122"/>
              </a:rPr>
              <a:t>Bayes </a:t>
            </a:r>
            <a:r>
              <a:rPr lang="zh-CN" altLang="en-US" sz="1200">
                <a:solidFill>
                  <a:srgbClr val="38566F"/>
                </a:solidFill>
                <a:latin typeface="Microsoft YaHei" panose="020B0503020204020204" pitchFamily="34" charset="-122"/>
              </a:rPr>
              <a:t>进行分类比较。</a:t>
            </a:r>
          </a:p>
        </p:txBody>
      </p:sp>
    </p:spTree>
    <p:extLst>
      <p:ext uri="{BB962C8B-B14F-4D97-AF65-F5344CB8AC3E}">
        <p14:creationId xmlns:p14="http://schemas.microsoft.com/office/powerpoint/2010/main" val="187695082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16EBC309-C113-5328-A79F-9F427E972A92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C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EB3ED55E-2097-E7C7-972C-DD53D4E90B9E}"/>
              </a:ext>
            </a:extLst>
          </p:cNvPr>
          <p:cNvSpPr/>
          <p:nvPr/>
        </p:nvSpPr>
        <p:spPr>
          <a:xfrm>
            <a:off x="0" y="0"/>
            <a:ext cx="12192000" cy="1016000"/>
          </a:xfrm>
          <a:prstGeom prst="rect">
            <a:avLst/>
          </a:prstGeom>
          <a:solidFill>
            <a:srgbClr val="006BB7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平行四边形 3">
            <a:extLst>
              <a:ext uri="{FF2B5EF4-FFF2-40B4-BE49-F238E27FC236}">
                <a16:creationId xmlns:a16="http://schemas.microsoft.com/office/drawing/2014/main" id="{BA3E0E00-0C97-72FF-A0B5-11EB36F3A928}"/>
              </a:ext>
            </a:extLst>
          </p:cNvPr>
          <p:cNvSpPr/>
          <p:nvPr/>
        </p:nvSpPr>
        <p:spPr>
          <a:xfrm>
            <a:off x="8953500" y="-228600"/>
            <a:ext cx="3581400" cy="1346200"/>
          </a:xfrm>
          <a:prstGeom prst="parallelogram">
            <a:avLst>
              <a:gd name="adj" fmla="val 20000"/>
            </a:avLst>
          </a:prstGeom>
          <a:solidFill>
            <a:srgbClr val="3A9BD9">
              <a:alpha val="85000"/>
            </a:srgbClr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平行四边形 4">
            <a:extLst>
              <a:ext uri="{FF2B5EF4-FFF2-40B4-BE49-F238E27FC236}">
                <a16:creationId xmlns:a16="http://schemas.microsoft.com/office/drawing/2014/main" id="{ECDA7C14-87DE-5464-9565-06A5488D7016}"/>
              </a:ext>
            </a:extLst>
          </p:cNvPr>
          <p:cNvSpPr/>
          <p:nvPr/>
        </p:nvSpPr>
        <p:spPr>
          <a:xfrm>
            <a:off x="-508000" y="6324600"/>
            <a:ext cx="5969000" cy="660400"/>
          </a:xfrm>
          <a:prstGeom prst="parallelogram">
            <a:avLst>
              <a:gd name="adj" fmla="val 20000"/>
            </a:avLst>
          </a:prstGeom>
          <a:solidFill>
            <a:srgbClr val="DDF0F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DBE0A3EB-8435-662D-DAC6-EECD4C61B6CC}"/>
              </a:ext>
            </a:extLst>
          </p:cNvPr>
          <p:cNvSpPr txBox="1"/>
          <p:nvPr/>
        </p:nvSpPr>
        <p:spPr>
          <a:xfrm>
            <a:off x="736600" y="254000"/>
            <a:ext cx="4953000" cy="10772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700" b="1">
                <a:solidFill>
                  <a:srgbClr val="CDEBFF"/>
                </a:solidFill>
                <a:latin typeface="Microsoft YaHei" panose="020B0503020204020204" pitchFamily="34" charset="-122"/>
              </a:rPr>
              <a:t>RESULTS</a:t>
            </a:r>
            <a:endParaRPr lang="zh-CN" altLang="en-US" sz="700" b="1">
              <a:solidFill>
                <a:srgbClr val="CDEBFF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B2A72467-4165-EFCC-6B5C-25391B1C2728}"/>
              </a:ext>
            </a:extLst>
          </p:cNvPr>
          <p:cNvSpPr txBox="1"/>
          <p:nvPr/>
        </p:nvSpPr>
        <p:spPr>
          <a:xfrm>
            <a:off x="736600" y="533400"/>
            <a:ext cx="8509000" cy="41549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2700" b="1">
                <a:solidFill>
                  <a:srgbClr val="FFFFFF"/>
                </a:solidFill>
                <a:latin typeface="Microsoft YaHei" panose="020B0503020204020204" pitchFamily="34" charset="-122"/>
              </a:rPr>
              <a:t>实验三结果：投影分布与分类性能</a:t>
            </a:r>
          </a:p>
        </p:txBody>
      </p:sp>
      <p:cxnSp>
        <p:nvCxnSpPr>
          <p:cNvPr id="8" name="直接连接符 7">
            <a:extLst>
              <a:ext uri="{FF2B5EF4-FFF2-40B4-BE49-F238E27FC236}">
                <a16:creationId xmlns:a16="http://schemas.microsoft.com/office/drawing/2014/main" id="{BC03DE27-01B7-4464-E9B1-041FA9AF3117}"/>
              </a:ext>
            </a:extLst>
          </p:cNvPr>
          <p:cNvCxnSpPr/>
          <p:nvPr/>
        </p:nvCxnSpPr>
        <p:spPr>
          <a:xfrm>
            <a:off x="736600" y="1295400"/>
            <a:ext cx="1168400" cy="0"/>
          </a:xfrm>
          <a:prstGeom prst="line">
            <a:avLst/>
          </a:prstGeom>
          <a:ln w="38100">
            <a:solidFill>
              <a:srgbClr val="D4A84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文本框 8">
            <a:extLst>
              <a:ext uri="{FF2B5EF4-FFF2-40B4-BE49-F238E27FC236}">
                <a16:creationId xmlns:a16="http://schemas.microsoft.com/office/drawing/2014/main" id="{961F5BA1-9BD9-77C3-771E-0B3D84A08F81}"/>
              </a:ext>
            </a:extLst>
          </p:cNvPr>
          <p:cNvSpPr txBox="1"/>
          <p:nvPr/>
        </p:nvSpPr>
        <p:spPr>
          <a:xfrm>
            <a:off x="533400" y="6527800"/>
            <a:ext cx="3937000" cy="10772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700">
                <a:solidFill>
                  <a:srgbClr val="8FA8BA"/>
                </a:solidFill>
                <a:latin typeface="Microsoft YaHei" panose="020B0503020204020204" pitchFamily="34" charset="-122"/>
              </a:rPr>
              <a:t>模式识别课程实验汇报 </a:t>
            </a:r>
            <a:r>
              <a:rPr lang="en-US" altLang="zh-CN" sz="700">
                <a:solidFill>
                  <a:srgbClr val="8FA8BA"/>
                </a:solidFill>
                <a:latin typeface="Microsoft YaHei" panose="020B0503020204020204" pitchFamily="34" charset="-122"/>
              </a:rPr>
              <a:t>· </a:t>
            </a:r>
            <a:r>
              <a:rPr lang="zh-CN" altLang="en-US" sz="700">
                <a:solidFill>
                  <a:srgbClr val="8FA8BA"/>
                </a:solidFill>
                <a:latin typeface="Microsoft YaHei" panose="020B0503020204020204" pitchFamily="34" charset="-122"/>
              </a:rPr>
              <a:t>蓝白科研汇报模板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B94DC4D3-08E3-DEE2-7FD1-15134915CD60}"/>
              </a:ext>
            </a:extLst>
          </p:cNvPr>
          <p:cNvSpPr txBox="1"/>
          <p:nvPr/>
        </p:nvSpPr>
        <p:spPr>
          <a:xfrm>
            <a:off x="11366500" y="6477000"/>
            <a:ext cx="355600" cy="10772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r"/>
            <a:r>
              <a:rPr lang="en-US" altLang="zh-CN" sz="700" b="1">
                <a:solidFill>
                  <a:srgbClr val="006BB7"/>
                </a:solidFill>
                <a:latin typeface="Microsoft YaHei" panose="020B0503020204020204" pitchFamily="34" charset="-122"/>
              </a:rPr>
              <a:t>17</a:t>
            </a:r>
            <a:endParaRPr lang="zh-CN" altLang="en-US" sz="700" b="1">
              <a:solidFill>
                <a:srgbClr val="006BB7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AE953E06-8767-1610-5AE7-BE76298A781E}"/>
              </a:ext>
            </a:extLst>
          </p:cNvPr>
          <p:cNvSpPr/>
          <p:nvPr/>
        </p:nvSpPr>
        <p:spPr>
          <a:xfrm>
            <a:off x="825500" y="1397000"/>
            <a:ext cx="5207000" cy="330200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3" name="图片 12">
            <a:extLst>
              <a:ext uri="{FF2B5EF4-FFF2-40B4-BE49-F238E27FC236}">
                <a16:creationId xmlns:a16="http://schemas.microsoft.com/office/drawing/2014/main" id="{7DD978AF-0F0C-35A3-96C1-BAADF8C725D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3094" y="1941178"/>
            <a:ext cx="4071812" cy="2213644"/>
          </a:xfrm>
          <a:prstGeom prst="rect">
            <a:avLst/>
          </a:prstGeom>
        </p:spPr>
      </p:pic>
      <p:graphicFrame>
        <p:nvGraphicFramePr>
          <p:cNvPr id="14" name="表格 13">
            <a:extLst>
              <a:ext uri="{FF2B5EF4-FFF2-40B4-BE49-F238E27FC236}">
                <a16:creationId xmlns:a16="http://schemas.microsoft.com/office/drawing/2014/main" id="{B2F4AC56-2980-43F2-ACAB-D2D6EA0734D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39153849"/>
              </p:ext>
            </p:extLst>
          </p:nvPr>
        </p:nvGraphicFramePr>
        <p:xfrm>
          <a:off x="6540500" y="1549400"/>
          <a:ext cx="4826000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06500">
                  <a:extLst>
                    <a:ext uri="{9D8B030D-6E8A-4147-A177-3AD203B41FA5}">
                      <a16:colId xmlns:a16="http://schemas.microsoft.com/office/drawing/2014/main" val="1245389187"/>
                    </a:ext>
                  </a:extLst>
                </a:gridCol>
                <a:gridCol w="1206500">
                  <a:extLst>
                    <a:ext uri="{9D8B030D-6E8A-4147-A177-3AD203B41FA5}">
                      <a16:colId xmlns:a16="http://schemas.microsoft.com/office/drawing/2014/main" val="409799616"/>
                    </a:ext>
                  </a:extLst>
                </a:gridCol>
                <a:gridCol w="1206500">
                  <a:extLst>
                    <a:ext uri="{9D8B030D-6E8A-4147-A177-3AD203B41FA5}">
                      <a16:colId xmlns:a16="http://schemas.microsoft.com/office/drawing/2014/main" val="467083358"/>
                    </a:ext>
                  </a:extLst>
                </a:gridCol>
                <a:gridCol w="1206500">
                  <a:extLst>
                    <a:ext uri="{9D8B030D-6E8A-4147-A177-3AD203B41FA5}">
                      <a16:colId xmlns:a16="http://schemas.microsoft.com/office/drawing/2014/main" val="3565215939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100" b="1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方法</a:t>
                      </a:r>
                    </a:p>
                  </a:txBody>
                  <a:tcPr marL="38100" marR="38100" marT="25400" marB="25400" anchor="ctr">
                    <a:solidFill>
                      <a:srgbClr val="006BB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100" b="1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训练集</a:t>
                      </a:r>
                    </a:p>
                  </a:txBody>
                  <a:tcPr marL="38100" marR="38100" marT="25400" marB="25400" anchor="ctr">
                    <a:solidFill>
                      <a:srgbClr val="006BB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100" b="1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test1</a:t>
                      </a:r>
                      <a:endParaRPr lang="zh-CN" altLang="en-US" sz="1100" b="1">
                        <a:solidFill>
                          <a:srgbClr val="000000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marL="38100" marR="38100" marT="25400" marB="25400" anchor="ctr">
                    <a:solidFill>
                      <a:srgbClr val="006BB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100" b="1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test2</a:t>
                      </a:r>
                      <a:endParaRPr lang="zh-CN" altLang="en-US" sz="1100" b="1">
                        <a:solidFill>
                          <a:srgbClr val="000000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marL="38100" marR="38100" marT="25400" marB="25400" anchor="ctr">
                    <a:solidFill>
                      <a:srgbClr val="006BB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8385262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K-L PCA </a:t>
                      </a:r>
                      <a:r>
                        <a:rPr lang="zh-CN" altLang="en-US" sz="10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第一主成分</a:t>
                      </a:r>
                    </a:p>
                  </a:txBody>
                  <a:tcPr marL="38100" marR="38100" marT="25400" marB="254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86.00%</a:t>
                      </a:r>
                      <a:endParaRPr lang="zh-CN" altLang="en-US" sz="1000" b="0">
                        <a:solidFill>
                          <a:srgbClr val="000000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marL="38100" marR="38100" marT="25400" marB="254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100.00%</a:t>
                      </a:r>
                      <a:endParaRPr lang="zh-CN" altLang="en-US" sz="1000" b="0">
                        <a:solidFill>
                          <a:srgbClr val="000000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marL="38100" marR="38100" marT="25400" marB="254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89.67%</a:t>
                      </a:r>
                      <a:endParaRPr lang="zh-CN" altLang="en-US" sz="1000" b="0">
                        <a:solidFill>
                          <a:srgbClr val="000000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marL="38100" marR="38100" marT="25400" marB="25400" anchor="ctr"/>
                </a:tc>
                <a:extLst>
                  <a:ext uri="{0D108BD9-81ED-4DB2-BD59-A6C34878D82A}">
                    <a16:rowId xmlns:a16="http://schemas.microsoft.com/office/drawing/2014/main" val="147436304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类均值方向</a:t>
                      </a:r>
                    </a:p>
                  </a:txBody>
                  <a:tcPr marL="38100" marR="38100" marT="25400" marB="254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86.00%</a:t>
                      </a:r>
                      <a:endParaRPr lang="zh-CN" altLang="en-US" sz="1000" b="0">
                        <a:solidFill>
                          <a:srgbClr val="000000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marL="38100" marR="38100" marT="25400" marB="254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100.00%</a:t>
                      </a:r>
                      <a:endParaRPr lang="zh-CN" altLang="en-US" sz="1000" b="0">
                        <a:solidFill>
                          <a:srgbClr val="000000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marL="38100" marR="38100" marT="25400" marB="254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89.67%</a:t>
                      </a:r>
                      <a:endParaRPr lang="zh-CN" altLang="en-US" sz="1000" b="0">
                        <a:solidFill>
                          <a:srgbClr val="000000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marL="38100" marR="38100" marT="25400" marB="25400" anchor="ctr"/>
                </a:tc>
                <a:extLst>
                  <a:ext uri="{0D108BD9-81ED-4DB2-BD59-A6C34878D82A}">
                    <a16:rowId xmlns:a16="http://schemas.microsoft.com/office/drawing/2014/main" val="380578441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Fisher</a:t>
                      </a:r>
                      <a:endParaRPr lang="zh-CN" altLang="en-US" sz="1000" b="0">
                        <a:solidFill>
                          <a:srgbClr val="000000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marL="38100" marR="38100" marT="25400" marB="254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88.00%</a:t>
                      </a:r>
                      <a:endParaRPr lang="zh-CN" altLang="en-US" sz="1000" b="0">
                        <a:solidFill>
                          <a:srgbClr val="000000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marL="38100" marR="38100" marT="25400" marB="254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97.14%</a:t>
                      </a:r>
                      <a:endParaRPr lang="zh-CN" altLang="en-US" sz="1000" b="0">
                        <a:solidFill>
                          <a:srgbClr val="000000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marL="38100" marR="38100" marT="25400" marB="254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90.33%</a:t>
                      </a:r>
                      <a:endParaRPr lang="zh-CN" altLang="en-US" sz="1000" b="0">
                        <a:solidFill>
                          <a:srgbClr val="000000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marL="38100" marR="38100" marT="25400" marB="25400" anchor="ctr"/>
                </a:tc>
                <a:extLst>
                  <a:ext uri="{0D108BD9-81ED-4DB2-BD59-A6C34878D82A}">
                    <a16:rowId xmlns:a16="http://schemas.microsoft.com/office/drawing/2014/main" val="4188038878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Gaussian Bayes</a:t>
                      </a:r>
                      <a:endParaRPr lang="zh-CN" altLang="en-US" sz="1000" b="0">
                        <a:solidFill>
                          <a:srgbClr val="000000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marL="38100" marR="38100" marT="25400" marB="254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88.00%</a:t>
                      </a:r>
                      <a:endParaRPr lang="zh-CN" altLang="en-US" sz="1000" b="0">
                        <a:solidFill>
                          <a:srgbClr val="000000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marL="38100" marR="38100" marT="25400" marB="254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97.14%</a:t>
                      </a:r>
                      <a:endParaRPr lang="zh-CN" altLang="en-US" sz="1000" b="0">
                        <a:solidFill>
                          <a:srgbClr val="000000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marL="38100" marR="38100" marT="25400" marB="254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89.33%</a:t>
                      </a:r>
                      <a:endParaRPr lang="zh-CN" altLang="en-US" sz="1000" b="0">
                        <a:solidFill>
                          <a:srgbClr val="000000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marL="38100" marR="38100" marT="25400" marB="25400" anchor="ctr"/>
                </a:tc>
                <a:extLst>
                  <a:ext uri="{0D108BD9-81ED-4DB2-BD59-A6C34878D82A}">
                    <a16:rowId xmlns:a16="http://schemas.microsoft.com/office/drawing/2014/main" val="3158425753"/>
                  </a:ext>
                </a:extLst>
              </a:tr>
            </a:tbl>
          </a:graphicData>
        </a:graphic>
      </p:graphicFrame>
      <p:sp>
        <p:nvSpPr>
          <p:cNvPr id="15" name="文本框 14">
            <a:extLst>
              <a:ext uri="{FF2B5EF4-FFF2-40B4-BE49-F238E27FC236}">
                <a16:creationId xmlns:a16="http://schemas.microsoft.com/office/drawing/2014/main" id="{EF95C049-9184-7896-5EF8-FF936E44E8E3}"/>
              </a:ext>
            </a:extLst>
          </p:cNvPr>
          <p:cNvSpPr txBox="1"/>
          <p:nvPr/>
        </p:nvSpPr>
        <p:spPr>
          <a:xfrm>
            <a:off x="6667500" y="4318000"/>
            <a:ext cx="4572000" cy="515526"/>
          </a:xfrm>
          <a:prstGeom prst="rect">
            <a:avLst/>
          </a:prstGeom>
          <a:noFill/>
        </p:spPr>
        <p:txBody>
          <a:bodyPr vert="horz" lIns="101600" tIns="25400" rIns="25400" bIns="25400" rtlCol="0">
            <a:spAutoFit/>
          </a:bodyPr>
          <a:lstStyle/>
          <a:p>
            <a:pPr marL="342900" indent="-342900">
              <a:spcAft>
                <a:spcPts val="500"/>
              </a:spcAft>
              <a:buFont typeface="+mj-lt"/>
              <a:buAutoNum type="arabicPeriod"/>
            </a:pPr>
            <a:r>
              <a:rPr lang="en-US" altLang="zh-CN" sz="1300">
                <a:solidFill>
                  <a:srgbClr val="38566F"/>
                </a:solidFill>
                <a:latin typeface="Microsoft YaHei" panose="020B0503020204020204" pitchFamily="34" charset="-122"/>
              </a:rPr>
              <a:t>PCA </a:t>
            </a:r>
            <a:r>
              <a:rPr lang="zh-CN" altLang="en-US" sz="1300">
                <a:solidFill>
                  <a:srgbClr val="38566F"/>
                </a:solidFill>
                <a:latin typeface="Microsoft YaHei" panose="020B0503020204020204" pitchFamily="34" charset="-122"/>
              </a:rPr>
              <a:t>第一主成分已经能较好区分男女样本</a:t>
            </a:r>
          </a:p>
          <a:p>
            <a:pPr marL="342900" indent="-342900">
              <a:spcAft>
                <a:spcPts val="500"/>
              </a:spcAft>
              <a:buFont typeface="+mj-lt"/>
              <a:buAutoNum type="arabicPeriod"/>
            </a:pPr>
            <a:r>
              <a:rPr lang="en-US" altLang="zh-CN" sz="1300">
                <a:solidFill>
                  <a:srgbClr val="38566F"/>
                </a:solidFill>
                <a:latin typeface="Microsoft YaHei" panose="020B0503020204020204" pitchFamily="34" charset="-122"/>
              </a:rPr>
              <a:t>Fisher </a:t>
            </a:r>
            <a:r>
              <a:rPr lang="zh-CN" altLang="en-US" sz="1300">
                <a:solidFill>
                  <a:srgbClr val="38566F"/>
                </a:solidFill>
                <a:latin typeface="Microsoft YaHei" panose="020B0503020204020204" pitchFamily="34" charset="-122"/>
              </a:rPr>
              <a:t>在 </a:t>
            </a:r>
            <a:r>
              <a:rPr lang="en-US" altLang="zh-CN" sz="1300">
                <a:solidFill>
                  <a:srgbClr val="38566F"/>
                </a:solidFill>
                <a:latin typeface="Microsoft YaHei" panose="020B0503020204020204" pitchFamily="34" charset="-122"/>
              </a:rPr>
              <a:t>test2 </a:t>
            </a:r>
            <a:r>
              <a:rPr lang="zh-CN" altLang="en-US" sz="1300">
                <a:solidFill>
                  <a:srgbClr val="38566F"/>
                </a:solidFill>
                <a:latin typeface="Microsoft YaHei" panose="020B0503020204020204" pitchFamily="34" charset="-122"/>
              </a:rPr>
              <a:t>上略优，体现监督判别方向的优势</a:t>
            </a:r>
          </a:p>
        </p:txBody>
      </p:sp>
    </p:spTree>
    <p:extLst>
      <p:ext uri="{BB962C8B-B14F-4D97-AF65-F5344CB8AC3E}">
        <p14:creationId xmlns:p14="http://schemas.microsoft.com/office/powerpoint/2010/main" val="363366267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A55C32E5-6DB0-379B-997B-A5DDCED8EAE2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C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3DF27152-342D-FD40-F6BB-643191A6B5E4}"/>
              </a:ext>
            </a:extLst>
          </p:cNvPr>
          <p:cNvSpPr/>
          <p:nvPr/>
        </p:nvSpPr>
        <p:spPr>
          <a:xfrm>
            <a:off x="0" y="0"/>
            <a:ext cx="12192000" cy="1016000"/>
          </a:xfrm>
          <a:prstGeom prst="rect">
            <a:avLst/>
          </a:prstGeom>
          <a:solidFill>
            <a:srgbClr val="006BB7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平行四边形 3">
            <a:extLst>
              <a:ext uri="{FF2B5EF4-FFF2-40B4-BE49-F238E27FC236}">
                <a16:creationId xmlns:a16="http://schemas.microsoft.com/office/drawing/2014/main" id="{2ACA0DBF-90C6-8A41-EF9F-05391332C08A}"/>
              </a:ext>
            </a:extLst>
          </p:cNvPr>
          <p:cNvSpPr/>
          <p:nvPr/>
        </p:nvSpPr>
        <p:spPr>
          <a:xfrm>
            <a:off x="8953500" y="-228600"/>
            <a:ext cx="3581400" cy="1346200"/>
          </a:xfrm>
          <a:prstGeom prst="parallelogram">
            <a:avLst>
              <a:gd name="adj" fmla="val 20000"/>
            </a:avLst>
          </a:prstGeom>
          <a:solidFill>
            <a:srgbClr val="3A9BD9">
              <a:alpha val="85000"/>
            </a:srgbClr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平行四边形 4">
            <a:extLst>
              <a:ext uri="{FF2B5EF4-FFF2-40B4-BE49-F238E27FC236}">
                <a16:creationId xmlns:a16="http://schemas.microsoft.com/office/drawing/2014/main" id="{9E7EDE2F-155F-B16F-0ED3-73DFD323FE55}"/>
              </a:ext>
            </a:extLst>
          </p:cNvPr>
          <p:cNvSpPr/>
          <p:nvPr/>
        </p:nvSpPr>
        <p:spPr>
          <a:xfrm>
            <a:off x="-508000" y="6324600"/>
            <a:ext cx="5969000" cy="660400"/>
          </a:xfrm>
          <a:prstGeom prst="parallelogram">
            <a:avLst>
              <a:gd name="adj" fmla="val 20000"/>
            </a:avLst>
          </a:prstGeom>
          <a:solidFill>
            <a:srgbClr val="DDF0F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3F875D4A-0C93-0175-2E12-06575D1BA89E}"/>
              </a:ext>
            </a:extLst>
          </p:cNvPr>
          <p:cNvSpPr txBox="1"/>
          <p:nvPr/>
        </p:nvSpPr>
        <p:spPr>
          <a:xfrm>
            <a:off x="736600" y="254000"/>
            <a:ext cx="4953000" cy="10772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700" b="1">
                <a:solidFill>
                  <a:srgbClr val="CDEBFF"/>
                </a:solidFill>
                <a:latin typeface="Microsoft YaHei" panose="020B0503020204020204" pitchFamily="34" charset="-122"/>
              </a:rPr>
              <a:t>TAKEAWAYS</a:t>
            </a:r>
            <a:endParaRPr lang="zh-CN" altLang="en-US" sz="700" b="1">
              <a:solidFill>
                <a:srgbClr val="CDEBFF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EA39ACBC-1858-DB5D-818E-827C7A1D9957}"/>
              </a:ext>
            </a:extLst>
          </p:cNvPr>
          <p:cNvSpPr txBox="1"/>
          <p:nvPr/>
        </p:nvSpPr>
        <p:spPr>
          <a:xfrm>
            <a:off x="736600" y="533400"/>
            <a:ext cx="8509000" cy="41549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2700" b="1">
                <a:solidFill>
                  <a:srgbClr val="FFFFFF"/>
                </a:solidFill>
                <a:latin typeface="Microsoft YaHei" panose="020B0503020204020204" pitchFamily="34" charset="-122"/>
              </a:rPr>
              <a:t>实验三分析：最大方差不等于最佳分类</a:t>
            </a:r>
          </a:p>
        </p:txBody>
      </p:sp>
      <p:cxnSp>
        <p:nvCxnSpPr>
          <p:cNvPr id="8" name="直接连接符 7">
            <a:extLst>
              <a:ext uri="{FF2B5EF4-FFF2-40B4-BE49-F238E27FC236}">
                <a16:creationId xmlns:a16="http://schemas.microsoft.com/office/drawing/2014/main" id="{E252F4A2-4E1A-0C6E-C506-95412466B2FD}"/>
              </a:ext>
            </a:extLst>
          </p:cNvPr>
          <p:cNvCxnSpPr/>
          <p:nvPr/>
        </p:nvCxnSpPr>
        <p:spPr>
          <a:xfrm>
            <a:off x="736600" y="1295400"/>
            <a:ext cx="1168400" cy="0"/>
          </a:xfrm>
          <a:prstGeom prst="line">
            <a:avLst/>
          </a:prstGeom>
          <a:ln w="38100">
            <a:solidFill>
              <a:srgbClr val="D4A84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文本框 8">
            <a:extLst>
              <a:ext uri="{FF2B5EF4-FFF2-40B4-BE49-F238E27FC236}">
                <a16:creationId xmlns:a16="http://schemas.microsoft.com/office/drawing/2014/main" id="{ABF69001-C688-F0DA-0FB1-31FD4B253D10}"/>
              </a:ext>
            </a:extLst>
          </p:cNvPr>
          <p:cNvSpPr txBox="1"/>
          <p:nvPr/>
        </p:nvSpPr>
        <p:spPr>
          <a:xfrm>
            <a:off x="533400" y="6527800"/>
            <a:ext cx="3937000" cy="10772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700">
                <a:solidFill>
                  <a:srgbClr val="8FA8BA"/>
                </a:solidFill>
                <a:latin typeface="Microsoft YaHei" panose="020B0503020204020204" pitchFamily="34" charset="-122"/>
              </a:rPr>
              <a:t>模式识别课程实验汇报 </a:t>
            </a:r>
            <a:r>
              <a:rPr lang="en-US" altLang="zh-CN" sz="700">
                <a:solidFill>
                  <a:srgbClr val="8FA8BA"/>
                </a:solidFill>
                <a:latin typeface="Microsoft YaHei" panose="020B0503020204020204" pitchFamily="34" charset="-122"/>
              </a:rPr>
              <a:t>· </a:t>
            </a:r>
            <a:r>
              <a:rPr lang="zh-CN" altLang="en-US" sz="700">
                <a:solidFill>
                  <a:srgbClr val="8FA8BA"/>
                </a:solidFill>
                <a:latin typeface="Microsoft YaHei" panose="020B0503020204020204" pitchFamily="34" charset="-122"/>
              </a:rPr>
              <a:t>蓝白科研汇报模板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7DF9C600-5ADC-8DF1-09BD-8BD457C5C272}"/>
              </a:ext>
            </a:extLst>
          </p:cNvPr>
          <p:cNvSpPr txBox="1"/>
          <p:nvPr/>
        </p:nvSpPr>
        <p:spPr>
          <a:xfrm>
            <a:off x="11366500" y="6477000"/>
            <a:ext cx="355600" cy="10772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r"/>
            <a:r>
              <a:rPr lang="en-US" altLang="zh-CN" sz="700" b="1">
                <a:solidFill>
                  <a:srgbClr val="006BB7"/>
                </a:solidFill>
                <a:latin typeface="Microsoft YaHei" panose="020B0503020204020204" pitchFamily="34" charset="-122"/>
              </a:rPr>
              <a:t>18</a:t>
            </a:r>
            <a:endParaRPr lang="zh-CN" altLang="en-US" sz="700" b="1">
              <a:solidFill>
                <a:srgbClr val="006BB7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A69F1A59-8E69-D309-4B5D-03CC5D846B5D}"/>
              </a:ext>
            </a:extLst>
          </p:cNvPr>
          <p:cNvSpPr/>
          <p:nvPr/>
        </p:nvSpPr>
        <p:spPr>
          <a:xfrm>
            <a:off x="889000" y="1524000"/>
            <a:ext cx="3111500" cy="114300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196AE5E3-71E9-4064-D49F-703A9D50D3A6}"/>
              </a:ext>
            </a:extLst>
          </p:cNvPr>
          <p:cNvSpPr/>
          <p:nvPr/>
        </p:nvSpPr>
        <p:spPr>
          <a:xfrm>
            <a:off x="889000" y="1524000"/>
            <a:ext cx="76200" cy="1143000"/>
          </a:xfrm>
          <a:prstGeom prst="rect">
            <a:avLst/>
          </a:prstGeom>
          <a:solidFill>
            <a:srgbClr val="006BB7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105E184A-6630-7D18-09EE-91AEF0B9987A}"/>
              </a:ext>
            </a:extLst>
          </p:cNvPr>
          <p:cNvSpPr txBox="1"/>
          <p:nvPr/>
        </p:nvSpPr>
        <p:spPr>
          <a:xfrm>
            <a:off x="1079500" y="1651000"/>
            <a:ext cx="2806700" cy="215444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400" b="1">
                <a:solidFill>
                  <a:srgbClr val="0A2E4E"/>
                </a:solidFill>
                <a:latin typeface="Microsoft YaHei" panose="020B0503020204020204" pitchFamily="34" charset="-122"/>
              </a:rPr>
              <a:t>为什么 </a:t>
            </a:r>
            <a:r>
              <a:rPr lang="en-US" altLang="zh-CN" sz="1400" b="1">
                <a:solidFill>
                  <a:srgbClr val="0A2E4E"/>
                </a:solidFill>
                <a:latin typeface="Microsoft YaHei" panose="020B0503020204020204" pitchFamily="34" charset="-122"/>
              </a:rPr>
              <a:t>PCA </a:t>
            </a:r>
            <a:r>
              <a:rPr lang="zh-CN" altLang="en-US" sz="1400" b="1">
                <a:solidFill>
                  <a:srgbClr val="0A2E4E"/>
                </a:solidFill>
                <a:latin typeface="Microsoft YaHei" panose="020B0503020204020204" pitchFamily="34" charset="-122"/>
              </a:rPr>
              <a:t>有效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C40C55A4-2005-F2DD-89D3-46A5B5DA52FB}"/>
              </a:ext>
            </a:extLst>
          </p:cNvPr>
          <p:cNvSpPr txBox="1"/>
          <p:nvPr/>
        </p:nvSpPr>
        <p:spPr>
          <a:xfrm>
            <a:off x="1079500" y="2006600"/>
            <a:ext cx="2806700" cy="36933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200">
                <a:solidFill>
                  <a:srgbClr val="38566F"/>
                </a:solidFill>
                <a:latin typeface="Microsoft YaHei" panose="020B0503020204020204" pitchFamily="34" charset="-122"/>
              </a:rPr>
              <a:t>本数据中身高和体重的主要变化方向与性别差异方向接近。</a:t>
            </a:r>
          </a:p>
        </p:txBody>
      </p:sp>
      <p:sp>
        <p:nvSpPr>
          <p:cNvPr id="15" name="矩形: 圆角 14">
            <a:extLst>
              <a:ext uri="{FF2B5EF4-FFF2-40B4-BE49-F238E27FC236}">
                <a16:creationId xmlns:a16="http://schemas.microsoft.com/office/drawing/2014/main" id="{B7D6B316-AD2A-DC92-72F8-67D95D980374}"/>
              </a:ext>
            </a:extLst>
          </p:cNvPr>
          <p:cNvSpPr/>
          <p:nvPr/>
        </p:nvSpPr>
        <p:spPr>
          <a:xfrm>
            <a:off x="4572000" y="1524000"/>
            <a:ext cx="3111500" cy="114300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9B303602-741D-97C7-4268-FD01D7FF8923}"/>
              </a:ext>
            </a:extLst>
          </p:cNvPr>
          <p:cNvSpPr/>
          <p:nvPr/>
        </p:nvSpPr>
        <p:spPr>
          <a:xfrm>
            <a:off x="4572000" y="1524000"/>
            <a:ext cx="76200" cy="1143000"/>
          </a:xfrm>
          <a:prstGeom prst="rect">
            <a:avLst/>
          </a:prstGeom>
          <a:solidFill>
            <a:srgbClr val="0A7FC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D5FA6F13-79A9-F76B-3C9E-42310681C988}"/>
              </a:ext>
            </a:extLst>
          </p:cNvPr>
          <p:cNvSpPr txBox="1"/>
          <p:nvPr/>
        </p:nvSpPr>
        <p:spPr>
          <a:xfrm>
            <a:off x="4762500" y="1651000"/>
            <a:ext cx="2806700" cy="215444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400" b="1">
                <a:solidFill>
                  <a:srgbClr val="0A2E4E"/>
                </a:solidFill>
                <a:latin typeface="Microsoft YaHei" panose="020B0503020204020204" pitchFamily="34" charset="-122"/>
              </a:rPr>
              <a:t>为什么 </a:t>
            </a:r>
            <a:r>
              <a:rPr lang="en-US" altLang="zh-CN" sz="1400" b="1">
                <a:solidFill>
                  <a:srgbClr val="0A2E4E"/>
                </a:solidFill>
                <a:latin typeface="Microsoft YaHei" panose="020B0503020204020204" pitchFamily="34" charset="-122"/>
              </a:rPr>
              <a:t>Fisher </a:t>
            </a:r>
            <a:r>
              <a:rPr lang="zh-CN" altLang="en-US" sz="1400" b="1">
                <a:solidFill>
                  <a:srgbClr val="0A2E4E"/>
                </a:solidFill>
                <a:latin typeface="Microsoft YaHei" panose="020B0503020204020204" pitchFamily="34" charset="-122"/>
              </a:rPr>
              <a:t>略优</a:t>
            </a: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DDC1D0A1-69F3-6FBF-1D7F-50FAAC6F6476}"/>
              </a:ext>
            </a:extLst>
          </p:cNvPr>
          <p:cNvSpPr txBox="1"/>
          <p:nvPr/>
        </p:nvSpPr>
        <p:spPr>
          <a:xfrm>
            <a:off x="4762500" y="2006600"/>
            <a:ext cx="2806700" cy="36933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1200">
                <a:solidFill>
                  <a:srgbClr val="38566F"/>
                </a:solidFill>
                <a:latin typeface="Microsoft YaHei" panose="020B0503020204020204" pitchFamily="34" charset="-122"/>
              </a:rPr>
              <a:t>Fisher </a:t>
            </a:r>
            <a:r>
              <a:rPr lang="zh-CN" altLang="en-US" sz="1200">
                <a:solidFill>
                  <a:srgbClr val="38566F"/>
                </a:solidFill>
                <a:latin typeface="Microsoft YaHei" panose="020B0503020204020204" pitchFamily="34" charset="-122"/>
              </a:rPr>
              <a:t>直接利用类别标签，目标就是提高类别分离度。</a:t>
            </a:r>
          </a:p>
        </p:txBody>
      </p:sp>
      <p:sp>
        <p:nvSpPr>
          <p:cNvPr id="19" name="矩形: 圆角 18">
            <a:extLst>
              <a:ext uri="{FF2B5EF4-FFF2-40B4-BE49-F238E27FC236}">
                <a16:creationId xmlns:a16="http://schemas.microsoft.com/office/drawing/2014/main" id="{A3A15D24-F57C-D204-FBEE-5FAFD2837A1C}"/>
              </a:ext>
            </a:extLst>
          </p:cNvPr>
          <p:cNvSpPr/>
          <p:nvPr/>
        </p:nvSpPr>
        <p:spPr>
          <a:xfrm>
            <a:off x="8255000" y="1524000"/>
            <a:ext cx="2857500" cy="114300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9F5F5AA0-3FB9-3BDB-B4ED-21C826FB5F71}"/>
              </a:ext>
            </a:extLst>
          </p:cNvPr>
          <p:cNvSpPr/>
          <p:nvPr/>
        </p:nvSpPr>
        <p:spPr>
          <a:xfrm>
            <a:off x="8255000" y="1524000"/>
            <a:ext cx="76200" cy="1143000"/>
          </a:xfrm>
          <a:prstGeom prst="rect">
            <a:avLst/>
          </a:prstGeom>
          <a:solidFill>
            <a:srgbClr val="D4A84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907CB79C-6369-9859-D4A2-197EC0694D26}"/>
              </a:ext>
            </a:extLst>
          </p:cNvPr>
          <p:cNvSpPr txBox="1"/>
          <p:nvPr/>
        </p:nvSpPr>
        <p:spPr>
          <a:xfrm>
            <a:off x="8445500" y="1651000"/>
            <a:ext cx="2552700" cy="215444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400" b="1">
                <a:solidFill>
                  <a:srgbClr val="0A2E4E"/>
                </a:solidFill>
                <a:latin typeface="Microsoft YaHei" panose="020B0503020204020204" pitchFamily="34" charset="-122"/>
              </a:rPr>
              <a:t>一般规律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CBF55D75-932A-51BE-8B04-CA51285E14D6}"/>
              </a:ext>
            </a:extLst>
          </p:cNvPr>
          <p:cNvSpPr txBox="1"/>
          <p:nvPr/>
        </p:nvSpPr>
        <p:spPr>
          <a:xfrm>
            <a:off x="8445500" y="2006600"/>
            <a:ext cx="2552700" cy="36933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200">
                <a:solidFill>
                  <a:srgbClr val="38566F"/>
                </a:solidFill>
                <a:latin typeface="Microsoft YaHei" panose="020B0503020204020204" pitchFamily="34" charset="-122"/>
              </a:rPr>
              <a:t>无监督降维需要和监督分类器共同评价。</a:t>
            </a:r>
          </a:p>
        </p:txBody>
      </p:sp>
      <p:sp>
        <p:nvSpPr>
          <p:cNvPr id="23" name="矩形: 圆角 22">
            <a:extLst>
              <a:ext uri="{FF2B5EF4-FFF2-40B4-BE49-F238E27FC236}">
                <a16:creationId xmlns:a16="http://schemas.microsoft.com/office/drawing/2014/main" id="{0206D7D5-52AA-B2E7-A6FB-BC8E7595573B}"/>
              </a:ext>
            </a:extLst>
          </p:cNvPr>
          <p:cNvSpPr/>
          <p:nvPr/>
        </p:nvSpPr>
        <p:spPr>
          <a:xfrm>
            <a:off x="2032000" y="3429000"/>
            <a:ext cx="8128000" cy="228600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25" name="图片 24">
            <a:extLst>
              <a:ext uri="{FF2B5EF4-FFF2-40B4-BE49-F238E27FC236}">
                <a16:creationId xmlns:a16="http://schemas.microsoft.com/office/drawing/2014/main" id="{5D46F25B-D81B-39DF-B356-6EB29C1A83B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34979" y="3886445"/>
            <a:ext cx="2522041" cy="13711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576233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CFA83E8F-726B-8257-B356-BB3312CD761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4A82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平行四边形 2">
            <a:extLst>
              <a:ext uri="{FF2B5EF4-FFF2-40B4-BE49-F238E27FC236}">
                <a16:creationId xmlns:a16="http://schemas.microsoft.com/office/drawing/2014/main" id="{D3109140-888D-65A9-4E0F-726CAFB4DEDA}"/>
              </a:ext>
            </a:extLst>
          </p:cNvPr>
          <p:cNvSpPr/>
          <p:nvPr/>
        </p:nvSpPr>
        <p:spPr>
          <a:xfrm>
            <a:off x="-889000" y="4826000"/>
            <a:ext cx="7302500" cy="2159000"/>
          </a:xfrm>
          <a:prstGeom prst="parallelogram">
            <a:avLst>
              <a:gd name="adj" fmla="val 18000"/>
            </a:avLst>
          </a:prstGeom>
          <a:solidFill>
            <a:srgbClr val="006BB7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平行四边形 3">
            <a:extLst>
              <a:ext uri="{FF2B5EF4-FFF2-40B4-BE49-F238E27FC236}">
                <a16:creationId xmlns:a16="http://schemas.microsoft.com/office/drawing/2014/main" id="{E1425782-D530-138C-0E20-8393A87D819C}"/>
              </a:ext>
            </a:extLst>
          </p:cNvPr>
          <p:cNvSpPr/>
          <p:nvPr/>
        </p:nvSpPr>
        <p:spPr>
          <a:xfrm>
            <a:off x="8128000" y="-355600"/>
            <a:ext cx="4953000" cy="2095500"/>
          </a:xfrm>
          <a:prstGeom prst="parallelogram">
            <a:avLst>
              <a:gd name="adj" fmla="val 20000"/>
            </a:avLst>
          </a:prstGeom>
          <a:solidFill>
            <a:srgbClr val="3A9BD9">
              <a:alpha val="85000"/>
            </a:srgbClr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DEA06839-A0A6-BE26-AA01-CFB4344BB2F5}"/>
              </a:ext>
            </a:extLst>
          </p:cNvPr>
          <p:cNvSpPr txBox="1"/>
          <p:nvPr/>
        </p:nvSpPr>
        <p:spPr>
          <a:xfrm>
            <a:off x="889000" y="1168400"/>
            <a:ext cx="1651000" cy="41549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2700" b="1">
                <a:solidFill>
                  <a:srgbClr val="D4A84B"/>
                </a:solidFill>
                <a:latin typeface="Microsoft YaHei" panose="020B0503020204020204" pitchFamily="34" charset="-122"/>
              </a:rPr>
              <a:t>04</a:t>
            </a:r>
            <a:endParaRPr lang="zh-CN" altLang="en-US" sz="2700" b="1">
              <a:solidFill>
                <a:srgbClr val="D4A84B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FD4F3014-7563-D799-7B1D-219CFB988095}"/>
              </a:ext>
            </a:extLst>
          </p:cNvPr>
          <p:cNvSpPr txBox="1"/>
          <p:nvPr/>
        </p:nvSpPr>
        <p:spPr>
          <a:xfrm>
            <a:off x="889000" y="2006600"/>
            <a:ext cx="9652000" cy="600164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3900" b="1">
                <a:solidFill>
                  <a:srgbClr val="FFFFFF"/>
                </a:solidFill>
                <a:latin typeface="Microsoft YaHei" panose="020B0503020204020204" pitchFamily="34" charset="-122"/>
              </a:rPr>
              <a:t>实验四：</a:t>
            </a:r>
            <a:r>
              <a:rPr lang="en-US" altLang="zh-CN" sz="3900" b="1">
                <a:solidFill>
                  <a:srgbClr val="FFFFFF"/>
                </a:solidFill>
                <a:latin typeface="Microsoft YaHei" panose="020B0503020204020204" pitchFamily="34" charset="-122"/>
              </a:rPr>
              <a:t>K-L </a:t>
            </a:r>
            <a:r>
              <a:rPr lang="zh-CN" altLang="en-US" sz="3900" b="1">
                <a:solidFill>
                  <a:srgbClr val="FFFFFF"/>
                </a:solidFill>
                <a:latin typeface="Microsoft YaHei" panose="020B0503020204020204" pitchFamily="34" charset="-122"/>
              </a:rPr>
              <a:t>变换的图像识别应用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71B813E-674C-4587-AC0C-3B108001A4A8}"/>
              </a:ext>
            </a:extLst>
          </p:cNvPr>
          <p:cNvSpPr txBox="1"/>
          <p:nvPr/>
        </p:nvSpPr>
        <p:spPr>
          <a:xfrm>
            <a:off x="939800" y="2946400"/>
            <a:ext cx="8890000" cy="261610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700">
                <a:solidFill>
                  <a:srgbClr val="D9ECFF"/>
                </a:solidFill>
                <a:latin typeface="Microsoft YaHei" panose="020B0503020204020204" pitchFamily="34" charset="-122"/>
              </a:rPr>
              <a:t>把 </a:t>
            </a:r>
            <a:r>
              <a:rPr lang="en-US" altLang="zh-CN" sz="1700">
                <a:solidFill>
                  <a:srgbClr val="D9ECFF"/>
                </a:solidFill>
                <a:latin typeface="Microsoft YaHei" panose="020B0503020204020204" pitchFamily="34" charset="-122"/>
              </a:rPr>
              <a:t>K-L/PCA </a:t>
            </a:r>
            <a:r>
              <a:rPr lang="zh-CN" altLang="en-US" sz="1700">
                <a:solidFill>
                  <a:srgbClr val="D9ECFF"/>
                </a:solidFill>
                <a:latin typeface="Microsoft YaHei" panose="020B0503020204020204" pitchFamily="34" charset="-122"/>
              </a:rPr>
              <a:t>从二维样本扩展到高维飞机图像</a:t>
            </a:r>
          </a:p>
        </p:txBody>
      </p:sp>
      <p:cxnSp>
        <p:nvCxnSpPr>
          <p:cNvPr id="8" name="直接连接符 7">
            <a:extLst>
              <a:ext uri="{FF2B5EF4-FFF2-40B4-BE49-F238E27FC236}">
                <a16:creationId xmlns:a16="http://schemas.microsoft.com/office/drawing/2014/main" id="{0ABCA1FA-7A61-8B38-B817-2C4D350486A6}"/>
              </a:ext>
            </a:extLst>
          </p:cNvPr>
          <p:cNvCxnSpPr/>
          <p:nvPr/>
        </p:nvCxnSpPr>
        <p:spPr>
          <a:xfrm>
            <a:off x="939800" y="3810000"/>
            <a:ext cx="2489200" cy="0"/>
          </a:xfrm>
          <a:prstGeom prst="line">
            <a:avLst/>
          </a:prstGeom>
          <a:ln w="50800">
            <a:solidFill>
              <a:srgbClr val="D4A84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648160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FE3D550F-C644-1D12-4811-87A341B30AB4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C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986673A0-A268-2F6D-5076-F9FB9258B976}"/>
              </a:ext>
            </a:extLst>
          </p:cNvPr>
          <p:cNvSpPr/>
          <p:nvPr/>
        </p:nvSpPr>
        <p:spPr>
          <a:xfrm>
            <a:off x="0" y="0"/>
            <a:ext cx="12192000" cy="1016000"/>
          </a:xfrm>
          <a:prstGeom prst="rect">
            <a:avLst/>
          </a:prstGeom>
          <a:solidFill>
            <a:srgbClr val="006BB7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平行四边形 3">
            <a:extLst>
              <a:ext uri="{FF2B5EF4-FFF2-40B4-BE49-F238E27FC236}">
                <a16:creationId xmlns:a16="http://schemas.microsoft.com/office/drawing/2014/main" id="{B3B64580-E4D8-5472-AE3E-A2CE872FD733}"/>
              </a:ext>
            </a:extLst>
          </p:cNvPr>
          <p:cNvSpPr/>
          <p:nvPr/>
        </p:nvSpPr>
        <p:spPr>
          <a:xfrm>
            <a:off x="8953500" y="-228600"/>
            <a:ext cx="3581400" cy="1346200"/>
          </a:xfrm>
          <a:prstGeom prst="parallelogram">
            <a:avLst>
              <a:gd name="adj" fmla="val 20000"/>
            </a:avLst>
          </a:prstGeom>
          <a:solidFill>
            <a:srgbClr val="3A9BD9">
              <a:alpha val="85000"/>
            </a:srgbClr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平行四边形 4">
            <a:extLst>
              <a:ext uri="{FF2B5EF4-FFF2-40B4-BE49-F238E27FC236}">
                <a16:creationId xmlns:a16="http://schemas.microsoft.com/office/drawing/2014/main" id="{A3CDF63B-6058-9652-99BC-C6BBA1CBAC84}"/>
              </a:ext>
            </a:extLst>
          </p:cNvPr>
          <p:cNvSpPr/>
          <p:nvPr/>
        </p:nvSpPr>
        <p:spPr>
          <a:xfrm>
            <a:off x="-508000" y="6324600"/>
            <a:ext cx="5969000" cy="660400"/>
          </a:xfrm>
          <a:prstGeom prst="parallelogram">
            <a:avLst>
              <a:gd name="adj" fmla="val 20000"/>
            </a:avLst>
          </a:prstGeom>
          <a:solidFill>
            <a:srgbClr val="DDF0F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50B111C5-9C2C-D38D-14D1-3C0433D16344}"/>
              </a:ext>
            </a:extLst>
          </p:cNvPr>
          <p:cNvSpPr txBox="1"/>
          <p:nvPr/>
        </p:nvSpPr>
        <p:spPr>
          <a:xfrm>
            <a:off x="736600" y="254000"/>
            <a:ext cx="4953000" cy="10772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700" b="1">
                <a:solidFill>
                  <a:srgbClr val="CDEBFF"/>
                </a:solidFill>
                <a:latin typeface="Microsoft YaHei" panose="020B0503020204020204" pitchFamily="34" charset="-122"/>
              </a:rPr>
              <a:t>IMAGE RECOGNITION</a:t>
            </a:r>
            <a:endParaRPr lang="zh-CN" altLang="en-US" sz="700" b="1">
              <a:solidFill>
                <a:srgbClr val="CDEBFF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DB6800F9-0C72-AF40-9419-BEC9F3EFED7F}"/>
              </a:ext>
            </a:extLst>
          </p:cNvPr>
          <p:cNvSpPr txBox="1"/>
          <p:nvPr/>
        </p:nvSpPr>
        <p:spPr>
          <a:xfrm>
            <a:off x="736600" y="533400"/>
            <a:ext cx="8509000" cy="41549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2700" b="1">
                <a:solidFill>
                  <a:srgbClr val="FFFFFF"/>
                </a:solidFill>
                <a:latin typeface="Microsoft YaHei" panose="020B0503020204020204" pitchFamily="34" charset="-122"/>
              </a:rPr>
              <a:t>实验四理论：高维图像的低维表示</a:t>
            </a:r>
          </a:p>
        </p:txBody>
      </p:sp>
      <p:cxnSp>
        <p:nvCxnSpPr>
          <p:cNvPr id="8" name="直接连接符 7">
            <a:extLst>
              <a:ext uri="{FF2B5EF4-FFF2-40B4-BE49-F238E27FC236}">
                <a16:creationId xmlns:a16="http://schemas.microsoft.com/office/drawing/2014/main" id="{EBD51F4D-95F9-D13B-47DD-FB4669CFF144}"/>
              </a:ext>
            </a:extLst>
          </p:cNvPr>
          <p:cNvCxnSpPr/>
          <p:nvPr/>
        </p:nvCxnSpPr>
        <p:spPr>
          <a:xfrm>
            <a:off x="736600" y="1295400"/>
            <a:ext cx="1168400" cy="0"/>
          </a:xfrm>
          <a:prstGeom prst="line">
            <a:avLst/>
          </a:prstGeom>
          <a:ln w="38100">
            <a:solidFill>
              <a:srgbClr val="D4A84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文本框 8">
            <a:extLst>
              <a:ext uri="{FF2B5EF4-FFF2-40B4-BE49-F238E27FC236}">
                <a16:creationId xmlns:a16="http://schemas.microsoft.com/office/drawing/2014/main" id="{24CE3B97-3FFB-B061-16CD-7AC9D4FA3C80}"/>
              </a:ext>
            </a:extLst>
          </p:cNvPr>
          <p:cNvSpPr txBox="1"/>
          <p:nvPr/>
        </p:nvSpPr>
        <p:spPr>
          <a:xfrm>
            <a:off x="533400" y="6527800"/>
            <a:ext cx="3937000" cy="10772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700">
                <a:solidFill>
                  <a:srgbClr val="8FA8BA"/>
                </a:solidFill>
                <a:latin typeface="Microsoft YaHei" panose="020B0503020204020204" pitchFamily="34" charset="-122"/>
              </a:rPr>
              <a:t>模式识别课程实验汇报 </a:t>
            </a:r>
            <a:r>
              <a:rPr lang="en-US" altLang="zh-CN" sz="700">
                <a:solidFill>
                  <a:srgbClr val="8FA8BA"/>
                </a:solidFill>
                <a:latin typeface="Microsoft YaHei" panose="020B0503020204020204" pitchFamily="34" charset="-122"/>
              </a:rPr>
              <a:t>· </a:t>
            </a:r>
            <a:r>
              <a:rPr lang="zh-CN" altLang="en-US" sz="700">
                <a:solidFill>
                  <a:srgbClr val="8FA8BA"/>
                </a:solidFill>
                <a:latin typeface="Microsoft YaHei" panose="020B0503020204020204" pitchFamily="34" charset="-122"/>
              </a:rPr>
              <a:t>蓝白科研汇报模板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5884DBC7-E137-E6CF-3371-D642F34B477A}"/>
              </a:ext>
            </a:extLst>
          </p:cNvPr>
          <p:cNvSpPr txBox="1"/>
          <p:nvPr/>
        </p:nvSpPr>
        <p:spPr>
          <a:xfrm>
            <a:off x="11366500" y="6477000"/>
            <a:ext cx="355600" cy="10772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r"/>
            <a:r>
              <a:rPr lang="en-US" altLang="zh-CN" sz="700" b="1">
                <a:solidFill>
                  <a:srgbClr val="006BB7"/>
                </a:solidFill>
                <a:latin typeface="Microsoft YaHei" panose="020B0503020204020204" pitchFamily="34" charset="-122"/>
              </a:rPr>
              <a:t>19</a:t>
            </a:r>
            <a:endParaRPr lang="zh-CN" altLang="en-US" sz="700" b="1">
              <a:solidFill>
                <a:srgbClr val="006BB7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1" name="椭圆 10">
            <a:extLst>
              <a:ext uri="{FF2B5EF4-FFF2-40B4-BE49-F238E27FC236}">
                <a16:creationId xmlns:a16="http://schemas.microsoft.com/office/drawing/2014/main" id="{3123FA8A-FE56-A592-BFC4-04FF9E7566BE}"/>
              </a:ext>
            </a:extLst>
          </p:cNvPr>
          <p:cNvSpPr/>
          <p:nvPr/>
        </p:nvSpPr>
        <p:spPr>
          <a:xfrm>
            <a:off x="1016000" y="1524000"/>
            <a:ext cx="381000" cy="381000"/>
          </a:xfrm>
          <a:prstGeom prst="ellipse">
            <a:avLst/>
          </a:prstGeom>
          <a:solidFill>
            <a:srgbClr val="006BB7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35431DC8-5C23-0B26-73CC-2FFDC170B457}"/>
              </a:ext>
            </a:extLst>
          </p:cNvPr>
          <p:cNvSpPr txBox="1"/>
          <p:nvPr/>
        </p:nvSpPr>
        <p:spPr>
          <a:xfrm>
            <a:off x="1028700" y="1600200"/>
            <a:ext cx="355600" cy="184666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ctr"/>
            <a:r>
              <a:rPr lang="en-US" altLang="zh-CN" sz="1200" b="1">
                <a:solidFill>
                  <a:srgbClr val="FFFFFF"/>
                </a:solidFill>
                <a:latin typeface="Microsoft YaHei" panose="020B0503020204020204" pitchFamily="34" charset="-122"/>
              </a:rPr>
              <a:t>1</a:t>
            </a:r>
            <a:endParaRPr lang="zh-CN" altLang="en-US" sz="1200" b="1">
              <a:solidFill>
                <a:srgbClr val="FFFFFF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2ADD5955-43A3-9D91-1831-E35B8FAE1EFE}"/>
              </a:ext>
            </a:extLst>
          </p:cNvPr>
          <p:cNvSpPr txBox="1"/>
          <p:nvPr/>
        </p:nvSpPr>
        <p:spPr>
          <a:xfrm>
            <a:off x="1549400" y="1485900"/>
            <a:ext cx="3556000" cy="215444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400" b="1">
                <a:solidFill>
                  <a:srgbClr val="0A2E4E"/>
                </a:solidFill>
                <a:latin typeface="Microsoft YaHei" panose="020B0503020204020204" pitchFamily="34" charset="-122"/>
              </a:rPr>
              <a:t>图像预处理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5D9ADC83-9320-B62C-6E56-DB9E4735F932}"/>
              </a:ext>
            </a:extLst>
          </p:cNvPr>
          <p:cNvSpPr txBox="1"/>
          <p:nvPr/>
        </p:nvSpPr>
        <p:spPr>
          <a:xfrm>
            <a:off x="1549400" y="1803400"/>
            <a:ext cx="3619500" cy="184666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200">
                <a:solidFill>
                  <a:srgbClr val="38566F"/>
                </a:solidFill>
                <a:latin typeface="Microsoft YaHei" panose="020B0503020204020204" pitchFamily="34" charset="-122"/>
              </a:rPr>
              <a:t>灰度化、缩放到 </a:t>
            </a:r>
            <a:r>
              <a:rPr lang="en-US" altLang="zh-CN" sz="1200">
                <a:solidFill>
                  <a:srgbClr val="38566F"/>
                </a:solidFill>
                <a:latin typeface="Microsoft YaHei" panose="020B0503020204020204" pitchFamily="34" charset="-122"/>
              </a:rPr>
              <a:t>32×32</a:t>
            </a:r>
            <a:endParaRPr lang="zh-CN" altLang="en-US" sz="1200">
              <a:solidFill>
                <a:srgbClr val="38566F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5" name="椭圆 14">
            <a:extLst>
              <a:ext uri="{FF2B5EF4-FFF2-40B4-BE49-F238E27FC236}">
                <a16:creationId xmlns:a16="http://schemas.microsoft.com/office/drawing/2014/main" id="{6D6E8CF8-8CC0-BCD9-2ED7-A7FD722A6AC5}"/>
              </a:ext>
            </a:extLst>
          </p:cNvPr>
          <p:cNvSpPr/>
          <p:nvPr/>
        </p:nvSpPr>
        <p:spPr>
          <a:xfrm>
            <a:off x="1016000" y="2540000"/>
            <a:ext cx="381000" cy="381000"/>
          </a:xfrm>
          <a:prstGeom prst="ellipse">
            <a:avLst/>
          </a:prstGeom>
          <a:solidFill>
            <a:srgbClr val="0A7FC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646DCD62-43F4-6E2B-12AE-B3769964B461}"/>
              </a:ext>
            </a:extLst>
          </p:cNvPr>
          <p:cNvSpPr txBox="1"/>
          <p:nvPr/>
        </p:nvSpPr>
        <p:spPr>
          <a:xfrm>
            <a:off x="1028700" y="2616200"/>
            <a:ext cx="355600" cy="184666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ctr"/>
            <a:r>
              <a:rPr lang="en-US" altLang="zh-CN" sz="1200" b="1">
                <a:solidFill>
                  <a:srgbClr val="FFFFFF"/>
                </a:solidFill>
                <a:latin typeface="Microsoft YaHei" panose="020B0503020204020204" pitchFamily="34" charset="-122"/>
              </a:rPr>
              <a:t>2</a:t>
            </a:r>
            <a:endParaRPr lang="zh-CN" altLang="en-US" sz="1200" b="1">
              <a:solidFill>
                <a:srgbClr val="FFFFFF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A95FCA5C-8835-9D56-4CDC-76419BC1346D}"/>
              </a:ext>
            </a:extLst>
          </p:cNvPr>
          <p:cNvSpPr txBox="1"/>
          <p:nvPr/>
        </p:nvSpPr>
        <p:spPr>
          <a:xfrm>
            <a:off x="1549400" y="2501900"/>
            <a:ext cx="3556000" cy="215444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400" b="1">
                <a:solidFill>
                  <a:srgbClr val="0A2E4E"/>
                </a:solidFill>
                <a:latin typeface="Microsoft YaHei" panose="020B0503020204020204" pitchFamily="34" charset="-122"/>
              </a:rPr>
              <a:t>向量化</a:t>
            </a: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8543F639-9A5C-071D-DB23-18AD94F47921}"/>
              </a:ext>
            </a:extLst>
          </p:cNvPr>
          <p:cNvSpPr txBox="1"/>
          <p:nvPr/>
        </p:nvSpPr>
        <p:spPr>
          <a:xfrm>
            <a:off x="1549400" y="2819400"/>
            <a:ext cx="3619500" cy="184666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200">
                <a:solidFill>
                  <a:srgbClr val="38566F"/>
                </a:solidFill>
                <a:latin typeface="Microsoft YaHei" panose="020B0503020204020204" pitchFamily="34" charset="-122"/>
              </a:rPr>
              <a:t>每张图像展开为 </a:t>
            </a:r>
            <a:r>
              <a:rPr lang="en-US" altLang="zh-CN" sz="1200">
                <a:solidFill>
                  <a:srgbClr val="38566F"/>
                </a:solidFill>
                <a:latin typeface="Microsoft YaHei" panose="020B0503020204020204" pitchFamily="34" charset="-122"/>
              </a:rPr>
              <a:t>1024 </a:t>
            </a:r>
            <a:r>
              <a:rPr lang="zh-CN" altLang="en-US" sz="1200">
                <a:solidFill>
                  <a:srgbClr val="38566F"/>
                </a:solidFill>
                <a:latin typeface="Microsoft YaHei" panose="020B0503020204020204" pitchFamily="34" charset="-122"/>
              </a:rPr>
              <a:t>维向量</a:t>
            </a:r>
          </a:p>
        </p:txBody>
      </p:sp>
      <p:sp>
        <p:nvSpPr>
          <p:cNvPr id="19" name="椭圆 18">
            <a:extLst>
              <a:ext uri="{FF2B5EF4-FFF2-40B4-BE49-F238E27FC236}">
                <a16:creationId xmlns:a16="http://schemas.microsoft.com/office/drawing/2014/main" id="{349D38C9-BD67-71D4-8AD6-79F70568FF30}"/>
              </a:ext>
            </a:extLst>
          </p:cNvPr>
          <p:cNvSpPr/>
          <p:nvPr/>
        </p:nvSpPr>
        <p:spPr>
          <a:xfrm>
            <a:off x="1016000" y="3556000"/>
            <a:ext cx="381000" cy="381000"/>
          </a:xfrm>
          <a:prstGeom prst="ellipse">
            <a:avLst/>
          </a:prstGeom>
          <a:solidFill>
            <a:srgbClr val="D4A84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EE4A4DDC-F8C9-2B42-7EC4-A8C6473BF211}"/>
              </a:ext>
            </a:extLst>
          </p:cNvPr>
          <p:cNvSpPr txBox="1"/>
          <p:nvPr/>
        </p:nvSpPr>
        <p:spPr>
          <a:xfrm>
            <a:off x="1028700" y="3632200"/>
            <a:ext cx="355600" cy="184666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ctr"/>
            <a:r>
              <a:rPr lang="en-US" altLang="zh-CN" sz="1200" b="1">
                <a:solidFill>
                  <a:srgbClr val="FFFFFF"/>
                </a:solidFill>
                <a:latin typeface="Microsoft YaHei" panose="020B0503020204020204" pitchFamily="34" charset="-122"/>
              </a:rPr>
              <a:t>3</a:t>
            </a:r>
            <a:endParaRPr lang="zh-CN" altLang="en-US" sz="1200" b="1">
              <a:solidFill>
                <a:srgbClr val="FFFFFF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6EC54E79-71AB-D22A-2493-D5FA035C145D}"/>
              </a:ext>
            </a:extLst>
          </p:cNvPr>
          <p:cNvSpPr txBox="1"/>
          <p:nvPr/>
        </p:nvSpPr>
        <p:spPr>
          <a:xfrm>
            <a:off x="1549400" y="3517900"/>
            <a:ext cx="3556000" cy="215444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1400" b="1">
                <a:solidFill>
                  <a:srgbClr val="0A2E4E"/>
                </a:solidFill>
                <a:latin typeface="Microsoft YaHei" panose="020B0503020204020204" pitchFamily="34" charset="-122"/>
              </a:rPr>
              <a:t>K-L </a:t>
            </a:r>
            <a:r>
              <a:rPr lang="zh-CN" altLang="en-US" sz="1400" b="1">
                <a:solidFill>
                  <a:srgbClr val="0A2E4E"/>
                </a:solidFill>
                <a:latin typeface="Microsoft YaHei" panose="020B0503020204020204" pitchFamily="34" charset="-122"/>
              </a:rPr>
              <a:t>降维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00484AC3-9D35-F6FE-2467-771187FFC277}"/>
              </a:ext>
            </a:extLst>
          </p:cNvPr>
          <p:cNvSpPr txBox="1"/>
          <p:nvPr/>
        </p:nvSpPr>
        <p:spPr>
          <a:xfrm>
            <a:off x="1549400" y="3835400"/>
            <a:ext cx="3619500" cy="184666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200">
                <a:solidFill>
                  <a:srgbClr val="38566F"/>
                </a:solidFill>
                <a:latin typeface="Microsoft YaHei" panose="020B0503020204020204" pitchFamily="34" charset="-122"/>
              </a:rPr>
              <a:t>提取前 </a:t>
            </a:r>
            <a:r>
              <a:rPr lang="en-US" altLang="zh-CN" sz="1200">
                <a:solidFill>
                  <a:srgbClr val="38566F"/>
                </a:solidFill>
                <a:latin typeface="Microsoft YaHei" panose="020B0503020204020204" pitchFamily="34" charset="-122"/>
              </a:rPr>
              <a:t>k </a:t>
            </a:r>
            <a:r>
              <a:rPr lang="zh-CN" altLang="en-US" sz="1200">
                <a:solidFill>
                  <a:srgbClr val="38566F"/>
                </a:solidFill>
                <a:latin typeface="Microsoft YaHei" panose="020B0503020204020204" pitchFamily="34" charset="-122"/>
              </a:rPr>
              <a:t>个主成分作为图像特征</a:t>
            </a:r>
          </a:p>
        </p:txBody>
      </p:sp>
      <p:sp>
        <p:nvSpPr>
          <p:cNvPr id="23" name="椭圆 22">
            <a:extLst>
              <a:ext uri="{FF2B5EF4-FFF2-40B4-BE49-F238E27FC236}">
                <a16:creationId xmlns:a16="http://schemas.microsoft.com/office/drawing/2014/main" id="{3D59DD2C-5203-C3BA-8446-1C0F9C14274F}"/>
              </a:ext>
            </a:extLst>
          </p:cNvPr>
          <p:cNvSpPr/>
          <p:nvPr/>
        </p:nvSpPr>
        <p:spPr>
          <a:xfrm>
            <a:off x="1016000" y="4572000"/>
            <a:ext cx="381000" cy="381000"/>
          </a:xfrm>
          <a:prstGeom prst="ellipse">
            <a:avLst/>
          </a:prstGeom>
          <a:solidFill>
            <a:srgbClr val="2F80C9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B4448330-114D-611D-2526-27A32E046363}"/>
              </a:ext>
            </a:extLst>
          </p:cNvPr>
          <p:cNvSpPr txBox="1"/>
          <p:nvPr/>
        </p:nvSpPr>
        <p:spPr>
          <a:xfrm>
            <a:off x="1028700" y="4648200"/>
            <a:ext cx="355600" cy="184666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ctr"/>
            <a:r>
              <a:rPr lang="en-US" altLang="zh-CN" sz="1200" b="1">
                <a:solidFill>
                  <a:srgbClr val="FFFFFF"/>
                </a:solidFill>
                <a:latin typeface="Microsoft YaHei" panose="020B0503020204020204" pitchFamily="34" charset="-122"/>
              </a:rPr>
              <a:t>4</a:t>
            </a:r>
            <a:endParaRPr lang="zh-CN" altLang="en-US" sz="1200" b="1">
              <a:solidFill>
                <a:srgbClr val="FFFFFF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F6A9861D-B083-72C8-2333-1F4261053DF9}"/>
              </a:ext>
            </a:extLst>
          </p:cNvPr>
          <p:cNvSpPr txBox="1"/>
          <p:nvPr/>
        </p:nvSpPr>
        <p:spPr>
          <a:xfrm>
            <a:off x="1549400" y="4533900"/>
            <a:ext cx="3556000" cy="215444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400" b="1">
                <a:solidFill>
                  <a:srgbClr val="0A2E4E"/>
                </a:solidFill>
                <a:latin typeface="Microsoft YaHei" panose="020B0503020204020204" pitchFamily="34" charset="-122"/>
              </a:rPr>
              <a:t>低维分类</a:t>
            </a:r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89B8B78D-02DA-D956-B7EA-BD835A329925}"/>
              </a:ext>
            </a:extLst>
          </p:cNvPr>
          <p:cNvSpPr txBox="1"/>
          <p:nvPr/>
        </p:nvSpPr>
        <p:spPr>
          <a:xfrm>
            <a:off x="1549400" y="4851400"/>
            <a:ext cx="3619500" cy="184666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1200">
                <a:solidFill>
                  <a:srgbClr val="38566F"/>
                </a:solidFill>
                <a:latin typeface="Microsoft YaHei" panose="020B0503020204020204" pitchFamily="34" charset="-122"/>
              </a:rPr>
              <a:t>NearestCentroid </a:t>
            </a:r>
            <a:r>
              <a:rPr lang="zh-CN" altLang="en-US" sz="1200">
                <a:solidFill>
                  <a:srgbClr val="38566F"/>
                </a:solidFill>
                <a:latin typeface="Microsoft YaHei" panose="020B0503020204020204" pitchFamily="34" charset="-122"/>
              </a:rPr>
              <a:t>与 </a:t>
            </a:r>
            <a:r>
              <a:rPr lang="en-US" altLang="zh-CN" sz="1200">
                <a:solidFill>
                  <a:srgbClr val="38566F"/>
                </a:solidFill>
                <a:latin typeface="Microsoft YaHei" panose="020B0503020204020204" pitchFamily="34" charset="-122"/>
              </a:rPr>
              <a:t>1NN </a:t>
            </a:r>
            <a:r>
              <a:rPr lang="zh-CN" altLang="en-US" sz="1200">
                <a:solidFill>
                  <a:srgbClr val="38566F"/>
                </a:solidFill>
                <a:latin typeface="Microsoft YaHei" panose="020B0503020204020204" pitchFamily="34" charset="-122"/>
              </a:rPr>
              <a:t>对比</a:t>
            </a:r>
          </a:p>
        </p:txBody>
      </p:sp>
      <p:sp>
        <p:nvSpPr>
          <p:cNvPr id="27" name="矩形: 圆角 26">
            <a:extLst>
              <a:ext uri="{FF2B5EF4-FFF2-40B4-BE49-F238E27FC236}">
                <a16:creationId xmlns:a16="http://schemas.microsoft.com/office/drawing/2014/main" id="{698C836D-83D6-6FFB-E9C9-59CEDE2147D0}"/>
              </a:ext>
            </a:extLst>
          </p:cNvPr>
          <p:cNvSpPr/>
          <p:nvPr/>
        </p:nvSpPr>
        <p:spPr>
          <a:xfrm>
            <a:off x="6540500" y="1625600"/>
            <a:ext cx="4000500" cy="863600"/>
          </a:xfrm>
          <a:prstGeom prst="roundRect">
            <a:avLst/>
          </a:prstGeom>
          <a:solidFill>
            <a:srgbClr val="EFF6FF"/>
          </a:solidFill>
          <a:ln w="8890">
            <a:solidFill>
              <a:srgbClr val="BFDBF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29" name="图片 28">
            <a:extLst>
              <a:ext uri="{FF2B5EF4-FFF2-40B4-BE49-F238E27FC236}">
                <a16:creationId xmlns:a16="http://schemas.microsoft.com/office/drawing/2014/main" id="{3B22B714-56A8-577C-1906-8CDBF9A7AC8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43621" y="1794851"/>
            <a:ext cx="2394259" cy="525099"/>
          </a:xfrm>
          <a:prstGeom prst="rect">
            <a:avLst/>
          </a:prstGeom>
        </p:spPr>
      </p:pic>
      <p:graphicFrame>
        <p:nvGraphicFramePr>
          <p:cNvPr id="30" name="表格 29">
            <a:extLst>
              <a:ext uri="{FF2B5EF4-FFF2-40B4-BE49-F238E27FC236}">
                <a16:creationId xmlns:a16="http://schemas.microsoft.com/office/drawing/2014/main" id="{301DA587-BA53-F5DC-89DC-9F7E9406658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3120704"/>
              </p:ext>
            </p:extLst>
          </p:nvPr>
        </p:nvGraphicFramePr>
        <p:xfrm>
          <a:off x="6540500" y="3048000"/>
          <a:ext cx="4000500" cy="20955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00250">
                  <a:extLst>
                    <a:ext uri="{9D8B030D-6E8A-4147-A177-3AD203B41FA5}">
                      <a16:colId xmlns:a16="http://schemas.microsoft.com/office/drawing/2014/main" val="1979793756"/>
                    </a:ext>
                  </a:extLst>
                </a:gridCol>
                <a:gridCol w="2000250">
                  <a:extLst>
                    <a:ext uri="{9D8B030D-6E8A-4147-A177-3AD203B41FA5}">
                      <a16:colId xmlns:a16="http://schemas.microsoft.com/office/drawing/2014/main" val="3907811178"/>
                    </a:ext>
                  </a:extLst>
                </a:gridCol>
              </a:tblGrid>
              <a:tr h="41910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100" b="1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项目</a:t>
                      </a:r>
                    </a:p>
                  </a:txBody>
                  <a:tcPr marL="38100" marR="38100" marT="25400" marB="25400" anchor="ctr">
                    <a:solidFill>
                      <a:srgbClr val="0A7FC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100" b="1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设置</a:t>
                      </a:r>
                    </a:p>
                  </a:txBody>
                  <a:tcPr marL="38100" marR="38100" marT="25400" marB="25400" anchor="ctr">
                    <a:solidFill>
                      <a:srgbClr val="0A7F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50032306"/>
                  </a:ext>
                </a:extLst>
              </a:tr>
              <a:tr h="41910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类别数</a:t>
                      </a:r>
                    </a:p>
                  </a:txBody>
                  <a:tcPr marL="38100" marR="38100" marT="25400" marB="254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16 </a:t>
                      </a:r>
                      <a:r>
                        <a:rPr lang="zh-CN" altLang="en-US" sz="10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类</a:t>
                      </a:r>
                    </a:p>
                  </a:txBody>
                  <a:tcPr marL="38100" marR="38100" marT="25400" marB="25400" anchor="ctr"/>
                </a:tc>
                <a:extLst>
                  <a:ext uri="{0D108BD9-81ED-4DB2-BD59-A6C34878D82A}">
                    <a16:rowId xmlns:a16="http://schemas.microsoft.com/office/drawing/2014/main" val="3238449061"/>
                  </a:ext>
                </a:extLst>
              </a:tr>
              <a:tr h="41910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训练集</a:t>
                      </a:r>
                    </a:p>
                  </a:txBody>
                  <a:tcPr marL="38100" marR="38100" marT="25400" marB="254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2530 </a:t>
                      </a:r>
                      <a:r>
                        <a:rPr lang="zh-CN" altLang="en-US" sz="10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张</a:t>
                      </a:r>
                    </a:p>
                  </a:txBody>
                  <a:tcPr marL="38100" marR="38100" marT="25400" marB="25400" anchor="ctr"/>
                </a:tc>
                <a:extLst>
                  <a:ext uri="{0D108BD9-81ED-4DB2-BD59-A6C34878D82A}">
                    <a16:rowId xmlns:a16="http://schemas.microsoft.com/office/drawing/2014/main" val="1578185269"/>
                  </a:ext>
                </a:extLst>
              </a:tr>
              <a:tr h="41910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测试集</a:t>
                      </a:r>
                    </a:p>
                  </a:txBody>
                  <a:tcPr marL="38100" marR="38100" marT="25400" marB="254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636 </a:t>
                      </a:r>
                      <a:r>
                        <a:rPr lang="zh-CN" altLang="en-US" sz="10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张</a:t>
                      </a:r>
                    </a:p>
                  </a:txBody>
                  <a:tcPr marL="38100" marR="38100" marT="25400" marB="25400" anchor="ctr"/>
                </a:tc>
                <a:extLst>
                  <a:ext uri="{0D108BD9-81ED-4DB2-BD59-A6C34878D82A}">
                    <a16:rowId xmlns:a16="http://schemas.microsoft.com/office/drawing/2014/main" val="3608696100"/>
                  </a:ext>
                </a:extLst>
              </a:tr>
              <a:tr h="41910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主成分</a:t>
                      </a:r>
                    </a:p>
                  </a:txBody>
                  <a:tcPr marL="38100" marR="38100" marT="25400" marB="254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8 / 16 / 32 / 64 / 128</a:t>
                      </a:r>
                      <a:endParaRPr lang="zh-CN" altLang="en-US" sz="1000" b="0">
                        <a:solidFill>
                          <a:srgbClr val="000000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marL="38100" marR="38100" marT="25400" marB="25400" anchor="ctr"/>
                </a:tc>
                <a:extLst>
                  <a:ext uri="{0D108BD9-81ED-4DB2-BD59-A6C34878D82A}">
                    <a16:rowId xmlns:a16="http://schemas.microsoft.com/office/drawing/2014/main" val="131848005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4951053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1DF03151-565A-876C-79C7-CC7D4F99ED03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C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6FBB4847-B34D-6BC2-3952-B780D27CCD44}"/>
              </a:ext>
            </a:extLst>
          </p:cNvPr>
          <p:cNvSpPr/>
          <p:nvPr/>
        </p:nvSpPr>
        <p:spPr>
          <a:xfrm>
            <a:off x="0" y="0"/>
            <a:ext cx="12192000" cy="1016000"/>
          </a:xfrm>
          <a:prstGeom prst="rect">
            <a:avLst/>
          </a:prstGeom>
          <a:solidFill>
            <a:srgbClr val="006BB7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平行四边形 3">
            <a:extLst>
              <a:ext uri="{FF2B5EF4-FFF2-40B4-BE49-F238E27FC236}">
                <a16:creationId xmlns:a16="http://schemas.microsoft.com/office/drawing/2014/main" id="{FD0E2C4C-5732-2A32-CEC0-39ED8D1841D4}"/>
              </a:ext>
            </a:extLst>
          </p:cNvPr>
          <p:cNvSpPr/>
          <p:nvPr/>
        </p:nvSpPr>
        <p:spPr>
          <a:xfrm>
            <a:off x="8953500" y="-228600"/>
            <a:ext cx="3581400" cy="1346200"/>
          </a:xfrm>
          <a:prstGeom prst="parallelogram">
            <a:avLst>
              <a:gd name="adj" fmla="val 20000"/>
            </a:avLst>
          </a:prstGeom>
          <a:solidFill>
            <a:srgbClr val="3A9BD9">
              <a:alpha val="85000"/>
            </a:srgbClr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平行四边形 4">
            <a:extLst>
              <a:ext uri="{FF2B5EF4-FFF2-40B4-BE49-F238E27FC236}">
                <a16:creationId xmlns:a16="http://schemas.microsoft.com/office/drawing/2014/main" id="{B70174E6-13EC-58FF-5967-EC81D4714BDE}"/>
              </a:ext>
            </a:extLst>
          </p:cNvPr>
          <p:cNvSpPr/>
          <p:nvPr/>
        </p:nvSpPr>
        <p:spPr>
          <a:xfrm>
            <a:off x="-508000" y="6324600"/>
            <a:ext cx="5969000" cy="660400"/>
          </a:xfrm>
          <a:prstGeom prst="parallelogram">
            <a:avLst>
              <a:gd name="adj" fmla="val 20000"/>
            </a:avLst>
          </a:prstGeom>
          <a:solidFill>
            <a:srgbClr val="DDF0F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1B36356C-A919-2F31-5192-A4D036768BB8}"/>
              </a:ext>
            </a:extLst>
          </p:cNvPr>
          <p:cNvSpPr txBox="1"/>
          <p:nvPr/>
        </p:nvSpPr>
        <p:spPr>
          <a:xfrm>
            <a:off x="736600" y="254000"/>
            <a:ext cx="4953000" cy="10772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700" b="1">
                <a:solidFill>
                  <a:srgbClr val="CDEBFF"/>
                </a:solidFill>
                <a:latin typeface="Microsoft YaHei" panose="020B0503020204020204" pitchFamily="34" charset="-122"/>
              </a:rPr>
              <a:t>HIGH-DIMENSIONAL FEATURES</a:t>
            </a:r>
            <a:endParaRPr lang="zh-CN" altLang="en-US" sz="700" b="1">
              <a:solidFill>
                <a:srgbClr val="CDEBFF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697E4D50-16AC-CDDC-7A07-F350FE9012AF}"/>
              </a:ext>
            </a:extLst>
          </p:cNvPr>
          <p:cNvSpPr txBox="1"/>
          <p:nvPr/>
        </p:nvSpPr>
        <p:spPr>
          <a:xfrm>
            <a:off x="736600" y="533400"/>
            <a:ext cx="8509000" cy="41549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2700" b="1">
                <a:solidFill>
                  <a:srgbClr val="FFFFFF"/>
                </a:solidFill>
                <a:latin typeface="Microsoft YaHei" panose="020B0503020204020204" pitchFamily="34" charset="-122"/>
              </a:rPr>
              <a:t>实验四理论展开：为什么图像识别需要降维</a:t>
            </a:r>
          </a:p>
        </p:txBody>
      </p:sp>
      <p:cxnSp>
        <p:nvCxnSpPr>
          <p:cNvPr id="8" name="直接连接符 7">
            <a:extLst>
              <a:ext uri="{FF2B5EF4-FFF2-40B4-BE49-F238E27FC236}">
                <a16:creationId xmlns:a16="http://schemas.microsoft.com/office/drawing/2014/main" id="{071579E4-7A66-DC9E-E339-D785929C0B1B}"/>
              </a:ext>
            </a:extLst>
          </p:cNvPr>
          <p:cNvCxnSpPr/>
          <p:nvPr/>
        </p:nvCxnSpPr>
        <p:spPr>
          <a:xfrm>
            <a:off x="736600" y="1295400"/>
            <a:ext cx="1168400" cy="0"/>
          </a:xfrm>
          <a:prstGeom prst="line">
            <a:avLst/>
          </a:prstGeom>
          <a:ln w="38100">
            <a:solidFill>
              <a:srgbClr val="D4A84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文本框 8">
            <a:extLst>
              <a:ext uri="{FF2B5EF4-FFF2-40B4-BE49-F238E27FC236}">
                <a16:creationId xmlns:a16="http://schemas.microsoft.com/office/drawing/2014/main" id="{5B6BC796-DFD9-32B0-1DF6-61617463D1E6}"/>
              </a:ext>
            </a:extLst>
          </p:cNvPr>
          <p:cNvSpPr txBox="1"/>
          <p:nvPr/>
        </p:nvSpPr>
        <p:spPr>
          <a:xfrm>
            <a:off x="533400" y="6527800"/>
            <a:ext cx="3937000" cy="10772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700">
                <a:solidFill>
                  <a:srgbClr val="8FA8BA"/>
                </a:solidFill>
                <a:latin typeface="Microsoft YaHei" panose="020B0503020204020204" pitchFamily="34" charset="-122"/>
              </a:rPr>
              <a:t>模式识别课程实验汇报 </a:t>
            </a:r>
            <a:r>
              <a:rPr lang="en-US" altLang="zh-CN" sz="700">
                <a:solidFill>
                  <a:srgbClr val="8FA8BA"/>
                </a:solidFill>
                <a:latin typeface="Microsoft YaHei" panose="020B0503020204020204" pitchFamily="34" charset="-122"/>
              </a:rPr>
              <a:t>· </a:t>
            </a:r>
            <a:r>
              <a:rPr lang="zh-CN" altLang="en-US" sz="700">
                <a:solidFill>
                  <a:srgbClr val="8FA8BA"/>
                </a:solidFill>
                <a:latin typeface="Microsoft YaHei" panose="020B0503020204020204" pitchFamily="34" charset="-122"/>
              </a:rPr>
              <a:t>蓝白科研汇报模板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67E6FD34-BB6C-AE55-7492-23AB3929A8EA}"/>
              </a:ext>
            </a:extLst>
          </p:cNvPr>
          <p:cNvSpPr txBox="1"/>
          <p:nvPr/>
        </p:nvSpPr>
        <p:spPr>
          <a:xfrm>
            <a:off x="11366500" y="6477000"/>
            <a:ext cx="355600" cy="10772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r"/>
            <a:r>
              <a:rPr lang="en-US" altLang="zh-CN" sz="700" b="1">
                <a:solidFill>
                  <a:srgbClr val="006BB7"/>
                </a:solidFill>
                <a:latin typeface="Microsoft YaHei" panose="020B0503020204020204" pitchFamily="34" charset="-122"/>
              </a:rPr>
              <a:t>20</a:t>
            </a:r>
            <a:endParaRPr lang="zh-CN" altLang="en-US" sz="700" b="1">
              <a:solidFill>
                <a:srgbClr val="006BB7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9921EBD2-27A5-DB2C-59C5-3AA22F6252B3}"/>
              </a:ext>
            </a:extLst>
          </p:cNvPr>
          <p:cNvSpPr/>
          <p:nvPr/>
        </p:nvSpPr>
        <p:spPr>
          <a:xfrm>
            <a:off x="736600" y="1371600"/>
            <a:ext cx="3175000" cy="134620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71EC16CE-21DA-022A-CFA0-E917CF9CE3CA}"/>
              </a:ext>
            </a:extLst>
          </p:cNvPr>
          <p:cNvSpPr/>
          <p:nvPr/>
        </p:nvSpPr>
        <p:spPr>
          <a:xfrm>
            <a:off x="736600" y="1371600"/>
            <a:ext cx="76200" cy="1346200"/>
          </a:xfrm>
          <a:prstGeom prst="rect">
            <a:avLst/>
          </a:prstGeom>
          <a:solidFill>
            <a:srgbClr val="006BB7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DD5F1AC-24AC-BE7D-9F04-BF6ECCC8C0F6}"/>
              </a:ext>
            </a:extLst>
          </p:cNvPr>
          <p:cNvSpPr txBox="1"/>
          <p:nvPr/>
        </p:nvSpPr>
        <p:spPr>
          <a:xfrm>
            <a:off x="927100" y="1498600"/>
            <a:ext cx="2870200" cy="215444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400" b="1">
                <a:solidFill>
                  <a:srgbClr val="0A2E4E"/>
                </a:solidFill>
                <a:latin typeface="Microsoft YaHei" panose="020B0503020204020204" pitchFamily="34" charset="-122"/>
              </a:rPr>
              <a:t>维数高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F31C03AF-3369-D7FF-3FFB-2F47A01222A1}"/>
              </a:ext>
            </a:extLst>
          </p:cNvPr>
          <p:cNvSpPr txBox="1"/>
          <p:nvPr/>
        </p:nvSpPr>
        <p:spPr>
          <a:xfrm>
            <a:off x="927100" y="1854200"/>
            <a:ext cx="2870200" cy="55399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1200">
                <a:solidFill>
                  <a:srgbClr val="38566F"/>
                </a:solidFill>
                <a:latin typeface="Microsoft YaHei" panose="020B0503020204020204" pitchFamily="34" charset="-122"/>
              </a:rPr>
              <a:t>32×32 </a:t>
            </a:r>
            <a:r>
              <a:rPr lang="zh-CN" altLang="en-US" sz="1200">
                <a:solidFill>
                  <a:srgbClr val="38566F"/>
                </a:solidFill>
                <a:latin typeface="Microsoft YaHei" panose="020B0503020204020204" pitchFamily="34" charset="-122"/>
              </a:rPr>
              <a:t>灰度图展开后就是 </a:t>
            </a:r>
            <a:r>
              <a:rPr lang="en-US" altLang="zh-CN" sz="1200">
                <a:solidFill>
                  <a:srgbClr val="38566F"/>
                </a:solidFill>
                <a:latin typeface="Microsoft YaHei" panose="020B0503020204020204" pitchFamily="34" charset="-122"/>
              </a:rPr>
              <a:t>1024 </a:t>
            </a:r>
            <a:r>
              <a:rPr lang="zh-CN" altLang="en-US" sz="1200">
                <a:solidFill>
                  <a:srgbClr val="38566F"/>
                </a:solidFill>
                <a:latin typeface="Microsoft YaHei" panose="020B0503020204020204" pitchFamily="34" charset="-122"/>
              </a:rPr>
              <a:t>维。维数越高，距离计算越容易受噪声和无关背景影响。</a:t>
            </a:r>
          </a:p>
        </p:txBody>
      </p:sp>
      <p:sp>
        <p:nvSpPr>
          <p:cNvPr id="15" name="矩形: 圆角 14">
            <a:extLst>
              <a:ext uri="{FF2B5EF4-FFF2-40B4-BE49-F238E27FC236}">
                <a16:creationId xmlns:a16="http://schemas.microsoft.com/office/drawing/2014/main" id="{338BBB50-43B6-9B5C-93B4-288B9AD8F365}"/>
              </a:ext>
            </a:extLst>
          </p:cNvPr>
          <p:cNvSpPr/>
          <p:nvPr/>
        </p:nvSpPr>
        <p:spPr>
          <a:xfrm>
            <a:off x="4508500" y="1371600"/>
            <a:ext cx="3175000" cy="134620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C2F49EA6-2FE3-3B9C-41DC-168A86480DD4}"/>
              </a:ext>
            </a:extLst>
          </p:cNvPr>
          <p:cNvSpPr/>
          <p:nvPr/>
        </p:nvSpPr>
        <p:spPr>
          <a:xfrm>
            <a:off x="4508500" y="1371600"/>
            <a:ext cx="76200" cy="1346200"/>
          </a:xfrm>
          <a:prstGeom prst="rect">
            <a:avLst/>
          </a:prstGeom>
          <a:solidFill>
            <a:srgbClr val="0A7FC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4CA43DAE-D687-CBFA-787E-393209F5051E}"/>
              </a:ext>
            </a:extLst>
          </p:cNvPr>
          <p:cNvSpPr txBox="1"/>
          <p:nvPr/>
        </p:nvSpPr>
        <p:spPr>
          <a:xfrm>
            <a:off x="4699000" y="1498600"/>
            <a:ext cx="2870200" cy="215444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400" b="1">
                <a:solidFill>
                  <a:srgbClr val="0A2E4E"/>
                </a:solidFill>
                <a:latin typeface="Microsoft YaHei" panose="020B0503020204020204" pitchFamily="34" charset="-122"/>
              </a:rPr>
              <a:t>样本有限</a:t>
            </a: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857F3C59-CBBE-616C-9241-A012C58AD3FC}"/>
              </a:ext>
            </a:extLst>
          </p:cNvPr>
          <p:cNvSpPr txBox="1"/>
          <p:nvPr/>
        </p:nvSpPr>
        <p:spPr>
          <a:xfrm>
            <a:off x="4699000" y="1854200"/>
            <a:ext cx="2870200" cy="36933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200">
                <a:solidFill>
                  <a:srgbClr val="38566F"/>
                </a:solidFill>
                <a:latin typeface="Microsoft YaHei" panose="020B0503020204020204" pitchFamily="34" charset="-122"/>
              </a:rPr>
              <a:t>虽然有 </a:t>
            </a:r>
            <a:r>
              <a:rPr lang="en-US" altLang="zh-CN" sz="1200">
                <a:solidFill>
                  <a:srgbClr val="38566F"/>
                </a:solidFill>
                <a:latin typeface="Microsoft YaHei" panose="020B0503020204020204" pitchFamily="34" charset="-122"/>
              </a:rPr>
              <a:t>2530 </a:t>
            </a:r>
            <a:r>
              <a:rPr lang="zh-CN" altLang="en-US" sz="1200">
                <a:solidFill>
                  <a:srgbClr val="38566F"/>
                </a:solidFill>
                <a:latin typeface="Microsoft YaHei" panose="020B0503020204020204" pitchFamily="34" charset="-122"/>
              </a:rPr>
              <a:t>张训练图，但相对 </a:t>
            </a:r>
            <a:r>
              <a:rPr lang="en-US" altLang="zh-CN" sz="1200">
                <a:solidFill>
                  <a:srgbClr val="38566F"/>
                </a:solidFill>
                <a:latin typeface="Microsoft YaHei" panose="020B0503020204020204" pitchFamily="34" charset="-122"/>
              </a:rPr>
              <a:t>1024 </a:t>
            </a:r>
            <a:r>
              <a:rPr lang="zh-CN" altLang="en-US" sz="1200">
                <a:solidFill>
                  <a:srgbClr val="38566F"/>
                </a:solidFill>
                <a:latin typeface="Microsoft YaHei" panose="020B0503020204020204" pitchFamily="34" charset="-122"/>
              </a:rPr>
              <a:t>维特征仍不算充分，直接分类容易过拟合。</a:t>
            </a:r>
          </a:p>
        </p:txBody>
      </p:sp>
      <p:sp>
        <p:nvSpPr>
          <p:cNvPr id="19" name="矩形: 圆角 18">
            <a:extLst>
              <a:ext uri="{FF2B5EF4-FFF2-40B4-BE49-F238E27FC236}">
                <a16:creationId xmlns:a16="http://schemas.microsoft.com/office/drawing/2014/main" id="{2F936740-106D-EB9F-717E-3CCCD17A0B73}"/>
              </a:ext>
            </a:extLst>
          </p:cNvPr>
          <p:cNvSpPr/>
          <p:nvPr/>
        </p:nvSpPr>
        <p:spPr>
          <a:xfrm>
            <a:off x="8280400" y="1371600"/>
            <a:ext cx="2921000" cy="134620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092113A3-ECCB-FB0B-DE7A-898C5E76163B}"/>
              </a:ext>
            </a:extLst>
          </p:cNvPr>
          <p:cNvSpPr/>
          <p:nvPr/>
        </p:nvSpPr>
        <p:spPr>
          <a:xfrm>
            <a:off x="8280400" y="1371600"/>
            <a:ext cx="76200" cy="1346200"/>
          </a:xfrm>
          <a:prstGeom prst="rect">
            <a:avLst/>
          </a:prstGeom>
          <a:solidFill>
            <a:srgbClr val="D4A84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684D8D36-6CA1-3327-6109-2DC40AB582B1}"/>
              </a:ext>
            </a:extLst>
          </p:cNvPr>
          <p:cNvSpPr txBox="1"/>
          <p:nvPr/>
        </p:nvSpPr>
        <p:spPr>
          <a:xfrm>
            <a:off x="8470900" y="1498600"/>
            <a:ext cx="2616200" cy="215444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1400" b="1">
                <a:solidFill>
                  <a:srgbClr val="0A2E4E"/>
                </a:solidFill>
                <a:latin typeface="Microsoft YaHei" panose="020B0503020204020204" pitchFamily="34" charset="-122"/>
              </a:rPr>
              <a:t>PCA </a:t>
            </a:r>
            <a:r>
              <a:rPr lang="zh-CN" altLang="en-US" sz="1400" b="1">
                <a:solidFill>
                  <a:srgbClr val="0A2E4E"/>
                </a:solidFill>
                <a:latin typeface="Microsoft YaHei" panose="020B0503020204020204" pitchFamily="34" charset="-122"/>
              </a:rPr>
              <a:t>的作用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68E82F00-69E3-4588-827A-29BA8858785A}"/>
              </a:ext>
            </a:extLst>
          </p:cNvPr>
          <p:cNvSpPr txBox="1"/>
          <p:nvPr/>
        </p:nvSpPr>
        <p:spPr>
          <a:xfrm>
            <a:off x="8470900" y="1854200"/>
            <a:ext cx="2616200" cy="36933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200">
                <a:solidFill>
                  <a:srgbClr val="38566F"/>
                </a:solidFill>
                <a:latin typeface="Microsoft YaHei" panose="020B0503020204020204" pitchFamily="34" charset="-122"/>
              </a:rPr>
              <a:t>用较少主成分表示图像，把共同轮廓、明暗结构等主要变化保留下来。</a:t>
            </a:r>
          </a:p>
        </p:txBody>
      </p:sp>
      <p:sp>
        <p:nvSpPr>
          <p:cNvPr id="23" name="矩形: 圆角 22">
            <a:extLst>
              <a:ext uri="{FF2B5EF4-FFF2-40B4-BE49-F238E27FC236}">
                <a16:creationId xmlns:a16="http://schemas.microsoft.com/office/drawing/2014/main" id="{C3589AF3-E02C-FDB5-CF14-231D62E63F0E}"/>
              </a:ext>
            </a:extLst>
          </p:cNvPr>
          <p:cNvSpPr/>
          <p:nvPr/>
        </p:nvSpPr>
        <p:spPr>
          <a:xfrm>
            <a:off x="1092200" y="3429000"/>
            <a:ext cx="10033000" cy="965200"/>
          </a:xfrm>
          <a:prstGeom prst="roundRect">
            <a:avLst/>
          </a:prstGeom>
          <a:solidFill>
            <a:srgbClr val="E3F2FD"/>
          </a:solidFill>
          <a:ln w="8890">
            <a:solidFill>
              <a:srgbClr val="A7F3D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6183F2E5-2EF5-790F-2C2A-23E37DB0C1F0}"/>
              </a:ext>
            </a:extLst>
          </p:cNvPr>
          <p:cNvSpPr txBox="1"/>
          <p:nvPr/>
        </p:nvSpPr>
        <p:spPr>
          <a:xfrm>
            <a:off x="1422400" y="3759200"/>
            <a:ext cx="9347200" cy="261610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ctr"/>
            <a:r>
              <a:rPr lang="zh-CN" altLang="en-US" sz="1700" b="1">
                <a:solidFill>
                  <a:srgbClr val="006BB7"/>
                </a:solidFill>
                <a:latin typeface="Microsoft YaHei" panose="020B0503020204020204" pitchFamily="34" charset="-122"/>
              </a:rPr>
              <a:t>从二维身高体重到 </a:t>
            </a:r>
            <a:r>
              <a:rPr lang="en-US" altLang="zh-CN" sz="1700" b="1">
                <a:solidFill>
                  <a:srgbClr val="006BB7"/>
                </a:solidFill>
                <a:latin typeface="Microsoft YaHei" panose="020B0503020204020204" pitchFamily="34" charset="-122"/>
              </a:rPr>
              <a:t>1024 </a:t>
            </a:r>
            <a:r>
              <a:rPr lang="zh-CN" altLang="en-US" sz="1700" b="1">
                <a:solidFill>
                  <a:srgbClr val="006BB7"/>
                </a:solidFill>
                <a:latin typeface="Microsoft YaHei" panose="020B0503020204020204" pitchFamily="34" charset="-122"/>
              </a:rPr>
              <a:t>维图像，本质仍是寻找更适合分类的特征表示。</a:t>
            </a:r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70A4CBDE-CBC7-2A54-8107-FBFF14FBE310}"/>
              </a:ext>
            </a:extLst>
          </p:cNvPr>
          <p:cNvSpPr txBox="1"/>
          <p:nvPr/>
        </p:nvSpPr>
        <p:spPr>
          <a:xfrm>
            <a:off x="1143000" y="4902200"/>
            <a:ext cx="9779000" cy="779701"/>
          </a:xfrm>
          <a:prstGeom prst="rect">
            <a:avLst/>
          </a:prstGeom>
          <a:noFill/>
        </p:spPr>
        <p:txBody>
          <a:bodyPr vert="horz" lIns="101600" tIns="25400" rIns="25400" bIns="25400" rtlCol="0">
            <a:spAutoFit/>
          </a:bodyPr>
          <a:lstStyle/>
          <a:p>
            <a:pPr marL="342900" indent="-342900">
              <a:spcAft>
                <a:spcPts val="500"/>
              </a:spcAft>
              <a:buFont typeface="+mj-lt"/>
              <a:buAutoNum type="arabicPeriod"/>
            </a:pPr>
            <a:r>
              <a:rPr lang="en-US" altLang="zh-CN" sz="1300">
                <a:solidFill>
                  <a:srgbClr val="38566F"/>
                </a:solidFill>
                <a:latin typeface="Microsoft YaHei" panose="020B0503020204020204" pitchFamily="34" charset="-122"/>
              </a:rPr>
              <a:t>PCA </a:t>
            </a:r>
            <a:r>
              <a:rPr lang="zh-CN" altLang="en-US" sz="1300">
                <a:solidFill>
                  <a:srgbClr val="38566F"/>
                </a:solidFill>
                <a:latin typeface="Microsoft YaHei" panose="020B0503020204020204" pitchFamily="34" charset="-122"/>
              </a:rPr>
              <a:t>主成分可以看作一组基础图像模式，原图像由这些模式加权组合得到。</a:t>
            </a:r>
          </a:p>
          <a:p>
            <a:pPr marL="342900" indent="-342900">
              <a:spcAft>
                <a:spcPts val="500"/>
              </a:spcAft>
              <a:buFont typeface="+mj-lt"/>
              <a:buAutoNum type="arabicPeriod"/>
            </a:pPr>
            <a:r>
              <a:rPr lang="zh-CN" altLang="en-US" sz="1300">
                <a:solidFill>
                  <a:srgbClr val="38566F"/>
                </a:solidFill>
                <a:latin typeface="Microsoft YaHei" panose="020B0503020204020204" pitchFamily="34" charset="-122"/>
              </a:rPr>
              <a:t>保留太少主成分会丢失类别细节；保留太多主成分又可能引入背景和噪声。</a:t>
            </a:r>
          </a:p>
          <a:p>
            <a:pPr marL="342900" indent="-342900">
              <a:spcAft>
                <a:spcPts val="500"/>
              </a:spcAft>
              <a:buFont typeface="+mj-lt"/>
              <a:buAutoNum type="arabicPeriod"/>
            </a:pPr>
            <a:r>
              <a:rPr lang="zh-CN" altLang="en-US" sz="1300">
                <a:solidFill>
                  <a:srgbClr val="38566F"/>
                </a:solidFill>
                <a:latin typeface="Microsoft YaHei" panose="020B0503020204020204" pitchFamily="34" charset="-122"/>
              </a:rPr>
              <a:t>因此实验四考察不同主成分数下的识别准确率。</a:t>
            </a:r>
          </a:p>
        </p:txBody>
      </p:sp>
    </p:spTree>
    <p:extLst>
      <p:ext uri="{BB962C8B-B14F-4D97-AF65-F5344CB8AC3E}">
        <p14:creationId xmlns:p14="http://schemas.microsoft.com/office/powerpoint/2010/main" val="129671697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2097EA16-CEEC-3774-48E5-8D984566027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C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6ACEF265-91A0-8B2F-9493-C64F1A0384C0}"/>
              </a:ext>
            </a:extLst>
          </p:cNvPr>
          <p:cNvSpPr/>
          <p:nvPr/>
        </p:nvSpPr>
        <p:spPr>
          <a:xfrm>
            <a:off x="0" y="0"/>
            <a:ext cx="12192000" cy="1016000"/>
          </a:xfrm>
          <a:prstGeom prst="rect">
            <a:avLst/>
          </a:prstGeom>
          <a:solidFill>
            <a:srgbClr val="006BB7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平行四边形 3">
            <a:extLst>
              <a:ext uri="{FF2B5EF4-FFF2-40B4-BE49-F238E27FC236}">
                <a16:creationId xmlns:a16="http://schemas.microsoft.com/office/drawing/2014/main" id="{D355D943-359A-FA66-5C2A-401095581BAE}"/>
              </a:ext>
            </a:extLst>
          </p:cNvPr>
          <p:cNvSpPr/>
          <p:nvPr/>
        </p:nvSpPr>
        <p:spPr>
          <a:xfrm>
            <a:off x="8953500" y="-228600"/>
            <a:ext cx="3581400" cy="1346200"/>
          </a:xfrm>
          <a:prstGeom prst="parallelogram">
            <a:avLst>
              <a:gd name="adj" fmla="val 20000"/>
            </a:avLst>
          </a:prstGeom>
          <a:solidFill>
            <a:srgbClr val="3A9BD9">
              <a:alpha val="85000"/>
            </a:srgbClr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平行四边形 4">
            <a:extLst>
              <a:ext uri="{FF2B5EF4-FFF2-40B4-BE49-F238E27FC236}">
                <a16:creationId xmlns:a16="http://schemas.microsoft.com/office/drawing/2014/main" id="{BA2581FE-F3FB-65E4-0D01-453143883596}"/>
              </a:ext>
            </a:extLst>
          </p:cNvPr>
          <p:cNvSpPr/>
          <p:nvPr/>
        </p:nvSpPr>
        <p:spPr>
          <a:xfrm>
            <a:off x="-508000" y="6324600"/>
            <a:ext cx="5969000" cy="660400"/>
          </a:xfrm>
          <a:prstGeom prst="parallelogram">
            <a:avLst>
              <a:gd name="adj" fmla="val 20000"/>
            </a:avLst>
          </a:prstGeom>
          <a:solidFill>
            <a:srgbClr val="DDF0F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4E7AF4E8-1FD4-6E4C-70DE-3B30FD24F362}"/>
              </a:ext>
            </a:extLst>
          </p:cNvPr>
          <p:cNvSpPr txBox="1"/>
          <p:nvPr/>
        </p:nvSpPr>
        <p:spPr>
          <a:xfrm>
            <a:off x="736600" y="254000"/>
            <a:ext cx="4953000" cy="10772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700" b="1">
                <a:solidFill>
                  <a:srgbClr val="CDEBFF"/>
                </a:solidFill>
                <a:latin typeface="Microsoft YaHei" panose="020B0503020204020204" pitchFamily="34" charset="-122"/>
              </a:rPr>
              <a:t>VISUAL RESULTS</a:t>
            </a:r>
            <a:endParaRPr lang="zh-CN" altLang="en-US" sz="700" b="1">
              <a:solidFill>
                <a:srgbClr val="CDEBFF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CA6D6774-5924-FC7B-3043-A1276492CA0E}"/>
              </a:ext>
            </a:extLst>
          </p:cNvPr>
          <p:cNvSpPr txBox="1"/>
          <p:nvPr/>
        </p:nvSpPr>
        <p:spPr>
          <a:xfrm>
            <a:off x="736600" y="533400"/>
            <a:ext cx="8509000" cy="41549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2700" b="1">
                <a:solidFill>
                  <a:srgbClr val="FFFFFF"/>
                </a:solidFill>
                <a:latin typeface="Microsoft YaHei" panose="020B0503020204020204" pitchFamily="34" charset="-122"/>
              </a:rPr>
              <a:t>实验四结果：样本图像与 </a:t>
            </a:r>
            <a:r>
              <a:rPr lang="en-US" altLang="zh-CN" sz="2700" b="1">
                <a:solidFill>
                  <a:srgbClr val="FFFFFF"/>
                </a:solidFill>
                <a:latin typeface="Microsoft YaHei" panose="020B0503020204020204" pitchFamily="34" charset="-122"/>
              </a:rPr>
              <a:t>PCA </a:t>
            </a:r>
            <a:r>
              <a:rPr lang="zh-CN" altLang="en-US" sz="2700" b="1">
                <a:solidFill>
                  <a:srgbClr val="FFFFFF"/>
                </a:solidFill>
                <a:latin typeface="Microsoft YaHei" panose="020B0503020204020204" pitchFamily="34" charset="-122"/>
              </a:rPr>
              <a:t>主成分</a:t>
            </a:r>
          </a:p>
        </p:txBody>
      </p:sp>
      <p:cxnSp>
        <p:nvCxnSpPr>
          <p:cNvPr id="8" name="直接连接符 7">
            <a:extLst>
              <a:ext uri="{FF2B5EF4-FFF2-40B4-BE49-F238E27FC236}">
                <a16:creationId xmlns:a16="http://schemas.microsoft.com/office/drawing/2014/main" id="{016ABE0A-62C0-DF7C-773B-6E0C3FFCEB35}"/>
              </a:ext>
            </a:extLst>
          </p:cNvPr>
          <p:cNvCxnSpPr/>
          <p:nvPr/>
        </p:nvCxnSpPr>
        <p:spPr>
          <a:xfrm>
            <a:off x="736600" y="1295400"/>
            <a:ext cx="1168400" cy="0"/>
          </a:xfrm>
          <a:prstGeom prst="line">
            <a:avLst/>
          </a:prstGeom>
          <a:ln w="38100">
            <a:solidFill>
              <a:srgbClr val="D4A84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文本框 8">
            <a:extLst>
              <a:ext uri="{FF2B5EF4-FFF2-40B4-BE49-F238E27FC236}">
                <a16:creationId xmlns:a16="http://schemas.microsoft.com/office/drawing/2014/main" id="{DDC3FA04-4BFF-9743-AF5E-93EF1189B99E}"/>
              </a:ext>
            </a:extLst>
          </p:cNvPr>
          <p:cNvSpPr txBox="1"/>
          <p:nvPr/>
        </p:nvSpPr>
        <p:spPr>
          <a:xfrm>
            <a:off x="533400" y="6527800"/>
            <a:ext cx="3937000" cy="10772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700">
                <a:solidFill>
                  <a:srgbClr val="8FA8BA"/>
                </a:solidFill>
                <a:latin typeface="Microsoft YaHei" panose="020B0503020204020204" pitchFamily="34" charset="-122"/>
              </a:rPr>
              <a:t>模式识别课程实验汇报 </a:t>
            </a:r>
            <a:r>
              <a:rPr lang="en-US" altLang="zh-CN" sz="700">
                <a:solidFill>
                  <a:srgbClr val="8FA8BA"/>
                </a:solidFill>
                <a:latin typeface="Microsoft YaHei" panose="020B0503020204020204" pitchFamily="34" charset="-122"/>
              </a:rPr>
              <a:t>· </a:t>
            </a:r>
            <a:r>
              <a:rPr lang="zh-CN" altLang="en-US" sz="700">
                <a:solidFill>
                  <a:srgbClr val="8FA8BA"/>
                </a:solidFill>
                <a:latin typeface="Microsoft YaHei" panose="020B0503020204020204" pitchFamily="34" charset="-122"/>
              </a:rPr>
              <a:t>蓝白科研汇报模板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4D1F1829-F10B-B176-330A-28DCE41E60C8}"/>
              </a:ext>
            </a:extLst>
          </p:cNvPr>
          <p:cNvSpPr txBox="1"/>
          <p:nvPr/>
        </p:nvSpPr>
        <p:spPr>
          <a:xfrm>
            <a:off x="11366500" y="6477000"/>
            <a:ext cx="355600" cy="10772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r"/>
            <a:r>
              <a:rPr lang="en-US" altLang="zh-CN" sz="700" b="1">
                <a:solidFill>
                  <a:srgbClr val="006BB7"/>
                </a:solidFill>
                <a:latin typeface="Microsoft YaHei" panose="020B0503020204020204" pitchFamily="34" charset="-122"/>
              </a:rPr>
              <a:t>21</a:t>
            </a:r>
            <a:endParaRPr lang="zh-CN" altLang="en-US" sz="700" b="1">
              <a:solidFill>
                <a:srgbClr val="006BB7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02B86332-B05C-A4B0-BE2D-3994F04769A8}"/>
              </a:ext>
            </a:extLst>
          </p:cNvPr>
          <p:cNvSpPr/>
          <p:nvPr/>
        </p:nvSpPr>
        <p:spPr>
          <a:xfrm>
            <a:off x="736600" y="1397000"/>
            <a:ext cx="5207000" cy="381000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3" name="图片 12">
            <a:extLst>
              <a:ext uri="{FF2B5EF4-FFF2-40B4-BE49-F238E27FC236}">
                <a16:creationId xmlns:a16="http://schemas.microsoft.com/office/drawing/2014/main" id="{BD6BBD0D-EF2A-219B-2A3C-EF96BADE77E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58683" y="2454590"/>
            <a:ext cx="3562835" cy="1694821"/>
          </a:xfrm>
          <a:prstGeom prst="rect">
            <a:avLst/>
          </a:prstGeom>
        </p:spPr>
      </p:pic>
      <p:sp>
        <p:nvSpPr>
          <p:cNvPr id="14" name="矩形: 圆角 13">
            <a:extLst>
              <a:ext uri="{FF2B5EF4-FFF2-40B4-BE49-F238E27FC236}">
                <a16:creationId xmlns:a16="http://schemas.microsoft.com/office/drawing/2014/main" id="{4C3A88ED-9009-06B2-601A-BA806DA80C4A}"/>
              </a:ext>
            </a:extLst>
          </p:cNvPr>
          <p:cNvSpPr/>
          <p:nvPr/>
        </p:nvSpPr>
        <p:spPr>
          <a:xfrm>
            <a:off x="6248400" y="1397000"/>
            <a:ext cx="5207000" cy="381000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6" name="图片 15">
            <a:extLst>
              <a:ext uri="{FF2B5EF4-FFF2-40B4-BE49-F238E27FC236}">
                <a16:creationId xmlns:a16="http://schemas.microsoft.com/office/drawing/2014/main" id="{88CDF00A-3C91-713F-AB27-5FF8E2A3ABC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70482" y="2500362"/>
            <a:ext cx="3562836" cy="1603276"/>
          </a:xfrm>
          <a:prstGeom prst="rect">
            <a:avLst/>
          </a:prstGeom>
        </p:spPr>
      </p:pic>
      <p:sp>
        <p:nvSpPr>
          <p:cNvPr id="17" name="矩形: 圆角 16">
            <a:extLst>
              <a:ext uri="{FF2B5EF4-FFF2-40B4-BE49-F238E27FC236}">
                <a16:creationId xmlns:a16="http://schemas.microsoft.com/office/drawing/2014/main" id="{1A5C99D1-9024-7804-8568-6514111320D5}"/>
              </a:ext>
            </a:extLst>
          </p:cNvPr>
          <p:cNvSpPr/>
          <p:nvPr/>
        </p:nvSpPr>
        <p:spPr>
          <a:xfrm>
            <a:off x="1016000" y="5461000"/>
            <a:ext cx="1905000" cy="660400"/>
          </a:xfrm>
          <a:prstGeom prst="roundRect">
            <a:avLst/>
          </a:prstGeom>
          <a:solidFill>
            <a:srgbClr val="FAFCFF"/>
          </a:solidFill>
          <a:ln w="889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E9835D59-6C41-90F1-6BBF-A8C7319E5F34}"/>
              </a:ext>
            </a:extLst>
          </p:cNvPr>
          <p:cNvSpPr txBox="1"/>
          <p:nvPr/>
        </p:nvSpPr>
        <p:spPr>
          <a:xfrm>
            <a:off x="1168400" y="5562600"/>
            <a:ext cx="1625600" cy="36933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2400" b="1">
                <a:solidFill>
                  <a:srgbClr val="0A7FCC"/>
                </a:solidFill>
                <a:latin typeface="Microsoft YaHei" panose="020B0503020204020204" pitchFamily="34" charset="-122"/>
              </a:rPr>
              <a:t>1024→64</a:t>
            </a:r>
            <a:endParaRPr lang="zh-CN" altLang="en-US" sz="2400" b="1">
              <a:solidFill>
                <a:srgbClr val="0A7FCC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7840323B-7AC8-444C-8327-3D99036F5CA0}"/>
              </a:ext>
            </a:extLst>
          </p:cNvPr>
          <p:cNvSpPr txBox="1"/>
          <p:nvPr/>
        </p:nvSpPr>
        <p:spPr>
          <a:xfrm>
            <a:off x="1168400" y="5969000"/>
            <a:ext cx="1625600" cy="184666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200">
                <a:solidFill>
                  <a:srgbClr val="6B7F90"/>
                </a:solidFill>
                <a:latin typeface="Microsoft YaHei" panose="020B0503020204020204" pitchFamily="34" charset="-122"/>
              </a:rPr>
              <a:t>维度压缩</a:t>
            </a:r>
          </a:p>
        </p:txBody>
      </p:sp>
      <p:sp>
        <p:nvSpPr>
          <p:cNvPr id="20" name="矩形: 圆角 19">
            <a:extLst>
              <a:ext uri="{FF2B5EF4-FFF2-40B4-BE49-F238E27FC236}">
                <a16:creationId xmlns:a16="http://schemas.microsoft.com/office/drawing/2014/main" id="{BEFE0243-F8E5-A752-8022-B7F6D4EDC4A1}"/>
              </a:ext>
            </a:extLst>
          </p:cNvPr>
          <p:cNvSpPr/>
          <p:nvPr/>
        </p:nvSpPr>
        <p:spPr>
          <a:xfrm>
            <a:off x="3302000" y="5461000"/>
            <a:ext cx="1905000" cy="660400"/>
          </a:xfrm>
          <a:prstGeom prst="roundRect">
            <a:avLst/>
          </a:prstGeom>
          <a:solidFill>
            <a:srgbClr val="FAFCFF"/>
          </a:solidFill>
          <a:ln w="889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66F3E8D6-36B6-C502-D350-03DDA54D5648}"/>
              </a:ext>
            </a:extLst>
          </p:cNvPr>
          <p:cNvSpPr txBox="1"/>
          <p:nvPr/>
        </p:nvSpPr>
        <p:spPr>
          <a:xfrm>
            <a:off x="3454400" y="5562600"/>
            <a:ext cx="1625600" cy="36933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2400" b="1">
                <a:solidFill>
                  <a:srgbClr val="006BB7"/>
                </a:solidFill>
                <a:latin typeface="Microsoft YaHei" panose="020B0503020204020204" pitchFamily="34" charset="-122"/>
              </a:rPr>
              <a:t>89.88%</a:t>
            </a:r>
            <a:endParaRPr lang="zh-CN" altLang="en-US" sz="2400" b="1">
              <a:solidFill>
                <a:srgbClr val="006BB7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F55B570E-5655-EB32-5739-1A43833AA27B}"/>
              </a:ext>
            </a:extLst>
          </p:cNvPr>
          <p:cNvSpPr txBox="1"/>
          <p:nvPr/>
        </p:nvSpPr>
        <p:spPr>
          <a:xfrm>
            <a:off x="3454400" y="5969000"/>
            <a:ext cx="1625600" cy="184666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1200">
                <a:solidFill>
                  <a:srgbClr val="6B7F90"/>
                </a:solidFill>
                <a:latin typeface="Microsoft YaHei" panose="020B0503020204020204" pitchFamily="34" charset="-122"/>
              </a:rPr>
              <a:t>64 </a:t>
            </a:r>
            <a:r>
              <a:rPr lang="zh-CN" altLang="en-US" sz="1200">
                <a:solidFill>
                  <a:srgbClr val="6B7F90"/>
                </a:solidFill>
                <a:latin typeface="Microsoft YaHei" panose="020B0503020204020204" pitchFamily="34" charset="-122"/>
              </a:rPr>
              <a:t>维解释方差</a:t>
            </a:r>
          </a:p>
        </p:txBody>
      </p:sp>
      <p:sp>
        <p:nvSpPr>
          <p:cNvPr id="23" name="矩形: 圆角 22">
            <a:extLst>
              <a:ext uri="{FF2B5EF4-FFF2-40B4-BE49-F238E27FC236}">
                <a16:creationId xmlns:a16="http://schemas.microsoft.com/office/drawing/2014/main" id="{3058B4A2-79D6-CE05-75B3-640DAFEAD957}"/>
              </a:ext>
            </a:extLst>
          </p:cNvPr>
          <p:cNvSpPr/>
          <p:nvPr/>
        </p:nvSpPr>
        <p:spPr>
          <a:xfrm>
            <a:off x="5588000" y="5461000"/>
            <a:ext cx="1905000" cy="660400"/>
          </a:xfrm>
          <a:prstGeom prst="roundRect">
            <a:avLst/>
          </a:prstGeom>
          <a:solidFill>
            <a:srgbClr val="FAFCFF"/>
          </a:solidFill>
          <a:ln w="889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1B8FFA1D-F4DB-D070-341A-C88B13BB0A13}"/>
              </a:ext>
            </a:extLst>
          </p:cNvPr>
          <p:cNvSpPr txBox="1"/>
          <p:nvPr/>
        </p:nvSpPr>
        <p:spPr>
          <a:xfrm>
            <a:off x="5740400" y="5562600"/>
            <a:ext cx="1625600" cy="36933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2400" b="1">
                <a:solidFill>
                  <a:srgbClr val="D4A84B"/>
                </a:solidFill>
                <a:latin typeface="Microsoft YaHei" panose="020B0503020204020204" pitchFamily="34" charset="-122"/>
              </a:rPr>
              <a:t>16</a:t>
            </a:r>
            <a:endParaRPr lang="zh-CN" altLang="en-US" sz="2400" b="1">
              <a:solidFill>
                <a:srgbClr val="D4A84B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E1919CF0-D70E-F5C5-B70A-C068C7392012}"/>
              </a:ext>
            </a:extLst>
          </p:cNvPr>
          <p:cNvSpPr txBox="1"/>
          <p:nvPr/>
        </p:nvSpPr>
        <p:spPr>
          <a:xfrm>
            <a:off x="5740400" y="5969000"/>
            <a:ext cx="1625600" cy="184666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200">
                <a:solidFill>
                  <a:srgbClr val="6B7F90"/>
                </a:solidFill>
                <a:latin typeface="Microsoft YaHei" panose="020B0503020204020204" pitchFamily="34" charset="-122"/>
              </a:rPr>
              <a:t>飞机类别数</a:t>
            </a:r>
          </a:p>
        </p:txBody>
      </p:sp>
      <p:sp>
        <p:nvSpPr>
          <p:cNvPr id="26" name="矩形: 圆角 25">
            <a:extLst>
              <a:ext uri="{FF2B5EF4-FFF2-40B4-BE49-F238E27FC236}">
                <a16:creationId xmlns:a16="http://schemas.microsoft.com/office/drawing/2014/main" id="{C37B3B98-3818-E211-CC33-F4A4081EF477}"/>
              </a:ext>
            </a:extLst>
          </p:cNvPr>
          <p:cNvSpPr/>
          <p:nvPr/>
        </p:nvSpPr>
        <p:spPr>
          <a:xfrm>
            <a:off x="7874000" y="5461000"/>
            <a:ext cx="1905000" cy="660400"/>
          </a:xfrm>
          <a:prstGeom prst="roundRect">
            <a:avLst/>
          </a:prstGeom>
          <a:solidFill>
            <a:srgbClr val="FAFCFF"/>
          </a:solidFill>
          <a:ln w="889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98B1C05F-D315-19AE-CC6E-0F50273E0AF2}"/>
              </a:ext>
            </a:extLst>
          </p:cNvPr>
          <p:cNvSpPr txBox="1"/>
          <p:nvPr/>
        </p:nvSpPr>
        <p:spPr>
          <a:xfrm>
            <a:off x="8026400" y="5562600"/>
            <a:ext cx="1625600" cy="36933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2400" b="1">
                <a:solidFill>
                  <a:srgbClr val="2F80C9"/>
                </a:solidFill>
                <a:latin typeface="Microsoft YaHei" panose="020B0503020204020204" pitchFamily="34" charset="-122"/>
              </a:rPr>
              <a:t>636</a:t>
            </a:r>
            <a:endParaRPr lang="zh-CN" altLang="en-US" sz="2400" b="1">
              <a:solidFill>
                <a:srgbClr val="2F80C9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28" name="文本框 27">
            <a:extLst>
              <a:ext uri="{FF2B5EF4-FFF2-40B4-BE49-F238E27FC236}">
                <a16:creationId xmlns:a16="http://schemas.microsoft.com/office/drawing/2014/main" id="{615FD240-2ECD-4F89-20E1-9E27FBADDFDD}"/>
              </a:ext>
            </a:extLst>
          </p:cNvPr>
          <p:cNvSpPr txBox="1"/>
          <p:nvPr/>
        </p:nvSpPr>
        <p:spPr>
          <a:xfrm>
            <a:off x="8026400" y="5969000"/>
            <a:ext cx="1625600" cy="184666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200">
                <a:solidFill>
                  <a:srgbClr val="6B7F90"/>
                </a:solidFill>
                <a:latin typeface="Microsoft YaHei" panose="020B0503020204020204" pitchFamily="34" charset="-122"/>
              </a:rPr>
              <a:t>测试图像数</a:t>
            </a:r>
          </a:p>
        </p:txBody>
      </p:sp>
    </p:spTree>
    <p:extLst>
      <p:ext uri="{BB962C8B-B14F-4D97-AF65-F5344CB8AC3E}">
        <p14:creationId xmlns:p14="http://schemas.microsoft.com/office/powerpoint/2010/main" val="254097133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CB1D58A6-BDDA-9932-6C53-03D8B25644BC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C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AD143A9-A31B-D2B5-E22C-8F61017435C4}"/>
              </a:ext>
            </a:extLst>
          </p:cNvPr>
          <p:cNvSpPr/>
          <p:nvPr/>
        </p:nvSpPr>
        <p:spPr>
          <a:xfrm>
            <a:off x="0" y="0"/>
            <a:ext cx="12192000" cy="1016000"/>
          </a:xfrm>
          <a:prstGeom prst="rect">
            <a:avLst/>
          </a:prstGeom>
          <a:solidFill>
            <a:srgbClr val="006BB7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平行四边形 3">
            <a:extLst>
              <a:ext uri="{FF2B5EF4-FFF2-40B4-BE49-F238E27FC236}">
                <a16:creationId xmlns:a16="http://schemas.microsoft.com/office/drawing/2014/main" id="{B780F205-6D6F-1982-CDCB-92D97EB747D3}"/>
              </a:ext>
            </a:extLst>
          </p:cNvPr>
          <p:cNvSpPr/>
          <p:nvPr/>
        </p:nvSpPr>
        <p:spPr>
          <a:xfrm>
            <a:off x="8953500" y="-228600"/>
            <a:ext cx="3581400" cy="1346200"/>
          </a:xfrm>
          <a:prstGeom prst="parallelogram">
            <a:avLst>
              <a:gd name="adj" fmla="val 20000"/>
            </a:avLst>
          </a:prstGeom>
          <a:solidFill>
            <a:srgbClr val="3A9BD9">
              <a:alpha val="85000"/>
            </a:srgbClr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平行四边形 4">
            <a:extLst>
              <a:ext uri="{FF2B5EF4-FFF2-40B4-BE49-F238E27FC236}">
                <a16:creationId xmlns:a16="http://schemas.microsoft.com/office/drawing/2014/main" id="{FD57C7EB-72B2-8D7E-A590-C676AC5DB307}"/>
              </a:ext>
            </a:extLst>
          </p:cNvPr>
          <p:cNvSpPr/>
          <p:nvPr/>
        </p:nvSpPr>
        <p:spPr>
          <a:xfrm>
            <a:off x="-508000" y="6324600"/>
            <a:ext cx="5969000" cy="660400"/>
          </a:xfrm>
          <a:prstGeom prst="parallelogram">
            <a:avLst>
              <a:gd name="adj" fmla="val 20000"/>
            </a:avLst>
          </a:prstGeom>
          <a:solidFill>
            <a:srgbClr val="DDF0F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9C6F9A6D-2667-64B5-DBDA-CEB07852BB36}"/>
              </a:ext>
            </a:extLst>
          </p:cNvPr>
          <p:cNvSpPr txBox="1"/>
          <p:nvPr/>
        </p:nvSpPr>
        <p:spPr>
          <a:xfrm>
            <a:off x="736600" y="254000"/>
            <a:ext cx="4953000" cy="10772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700" b="1">
                <a:solidFill>
                  <a:srgbClr val="CDEBFF"/>
                </a:solidFill>
                <a:latin typeface="Microsoft YaHei" panose="020B0503020204020204" pitchFamily="34" charset="-122"/>
              </a:rPr>
              <a:t>METRICS</a:t>
            </a:r>
            <a:endParaRPr lang="zh-CN" altLang="en-US" sz="700" b="1">
              <a:solidFill>
                <a:srgbClr val="CDEBFF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B1C45A62-9C80-1B05-9C8B-0B6E7D481D7E}"/>
              </a:ext>
            </a:extLst>
          </p:cNvPr>
          <p:cNvSpPr txBox="1"/>
          <p:nvPr/>
        </p:nvSpPr>
        <p:spPr>
          <a:xfrm>
            <a:off x="736600" y="533400"/>
            <a:ext cx="8509000" cy="41549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2700" b="1">
                <a:solidFill>
                  <a:srgbClr val="FFFFFF"/>
                </a:solidFill>
                <a:latin typeface="Microsoft YaHei" panose="020B0503020204020204" pitchFamily="34" charset="-122"/>
              </a:rPr>
              <a:t>实验四结果：主成分数与识别准确率</a:t>
            </a:r>
          </a:p>
        </p:txBody>
      </p:sp>
      <p:cxnSp>
        <p:nvCxnSpPr>
          <p:cNvPr id="8" name="直接连接符 7">
            <a:extLst>
              <a:ext uri="{FF2B5EF4-FFF2-40B4-BE49-F238E27FC236}">
                <a16:creationId xmlns:a16="http://schemas.microsoft.com/office/drawing/2014/main" id="{B88674FB-F3A4-3633-E2DD-4A0C6A2AF593}"/>
              </a:ext>
            </a:extLst>
          </p:cNvPr>
          <p:cNvCxnSpPr/>
          <p:nvPr/>
        </p:nvCxnSpPr>
        <p:spPr>
          <a:xfrm>
            <a:off x="736600" y="1295400"/>
            <a:ext cx="1168400" cy="0"/>
          </a:xfrm>
          <a:prstGeom prst="line">
            <a:avLst/>
          </a:prstGeom>
          <a:ln w="38100">
            <a:solidFill>
              <a:srgbClr val="D4A84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文本框 8">
            <a:extLst>
              <a:ext uri="{FF2B5EF4-FFF2-40B4-BE49-F238E27FC236}">
                <a16:creationId xmlns:a16="http://schemas.microsoft.com/office/drawing/2014/main" id="{2A005933-EB29-DA15-624A-8AEA307688DF}"/>
              </a:ext>
            </a:extLst>
          </p:cNvPr>
          <p:cNvSpPr txBox="1"/>
          <p:nvPr/>
        </p:nvSpPr>
        <p:spPr>
          <a:xfrm>
            <a:off x="533400" y="6527800"/>
            <a:ext cx="3937000" cy="10772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700">
                <a:solidFill>
                  <a:srgbClr val="8FA8BA"/>
                </a:solidFill>
                <a:latin typeface="Microsoft YaHei" panose="020B0503020204020204" pitchFamily="34" charset="-122"/>
              </a:rPr>
              <a:t>模式识别课程实验汇报 </a:t>
            </a:r>
            <a:r>
              <a:rPr lang="en-US" altLang="zh-CN" sz="700">
                <a:solidFill>
                  <a:srgbClr val="8FA8BA"/>
                </a:solidFill>
                <a:latin typeface="Microsoft YaHei" panose="020B0503020204020204" pitchFamily="34" charset="-122"/>
              </a:rPr>
              <a:t>· </a:t>
            </a:r>
            <a:r>
              <a:rPr lang="zh-CN" altLang="en-US" sz="700">
                <a:solidFill>
                  <a:srgbClr val="8FA8BA"/>
                </a:solidFill>
                <a:latin typeface="Microsoft YaHei" panose="020B0503020204020204" pitchFamily="34" charset="-122"/>
              </a:rPr>
              <a:t>蓝白科研汇报模板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5B2C96BB-3C48-68B8-433E-84BBD3085FE4}"/>
              </a:ext>
            </a:extLst>
          </p:cNvPr>
          <p:cNvSpPr txBox="1"/>
          <p:nvPr/>
        </p:nvSpPr>
        <p:spPr>
          <a:xfrm>
            <a:off x="11366500" y="6477000"/>
            <a:ext cx="355600" cy="10772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r"/>
            <a:r>
              <a:rPr lang="en-US" altLang="zh-CN" sz="700" b="1">
                <a:solidFill>
                  <a:srgbClr val="006BB7"/>
                </a:solidFill>
                <a:latin typeface="Microsoft YaHei" panose="020B0503020204020204" pitchFamily="34" charset="-122"/>
              </a:rPr>
              <a:t>22</a:t>
            </a:r>
            <a:endParaRPr lang="zh-CN" altLang="en-US" sz="700" b="1">
              <a:solidFill>
                <a:srgbClr val="006BB7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99568D99-464A-31E6-9189-38FA8B80D8F7}"/>
              </a:ext>
            </a:extLst>
          </p:cNvPr>
          <p:cNvSpPr/>
          <p:nvPr/>
        </p:nvSpPr>
        <p:spPr>
          <a:xfrm>
            <a:off x="825500" y="1397000"/>
            <a:ext cx="5334000" cy="381000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3" name="图片 12">
            <a:extLst>
              <a:ext uri="{FF2B5EF4-FFF2-40B4-BE49-F238E27FC236}">
                <a16:creationId xmlns:a16="http://schemas.microsoft.com/office/drawing/2014/main" id="{E3C41E5D-FC3E-75CC-2250-DC810D3C862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54046" y="1927279"/>
            <a:ext cx="4276908" cy="2749441"/>
          </a:xfrm>
          <a:prstGeom prst="rect">
            <a:avLst/>
          </a:prstGeom>
        </p:spPr>
      </p:pic>
      <p:graphicFrame>
        <p:nvGraphicFramePr>
          <p:cNvPr id="14" name="表格 13">
            <a:extLst>
              <a:ext uri="{FF2B5EF4-FFF2-40B4-BE49-F238E27FC236}">
                <a16:creationId xmlns:a16="http://schemas.microsoft.com/office/drawing/2014/main" id="{80DB2494-74E4-13FB-3CB9-F41BC08F175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56177543"/>
              </p:ext>
            </p:extLst>
          </p:nvPr>
        </p:nvGraphicFramePr>
        <p:xfrm>
          <a:off x="6667500" y="1587500"/>
          <a:ext cx="4445000" cy="2133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11250">
                  <a:extLst>
                    <a:ext uri="{9D8B030D-6E8A-4147-A177-3AD203B41FA5}">
                      <a16:colId xmlns:a16="http://schemas.microsoft.com/office/drawing/2014/main" val="125800045"/>
                    </a:ext>
                  </a:extLst>
                </a:gridCol>
                <a:gridCol w="1111250">
                  <a:extLst>
                    <a:ext uri="{9D8B030D-6E8A-4147-A177-3AD203B41FA5}">
                      <a16:colId xmlns:a16="http://schemas.microsoft.com/office/drawing/2014/main" val="1961026099"/>
                    </a:ext>
                  </a:extLst>
                </a:gridCol>
                <a:gridCol w="1111250">
                  <a:extLst>
                    <a:ext uri="{9D8B030D-6E8A-4147-A177-3AD203B41FA5}">
                      <a16:colId xmlns:a16="http://schemas.microsoft.com/office/drawing/2014/main" val="903381680"/>
                    </a:ext>
                  </a:extLst>
                </a:gridCol>
                <a:gridCol w="1111250">
                  <a:extLst>
                    <a:ext uri="{9D8B030D-6E8A-4147-A177-3AD203B41FA5}">
                      <a16:colId xmlns:a16="http://schemas.microsoft.com/office/drawing/2014/main" val="1762931285"/>
                    </a:ext>
                  </a:extLst>
                </a:gridCol>
              </a:tblGrid>
              <a:tr h="42672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100" b="1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方法</a:t>
                      </a:r>
                    </a:p>
                  </a:txBody>
                  <a:tcPr marL="38100" marR="38100" marT="25400" marB="25400" anchor="ctr">
                    <a:solidFill>
                      <a:srgbClr val="2F80C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100" b="1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主成分数</a:t>
                      </a:r>
                    </a:p>
                  </a:txBody>
                  <a:tcPr marL="38100" marR="38100" marT="25400" marB="25400" anchor="ctr">
                    <a:solidFill>
                      <a:srgbClr val="2F80C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100" b="1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训练集</a:t>
                      </a:r>
                    </a:p>
                  </a:txBody>
                  <a:tcPr marL="38100" marR="38100" marT="25400" marB="25400" anchor="ctr">
                    <a:solidFill>
                      <a:srgbClr val="2F80C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100" b="1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测试集</a:t>
                      </a:r>
                    </a:p>
                  </a:txBody>
                  <a:tcPr marL="38100" marR="38100" marT="25400" marB="25400" anchor="ctr">
                    <a:solidFill>
                      <a:srgbClr val="2F80C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67525753"/>
                  </a:ext>
                </a:extLst>
              </a:tr>
              <a:tr h="42672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PCA+</a:t>
                      </a:r>
                      <a:r>
                        <a:rPr lang="zh-CN" altLang="en-US" sz="10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质心</a:t>
                      </a:r>
                    </a:p>
                  </a:txBody>
                  <a:tcPr marL="38100" marR="38100" marT="25400" marB="254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64</a:t>
                      </a:r>
                      <a:endParaRPr lang="zh-CN" altLang="en-US" sz="1000" b="0">
                        <a:solidFill>
                          <a:srgbClr val="000000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marL="38100" marR="38100" marT="25400" marB="254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20.47%</a:t>
                      </a:r>
                      <a:endParaRPr lang="zh-CN" altLang="en-US" sz="1000" b="0">
                        <a:solidFill>
                          <a:srgbClr val="000000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marL="38100" marR="38100" marT="25400" marB="254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19.97%</a:t>
                      </a:r>
                      <a:endParaRPr lang="zh-CN" altLang="en-US" sz="1000" b="0">
                        <a:solidFill>
                          <a:srgbClr val="000000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marL="38100" marR="38100" marT="25400" marB="25400" anchor="ctr"/>
                </a:tc>
                <a:extLst>
                  <a:ext uri="{0D108BD9-81ED-4DB2-BD59-A6C34878D82A}">
                    <a16:rowId xmlns:a16="http://schemas.microsoft.com/office/drawing/2014/main" val="2422456137"/>
                  </a:ext>
                </a:extLst>
              </a:tr>
              <a:tr h="42672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PCA+1NN</a:t>
                      </a:r>
                      <a:endParaRPr lang="zh-CN" altLang="en-US" sz="1000" b="0">
                        <a:solidFill>
                          <a:srgbClr val="000000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marL="38100" marR="38100" marT="25400" marB="254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32</a:t>
                      </a:r>
                      <a:endParaRPr lang="zh-CN" altLang="en-US" sz="1000" b="0">
                        <a:solidFill>
                          <a:srgbClr val="000000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marL="38100" marR="38100" marT="25400" marB="254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100.00%</a:t>
                      </a:r>
                      <a:endParaRPr lang="zh-CN" altLang="en-US" sz="1000" b="0">
                        <a:solidFill>
                          <a:srgbClr val="000000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marL="38100" marR="38100" marT="25400" marB="254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54.09%</a:t>
                      </a:r>
                      <a:endParaRPr lang="zh-CN" altLang="en-US" sz="1000" b="0">
                        <a:solidFill>
                          <a:srgbClr val="000000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marL="38100" marR="38100" marT="25400" marB="25400" anchor="ctr"/>
                </a:tc>
                <a:extLst>
                  <a:ext uri="{0D108BD9-81ED-4DB2-BD59-A6C34878D82A}">
                    <a16:rowId xmlns:a16="http://schemas.microsoft.com/office/drawing/2014/main" val="149436913"/>
                  </a:ext>
                </a:extLst>
              </a:tr>
              <a:tr h="42672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PCA+1NN</a:t>
                      </a:r>
                      <a:endParaRPr lang="zh-CN" altLang="en-US" sz="1000" b="0">
                        <a:solidFill>
                          <a:srgbClr val="000000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marL="38100" marR="38100" marT="25400" marB="254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64</a:t>
                      </a:r>
                      <a:endParaRPr lang="zh-CN" altLang="en-US" sz="1000" b="0">
                        <a:solidFill>
                          <a:srgbClr val="000000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marL="38100" marR="38100" marT="25400" marB="254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100.00%</a:t>
                      </a:r>
                      <a:endParaRPr lang="zh-CN" altLang="en-US" sz="1000" b="0">
                        <a:solidFill>
                          <a:srgbClr val="000000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marL="38100" marR="38100" marT="25400" marB="254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53.93%</a:t>
                      </a:r>
                      <a:endParaRPr lang="zh-CN" altLang="en-US" sz="1000" b="0">
                        <a:solidFill>
                          <a:srgbClr val="000000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marL="38100" marR="38100" marT="25400" marB="25400" anchor="ctr"/>
                </a:tc>
                <a:extLst>
                  <a:ext uri="{0D108BD9-81ED-4DB2-BD59-A6C34878D82A}">
                    <a16:rowId xmlns:a16="http://schemas.microsoft.com/office/drawing/2014/main" val="3250314574"/>
                  </a:ext>
                </a:extLst>
              </a:tr>
              <a:tr h="42672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PCA+1NN</a:t>
                      </a:r>
                      <a:endParaRPr lang="zh-CN" altLang="en-US" sz="1000" b="0">
                        <a:solidFill>
                          <a:srgbClr val="000000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marL="38100" marR="38100" marT="25400" marB="254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128</a:t>
                      </a:r>
                      <a:endParaRPr lang="zh-CN" altLang="en-US" sz="1000" b="0">
                        <a:solidFill>
                          <a:srgbClr val="000000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marL="38100" marR="38100" marT="25400" marB="254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100.00%</a:t>
                      </a:r>
                      <a:endParaRPr lang="zh-CN" altLang="en-US" sz="1000" b="0">
                        <a:solidFill>
                          <a:srgbClr val="000000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marL="38100" marR="38100" marT="25400" marB="254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52.99%</a:t>
                      </a:r>
                      <a:endParaRPr lang="zh-CN" altLang="en-US" sz="1000" b="0">
                        <a:solidFill>
                          <a:srgbClr val="000000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marL="38100" marR="38100" marT="25400" marB="25400" anchor="ctr"/>
                </a:tc>
                <a:extLst>
                  <a:ext uri="{0D108BD9-81ED-4DB2-BD59-A6C34878D82A}">
                    <a16:rowId xmlns:a16="http://schemas.microsoft.com/office/drawing/2014/main" val="3210110529"/>
                  </a:ext>
                </a:extLst>
              </a:tr>
            </a:tbl>
          </a:graphicData>
        </a:graphic>
      </p:graphicFrame>
      <p:sp>
        <p:nvSpPr>
          <p:cNvPr id="15" name="文本框 14">
            <a:extLst>
              <a:ext uri="{FF2B5EF4-FFF2-40B4-BE49-F238E27FC236}">
                <a16:creationId xmlns:a16="http://schemas.microsoft.com/office/drawing/2014/main" id="{03CA4A15-266B-25D4-39D6-6DD905DA3CE0}"/>
              </a:ext>
            </a:extLst>
          </p:cNvPr>
          <p:cNvSpPr txBox="1"/>
          <p:nvPr/>
        </p:nvSpPr>
        <p:spPr>
          <a:xfrm>
            <a:off x="6794500" y="4318000"/>
            <a:ext cx="4318000" cy="915635"/>
          </a:xfrm>
          <a:prstGeom prst="rect">
            <a:avLst/>
          </a:prstGeom>
          <a:noFill/>
        </p:spPr>
        <p:txBody>
          <a:bodyPr vert="horz" lIns="101600" tIns="25400" rIns="25400" bIns="25400" rtlCol="0">
            <a:spAutoFit/>
          </a:bodyPr>
          <a:lstStyle/>
          <a:p>
            <a:pPr marL="342900" indent="-342900">
              <a:spcAft>
                <a:spcPts val="500"/>
              </a:spcAft>
              <a:buFont typeface="+mj-lt"/>
              <a:buAutoNum type="arabicPeriod"/>
            </a:pPr>
            <a:r>
              <a:rPr lang="en-US" altLang="zh-CN" sz="1300">
                <a:solidFill>
                  <a:srgbClr val="38566F"/>
                </a:solidFill>
                <a:latin typeface="Microsoft YaHei" panose="020B0503020204020204" pitchFamily="34" charset="-122"/>
              </a:rPr>
              <a:t>1NN </a:t>
            </a:r>
            <a:r>
              <a:rPr lang="zh-CN" altLang="en-US" sz="1300">
                <a:solidFill>
                  <a:srgbClr val="38566F"/>
                </a:solidFill>
                <a:latin typeface="Microsoft YaHei" panose="020B0503020204020204" pitchFamily="34" charset="-122"/>
              </a:rPr>
              <a:t>明显优于最近质心，说明飞机类别内部变化复杂</a:t>
            </a:r>
          </a:p>
          <a:p>
            <a:pPr marL="342900" indent="-342900">
              <a:spcAft>
                <a:spcPts val="500"/>
              </a:spcAft>
              <a:buFont typeface="+mj-lt"/>
              <a:buAutoNum type="arabicPeriod"/>
            </a:pPr>
            <a:r>
              <a:rPr lang="zh-CN" altLang="en-US" sz="1300">
                <a:solidFill>
                  <a:srgbClr val="38566F"/>
                </a:solidFill>
                <a:latin typeface="Microsoft YaHei" panose="020B0503020204020204" pitchFamily="34" charset="-122"/>
              </a:rPr>
              <a:t>主成分数增加到 </a:t>
            </a:r>
            <a:r>
              <a:rPr lang="en-US" altLang="zh-CN" sz="1300">
                <a:solidFill>
                  <a:srgbClr val="38566F"/>
                </a:solidFill>
                <a:latin typeface="Microsoft YaHei" panose="020B0503020204020204" pitchFamily="34" charset="-122"/>
              </a:rPr>
              <a:t>32 </a:t>
            </a:r>
            <a:r>
              <a:rPr lang="zh-CN" altLang="en-US" sz="1300">
                <a:solidFill>
                  <a:srgbClr val="38566F"/>
                </a:solidFill>
                <a:latin typeface="Microsoft YaHei" panose="020B0503020204020204" pitchFamily="34" charset="-122"/>
              </a:rPr>
              <a:t>后收益变小，后续成分可能包含背景和噪声</a:t>
            </a:r>
          </a:p>
        </p:txBody>
      </p:sp>
    </p:spTree>
    <p:extLst>
      <p:ext uri="{BB962C8B-B14F-4D97-AF65-F5344CB8AC3E}">
        <p14:creationId xmlns:p14="http://schemas.microsoft.com/office/powerpoint/2010/main" val="124283848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4D901E35-A1CE-0389-3DAE-AD08DD53D12A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C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A0D0C1FB-8A5B-ED53-03DC-38CB729CDB2F}"/>
              </a:ext>
            </a:extLst>
          </p:cNvPr>
          <p:cNvSpPr/>
          <p:nvPr/>
        </p:nvSpPr>
        <p:spPr>
          <a:xfrm>
            <a:off x="0" y="0"/>
            <a:ext cx="12192000" cy="1016000"/>
          </a:xfrm>
          <a:prstGeom prst="rect">
            <a:avLst/>
          </a:prstGeom>
          <a:solidFill>
            <a:srgbClr val="006BB7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平行四边形 3">
            <a:extLst>
              <a:ext uri="{FF2B5EF4-FFF2-40B4-BE49-F238E27FC236}">
                <a16:creationId xmlns:a16="http://schemas.microsoft.com/office/drawing/2014/main" id="{B507D0B0-79B4-BDEB-E647-60EF6E983460}"/>
              </a:ext>
            </a:extLst>
          </p:cNvPr>
          <p:cNvSpPr/>
          <p:nvPr/>
        </p:nvSpPr>
        <p:spPr>
          <a:xfrm>
            <a:off x="8953500" y="-228600"/>
            <a:ext cx="3581400" cy="1346200"/>
          </a:xfrm>
          <a:prstGeom prst="parallelogram">
            <a:avLst>
              <a:gd name="adj" fmla="val 20000"/>
            </a:avLst>
          </a:prstGeom>
          <a:solidFill>
            <a:srgbClr val="3A9BD9">
              <a:alpha val="85000"/>
            </a:srgbClr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平行四边形 4">
            <a:extLst>
              <a:ext uri="{FF2B5EF4-FFF2-40B4-BE49-F238E27FC236}">
                <a16:creationId xmlns:a16="http://schemas.microsoft.com/office/drawing/2014/main" id="{7B762CE9-79AE-0200-E641-AB19477B1735}"/>
              </a:ext>
            </a:extLst>
          </p:cNvPr>
          <p:cNvSpPr/>
          <p:nvPr/>
        </p:nvSpPr>
        <p:spPr>
          <a:xfrm>
            <a:off x="-508000" y="6324600"/>
            <a:ext cx="5969000" cy="660400"/>
          </a:xfrm>
          <a:prstGeom prst="parallelogram">
            <a:avLst>
              <a:gd name="adj" fmla="val 20000"/>
            </a:avLst>
          </a:prstGeom>
          <a:solidFill>
            <a:srgbClr val="DDF0F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C5C0B8D5-CE99-7348-BFE2-D4B2AEC762EA}"/>
              </a:ext>
            </a:extLst>
          </p:cNvPr>
          <p:cNvSpPr txBox="1"/>
          <p:nvPr/>
        </p:nvSpPr>
        <p:spPr>
          <a:xfrm>
            <a:off x="736600" y="254000"/>
            <a:ext cx="4953000" cy="10772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700" b="1">
                <a:solidFill>
                  <a:srgbClr val="CDEBFF"/>
                </a:solidFill>
                <a:latin typeface="Microsoft YaHei" panose="020B0503020204020204" pitchFamily="34" charset="-122"/>
              </a:rPr>
              <a:t>ANALYSIS</a:t>
            </a:r>
            <a:endParaRPr lang="zh-CN" altLang="en-US" sz="700" b="1">
              <a:solidFill>
                <a:srgbClr val="CDEBFF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5636D161-DE48-E71C-6A7F-5C51DBA05C38}"/>
              </a:ext>
            </a:extLst>
          </p:cNvPr>
          <p:cNvSpPr txBox="1"/>
          <p:nvPr/>
        </p:nvSpPr>
        <p:spPr>
          <a:xfrm>
            <a:off x="736600" y="533400"/>
            <a:ext cx="8509000" cy="41549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2700" b="1">
                <a:solidFill>
                  <a:srgbClr val="FFFFFF"/>
                </a:solidFill>
                <a:latin typeface="Microsoft YaHei" panose="020B0503020204020204" pitchFamily="34" charset="-122"/>
              </a:rPr>
              <a:t>实验四分析：</a:t>
            </a:r>
            <a:r>
              <a:rPr lang="en-US" altLang="zh-CN" sz="2700" b="1">
                <a:solidFill>
                  <a:srgbClr val="FFFFFF"/>
                </a:solidFill>
                <a:latin typeface="Microsoft YaHei" panose="020B0503020204020204" pitchFamily="34" charset="-122"/>
              </a:rPr>
              <a:t>PCA </a:t>
            </a:r>
            <a:r>
              <a:rPr lang="zh-CN" altLang="en-US" sz="2700" b="1">
                <a:solidFill>
                  <a:srgbClr val="FFFFFF"/>
                </a:solidFill>
                <a:latin typeface="Microsoft YaHei" panose="020B0503020204020204" pitchFamily="34" charset="-122"/>
              </a:rPr>
              <a:t>能压缩，但不是完整识别方案</a:t>
            </a:r>
          </a:p>
        </p:txBody>
      </p:sp>
      <p:cxnSp>
        <p:nvCxnSpPr>
          <p:cNvPr id="8" name="直接连接符 7">
            <a:extLst>
              <a:ext uri="{FF2B5EF4-FFF2-40B4-BE49-F238E27FC236}">
                <a16:creationId xmlns:a16="http://schemas.microsoft.com/office/drawing/2014/main" id="{4163BD28-97CE-512B-D351-B3894A2F87CF}"/>
              </a:ext>
            </a:extLst>
          </p:cNvPr>
          <p:cNvCxnSpPr/>
          <p:nvPr/>
        </p:nvCxnSpPr>
        <p:spPr>
          <a:xfrm>
            <a:off x="736600" y="1295400"/>
            <a:ext cx="1168400" cy="0"/>
          </a:xfrm>
          <a:prstGeom prst="line">
            <a:avLst/>
          </a:prstGeom>
          <a:ln w="38100">
            <a:solidFill>
              <a:srgbClr val="D4A84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文本框 8">
            <a:extLst>
              <a:ext uri="{FF2B5EF4-FFF2-40B4-BE49-F238E27FC236}">
                <a16:creationId xmlns:a16="http://schemas.microsoft.com/office/drawing/2014/main" id="{BF81070D-1D4D-5C48-E2FF-E54F4E4F26FA}"/>
              </a:ext>
            </a:extLst>
          </p:cNvPr>
          <p:cNvSpPr txBox="1"/>
          <p:nvPr/>
        </p:nvSpPr>
        <p:spPr>
          <a:xfrm>
            <a:off x="533400" y="6527800"/>
            <a:ext cx="3937000" cy="10772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700">
                <a:solidFill>
                  <a:srgbClr val="8FA8BA"/>
                </a:solidFill>
                <a:latin typeface="Microsoft YaHei" panose="020B0503020204020204" pitchFamily="34" charset="-122"/>
              </a:rPr>
              <a:t>模式识别课程实验汇报 </a:t>
            </a:r>
            <a:r>
              <a:rPr lang="en-US" altLang="zh-CN" sz="700">
                <a:solidFill>
                  <a:srgbClr val="8FA8BA"/>
                </a:solidFill>
                <a:latin typeface="Microsoft YaHei" panose="020B0503020204020204" pitchFamily="34" charset="-122"/>
              </a:rPr>
              <a:t>· </a:t>
            </a:r>
            <a:r>
              <a:rPr lang="zh-CN" altLang="en-US" sz="700">
                <a:solidFill>
                  <a:srgbClr val="8FA8BA"/>
                </a:solidFill>
                <a:latin typeface="Microsoft YaHei" panose="020B0503020204020204" pitchFamily="34" charset="-122"/>
              </a:rPr>
              <a:t>蓝白科研汇报模板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31A6F617-033C-2CC3-6C14-E8437992F7C3}"/>
              </a:ext>
            </a:extLst>
          </p:cNvPr>
          <p:cNvSpPr txBox="1"/>
          <p:nvPr/>
        </p:nvSpPr>
        <p:spPr>
          <a:xfrm>
            <a:off x="11366500" y="6477000"/>
            <a:ext cx="355600" cy="10772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r"/>
            <a:r>
              <a:rPr lang="en-US" altLang="zh-CN" sz="700" b="1">
                <a:solidFill>
                  <a:srgbClr val="006BB7"/>
                </a:solidFill>
                <a:latin typeface="Microsoft YaHei" panose="020B0503020204020204" pitchFamily="34" charset="-122"/>
              </a:rPr>
              <a:t>23</a:t>
            </a:r>
            <a:endParaRPr lang="zh-CN" altLang="en-US" sz="700" b="1">
              <a:solidFill>
                <a:srgbClr val="006BB7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602F3C16-4B61-9693-0027-9F160FD90EE7}"/>
              </a:ext>
            </a:extLst>
          </p:cNvPr>
          <p:cNvSpPr/>
          <p:nvPr/>
        </p:nvSpPr>
        <p:spPr>
          <a:xfrm>
            <a:off x="952500" y="1397000"/>
            <a:ext cx="5334000" cy="393700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3" name="图片 12">
            <a:extLst>
              <a:ext uri="{FF2B5EF4-FFF2-40B4-BE49-F238E27FC236}">
                <a16:creationId xmlns:a16="http://schemas.microsoft.com/office/drawing/2014/main" id="{56C9D677-0BEA-1C1E-8079-6448D109000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00722" y="2248418"/>
            <a:ext cx="2637555" cy="2234164"/>
          </a:xfrm>
          <a:prstGeom prst="rect">
            <a:avLst/>
          </a:prstGeom>
        </p:spPr>
      </p:pic>
      <p:sp>
        <p:nvSpPr>
          <p:cNvPr id="14" name="矩形: 圆角 13">
            <a:extLst>
              <a:ext uri="{FF2B5EF4-FFF2-40B4-BE49-F238E27FC236}">
                <a16:creationId xmlns:a16="http://schemas.microsoft.com/office/drawing/2014/main" id="{43287583-21B6-6609-C217-89665820AFEE}"/>
              </a:ext>
            </a:extLst>
          </p:cNvPr>
          <p:cNvSpPr/>
          <p:nvPr/>
        </p:nvSpPr>
        <p:spPr>
          <a:xfrm>
            <a:off x="7048500" y="1524000"/>
            <a:ext cx="3810000" cy="101600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AABE03A4-B690-9E7F-6B19-7830DB7C7A1B}"/>
              </a:ext>
            </a:extLst>
          </p:cNvPr>
          <p:cNvSpPr/>
          <p:nvPr/>
        </p:nvSpPr>
        <p:spPr>
          <a:xfrm>
            <a:off x="7048500" y="1524000"/>
            <a:ext cx="76200" cy="1016000"/>
          </a:xfrm>
          <a:prstGeom prst="rect">
            <a:avLst/>
          </a:prstGeom>
          <a:solidFill>
            <a:srgbClr val="2F80C9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26D6671D-02D7-753D-1113-0D970BD0B94D}"/>
              </a:ext>
            </a:extLst>
          </p:cNvPr>
          <p:cNvSpPr txBox="1"/>
          <p:nvPr/>
        </p:nvSpPr>
        <p:spPr>
          <a:xfrm>
            <a:off x="7239000" y="1651000"/>
            <a:ext cx="3505200" cy="215444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400" b="1">
                <a:solidFill>
                  <a:srgbClr val="0A2E4E"/>
                </a:solidFill>
                <a:latin typeface="Microsoft YaHei" panose="020B0503020204020204" pitchFamily="34" charset="-122"/>
              </a:rPr>
              <a:t>混淆原因</a:t>
            </a: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E7E91855-90E9-3236-AA67-7E716A155577}"/>
              </a:ext>
            </a:extLst>
          </p:cNvPr>
          <p:cNvSpPr txBox="1"/>
          <p:nvPr/>
        </p:nvSpPr>
        <p:spPr>
          <a:xfrm>
            <a:off x="7239000" y="2006600"/>
            <a:ext cx="3505200" cy="36933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200">
                <a:solidFill>
                  <a:srgbClr val="38566F"/>
                </a:solidFill>
                <a:latin typeface="Microsoft YaHei" panose="020B0503020204020204" pitchFamily="34" charset="-122"/>
              </a:rPr>
              <a:t>低分辨率灰度图中，部分飞机外形相近，姿态和背景也会干扰。</a:t>
            </a:r>
          </a:p>
        </p:txBody>
      </p:sp>
      <p:sp>
        <p:nvSpPr>
          <p:cNvPr id="18" name="矩形: 圆角 17">
            <a:extLst>
              <a:ext uri="{FF2B5EF4-FFF2-40B4-BE49-F238E27FC236}">
                <a16:creationId xmlns:a16="http://schemas.microsoft.com/office/drawing/2014/main" id="{60E09ED6-5D11-4F65-DEDC-9BA89F75D758}"/>
              </a:ext>
            </a:extLst>
          </p:cNvPr>
          <p:cNvSpPr/>
          <p:nvPr/>
        </p:nvSpPr>
        <p:spPr>
          <a:xfrm>
            <a:off x="7048500" y="2984500"/>
            <a:ext cx="3810000" cy="101600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83636511-1646-83ED-58BE-F1B7E7C092F7}"/>
              </a:ext>
            </a:extLst>
          </p:cNvPr>
          <p:cNvSpPr/>
          <p:nvPr/>
        </p:nvSpPr>
        <p:spPr>
          <a:xfrm>
            <a:off x="7048500" y="2984500"/>
            <a:ext cx="76200" cy="1016000"/>
          </a:xfrm>
          <a:prstGeom prst="rect">
            <a:avLst/>
          </a:prstGeom>
          <a:solidFill>
            <a:srgbClr val="0A7FC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F2258161-650E-321B-DA4E-48C3D7BDF629}"/>
              </a:ext>
            </a:extLst>
          </p:cNvPr>
          <p:cNvSpPr txBox="1"/>
          <p:nvPr/>
        </p:nvSpPr>
        <p:spPr>
          <a:xfrm>
            <a:off x="7239000" y="3111500"/>
            <a:ext cx="3505200" cy="215444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400" b="1">
                <a:solidFill>
                  <a:srgbClr val="0A2E4E"/>
                </a:solidFill>
                <a:latin typeface="Microsoft YaHei" panose="020B0503020204020204" pitchFamily="34" charset="-122"/>
              </a:rPr>
              <a:t>方法局限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6BC9FCEA-071F-6035-008F-35399CF9E172}"/>
              </a:ext>
            </a:extLst>
          </p:cNvPr>
          <p:cNvSpPr txBox="1"/>
          <p:nvPr/>
        </p:nvSpPr>
        <p:spPr>
          <a:xfrm>
            <a:off x="7239000" y="3467100"/>
            <a:ext cx="3505200" cy="36933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1200">
                <a:solidFill>
                  <a:srgbClr val="38566F"/>
                </a:solidFill>
                <a:latin typeface="Microsoft YaHei" panose="020B0503020204020204" pitchFamily="34" charset="-122"/>
              </a:rPr>
              <a:t>PCA </a:t>
            </a:r>
            <a:r>
              <a:rPr lang="zh-CN" altLang="en-US" sz="1200">
                <a:solidFill>
                  <a:srgbClr val="38566F"/>
                </a:solidFill>
                <a:latin typeface="Microsoft YaHei" panose="020B0503020204020204" pitchFamily="34" charset="-122"/>
              </a:rPr>
              <a:t>是无监督降维，优先保留总体方差，不保证保留最强判别信息。</a:t>
            </a:r>
          </a:p>
        </p:txBody>
      </p:sp>
      <p:sp>
        <p:nvSpPr>
          <p:cNvPr id="22" name="矩形: 圆角 21">
            <a:extLst>
              <a:ext uri="{FF2B5EF4-FFF2-40B4-BE49-F238E27FC236}">
                <a16:creationId xmlns:a16="http://schemas.microsoft.com/office/drawing/2014/main" id="{B12E974D-163A-1C4F-E74F-8EF0DA57C648}"/>
              </a:ext>
            </a:extLst>
          </p:cNvPr>
          <p:cNvSpPr/>
          <p:nvPr/>
        </p:nvSpPr>
        <p:spPr>
          <a:xfrm>
            <a:off x="7048500" y="4445000"/>
            <a:ext cx="3810000" cy="101600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32C97F03-0965-0DED-FC71-BD73BEF1265D}"/>
              </a:ext>
            </a:extLst>
          </p:cNvPr>
          <p:cNvSpPr/>
          <p:nvPr/>
        </p:nvSpPr>
        <p:spPr>
          <a:xfrm>
            <a:off x="7048500" y="4445000"/>
            <a:ext cx="76200" cy="1016000"/>
          </a:xfrm>
          <a:prstGeom prst="rect">
            <a:avLst/>
          </a:prstGeom>
          <a:solidFill>
            <a:srgbClr val="006BB7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2514F324-5406-8CAA-3FDB-39B99D5F7D70}"/>
              </a:ext>
            </a:extLst>
          </p:cNvPr>
          <p:cNvSpPr txBox="1"/>
          <p:nvPr/>
        </p:nvSpPr>
        <p:spPr>
          <a:xfrm>
            <a:off x="7239000" y="4572000"/>
            <a:ext cx="3505200" cy="215444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400" b="1">
                <a:solidFill>
                  <a:srgbClr val="0A2E4E"/>
                </a:solidFill>
                <a:latin typeface="Microsoft YaHei" panose="020B0503020204020204" pitchFamily="34" charset="-122"/>
              </a:rPr>
              <a:t>改进方向</a:t>
            </a:r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A6C17A51-C0E3-B9C6-370B-9986DE3A3DAF}"/>
              </a:ext>
            </a:extLst>
          </p:cNvPr>
          <p:cNvSpPr txBox="1"/>
          <p:nvPr/>
        </p:nvSpPr>
        <p:spPr>
          <a:xfrm>
            <a:off x="7239000" y="4927600"/>
            <a:ext cx="3505200" cy="36933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200">
                <a:solidFill>
                  <a:srgbClr val="38566F"/>
                </a:solidFill>
                <a:latin typeface="Microsoft YaHei" panose="020B0503020204020204" pitchFamily="34" charset="-122"/>
              </a:rPr>
              <a:t>可结合 </a:t>
            </a:r>
            <a:r>
              <a:rPr lang="en-US" altLang="zh-CN" sz="1200">
                <a:solidFill>
                  <a:srgbClr val="38566F"/>
                </a:solidFill>
                <a:latin typeface="Microsoft YaHei" panose="020B0503020204020204" pitchFamily="34" charset="-122"/>
              </a:rPr>
              <a:t>HOG/SIFT/ORB</a:t>
            </a:r>
            <a:r>
              <a:rPr lang="zh-CN" altLang="en-US" sz="1200">
                <a:solidFill>
                  <a:srgbClr val="38566F"/>
                </a:solidFill>
                <a:latin typeface="Microsoft YaHei" panose="020B0503020204020204" pitchFamily="34" charset="-122"/>
              </a:rPr>
              <a:t>、数据增强或 </a:t>
            </a:r>
            <a:r>
              <a:rPr lang="en-US" altLang="zh-CN" sz="1200">
                <a:solidFill>
                  <a:srgbClr val="38566F"/>
                </a:solidFill>
                <a:latin typeface="Microsoft YaHei" panose="020B0503020204020204" pitchFamily="34" charset="-122"/>
              </a:rPr>
              <a:t>CNN </a:t>
            </a:r>
            <a:r>
              <a:rPr lang="zh-CN" altLang="en-US" sz="1200">
                <a:solidFill>
                  <a:srgbClr val="38566F"/>
                </a:solidFill>
                <a:latin typeface="Microsoft YaHei" panose="020B0503020204020204" pitchFamily="34" charset="-122"/>
              </a:rPr>
              <a:t>提升识别性能。</a:t>
            </a:r>
          </a:p>
        </p:txBody>
      </p:sp>
    </p:spTree>
    <p:extLst>
      <p:ext uri="{BB962C8B-B14F-4D97-AF65-F5344CB8AC3E}">
        <p14:creationId xmlns:p14="http://schemas.microsoft.com/office/powerpoint/2010/main" val="374513197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C31A7E05-EE53-BE78-6747-685D3CFBE37D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4A82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平行四边形 2">
            <a:extLst>
              <a:ext uri="{FF2B5EF4-FFF2-40B4-BE49-F238E27FC236}">
                <a16:creationId xmlns:a16="http://schemas.microsoft.com/office/drawing/2014/main" id="{9B0C675D-C6DF-ED7E-C425-65D7BEA87CF7}"/>
              </a:ext>
            </a:extLst>
          </p:cNvPr>
          <p:cNvSpPr/>
          <p:nvPr/>
        </p:nvSpPr>
        <p:spPr>
          <a:xfrm>
            <a:off x="-889000" y="4826000"/>
            <a:ext cx="7302500" cy="2159000"/>
          </a:xfrm>
          <a:prstGeom prst="parallelogram">
            <a:avLst>
              <a:gd name="adj" fmla="val 18000"/>
            </a:avLst>
          </a:prstGeom>
          <a:solidFill>
            <a:srgbClr val="006BB7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平行四边形 3">
            <a:extLst>
              <a:ext uri="{FF2B5EF4-FFF2-40B4-BE49-F238E27FC236}">
                <a16:creationId xmlns:a16="http://schemas.microsoft.com/office/drawing/2014/main" id="{762CFD89-AC80-0A17-15C0-4FA2AB3AF868}"/>
              </a:ext>
            </a:extLst>
          </p:cNvPr>
          <p:cNvSpPr/>
          <p:nvPr/>
        </p:nvSpPr>
        <p:spPr>
          <a:xfrm>
            <a:off x="8128000" y="-355600"/>
            <a:ext cx="4953000" cy="2095500"/>
          </a:xfrm>
          <a:prstGeom prst="parallelogram">
            <a:avLst>
              <a:gd name="adj" fmla="val 20000"/>
            </a:avLst>
          </a:prstGeom>
          <a:solidFill>
            <a:srgbClr val="3A9BD9">
              <a:alpha val="85000"/>
            </a:srgbClr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49D05F6D-EE81-B851-9BA6-28653AEA3170}"/>
              </a:ext>
            </a:extLst>
          </p:cNvPr>
          <p:cNvSpPr txBox="1"/>
          <p:nvPr/>
        </p:nvSpPr>
        <p:spPr>
          <a:xfrm>
            <a:off x="889000" y="1168400"/>
            <a:ext cx="1651000" cy="41549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2700" b="1">
                <a:solidFill>
                  <a:srgbClr val="D4A84B"/>
                </a:solidFill>
                <a:latin typeface="Microsoft YaHei" panose="020B0503020204020204" pitchFamily="34" charset="-122"/>
              </a:rPr>
              <a:t>05</a:t>
            </a:r>
            <a:endParaRPr lang="zh-CN" altLang="en-US" sz="2700" b="1">
              <a:solidFill>
                <a:srgbClr val="D4A84B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45FBA61F-48AC-7403-8630-BFDF36DB4AFD}"/>
              </a:ext>
            </a:extLst>
          </p:cNvPr>
          <p:cNvSpPr txBox="1"/>
          <p:nvPr/>
        </p:nvSpPr>
        <p:spPr>
          <a:xfrm>
            <a:off x="889000" y="2006600"/>
            <a:ext cx="9652000" cy="600164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3900" b="1">
                <a:solidFill>
                  <a:srgbClr val="FFFFFF"/>
                </a:solidFill>
                <a:latin typeface="Microsoft YaHei" panose="020B0503020204020204" pitchFamily="34" charset="-122"/>
              </a:rPr>
              <a:t>实验五：</a:t>
            </a:r>
            <a:r>
              <a:rPr lang="en-US" altLang="zh-CN" sz="3900" b="1">
                <a:solidFill>
                  <a:srgbClr val="FFFFFF"/>
                </a:solidFill>
                <a:latin typeface="Microsoft YaHei" panose="020B0503020204020204" pitchFamily="34" charset="-122"/>
              </a:rPr>
              <a:t>C </a:t>
            </a:r>
            <a:r>
              <a:rPr lang="zh-CN" altLang="en-US" sz="3900" b="1">
                <a:solidFill>
                  <a:srgbClr val="FFFFFF"/>
                </a:solidFill>
                <a:latin typeface="Microsoft YaHei" panose="020B0503020204020204" pitchFamily="34" charset="-122"/>
              </a:rPr>
              <a:t>均值与分级聚类分析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CC5CE5EC-1552-3B4F-9353-00A27E75E117}"/>
              </a:ext>
            </a:extLst>
          </p:cNvPr>
          <p:cNvSpPr txBox="1"/>
          <p:nvPr/>
        </p:nvSpPr>
        <p:spPr>
          <a:xfrm>
            <a:off x="939800" y="2946400"/>
            <a:ext cx="8890000" cy="261610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700">
                <a:solidFill>
                  <a:srgbClr val="D9ECFF"/>
                </a:solidFill>
                <a:latin typeface="Microsoft YaHei" panose="020B0503020204020204" pitchFamily="34" charset="-122"/>
              </a:rPr>
              <a:t>不使用类别标签，观察身高体重样本的自然结构</a:t>
            </a:r>
          </a:p>
        </p:txBody>
      </p:sp>
      <p:cxnSp>
        <p:nvCxnSpPr>
          <p:cNvPr id="8" name="直接连接符 7">
            <a:extLst>
              <a:ext uri="{FF2B5EF4-FFF2-40B4-BE49-F238E27FC236}">
                <a16:creationId xmlns:a16="http://schemas.microsoft.com/office/drawing/2014/main" id="{622E65FF-E40C-85E5-AA7B-636193273241}"/>
              </a:ext>
            </a:extLst>
          </p:cNvPr>
          <p:cNvCxnSpPr/>
          <p:nvPr/>
        </p:nvCxnSpPr>
        <p:spPr>
          <a:xfrm>
            <a:off x="939800" y="3810000"/>
            <a:ext cx="2489200" cy="0"/>
          </a:xfrm>
          <a:prstGeom prst="line">
            <a:avLst/>
          </a:prstGeom>
          <a:ln w="50800">
            <a:solidFill>
              <a:srgbClr val="D4A84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11287706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64DA5799-850A-2503-BBEF-6BEAE472FC10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C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FF524CE-0F62-21D7-F133-C6C3DF243590}"/>
              </a:ext>
            </a:extLst>
          </p:cNvPr>
          <p:cNvSpPr/>
          <p:nvPr/>
        </p:nvSpPr>
        <p:spPr>
          <a:xfrm>
            <a:off x="0" y="0"/>
            <a:ext cx="12192000" cy="1016000"/>
          </a:xfrm>
          <a:prstGeom prst="rect">
            <a:avLst/>
          </a:prstGeom>
          <a:solidFill>
            <a:srgbClr val="006BB7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平行四边形 3">
            <a:extLst>
              <a:ext uri="{FF2B5EF4-FFF2-40B4-BE49-F238E27FC236}">
                <a16:creationId xmlns:a16="http://schemas.microsoft.com/office/drawing/2014/main" id="{3EEE351D-97A2-A079-6A4F-65D1FDCE18C9}"/>
              </a:ext>
            </a:extLst>
          </p:cNvPr>
          <p:cNvSpPr/>
          <p:nvPr/>
        </p:nvSpPr>
        <p:spPr>
          <a:xfrm>
            <a:off x="8953500" y="-228600"/>
            <a:ext cx="3581400" cy="1346200"/>
          </a:xfrm>
          <a:prstGeom prst="parallelogram">
            <a:avLst>
              <a:gd name="adj" fmla="val 20000"/>
            </a:avLst>
          </a:prstGeom>
          <a:solidFill>
            <a:srgbClr val="3A9BD9">
              <a:alpha val="85000"/>
            </a:srgbClr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平行四边形 4">
            <a:extLst>
              <a:ext uri="{FF2B5EF4-FFF2-40B4-BE49-F238E27FC236}">
                <a16:creationId xmlns:a16="http://schemas.microsoft.com/office/drawing/2014/main" id="{23EBAE06-BF2B-3B2A-6E0B-054CC218B3F0}"/>
              </a:ext>
            </a:extLst>
          </p:cNvPr>
          <p:cNvSpPr/>
          <p:nvPr/>
        </p:nvSpPr>
        <p:spPr>
          <a:xfrm>
            <a:off x="-508000" y="6324600"/>
            <a:ext cx="5969000" cy="660400"/>
          </a:xfrm>
          <a:prstGeom prst="parallelogram">
            <a:avLst>
              <a:gd name="adj" fmla="val 20000"/>
            </a:avLst>
          </a:prstGeom>
          <a:solidFill>
            <a:srgbClr val="DDF0F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0D535C10-2246-0B94-3B6E-E0A2B1FDC97F}"/>
              </a:ext>
            </a:extLst>
          </p:cNvPr>
          <p:cNvSpPr txBox="1"/>
          <p:nvPr/>
        </p:nvSpPr>
        <p:spPr>
          <a:xfrm>
            <a:off x="736600" y="254000"/>
            <a:ext cx="4953000" cy="10772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700" b="1">
                <a:solidFill>
                  <a:srgbClr val="CDEBFF"/>
                </a:solidFill>
                <a:latin typeface="Microsoft YaHei" panose="020B0503020204020204" pitchFamily="34" charset="-122"/>
              </a:rPr>
              <a:t>CLUSTERING</a:t>
            </a:r>
            <a:endParaRPr lang="zh-CN" altLang="en-US" sz="700" b="1">
              <a:solidFill>
                <a:srgbClr val="CDEBFF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0063B3F5-4212-FB66-894D-30831CA6CE3A}"/>
              </a:ext>
            </a:extLst>
          </p:cNvPr>
          <p:cNvSpPr txBox="1"/>
          <p:nvPr/>
        </p:nvSpPr>
        <p:spPr>
          <a:xfrm>
            <a:off x="736600" y="533400"/>
            <a:ext cx="8509000" cy="41549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2700" b="1">
                <a:solidFill>
                  <a:srgbClr val="FFFFFF"/>
                </a:solidFill>
                <a:latin typeface="Microsoft YaHei" panose="020B0503020204020204" pitchFamily="34" charset="-122"/>
              </a:rPr>
              <a:t>实验五理论：从监督分类到无监督聚类</a:t>
            </a:r>
          </a:p>
        </p:txBody>
      </p:sp>
      <p:cxnSp>
        <p:nvCxnSpPr>
          <p:cNvPr id="8" name="直接连接符 7">
            <a:extLst>
              <a:ext uri="{FF2B5EF4-FFF2-40B4-BE49-F238E27FC236}">
                <a16:creationId xmlns:a16="http://schemas.microsoft.com/office/drawing/2014/main" id="{FFE8E06F-FEFA-3B39-EE2B-FC3FEBAF8707}"/>
              </a:ext>
            </a:extLst>
          </p:cNvPr>
          <p:cNvCxnSpPr/>
          <p:nvPr/>
        </p:nvCxnSpPr>
        <p:spPr>
          <a:xfrm>
            <a:off x="736600" y="1295400"/>
            <a:ext cx="1168400" cy="0"/>
          </a:xfrm>
          <a:prstGeom prst="line">
            <a:avLst/>
          </a:prstGeom>
          <a:ln w="38100">
            <a:solidFill>
              <a:srgbClr val="D4A84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文本框 8">
            <a:extLst>
              <a:ext uri="{FF2B5EF4-FFF2-40B4-BE49-F238E27FC236}">
                <a16:creationId xmlns:a16="http://schemas.microsoft.com/office/drawing/2014/main" id="{CEF8C57E-BE80-A1E0-8D8E-09C8A81520A4}"/>
              </a:ext>
            </a:extLst>
          </p:cNvPr>
          <p:cNvSpPr txBox="1"/>
          <p:nvPr/>
        </p:nvSpPr>
        <p:spPr>
          <a:xfrm>
            <a:off x="533400" y="6527800"/>
            <a:ext cx="3937000" cy="10772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700">
                <a:solidFill>
                  <a:srgbClr val="8FA8BA"/>
                </a:solidFill>
                <a:latin typeface="Microsoft YaHei" panose="020B0503020204020204" pitchFamily="34" charset="-122"/>
              </a:rPr>
              <a:t>模式识别课程实验汇报 </a:t>
            </a:r>
            <a:r>
              <a:rPr lang="en-US" altLang="zh-CN" sz="700">
                <a:solidFill>
                  <a:srgbClr val="8FA8BA"/>
                </a:solidFill>
                <a:latin typeface="Microsoft YaHei" panose="020B0503020204020204" pitchFamily="34" charset="-122"/>
              </a:rPr>
              <a:t>· </a:t>
            </a:r>
            <a:r>
              <a:rPr lang="zh-CN" altLang="en-US" sz="700">
                <a:solidFill>
                  <a:srgbClr val="8FA8BA"/>
                </a:solidFill>
                <a:latin typeface="Microsoft YaHei" panose="020B0503020204020204" pitchFamily="34" charset="-122"/>
              </a:rPr>
              <a:t>蓝白科研汇报模板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7A88429A-7F26-5346-12DF-B79A57935FAD}"/>
              </a:ext>
            </a:extLst>
          </p:cNvPr>
          <p:cNvSpPr txBox="1"/>
          <p:nvPr/>
        </p:nvSpPr>
        <p:spPr>
          <a:xfrm>
            <a:off x="11366500" y="6477000"/>
            <a:ext cx="355600" cy="10772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r"/>
            <a:r>
              <a:rPr lang="en-US" altLang="zh-CN" sz="700" b="1">
                <a:solidFill>
                  <a:srgbClr val="006BB7"/>
                </a:solidFill>
                <a:latin typeface="Microsoft YaHei" panose="020B0503020204020204" pitchFamily="34" charset="-122"/>
              </a:rPr>
              <a:t>24</a:t>
            </a:r>
            <a:endParaRPr lang="zh-CN" altLang="en-US" sz="700" b="1">
              <a:solidFill>
                <a:srgbClr val="006BB7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F7EE1FE-5D00-9175-8DA0-328019188688}"/>
              </a:ext>
            </a:extLst>
          </p:cNvPr>
          <p:cNvSpPr/>
          <p:nvPr/>
        </p:nvSpPr>
        <p:spPr>
          <a:xfrm>
            <a:off x="889000" y="1460500"/>
            <a:ext cx="4445000" cy="114300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4ED22996-04A5-3429-C769-5CC8B1497D87}"/>
              </a:ext>
            </a:extLst>
          </p:cNvPr>
          <p:cNvSpPr/>
          <p:nvPr/>
        </p:nvSpPr>
        <p:spPr>
          <a:xfrm>
            <a:off x="889000" y="1460500"/>
            <a:ext cx="76200" cy="1143000"/>
          </a:xfrm>
          <a:prstGeom prst="rect">
            <a:avLst/>
          </a:prstGeom>
          <a:solidFill>
            <a:srgbClr val="006BB7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64ED8EA5-F2CB-768B-B8AF-4D47A31A611B}"/>
              </a:ext>
            </a:extLst>
          </p:cNvPr>
          <p:cNvSpPr txBox="1"/>
          <p:nvPr/>
        </p:nvSpPr>
        <p:spPr>
          <a:xfrm>
            <a:off x="1079500" y="1587500"/>
            <a:ext cx="4140200" cy="215444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1400" b="1">
                <a:solidFill>
                  <a:srgbClr val="0A2E4E"/>
                </a:solidFill>
                <a:latin typeface="Microsoft YaHei" panose="020B0503020204020204" pitchFamily="34" charset="-122"/>
              </a:rPr>
              <a:t>C </a:t>
            </a:r>
            <a:r>
              <a:rPr lang="zh-CN" altLang="en-US" sz="1400" b="1">
                <a:solidFill>
                  <a:srgbClr val="0A2E4E"/>
                </a:solidFill>
                <a:latin typeface="Microsoft YaHei" panose="020B0503020204020204" pitchFamily="34" charset="-122"/>
              </a:rPr>
              <a:t>均值聚类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C645CBBB-042D-04DB-D4CB-E0F3E309BE54}"/>
              </a:ext>
            </a:extLst>
          </p:cNvPr>
          <p:cNvSpPr txBox="1"/>
          <p:nvPr/>
        </p:nvSpPr>
        <p:spPr>
          <a:xfrm>
            <a:off x="1079500" y="1943100"/>
            <a:ext cx="4140200" cy="184666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200">
                <a:solidFill>
                  <a:srgbClr val="38566F"/>
                </a:solidFill>
                <a:latin typeface="Microsoft YaHei" panose="020B0503020204020204" pitchFamily="34" charset="-122"/>
              </a:rPr>
              <a:t>独立编程实现，通过样本分配和中心更新最小化类内平方误差。</a:t>
            </a:r>
          </a:p>
        </p:txBody>
      </p:sp>
      <p:sp>
        <p:nvSpPr>
          <p:cNvPr id="15" name="矩形: 圆角 14">
            <a:extLst>
              <a:ext uri="{FF2B5EF4-FFF2-40B4-BE49-F238E27FC236}">
                <a16:creationId xmlns:a16="http://schemas.microsoft.com/office/drawing/2014/main" id="{DFA2FDFA-45C9-0B3E-A533-DA5003BA0FE7}"/>
              </a:ext>
            </a:extLst>
          </p:cNvPr>
          <p:cNvSpPr/>
          <p:nvPr/>
        </p:nvSpPr>
        <p:spPr>
          <a:xfrm>
            <a:off x="6286500" y="1460500"/>
            <a:ext cx="4445000" cy="114300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1B805DB7-B73B-3B67-A4E3-E3EC6EEF8789}"/>
              </a:ext>
            </a:extLst>
          </p:cNvPr>
          <p:cNvSpPr/>
          <p:nvPr/>
        </p:nvSpPr>
        <p:spPr>
          <a:xfrm>
            <a:off x="6286500" y="1460500"/>
            <a:ext cx="76200" cy="1143000"/>
          </a:xfrm>
          <a:prstGeom prst="rect">
            <a:avLst/>
          </a:prstGeom>
          <a:solidFill>
            <a:srgbClr val="0A7FC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D2CF8E94-E06B-BFBA-CF00-7C902FCAC099}"/>
              </a:ext>
            </a:extLst>
          </p:cNvPr>
          <p:cNvSpPr txBox="1"/>
          <p:nvPr/>
        </p:nvSpPr>
        <p:spPr>
          <a:xfrm>
            <a:off x="6477000" y="1587500"/>
            <a:ext cx="4140200" cy="215444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400" b="1">
                <a:solidFill>
                  <a:srgbClr val="0A2E4E"/>
                </a:solidFill>
                <a:latin typeface="Microsoft YaHei" panose="020B0503020204020204" pitchFamily="34" charset="-122"/>
              </a:rPr>
              <a:t>分级聚类</a:t>
            </a: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6C831FF7-45C3-F456-39FB-46AE3667D14D}"/>
              </a:ext>
            </a:extLst>
          </p:cNvPr>
          <p:cNvSpPr txBox="1"/>
          <p:nvPr/>
        </p:nvSpPr>
        <p:spPr>
          <a:xfrm>
            <a:off x="6477000" y="1943100"/>
            <a:ext cx="4140200" cy="184666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200">
                <a:solidFill>
                  <a:srgbClr val="38566F"/>
                </a:solidFill>
                <a:latin typeface="Microsoft YaHei" panose="020B0503020204020204" pitchFamily="34" charset="-122"/>
              </a:rPr>
              <a:t>使用 </a:t>
            </a:r>
            <a:r>
              <a:rPr lang="en-US" altLang="zh-CN" sz="1200">
                <a:solidFill>
                  <a:srgbClr val="38566F"/>
                </a:solidFill>
                <a:latin typeface="Microsoft YaHei" panose="020B0503020204020204" pitchFamily="34" charset="-122"/>
              </a:rPr>
              <a:t>Ward </a:t>
            </a:r>
            <a:r>
              <a:rPr lang="zh-CN" altLang="en-US" sz="1200">
                <a:solidFill>
                  <a:srgbClr val="38566F"/>
                </a:solidFill>
                <a:latin typeface="Microsoft YaHei" panose="020B0503020204020204" pitchFamily="34" charset="-122"/>
              </a:rPr>
              <a:t>方法形成层次结构，用树状图观察样本合并过程。</a:t>
            </a:r>
          </a:p>
        </p:txBody>
      </p:sp>
      <p:sp>
        <p:nvSpPr>
          <p:cNvPr id="19" name="矩形: 圆角 18">
            <a:extLst>
              <a:ext uri="{FF2B5EF4-FFF2-40B4-BE49-F238E27FC236}">
                <a16:creationId xmlns:a16="http://schemas.microsoft.com/office/drawing/2014/main" id="{24E206E4-78C1-3290-6B7D-6614E561C4FB}"/>
              </a:ext>
            </a:extLst>
          </p:cNvPr>
          <p:cNvSpPr/>
          <p:nvPr/>
        </p:nvSpPr>
        <p:spPr>
          <a:xfrm>
            <a:off x="1270000" y="3276600"/>
            <a:ext cx="9652000" cy="990600"/>
          </a:xfrm>
          <a:prstGeom prst="roundRect">
            <a:avLst/>
          </a:prstGeom>
          <a:solidFill>
            <a:srgbClr val="E3F2FD"/>
          </a:solidFill>
          <a:ln w="8890">
            <a:solidFill>
              <a:srgbClr val="A7F3D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21" name="图片 20">
            <a:extLst>
              <a:ext uri="{FF2B5EF4-FFF2-40B4-BE49-F238E27FC236}">
                <a16:creationId xmlns:a16="http://schemas.microsoft.com/office/drawing/2014/main" id="{7445CED5-A2AC-4F0F-7484-D333E1FF28E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01645" y="3510272"/>
            <a:ext cx="1988710" cy="523256"/>
          </a:xfrm>
          <a:prstGeom prst="rect">
            <a:avLst/>
          </a:prstGeom>
        </p:spPr>
      </p:pic>
      <p:sp>
        <p:nvSpPr>
          <p:cNvPr id="22" name="文本框 21">
            <a:extLst>
              <a:ext uri="{FF2B5EF4-FFF2-40B4-BE49-F238E27FC236}">
                <a16:creationId xmlns:a16="http://schemas.microsoft.com/office/drawing/2014/main" id="{5BE58D94-026E-3957-81B9-1EA15914089A}"/>
              </a:ext>
            </a:extLst>
          </p:cNvPr>
          <p:cNvSpPr txBox="1"/>
          <p:nvPr/>
        </p:nvSpPr>
        <p:spPr>
          <a:xfrm>
            <a:off x="1016000" y="4826000"/>
            <a:ext cx="9652000" cy="515526"/>
          </a:xfrm>
          <a:prstGeom prst="rect">
            <a:avLst/>
          </a:prstGeom>
          <a:noFill/>
        </p:spPr>
        <p:txBody>
          <a:bodyPr vert="horz" lIns="101600" tIns="25400" rIns="25400" bIns="25400" rtlCol="0">
            <a:spAutoFit/>
          </a:bodyPr>
          <a:lstStyle/>
          <a:p>
            <a:pPr marL="342900" indent="-342900">
              <a:spcAft>
                <a:spcPts val="500"/>
              </a:spcAft>
              <a:buFont typeface="+mj-lt"/>
              <a:buAutoNum type="arabicPeriod"/>
            </a:pPr>
            <a:r>
              <a:rPr lang="zh-CN" altLang="en-US" sz="1300">
                <a:solidFill>
                  <a:srgbClr val="38566F"/>
                </a:solidFill>
                <a:latin typeface="Microsoft YaHei" panose="020B0503020204020204" pitchFamily="34" charset="-122"/>
              </a:rPr>
              <a:t>聚类不使用性别标签，评价时再与真实标签比较</a:t>
            </a:r>
          </a:p>
          <a:p>
            <a:pPr marL="342900" indent="-342900">
              <a:spcAft>
                <a:spcPts val="500"/>
              </a:spcAft>
              <a:buFont typeface="+mj-lt"/>
              <a:buAutoNum type="arabicPeriod"/>
            </a:pPr>
            <a:r>
              <a:rPr lang="zh-CN" altLang="en-US" sz="1300">
                <a:solidFill>
                  <a:srgbClr val="38566F"/>
                </a:solidFill>
                <a:latin typeface="Microsoft YaHei" panose="020B0503020204020204" pitchFamily="34" charset="-122"/>
              </a:rPr>
              <a:t>特征标准化很重要，否则体重</a:t>
            </a:r>
            <a:r>
              <a:rPr lang="en-US" altLang="zh-CN" sz="1300">
                <a:solidFill>
                  <a:srgbClr val="38566F"/>
                </a:solidFill>
                <a:latin typeface="Microsoft YaHei" panose="020B0503020204020204" pitchFamily="34" charset="-122"/>
              </a:rPr>
              <a:t>/</a:t>
            </a:r>
            <a:r>
              <a:rPr lang="zh-CN" altLang="en-US" sz="1300">
                <a:solidFill>
                  <a:srgbClr val="38566F"/>
                </a:solidFill>
                <a:latin typeface="Microsoft YaHei" panose="020B0503020204020204" pitchFamily="34" charset="-122"/>
              </a:rPr>
              <a:t>身高尺度会影响距离计算</a:t>
            </a:r>
          </a:p>
        </p:txBody>
      </p:sp>
    </p:spTree>
    <p:extLst>
      <p:ext uri="{BB962C8B-B14F-4D97-AF65-F5344CB8AC3E}">
        <p14:creationId xmlns:p14="http://schemas.microsoft.com/office/powerpoint/2010/main" val="3650343888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23585C17-6111-DE47-F3F3-0DC57B14341B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C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DC641CB-6885-14A0-8501-3D31092FC22A}"/>
              </a:ext>
            </a:extLst>
          </p:cNvPr>
          <p:cNvSpPr/>
          <p:nvPr/>
        </p:nvSpPr>
        <p:spPr>
          <a:xfrm>
            <a:off x="0" y="0"/>
            <a:ext cx="12192000" cy="1016000"/>
          </a:xfrm>
          <a:prstGeom prst="rect">
            <a:avLst/>
          </a:prstGeom>
          <a:solidFill>
            <a:srgbClr val="006BB7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平行四边形 3">
            <a:extLst>
              <a:ext uri="{FF2B5EF4-FFF2-40B4-BE49-F238E27FC236}">
                <a16:creationId xmlns:a16="http://schemas.microsoft.com/office/drawing/2014/main" id="{B8C6D3AA-570A-2B69-8511-82AB4681FEE5}"/>
              </a:ext>
            </a:extLst>
          </p:cNvPr>
          <p:cNvSpPr/>
          <p:nvPr/>
        </p:nvSpPr>
        <p:spPr>
          <a:xfrm>
            <a:off x="8953500" y="-228600"/>
            <a:ext cx="3581400" cy="1346200"/>
          </a:xfrm>
          <a:prstGeom prst="parallelogram">
            <a:avLst>
              <a:gd name="adj" fmla="val 20000"/>
            </a:avLst>
          </a:prstGeom>
          <a:solidFill>
            <a:srgbClr val="3A9BD9">
              <a:alpha val="85000"/>
            </a:srgbClr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平行四边形 4">
            <a:extLst>
              <a:ext uri="{FF2B5EF4-FFF2-40B4-BE49-F238E27FC236}">
                <a16:creationId xmlns:a16="http://schemas.microsoft.com/office/drawing/2014/main" id="{8326E713-13BC-A7B7-D450-8B6F1895FAE8}"/>
              </a:ext>
            </a:extLst>
          </p:cNvPr>
          <p:cNvSpPr/>
          <p:nvPr/>
        </p:nvSpPr>
        <p:spPr>
          <a:xfrm>
            <a:off x="-508000" y="6324600"/>
            <a:ext cx="5969000" cy="660400"/>
          </a:xfrm>
          <a:prstGeom prst="parallelogram">
            <a:avLst>
              <a:gd name="adj" fmla="val 20000"/>
            </a:avLst>
          </a:prstGeom>
          <a:solidFill>
            <a:srgbClr val="DDF0F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A70A9681-4C5C-F654-AE46-C9506469924B}"/>
              </a:ext>
            </a:extLst>
          </p:cNvPr>
          <p:cNvSpPr txBox="1"/>
          <p:nvPr/>
        </p:nvSpPr>
        <p:spPr>
          <a:xfrm>
            <a:off x="736600" y="254000"/>
            <a:ext cx="4953000" cy="10772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700" b="1">
                <a:solidFill>
                  <a:srgbClr val="CDEBFF"/>
                </a:solidFill>
                <a:latin typeface="Microsoft YaHei" panose="020B0503020204020204" pitchFamily="34" charset="-122"/>
              </a:rPr>
              <a:t>UNSUPERVISED LEARNING</a:t>
            </a:r>
            <a:endParaRPr lang="zh-CN" altLang="en-US" sz="700" b="1">
              <a:solidFill>
                <a:srgbClr val="CDEBFF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BFFAC95F-AC82-B41D-F59B-AB9FF76EE029}"/>
              </a:ext>
            </a:extLst>
          </p:cNvPr>
          <p:cNvSpPr txBox="1"/>
          <p:nvPr/>
        </p:nvSpPr>
        <p:spPr>
          <a:xfrm>
            <a:off x="736600" y="533400"/>
            <a:ext cx="8509000" cy="41549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2700" b="1">
                <a:solidFill>
                  <a:srgbClr val="FFFFFF"/>
                </a:solidFill>
                <a:latin typeface="Microsoft YaHei" panose="020B0503020204020204" pitchFamily="34" charset="-122"/>
              </a:rPr>
              <a:t>实验五理论展开：聚类如何判断样本自然结构</a:t>
            </a:r>
          </a:p>
        </p:txBody>
      </p:sp>
      <p:cxnSp>
        <p:nvCxnSpPr>
          <p:cNvPr id="8" name="直接连接符 7">
            <a:extLst>
              <a:ext uri="{FF2B5EF4-FFF2-40B4-BE49-F238E27FC236}">
                <a16:creationId xmlns:a16="http://schemas.microsoft.com/office/drawing/2014/main" id="{CD3D4BC8-FEE4-C1FF-917C-FB84F86AF63B}"/>
              </a:ext>
            </a:extLst>
          </p:cNvPr>
          <p:cNvCxnSpPr/>
          <p:nvPr/>
        </p:nvCxnSpPr>
        <p:spPr>
          <a:xfrm>
            <a:off x="736600" y="1295400"/>
            <a:ext cx="1168400" cy="0"/>
          </a:xfrm>
          <a:prstGeom prst="line">
            <a:avLst/>
          </a:prstGeom>
          <a:ln w="38100">
            <a:solidFill>
              <a:srgbClr val="D4A84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文本框 8">
            <a:extLst>
              <a:ext uri="{FF2B5EF4-FFF2-40B4-BE49-F238E27FC236}">
                <a16:creationId xmlns:a16="http://schemas.microsoft.com/office/drawing/2014/main" id="{E50B224C-CC0C-58C5-A93C-710425C0B550}"/>
              </a:ext>
            </a:extLst>
          </p:cNvPr>
          <p:cNvSpPr txBox="1"/>
          <p:nvPr/>
        </p:nvSpPr>
        <p:spPr>
          <a:xfrm>
            <a:off x="533400" y="6527800"/>
            <a:ext cx="3937000" cy="10772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700">
                <a:solidFill>
                  <a:srgbClr val="8FA8BA"/>
                </a:solidFill>
                <a:latin typeface="Microsoft YaHei" panose="020B0503020204020204" pitchFamily="34" charset="-122"/>
              </a:rPr>
              <a:t>模式识别课程实验汇报 </a:t>
            </a:r>
            <a:r>
              <a:rPr lang="en-US" altLang="zh-CN" sz="700">
                <a:solidFill>
                  <a:srgbClr val="8FA8BA"/>
                </a:solidFill>
                <a:latin typeface="Microsoft YaHei" panose="020B0503020204020204" pitchFamily="34" charset="-122"/>
              </a:rPr>
              <a:t>· </a:t>
            </a:r>
            <a:r>
              <a:rPr lang="zh-CN" altLang="en-US" sz="700">
                <a:solidFill>
                  <a:srgbClr val="8FA8BA"/>
                </a:solidFill>
                <a:latin typeface="Microsoft YaHei" panose="020B0503020204020204" pitchFamily="34" charset="-122"/>
              </a:rPr>
              <a:t>蓝白科研汇报模板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2B548E9D-0C4B-CC37-1F3F-72AE688269B5}"/>
              </a:ext>
            </a:extLst>
          </p:cNvPr>
          <p:cNvSpPr txBox="1"/>
          <p:nvPr/>
        </p:nvSpPr>
        <p:spPr>
          <a:xfrm>
            <a:off x="11366500" y="6477000"/>
            <a:ext cx="355600" cy="10772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r"/>
            <a:r>
              <a:rPr lang="en-US" altLang="zh-CN" sz="700" b="1">
                <a:solidFill>
                  <a:srgbClr val="006BB7"/>
                </a:solidFill>
                <a:latin typeface="Microsoft YaHei" panose="020B0503020204020204" pitchFamily="34" charset="-122"/>
              </a:rPr>
              <a:t>25</a:t>
            </a:r>
            <a:endParaRPr lang="zh-CN" altLang="en-US" sz="700" b="1">
              <a:solidFill>
                <a:srgbClr val="006BB7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E891DFB9-B209-C690-FE0C-C0DE001CD817}"/>
              </a:ext>
            </a:extLst>
          </p:cNvPr>
          <p:cNvSpPr/>
          <p:nvPr/>
        </p:nvSpPr>
        <p:spPr>
          <a:xfrm>
            <a:off x="736600" y="1371600"/>
            <a:ext cx="3175000" cy="134620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FCCE8CBE-7E56-2551-3ED5-0E12DAA14B99}"/>
              </a:ext>
            </a:extLst>
          </p:cNvPr>
          <p:cNvSpPr/>
          <p:nvPr/>
        </p:nvSpPr>
        <p:spPr>
          <a:xfrm>
            <a:off x="736600" y="1371600"/>
            <a:ext cx="76200" cy="1346200"/>
          </a:xfrm>
          <a:prstGeom prst="rect">
            <a:avLst/>
          </a:prstGeom>
          <a:solidFill>
            <a:srgbClr val="006BB7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A8509549-A52D-E785-1445-DD4F2C04609B}"/>
              </a:ext>
            </a:extLst>
          </p:cNvPr>
          <p:cNvSpPr txBox="1"/>
          <p:nvPr/>
        </p:nvSpPr>
        <p:spPr>
          <a:xfrm>
            <a:off x="927100" y="1498600"/>
            <a:ext cx="2870200" cy="215444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400" b="1">
                <a:solidFill>
                  <a:srgbClr val="0A2E4E"/>
                </a:solidFill>
                <a:latin typeface="Microsoft YaHei" panose="020B0503020204020204" pitchFamily="34" charset="-122"/>
              </a:rPr>
              <a:t>没有标签参与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521FF188-D3CD-C7DF-90D6-66A6B8B2A613}"/>
              </a:ext>
            </a:extLst>
          </p:cNvPr>
          <p:cNvSpPr txBox="1"/>
          <p:nvPr/>
        </p:nvSpPr>
        <p:spPr>
          <a:xfrm>
            <a:off x="927100" y="1854200"/>
            <a:ext cx="2870200" cy="36933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200">
                <a:solidFill>
                  <a:srgbClr val="38566F"/>
                </a:solidFill>
                <a:latin typeface="Microsoft YaHei" panose="020B0503020204020204" pitchFamily="34" charset="-122"/>
              </a:rPr>
              <a:t>聚类阶段不知道样本是男生还是女生，只根据身高体重距离把相似样本放到一起。</a:t>
            </a:r>
          </a:p>
        </p:txBody>
      </p:sp>
      <p:sp>
        <p:nvSpPr>
          <p:cNvPr id="15" name="矩形: 圆角 14">
            <a:extLst>
              <a:ext uri="{FF2B5EF4-FFF2-40B4-BE49-F238E27FC236}">
                <a16:creationId xmlns:a16="http://schemas.microsoft.com/office/drawing/2014/main" id="{742B15C7-7E65-3F86-743D-61D3ABC1021D}"/>
              </a:ext>
            </a:extLst>
          </p:cNvPr>
          <p:cNvSpPr/>
          <p:nvPr/>
        </p:nvSpPr>
        <p:spPr>
          <a:xfrm>
            <a:off x="4508500" y="1371600"/>
            <a:ext cx="3175000" cy="134620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0E8C7529-1EA2-E231-3945-5863F966420A}"/>
              </a:ext>
            </a:extLst>
          </p:cNvPr>
          <p:cNvSpPr/>
          <p:nvPr/>
        </p:nvSpPr>
        <p:spPr>
          <a:xfrm>
            <a:off x="4508500" y="1371600"/>
            <a:ext cx="76200" cy="1346200"/>
          </a:xfrm>
          <a:prstGeom prst="rect">
            <a:avLst/>
          </a:prstGeom>
          <a:solidFill>
            <a:srgbClr val="0A7FC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FC4978F8-2BCD-83A4-FE2E-ABF47A89C974}"/>
              </a:ext>
            </a:extLst>
          </p:cNvPr>
          <p:cNvSpPr txBox="1"/>
          <p:nvPr/>
        </p:nvSpPr>
        <p:spPr>
          <a:xfrm>
            <a:off x="4699000" y="1498600"/>
            <a:ext cx="2870200" cy="215444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1400" b="1">
                <a:solidFill>
                  <a:srgbClr val="0A2E4E"/>
                </a:solidFill>
                <a:latin typeface="Microsoft YaHei" panose="020B0503020204020204" pitchFamily="34" charset="-122"/>
              </a:rPr>
              <a:t>C </a:t>
            </a:r>
            <a:r>
              <a:rPr lang="zh-CN" altLang="en-US" sz="1400" b="1">
                <a:solidFill>
                  <a:srgbClr val="0A2E4E"/>
                </a:solidFill>
                <a:latin typeface="Microsoft YaHei" panose="020B0503020204020204" pitchFamily="34" charset="-122"/>
              </a:rPr>
              <a:t>均值思想</a:t>
            </a: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80FB39B9-7A2B-1A10-F082-B9567C705540}"/>
              </a:ext>
            </a:extLst>
          </p:cNvPr>
          <p:cNvSpPr txBox="1"/>
          <p:nvPr/>
        </p:nvSpPr>
        <p:spPr>
          <a:xfrm>
            <a:off x="4699000" y="1854200"/>
            <a:ext cx="2870200" cy="36933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200">
                <a:solidFill>
                  <a:srgbClr val="38566F"/>
                </a:solidFill>
                <a:latin typeface="Microsoft YaHei" panose="020B0503020204020204" pitchFamily="34" charset="-122"/>
              </a:rPr>
              <a:t>反复执行两步：先按最近中心分组，再用每组均值更新中心，直到中心基本不变。</a:t>
            </a:r>
          </a:p>
        </p:txBody>
      </p:sp>
      <p:sp>
        <p:nvSpPr>
          <p:cNvPr id="19" name="矩形: 圆角 18">
            <a:extLst>
              <a:ext uri="{FF2B5EF4-FFF2-40B4-BE49-F238E27FC236}">
                <a16:creationId xmlns:a16="http://schemas.microsoft.com/office/drawing/2014/main" id="{702D67AC-ED64-4223-D8A4-A1678C1CD4D0}"/>
              </a:ext>
            </a:extLst>
          </p:cNvPr>
          <p:cNvSpPr/>
          <p:nvPr/>
        </p:nvSpPr>
        <p:spPr>
          <a:xfrm>
            <a:off x="8280400" y="1371600"/>
            <a:ext cx="2921000" cy="134620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9D688886-0DCE-48B4-30C0-D935A6750B62}"/>
              </a:ext>
            </a:extLst>
          </p:cNvPr>
          <p:cNvSpPr/>
          <p:nvPr/>
        </p:nvSpPr>
        <p:spPr>
          <a:xfrm>
            <a:off x="8280400" y="1371600"/>
            <a:ext cx="76200" cy="1346200"/>
          </a:xfrm>
          <a:prstGeom prst="rect">
            <a:avLst/>
          </a:prstGeom>
          <a:solidFill>
            <a:srgbClr val="D4A84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54598635-124A-4D7D-3EC2-29583B0C0307}"/>
              </a:ext>
            </a:extLst>
          </p:cNvPr>
          <p:cNvSpPr txBox="1"/>
          <p:nvPr/>
        </p:nvSpPr>
        <p:spPr>
          <a:xfrm>
            <a:off x="8470900" y="1498600"/>
            <a:ext cx="2616200" cy="215444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400" b="1">
                <a:solidFill>
                  <a:srgbClr val="0A2E4E"/>
                </a:solidFill>
                <a:latin typeface="Microsoft YaHei" panose="020B0503020204020204" pitchFamily="34" charset="-122"/>
              </a:rPr>
              <a:t>分级聚类思想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E59AAC0C-465C-E17D-0E5F-3E41DDE5485E}"/>
              </a:ext>
            </a:extLst>
          </p:cNvPr>
          <p:cNvSpPr txBox="1"/>
          <p:nvPr/>
        </p:nvSpPr>
        <p:spPr>
          <a:xfrm>
            <a:off x="8470900" y="1854200"/>
            <a:ext cx="2616200" cy="36933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200">
                <a:solidFill>
                  <a:srgbClr val="38566F"/>
                </a:solidFill>
                <a:latin typeface="Microsoft YaHei" panose="020B0503020204020204" pitchFamily="34" charset="-122"/>
              </a:rPr>
              <a:t>从单个样本或小簇开始逐步合并，形成树状结构，可以观察样本相似性的层次。</a:t>
            </a:r>
          </a:p>
        </p:txBody>
      </p:sp>
      <p:sp>
        <p:nvSpPr>
          <p:cNvPr id="23" name="矩形: 圆角 22">
            <a:extLst>
              <a:ext uri="{FF2B5EF4-FFF2-40B4-BE49-F238E27FC236}">
                <a16:creationId xmlns:a16="http://schemas.microsoft.com/office/drawing/2014/main" id="{D3962251-06E1-7544-2AEA-8E1CF58EC407}"/>
              </a:ext>
            </a:extLst>
          </p:cNvPr>
          <p:cNvSpPr/>
          <p:nvPr/>
        </p:nvSpPr>
        <p:spPr>
          <a:xfrm>
            <a:off x="965200" y="3429000"/>
            <a:ext cx="4826000" cy="1168400"/>
          </a:xfrm>
          <a:prstGeom prst="roundRect">
            <a:avLst/>
          </a:prstGeom>
          <a:solidFill>
            <a:srgbClr val="EFF6FF"/>
          </a:solidFill>
          <a:ln w="8890">
            <a:solidFill>
              <a:srgbClr val="BFDBF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95DD2C2B-EAD6-5852-DD56-8DB39C72682C}"/>
              </a:ext>
            </a:extLst>
          </p:cNvPr>
          <p:cNvSpPr txBox="1"/>
          <p:nvPr/>
        </p:nvSpPr>
        <p:spPr>
          <a:xfrm>
            <a:off x="1270000" y="3708400"/>
            <a:ext cx="4191000" cy="246221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1600" b="1">
                <a:solidFill>
                  <a:srgbClr val="0A7FCC"/>
                </a:solidFill>
                <a:latin typeface="Microsoft YaHei" panose="020B0503020204020204" pitchFamily="34" charset="-122"/>
              </a:rPr>
              <a:t>SSE</a:t>
            </a:r>
            <a:r>
              <a:rPr lang="zh-CN" altLang="en-US" sz="1600" b="1">
                <a:solidFill>
                  <a:srgbClr val="0A7FCC"/>
                </a:solidFill>
                <a:latin typeface="Microsoft YaHei" panose="020B0503020204020204" pitchFamily="34" charset="-122"/>
              </a:rPr>
              <a:t>：簇内越紧凑，数值越小</a:t>
            </a:r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2F208B29-E7BF-820E-853E-9F2BFAF9A2E0}"/>
              </a:ext>
            </a:extLst>
          </p:cNvPr>
          <p:cNvSpPr txBox="1"/>
          <p:nvPr/>
        </p:nvSpPr>
        <p:spPr>
          <a:xfrm>
            <a:off x="1270000" y="4089400"/>
            <a:ext cx="4064000" cy="36933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200">
                <a:solidFill>
                  <a:srgbClr val="38566F"/>
                </a:solidFill>
                <a:latin typeface="Microsoft YaHei" panose="020B0503020204020204" pitchFamily="34" charset="-122"/>
              </a:rPr>
              <a:t>但 </a:t>
            </a:r>
            <a:r>
              <a:rPr lang="en-US" altLang="zh-CN" sz="1200">
                <a:solidFill>
                  <a:srgbClr val="38566F"/>
                </a:solidFill>
                <a:latin typeface="Microsoft YaHei" panose="020B0503020204020204" pitchFamily="34" charset="-122"/>
              </a:rPr>
              <a:t>C </a:t>
            </a:r>
            <a:r>
              <a:rPr lang="zh-CN" altLang="en-US" sz="1200">
                <a:solidFill>
                  <a:srgbClr val="38566F"/>
                </a:solidFill>
                <a:latin typeface="Microsoft YaHei" panose="020B0503020204020204" pitchFamily="34" charset="-122"/>
              </a:rPr>
              <a:t>越大 </a:t>
            </a:r>
            <a:r>
              <a:rPr lang="en-US" altLang="zh-CN" sz="1200">
                <a:solidFill>
                  <a:srgbClr val="38566F"/>
                </a:solidFill>
                <a:latin typeface="Microsoft YaHei" panose="020B0503020204020204" pitchFamily="34" charset="-122"/>
              </a:rPr>
              <a:t>SSE </a:t>
            </a:r>
            <a:r>
              <a:rPr lang="zh-CN" altLang="en-US" sz="1200">
                <a:solidFill>
                  <a:srgbClr val="38566F"/>
                </a:solidFill>
                <a:latin typeface="Microsoft YaHei" panose="020B0503020204020204" pitchFamily="34" charset="-122"/>
              </a:rPr>
              <a:t>通常越小，所以不能只看 </a:t>
            </a:r>
            <a:r>
              <a:rPr lang="en-US" altLang="zh-CN" sz="1200">
                <a:solidFill>
                  <a:srgbClr val="38566F"/>
                </a:solidFill>
                <a:latin typeface="Microsoft YaHei" panose="020B0503020204020204" pitchFamily="34" charset="-122"/>
              </a:rPr>
              <a:t>SSE</a:t>
            </a:r>
            <a:r>
              <a:rPr lang="zh-CN" altLang="en-US" sz="1200">
                <a:solidFill>
                  <a:srgbClr val="38566F"/>
                </a:solidFill>
                <a:latin typeface="Microsoft YaHei" panose="020B0503020204020204" pitchFamily="34" charset="-122"/>
              </a:rPr>
              <a:t>，还要结合轮廓系数。</a:t>
            </a:r>
          </a:p>
        </p:txBody>
      </p:sp>
      <p:sp>
        <p:nvSpPr>
          <p:cNvPr id="26" name="矩形: 圆角 25">
            <a:extLst>
              <a:ext uri="{FF2B5EF4-FFF2-40B4-BE49-F238E27FC236}">
                <a16:creationId xmlns:a16="http://schemas.microsoft.com/office/drawing/2014/main" id="{367B2FD8-48DC-C87C-6C64-541EF67716D0}"/>
              </a:ext>
            </a:extLst>
          </p:cNvPr>
          <p:cNvSpPr/>
          <p:nvPr/>
        </p:nvSpPr>
        <p:spPr>
          <a:xfrm>
            <a:off x="6426200" y="3429000"/>
            <a:ext cx="4826000" cy="1168400"/>
          </a:xfrm>
          <a:prstGeom prst="roundRect">
            <a:avLst/>
          </a:prstGeom>
          <a:solidFill>
            <a:srgbClr val="E3F2FD"/>
          </a:solidFill>
          <a:ln w="8890">
            <a:solidFill>
              <a:srgbClr val="A7F3D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03BC5850-62AC-3273-5AC5-C2782924484B}"/>
              </a:ext>
            </a:extLst>
          </p:cNvPr>
          <p:cNvSpPr txBox="1"/>
          <p:nvPr/>
        </p:nvSpPr>
        <p:spPr>
          <a:xfrm>
            <a:off x="6731000" y="3708400"/>
            <a:ext cx="4191000" cy="246221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600" b="1">
                <a:solidFill>
                  <a:srgbClr val="006BB7"/>
                </a:solidFill>
                <a:latin typeface="Microsoft YaHei" panose="020B0503020204020204" pitchFamily="34" charset="-122"/>
              </a:rPr>
              <a:t>轮廓系数：簇内近、簇间远更好</a:t>
            </a:r>
          </a:p>
        </p:txBody>
      </p:sp>
      <p:sp>
        <p:nvSpPr>
          <p:cNvPr id="28" name="文本框 27">
            <a:extLst>
              <a:ext uri="{FF2B5EF4-FFF2-40B4-BE49-F238E27FC236}">
                <a16:creationId xmlns:a16="http://schemas.microsoft.com/office/drawing/2014/main" id="{0D85E605-20AF-56D3-C85B-D9B1372743EF}"/>
              </a:ext>
            </a:extLst>
          </p:cNvPr>
          <p:cNvSpPr txBox="1"/>
          <p:nvPr/>
        </p:nvSpPr>
        <p:spPr>
          <a:xfrm>
            <a:off x="6731000" y="4089400"/>
            <a:ext cx="4064000" cy="36933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1200">
                <a:solidFill>
                  <a:srgbClr val="38566F"/>
                </a:solidFill>
                <a:latin typeface="Microsoft YaHei" panose="020B0503020204020204" pitchFamily="34" charset="-122"/>
              </a:rPr>
              <a:t>ARI </a:t>
            </a:r>
            <a:r>
              <a:rPr lang="zh-CN" altLang="en-US" sz="1200">
                <a:solidFill>
                  <a:srgbClr val="38566F"/>
                </a:solidFill>
                <a:latin typeface="Microsoft YaHei" panose="020B0503020204020204" pitchFamily="34" charset="-122"/>
              </a:rPr>
              <a:t>和匹配率用于把聚类结果与真实性别标签作事后比较，评价自然结构是否对应类别。</a:t>
            </a:r>
          </a:p>
        </p:txBody>
      </p:sp>
      <p:sp>
        <p:nvSpPr>
          <p:cNvPr id="29" name="文本框 28">
            <a:extLst>
              <a:ext uri="{FF2B5EF4-FFF2-40B4-BE49-F238E27FC236}">
                <a16:creationId xmlns:a16="http://schemas.microsoft.com/office/drawing/2014/main" id="{CC47CD00-2450-20A2-7C9F-EB230CAEFFF0}"/>
              </a:ext>
            </a:extLst>
          </p:cNvPr>
          <p:cNvSpPr txBox="1"/>
          <p:nvPr/>
        </p:nvSpPr>
        <p:spPr>
          <a:xfrm>
            <a:off x="1117600" y="5054600"/>
            <a:ext cx="9652000" cy="515526"/>
          </a:xfrm>
          <a:prstGeom prst="rect">
            <a:avLst/>
          </a:prstGeom>
          <a:noFill/>
        </p:spPr>
        <p:txBody>
          <a:bodyPr vert="horz" lIns="101600" tIns="25400" rIns="25400" bIns="25400" rtlCol="0">
            <a:spAutoFit/>
          </a:bodyPr>
          <a:lstStyle/>
          <a:p>
            <a:pPr marL="342900" indent="-342900">
              <a:spcAft>
                <a:spcPts val="500"/>
              </a:spcAft>
              <a:buFont typeface="+mj-lt"/>
              <a:buAutoNum type="arabicPeriod"/>
            </a:pPr>
            <a:r>
              <a:rPr lang="zh-CN" altLang="en-US" sz="1300">
                <a:solidFill>
                  <a:srgbClr val="38566F"/>
                </a:solidFill>
                <a:latin typeface="Microsoft YaHei" panose="020B0503020204020204" pitchFamily="34" charset="-122"/>
              </a:rPr>
              <a:t>本实验重点不是训练分类器，而是观察数据本身是否天然形成两团。</a:t>
            </a:r>
          </a:p>
          <a:p>
            <a:pPr marL="342900" indent="-342900">
              <a:spcAft>
                <a:spcPts val="500"/>
              </a:spcAft>
              <a:buFont typeface="+mj-lt"/>
              <a:buAutoNum type="arabicPeriod"/>
            </a:pPr>
            <a:r>
              <a:rPr lang="zh-CN" altLang="en-US" sz="1300">
                <a:solidFill>
                  <a:srgbClr val="38566F"/>
                </a:solidFill>
                <a:latin typeface="Microsoft YaHei" panose="020B0503020204020204" pitchFamily="34" charset="-122"/>
              </a:rPr>
              <a:t>如果 </a:t>
            </a:r>
            <a:r>
              <a:rPr lang="en-US" altLang="zh-CN" sz="1300">
                <a:solidFill>
                  <a:srgbClr val="38566F"/>
                </a:solidFill>
                <a:latin typeface="Microsoft YaHei" panose="020B0503020204020204" pitchFamily="34" charset="-122"/>
              </a:rPr>
              <a:t>C=2 </a:t>
            </a:r>
            <a:r>
              <a:rPr lang="zh-CN" altLang="en-US" sz="1300">
                <a:solidFill>
                  <a:srgbClr val="38566F"/>
                </a:solidFill>
                <a:latin typeface="Microsoft YaHei" panose="020B0503020204020204" pitchFamily="34" charset="-122"/>
              </a:rPr>
              <a:t>的轮廓系数较高且匹配率较好，说明性别差异确实反映在身高体重结构中。</a:t>
            </a:r>
          </a:p>
        </p:txBody>
      </p:sp>
    </p:spTree>
    <p:extLst>
      <p:ext uri="{BB962C8B-B14F-4D97-AF65-F5344CB8AC3E}">
        <p14:creationId xmlns:p14="http://schemas.microsoft.com/office/powerpoint/2010/main" val="3780728715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290AC1A8-D20D-CBDC-5A13-4A7ED6E9BD1A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C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43BE9E1C-3BB1-5C65-1038-2C8F28A1535C}"/>
              </a:ext>
            </a:extLst>
          </p:cNvPr>
          <p:cNvSpPr/>
          <p:nvPr/>
        </p:nvSpPr>
        <p:spPr>
          <a:xfrm>
            <a:off x="0" y="0"/>
            <a:ext cx="12192000" cy="1016000"/>
          </a:xfrm>
          <a:prstGeom prst="rect">
            <a:avLst/>
          </a:prstGeom>
          <a:solidFill>
            <a:srgbClr val="006BB7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平行四边形 3">
            <a:extLst>
              <a:ext uri="{FF2B5EF4-FFF2-40B4-BE49-F238E27FC236}">
                <a16:creationId xmlns:a16="http://schemas.microsoft.com/office/drawing/2014/main" id="{58679AE8-624C-BB9A-F10D-426CD831089C}"/>
              </a:ext>
            </a:extLst>
          </p:cNvPr>
          <p:cNvSpPr/>
          <p:nvPr/>
        </p:nvSpPr>
        <p:spPr>
          <a:xfrm>
            <a:off x="8953500" y="-228600"/>
            <a:ext cx="3581400" cy="1346200"/>
          </a:xfrm>
          <a:prstGeom prst="parallelogram">
            <a:avLst>
              <a:gd name="adj" fmla="val 20000"/>
            </a:avLst>
          </a:prstGeom>
          <a:solidFill>
            <a:srgbClr val="3A9BD9">
              <a:alpha val="85000"/>
            </a:srgbClr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平行四边形 4">
            <a:extLst>
              <a:ext uri="{FF2B5EF4-FFF2-40B4-BE49-F238E27FC236}">
                <a16:creationId xmlns:a16="http://schemas.microsoft.com/office/drawing/2014/main" id="{82163B08-9D4F-28F4-6FC2-AAA6B8EA3B83}"/>
              </a:ext>
            </a:extLst>
          </p:cNvPr>
          <p:cNvSpPr/>
          <p:nvPr/>
        </p:nvSpPr>
        <p:spPr>
          <a:xfrm>
            <a:off x="-508000" y="6324600"/>
            <a:ext cx="5969000" cy="660400"/>
          </a:xfrm>
          <a:prstGeom prst="parallelogram">
            <a:avLst>
              <a:gd name="adj" fmla="val 20000"/>
            </a:avLst>
          </a:prstGeom>
          <a:solidFill>
            <a:srgbClr val="DDF0F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A11AC932-2D04-1A98-FE56-619EDAB050BA}"/>
              </a:ext>
            </a:extLst>
          </p:cNvPr>
          <p:cNvSpPr txBox="1"/>
          <p:nvPr/>
        </p:nvSpPr>
        <p:spPr>
          <a:xfrm>
            <a:off x="736600" y="254000"/>
            <a:ext cx="4953000" cy="10772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700" b="1">
                <a:solidFill>
                  <a:srgbClr val="CDEBFF"/>
                </a:solidFill>
                <a:latin typeface="Microsoft YaHei" panose="020B0503020204020204" pitchFamily="34" charset="-122"/>
              </a:rPr>
              <a:t>EXPERIMENT DESIGN</a:t>
            </a:r>
            <a:endParaRPr lang="zh-CN" altLang="en-US" sz="700" b="1">
              <a:solidFill>
                <a:srgbClr val="CDEBFF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5B1D4FA7-7B40-5265-5CE5-8C982E86B1A0}"/>
              </a:ext>
            </a:extLst>
          </p:cNvPr>
          <p:cNvSpPr txBox="1"/>
          <p:nvPr/>
        </p:nvSpPr>
        <p:spPr>
          <a:xfrm>
            <a:off x="736600" y="533400"/>
            <a:ext cx="8509000" cy="41549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2700" b="1">
                <a:solidFill>
                  <a:srgbClr val="FFFFFF"/>
                </a:solidFill>
                <a:latin typeface="Microsoft YaHei" panose="020B0503020204020204" pitchFamily="34" charset="-122"/>
              </a:rPr>
              <a:t>实验五设置：两组数据与多种聚类数</a:t>
            </a:r>
          </a:p>
        </p:txBody>
      </p:sp>
      <p:cxnSp>
        <p:nvCxnSpPr>
          <p:cNvPr id="8" name="直接连接符 7">
            <a:extLst>
              <a:ext uri="{FF2B5EF4-FFF2-40B4-BE49-F238E27FC236}">
                <a16:creationId xmlns:a16="http://schemas.microsoft.com/office/drawing/2014/main" id="{031DD006-ECAC-564B-81D7-CA7F573E5657}"/>
              </a:ext>
            </a:extLst>
          </p:cNvPr>
          <p:cNvCxnSpPr/>
          <p:nvPr/>
        </p:nvCxnSpPr>
        <p:spPr>
          <a:xfrm>
            <a:off x="736600" y="1295400"/>
            <a:ext cx="1168400" cy="0"/>
          </a:xfrm>
          <a:prstGeom prst="line">
            <a:avLst/>
          </a:prstGeom>
          <a:ln w="38100">
            <a:solidFill>
              <a:srgbClr val="D4A84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文本框 8">
            <a:extLst>
              <a:ext uri="{FF2B5EF4-FFF2-40B4-BE49-F238E27FC236}">
                <a16:creationId xmlns:a16="http://schemas.microsoft.com/office/drawing/2014/main" id="{2C5EE796-3874-4506-678A-722ABBD45A6F}"/>
              </a:ext>
            </a:extLst>
          </p:cNvPr>
          <p:cNvSpPr txBox="1"/>
          <p:nvPr/>
        </p:nvSpPr>
        <p:spPr>
          <a:xfrm>
            <a:off x="533400" y="6527800"/>
            <a:ext cx="3937000" cy="10772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700">
                <a:solidFill>
                  <a:srgbClr val="8FA8BA"/>
                </a:solidFill>
                <a:latin typeface="Microsoft YaHei" panose="020B0503020204020204" pitchFamily="34" charset="-122"/>
              </a:rPr>
              <a:t>模式识别课程实验汇报 </a:t>
            </a:r>
            <a:r>
              <a:rPr lang="en-US" altLang="zh-CN" sz="700">
                <a:solidFill>
                  <a:srgbClr val="8FA8BA"/>
                </a:solidFill>
                <a:latin typeface="Microsoft YaHei" panose="020B0503020204020204" pitchFamily="34" charset="-122"/>
              </a:rPr>
              <a:t>· </a:t>
            </a:r>
            <a:r>
              <a:rPr lang="zh-CN" altLang="en-US" sz="700">
                <a:solidFill>
                  <a:srgbClr val="8FA8BA"/>
                </a:solidFill>
                <a:latin typeface="Microsoft YaHei" panose="020B0503020204020204" pitchFamily="34" charset="-122"/>
              </a:rPr>
              <a:t>蓝白科研汇报模板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A06B4CBD-F49D-900D-3BA8-8DE7286F12CE}"/>
              </a:ext>
            </a:extLst>
          </p:cNvPr>
          <p:cNvSpPr txBox="1"/>
          <p:nvPr/>
        </p:nvSpPr>
        <p:spPr>
          <a:xfrm>
            <a:off x="11366500" y="6477000"/>
            <a:ext cx="355600" cy="10772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r"/>
            <a:r>
              <a:rPr lang="en-US" altLang="zh-CN" sz="700" b="1">
                <a:solidFill>
                  <a:srgbClr val="006BB7"/>
                </a:solidFill>
                <a:latin typeface="Microsoft YaHei" panose="020B0503020204020204" pitchFamily="34" charset="-122"/>
              </a:rPr>
              <a:t>26</a:t>
            </a:r>
            <a:endParaRPr lang="zh-CN" altLang="en-US" sz="700" b="1">
              <a:solidFill>
                <a:srgbClr val="006BB7"/>
              </a:solidFill>
              <a:latin typeface="Microsoft YaHei" panose="020B0503020204020204" pitchFamily="34" charset="-122"/>
            </a:endParaRPr>
          </a:p>
        </p:txBody>
      </p:sp>
      <p:graphicFrame>
        <p:nvGraphicFramePr>
          <p:cNvPr id="11" name="表格 10">
            <a:extLst>
              <a:ext uri="{FF2B5EF4-FFF2-40B4-BE49-F238E27FC236}">
                <a16:creationId xmlns:a16="http://schemas.microsoft.com/office/drawing/2014/main" id="{7BE3BD55-360C-E45D-F840-ABD3BD9D00E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37415976"/>
              </p:ext>
            </p:extLst>
          </p:nvPr>
        </p:nvGraphicFramePr>
        <p:xfrm>
          <a:off x="889000" y="1397000"/>
          <a:ext cx="5080000" cy="2667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40000">
                  <a:extLst>
                    <a:ext uri="{9D8B030D-6E8A-4147-A177-3AD203B41FA5}">
                      <a16:colId xmlns:a16="http://schemas.microsoft.com/office/drawing/2014/main" val="830937902"/>
                    </a:ext>
                  </a:extLst>
                </a:gridCol>
                <a:gridCol w="2540000">
                  <a:extLst>
                    <a:ext uri="{9D8B030D-6E8A-4147-A177-3AD203B41FA5}">
                      <a16:colId xmlns:a16="http://schemas.microsoft.com/office/drawing/2014/main" val="3633050285"/>
                    </a:ext>
                  </a:extLst>
                </a:gridCol>
              </a:tblGrid>
              <a:tr h="44450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100" b="1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设置项</a:t>
                      </a:r>
                    </a:p>
                  </a:txBody>
                  <a:tcPr marL="38100" marR="38100" marT="25400" marB="25400" anchor="ctr">
                    <a:solidFill>
                      <a:srgbClr val="006BB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100" b="1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说明</a:t>
                      </a:r>
                    </a:p>
                  </a:txBody>
                  <a:tcPr marL="38100" marR="38100" marT="25400" marB="25400" anchor="ctr">
                    <a:solidFill>
                      <a:srgbClr val="006BB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11039693"/>
                  </a:ext>
                </a:extLst>
              </a:tr>
              <a:tr h="44450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数据一</a:t>
                      </a:r>
                    </a:p>
                  </a:txBody>
                  <a:tcPr marL="38100" marR="38100" marT="25400" marB="254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FEMALE + MALE</a:t>
                      </a:r>
                      <a:r>
                        <a:rPr lang="zh-CN" altLang="en-US" sz="10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，共 </a:t>
                      </a:r>
                      <a:r>
                        <a:rPr lang="en-US" altLang="zh-CN" sz="10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100 </a:t>
                      </a:r>
                      <a:r>
                        <a:rPr lang="zh-CN" altLang="en-US" sz="10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个训练样本</a:t>
                      </a:r>
                    </a:p>
                  </a:txBody>
                  <a:tcPr marL="38100" marR="38100" marT="25400" marB="25400" anchor="ctr"/>
                </a:tc>
                <a:extLst>
                  <a:ext uri="{0D108BD9-81ED-4DB2-BD59-A6C34878D82A}">
                    <a16:rowId xmlns:a16="http://schemas.microsoft.com/office/drawing/2014/main" val="3014218015"/>
                  </a:ext>
                </a:extLst>
              </a:tr>
              <a:tr h="44450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数据二</a:t>
                      </a:r>
                    </a:p>
                  </a:txBody>
                  <a:tcPr marL="38100" marR="38100" marT="25400" marB="254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训练集 </a:t>
                      </a:r>
                      <a:r>
                        <a:rPr lang="en-US" altLang="zh-CN" sz="10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+ test2</a:t>
                      </a:r>
                      <a:r>
                        <a:rPr lang="zh-CN" altLang="en-US" sz="10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，共 </a:t>
                      </a:r>
                      <a:r>
                        <a:rPr lang="en-US" altLang="zh-CN" sz="10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400 </a:t>
                      </a:r>
                      <a:r>
                        <a:rPr lang="zh-CN" altLang="en-US" sz="10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个样本</a:t>
                      </a:r>
                    </a:p>
                  </a:txBody>
                  <a:tcPr marL="38100" marR="38100" marT="25400" marB="25400" anchor="ctr"/>
                </a:tc>
                <a:extLst>
                  <a:ext uri="{0D108BD9-81ED-4DB2-BD59-A6C34878D82A}">
                    <a16:rowId xmlns:a16="http://schemas.microsoft.com/office/drawing/2014/main" val="2348827081"/>
                  </a:ext>
                </a:extLst>
              </a:tr>
              <a:tr h="44450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特征</a:t>
                      </a:r>
                    </a:p>
                  </a:txBody>
                  <a:tcPr marL="38100" marR="38100" marT="25400" marB="254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身高、体重，先标准化</a:t>
                      </a:r>
                    </a:p>
                  </a:txBody>
                  <a:tcPr marL="38100" marR="38100" marT="25400" marB="25400" anchor="ctr"/>
                </a:tc>
                <a:extLst>
                  <a:ext uri="{0D108BD9-81ED-4DB2-BD59-A6C34878D82A}">
                    <a16:rowId xmlns:a16="http://schemas.microsoft.com/office/drawing/2014/main" val="700232719"/>
                  </a:ext>
                </a:extLst>
              </a:tr>
              <a:tr h="44450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C </a:t>
                      </a:r>
                      <a:r>
                        <a:rPr lang="zh-CN" altLang="en-US" sz="10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均值类别数</a:t>
                      </a:r>
                    </a:p>
                  </a:txBody>
                  <a:tcPr marL="38100" marR="38100" marT="25400" marB="254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2</a:t>
                      </a:r>
                      <a:r>
                        <a:rPr lang="zh-CN" altLang="en-US" sz="10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、</a:t>
                      </a:r>
                      <a:r>
                        <a:rPr lang="en-US" altLang="zh-CN" sz="10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3</a:t>
                      </a:r>
                      <a:r>
                        <a:rPr lang="zh-CN" altLang="en-US" sz="10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、</a:t>
                      </a:r>
                      <a:r>
                        <a:rPr lang="en-US" altLang="zh-CN" sz="10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4</a:t>
                      </a:r>
                      <a:r>
                        <a:rPr lang="zh-CN" altLang="en-US" sz="10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、</a:t>
                      </a:r>
                      <a:r>
                        <a:rPr lang="en-US" altLang="zh-CN" sz="10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5</a:t>
                      </a:r>
                      <a:endParaRPr lang="zh-CN" altLang="en-US" sz="1000" b="0">
                        <a:solidFill>
                          <a:srgbClr val="000000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marL="38100" marR="38100" marT="25400" marB="25400" anchor="ctr"/>
                </a:tc>
                <a:extLst>
                  <a:ext uri="{0D108BD9-81ED-4DB2-BD59-A6C34878D82A}">
                    <a16:rowId xmlns:a16="http://schemas.microsoft.com/office/drawing/2014/main" val="3112610857"/>
                  </a:ext>
                </a:extLst>
              </a:tr>
              <a:tr h="44450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初始值</a:t>
                      </a:r>
                    </a:p>
                  </a:txBody>
                  <a:tcPr marL="38100" marR="38100" marT="25400" marB="254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多个随机种子比较稳定性</a:t>
                      </a:r>
                    </a:p>
                  </a:txBody>
                  <a:tcPr marL="38100" marR="38100" marT="25400" marB="25400" anchor="ctr"/>
                </a:tc>
                <a:extLst>
                  <a:ext uri="{0D108BD9-81ED-4DB2-BD59-A6C34878D82A}">
                    <a16:rowId xmlns:a16="http://schemas.microsoft.com/office/drawing/2014/main" val="239948864"/>
                  </a:ext>
                </a:extLst>
              </a:tr>
            </a:tbl>
          </a:graphicData>
        </a:graphic>
      </p:graphicFrame>
      <p:sp>
        <p:nvSpPr>
          <p:cNvPr id="12" name="椭圆 11">
            <a:extLst>
              <a:ext uri="{FF2B5EF4-FFF2-40B4-BE49-F238E27FC236}">
                <a16:creationId xmlns:a16="http://schemas.microsoft.com/office/drawing/2014/main" id="{DFB7F4DF-9070-ECF1-ECA7-F9A7D505CB70}"/>
              </a:ext>
            </a:extLst>
          </p:cNvPr>
          <p:cNvSpPr/>
          <p:nvPr/>
        </p:nvSpPr>
        <p:spPr>
          <a:xfrm>
            <a:off x="6921500" y="1524000"/>
            <a:ext cx="381000" cy="381000"/>
          </a:xfrm>
          <a:prstGeom prst="ellipse">
            <a:avLst/>
          </a:prstGeom>
          <a:solidFill>
            <a:srgbClr val="006BB7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C7471992-6D00-15BA-4806-FE7056020316}"/>
              </a:ext>
            </a:extLst>
          </p:cNvPr>
          <p:cNvSpPr txBox="1"/>
          <p:nvPr/>
        </p:nvSpPr>
        <p:spPr>
          <a:xfrm>
            <a:off x="6934200" y="1600200"/>
            <a:ext cx="355600" cy="184666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ctr"/>
            <a:r>
              <a:rPr lang="en-US" altLang="zh-CN" sz="1200" b="1">
                <a:solidFill>
                  <a:srgbClr val="FFFFFF"/>
                </a:solidFill>
                <a:latin typeface="Microsoft YaHei" panose="020B0503020204020204" pitchFamily="34" charset="-122"/>
              </a:rPr>
              <a:t>1</a:t>
            </a:r>
            <a:endParaRPr lang="zh-CN" altLang="en-US" sz="1200" b="1">
              <a:solidFill>
                <a:srgbClr val="FFFFFF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7B2E5196-297C-612D-4746-E3BBCEFD3E7B}"/>
              </a:ext>
            </a:extLst>
          </p:cNvPr>
          <p:cNvSpPr txBox="1"/>
          <p:nvPr/>
        </p:nvSpPr>
        <p:spPr>
          <a:xfrm>
            <a:off x="7454900" y="1485900"/>
            <a:ext cx="3556000" cy="215444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400" b="1">
                <a:solidFill>
                  <a:srgbClr val="0A2E4E"/>
                </a:solidFill>
                <a:latin typeface="Microsoft YaHei" panose="020B0503020204020204" pitchFamily="34" charset="-122"/>
              </a:rPr>
              <a:t>初始化中心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7C2D67EE-EFB9-A60C-F4A8-27A63707C5F1}"/>
              </a:ext>
            </a:extLst>
          </p:cNvPr>
          <p:cNvSpPr txBox="1"/>
          <p:nvPr/>
        </p:nvSpPr>
        <p:spPr>
          <a:xfrm>
            <a:off x="7454900" y="1803400"/>
            <a:ext cx="3619500" cy="184666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200">
                <a:solidFill>
                  <a:srgbClr val="38566F"/>
                </a:solidFill>
                <a:latin typeface="Microsoft YaHei" panose="020B0503020204020204" pitchFamily="34" charset="-122"/>
              </a:rPr>
              <a:t>随机选择 </a:t>
            </a:r>
            <a:r>
              <a:rPr lang="en-US" altLang="zh-CN" sz="1200">
                <a:solidFill>
                  <a:srgbClr val="38566F"/>
                </a:solidFill>
                <a:latin typeface="Microsoft YaHei" panose="020B0503020204020204" pitchFamily="34" charset="-122"/>
              </a:rPr>
              <a:t>C </a:t>
            </a:r>
            <a:r>
              <a:rPr lang="zh-CN" altLang="en-US" sz="1200">
                <a:solidFill>
                  <a:srgbClr val="38566F"/>
                </a:solidFill>
                <a:latin typeface="Microsoft YaHei" panose="020B0503020204020204" pitchFamily="34" charset="-122"/>
              </a:rPr>
              <a:t>个中心</a:t>
            </a:r>
          </a:p>
        </p:txBody>
      </p:sp>
      <p:sp>
        <p:nvSpPr>
          <p:cNvPr id="16" name="椭圆 15">
            <a:extLst>
              <a:ext uri="{FF2B5EF4-FFF2-40B4-BE49-F238E27FC236}">
                <a16:creationId xmlns:a16="http://schemas.microsoft.com/office/drawing/2014/main" id="{141F1BBA-FA83-1BEB-6EEB-368246116630}"/>
              </a:ext>
            </a:extLst>
          </p:cNvPr>
          <p:cNvSpPr/>
          <p:nvPr/>
        </p:nvSpPr>
        <p:spPr>
          <a:xfrm>
            <a:off x="6921500" y="2540000"/>
            <a:ext cx="381000" cy="381000"/>
          </a:xfrm>
          <a:prstGeom prst="ellipse">
            <a:avLst/>
          </a:prstGeom>
          <a:solidFill>
            <a:srgbClr val="0A7FC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0530BB50-3DF6-A9CC-C5A7-02CA4606B287}"/>
              </a:ext>
            </a:extLst>
          </p:cNvPr>
          <p:cNvSpPr txBox="1"/>
          <p:nvPr/>
        </p:nvSpPr>
        <p:spPr>
          <a:xfrm>
            <a:off x="6934200" y="2616200"/>
            <a:ext cx="355600" cy="184666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ctr"/>
            <a:r>
              <a:rPr lang="en-US" altLang="zh-CN" sz="1200" b="1">
                <a:solidFill>
                  <a:srgbClr val="FFFFFF"/>
                </a:solidFill>
                <a:latin typeface="Microsoft YaHei" panose="020B0503020204020204" pitchFamily="34" charset="-122"/>
              </a:rPr>
              <a:t>2</a:t>
            </a:r>
            <a:endParaRPr lang="zh-CN" altLang="en-US" sz="1200" b="1">
              <a:solidFill>
                <a:srgbClr val="FFFFFF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806D19B8-930D-DF75-AEE0-2BA58A5805E0}"/>
              </a:ext>
            </a:extLst>
          </p:cNvPr>
          <p:cNvSpPr txBox="1"/>
          <p:nvPr/>
        </p:nvSpPr>
        <p:spPr>
          <a:xfrm>
            <a:off x="7454900" y="2501900"/>
            <a:ext cx="3556000" cy="215444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400" b="1">
                <a:solidFill>
                  <a:srgbClr val="0A2E4E"/>
                </a:solidFill>
                <a:latin typeface="Microsoft YaHei" panose="020B0503020204020204" pitchFamily="34" charset="-122"/>
              </a:rPr>
              <a:t>样本分配</a:t>
            </a:r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4CDD6E71-781C-10D3-18AA-BD8646EBB19F}"/>
              </a:ext>
            </a:extLst>
          </p:cNvPr>
          <p:cNvSpPr txBox="1"/>
          <p:nvPr/>
        </p:nvSpPr>
        <p:spPr>
          <a:xfrm>
            <a:off x="7454900" y="2819400"/>
            <a:ext cx="3619500" cy="184666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200">
                <a:solidFill>
                  <a:srgbClr val="38566F"/>
                </a:solidFill>
                <a:latin typeface="Microsoft YaHei" panose="020B0503020204020204" pitchFamily="34" charset="-122"/>
              </a:rPr>
              <a:t>分配到最近中心</a:t>
            </a:r>
          </a:p>
        </p:txBody>
      </p:sp>
      <p:sp>
        <p:nvSpPr>
          <p:cNvPr id="20" name="椭圆 19">
            <a:extLst>
              <a:ext uri="{FF2B5EF4-FFF2-40B4-BE49-F238E27FC236}">
                <a16:creationId xmlns:a16="http://schemas.microsoft.com/office/drawing/2014/main" id="{B0769449-4A28-7E03-84C4-52525556E4CA}"/>
              </a:ext>
            </a:extLst>
          </p:cNvPr>
          <p:cNvSpPr/>
          <p:nvPr/>
        </p:nvSpPr>
        <p:spPr>
          <a:xfrm>
            <a:off x="6921500" y="3556000"/>
            <a:ext cx="381000" cy="381000"/>
          </a:xfrm>
          <a:prstGeom prst="ellipse">
            <a:avLst/>
          </a:prstGeom>
          <a:solidFill>
            <a:srgbClr val="D4A84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65F559C6-5DB9-EFBD-B2D7-B8895D82ACA7}"/>
              </a:ext>
            </a:extLst>
          </p:cNvPr>
          <p:cNvSpPr txBox="1"/>
          <p:nvPr/>
        </p:nvSpPr>
        <p:spPr>
          <a:xfrm>
            <a:off x="6934200" y="3632200"/>
            <a:ext cx="355600" cy="184666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ctr"/>
            <a:r>
              <a:rPr lang="en-US" altLang="zh-CN" sz="1200" b="1">
                <a:solidFill>
                  <a:srgbClr val="FFFFFF"/>
                </a:solidFill>
                <a:latin typeface="Microsoft YaHei" panose="020B0503020204020204" pitchFamily="34" charset="-122"/>
              </a:rPr>
              <a:t>3</a:t>
            </a:r>
            <a:endParaRPr lang="zh-CN" altLang="en-US" sz="1200" b="1">
              <a:solidFill>
                <a:srgbClr val="FFFFFF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1D536C9C-6AD9-71DF-FA3F-61F8FA64D7DB}"/>
              </a:ext>
            </a:extLst>
          </p:cNvPr>
          <p:cNvSpPr txBox="1"/>
          <p:nvPr/>
        </p:nvSpPr>
        <p:spPr>
          <a:xfrm>
            <a:off x="7454900" y="3517900"/>
            <a:ext cx="3556000" cy="215444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400" b="1">
                <a:solidFill>
                  <a:srgbClr val="0A2E4E"/>
                </a:solidFill>
                <a:latin typeface="Microsoft YaHei" panose="020B0503020204020204" pitchFamily="34" charset="-122"/>
              </a:rPr>
              <a:t>中心更新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75AEBC56-C1E6-287E-3FD8-899B4EDA9080}"/>
              </a:ext>
            </a:extLst>
          </p:cNvPr>
          <p:cNvSpPr txBox="1"/>
          <p:nvPr/>
        </p:nvSpPr>
        <p:spPr>
          <a:xfrm>
            <a:off x="7454900" y="3835400"/>
            <a:ext cx="3619500" cy="184666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200">
                <a:solidFill>
                  <a:srgbClr val="38566F"/>
                </a:solidFill>
                <a:latin typeface="Microsoft YaHei" panose="020B0503020204020204" pitchFamily="34" charset="-122"/>
              </a:rPr>
              <a:t>计算各簇均值</a:t>
            </a:r>
          </a:p>
        </p:txBody>
      </p:sp>
      <p:sp>
        <p:nvSpPr>
          <p:cNvPr id="24" name="椭圆 23">
            <a:extLst>
              <a:ext uri="{FF2B5EF4-FFF2-40B4-BE49-F238E27FC236}">
                <a16:creationId xmlns:a16="http://schemas.microsoft.com/office/drawing/2014/main" id="{01FBF20D-7BF6-FC42-DDC5-46814F2D3218}"/>
              </a:ext>
            </a:extLst>
          </p:cNvPr>
          <p:cNvSpPr/>
          <p:nvPr/>
        </p:nvSpPr>
        <p:spPr>
          <a:xfrm>
            <a:off x="6921500" y="4572000"/>
            <a:ext cx="381000" cy="381000"/>
          </a:xfrm>
          <a:prstGeom prst="ellipse">
            <a:avLst/>
          </a:prstGeom>
          <a:solidFill>
            <a:srgbClr val="2F80C9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61D9C161-194C-ACE5-0C81-D188C33BFE7B}"/>
              </a:ext>
            </a:extLst>
          </p:cNvPr>
          <p:cNvSpPr txBox="1"/>
          <p:nvPr/>
        </p:nvSpPr>
        <p:spPr>
          <a:xfrm>
            <a:off x="6934200" y="4648200"/>
            <a:ext cx="355600" cy="184666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ctr"/>
            <a:r>
              <a:rPr lang="en-US" altLang="zh-CN" sz="1200" b="1">
                <a:solidFill>
                  <a:srgbClr val="FFFFFF"/>
                </a:solidFill>
                <a:latin typeface="Microsoft YaHei" panose="020B0503020204020204" pitchFamily="34" charset="-122"/>
              </a:rPr>
              <a:t>4</a:t>
            </a:r>
            <a:endParaRPr lang="zh-CN" altLang="en-US" sz="1200" b="1">
              <a:solidFill>
                <a:srgbClr val="FFFFFF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5D320F60-DC0B-343F-9A44-6C1FA3F4DAA4}"/>
              </a:ext>
            </a:extLst>
          </p:cNvPr>
          <p:cNvSpPr txBox="1"/>
          <p:nvPr/>
        </p:nvSpPr>
        <p:spPr>
          <a:xfrm>
            <a:off x="7454900" y="4533900"/>
            <a:ext cx="3556000" cy="215444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400" b="1">
                <a:solidFill>
                  <a:srgbClr val="0A2E4E"/>
                </a:solidFill>
                <a:latin typeface="Microsoft YaHei" panose="020B0503020204020204" pitchFamily="34" charset="-122"/>
              </a:rPr>
              <a:t>指标评估</a:t>
            </a: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7338B806-B262-A5AD-340F-D7BFE3D34011}"/>
              </a:ext>
            </a:extLst>
          </p:cNvPr>
          <p:cNvSpPr txBox="1"/>
          <p:nvPr/>
        </p:nvSpPr>
        <p:spPr>
          <a:xfrm>
            <a:off x="7454900" y="4851400"/>
            <a:ext cx="3619500" cy="184666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1200">
                <a:solidFill>
                  <a:srgbClr val="38566F"/>
                </a:solidFill>
                <a:latin typeface="Microsoft YaHei" panose="020B0503020204020204" pitchFamily="34" charset="-122"/>
              </a:rPr>
              <a:t>SSE</a:t>
            </a:r>
            <a:r>
              <a:rPr lang="zh-CN" altLang="en-US" sz="1200">
                <a:solidFill>
                  <a:srgbClr val="38566F"/>
                </a:solidFill>
                <a:latin typeface="Microsoft YaHei" panose="020B0503020204020204" pitchFamily="34" charset="-122"/>
              </a:rPr>
              <a:t>、轮廓系数、</a:t>
            </a:r>
            <a:r>
              <a:rPr lang="en-US" altLang="zh-CN" sz="1200">
                <a:solidFill>
                  <a:srgbClr val="38566F"/>
                </a:solidFill>
                <a:latin typeface="Microsoft YaHei" panose="020B0503020204020204" pitchFamily="34" charset="-122"/>
              </a:rPr>
              <a:t>ARI</a:t>
            </a:r>
            <a:r>
              <a:rPr lang="zh-CN" altLang="en-US" sz="1200">
                <a:solidFill>
                  <a:srgbClr val="38566F"/>
                </a:solidFill>
                <a:latin typeface="Microsoft YaHei" panose="020B0503020204020204" pitchFamily="34" charset="-122"/>
              </a:rPr>
              <a:t>、匹配率</a:t>
            </a:r>
          </a:p>
        </p:txBody>
      </p:sp>
    </p:spTree>
    <p:extLst>
      <p:ext uri="{BB962C8B-B14F-4D97-AF65-F5344CB8AC3E}">
        <p14:creationId xmlns:p14="http://schemas.microsoft.com/office/powerpoint/2010/main" val="2230499737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E0F55336-497F-BF6B-E1E6-092E1D1D0B29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C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7420A2A-08FA-294B-C071-E03EB2C1F539}"/>
              </a:ext>
            </a:extLst>
          </p:cNvPr>
          <p:cNvSpPr/>
          <p:nvPr/>
        </p:nvSpPr>
        <p:spPr>
          <a:xfrm>
            <a:off x="0" y="0"/>
            <a:ext cx="12192000" cy="1016000"/>
          </a:xfrm>
          <a:prstGeom prst="rect">
            <a:avLst/>
          </a:prstGeom>
          <a:solidFill>
            <a:srgbClr val="006BB7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平行四边形 3">
            <a:extLst>
              <a:ext uri="{FF2B5EF4-FFF2-40B4-BE49-F238E27FC236}">
                <a16:creationId xmlns:a16="http://schemas.microsoft.com/office/drawing/2014/main" id="{958F624E-B0D4-6EB0-436B-06352E027503}"/>
              </a:ext>
            </a:extLst>
          </p:cNvPr>
          <p:cNvSpPr/>
          <p:nvPr/>
        </p:nvSpPr>
        <p:spPr>
          <a:xfrm>
            <a:off x="8953500" y="-228600"/>
            <a:ext cx="3581400" cy="1346200"/>
          </a:xfrm>
          <a:prstGeom prst="parallelogram">
            <a:avLst>
              <a:gd name="adj" fmla="val 20000"/>
            </a:avLst>
          </a:prstGeom>
          <a:solidFill>
            <a:srgbClr val="3A9BD9">
              <a:alpha val="85000"/>
            </a:srgbClr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平行四边形 4">
            <a:extLst>
              <a:ext uri="{FF2B5EF4-FFF2-40B4-BE49-F238E27FC236}">
                <a16:creationId xmlns:a16="http://schemas.microsoft.com/office/drawing/2014/main" id="{726A0849-0AD8-EB82-6B58-09043AFEEBA9}"/>
              </a:ext>
            </a:extLst>
          </p:cNvPr>
          <p:cNvSpPr/>
          <p:nvPr/>
        </p:nvSpPr>
        <p:spPr>
          <a:xfrm>
            <a:off x="-508000" y="6324600"/>
            <a:ext cx="5969000" cy="660400"/>
          </a:xfrm>
          <a:prstGeom prst="parallelogram">
            <a:avLst>
              <a:gd name="adj" fmla="val 20000"/>
            </a:avLst>
          </a:prstGeom>
          <a:solidFill>
            <a:srgbClr val="DDF0F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6744717B-9A0E-A0BB-AD3A-E82BBBE8E041}"/>
              </a:ext>
            </a:extLst>
          </p:cNvPr>
          <p:cNvSpPr txBox="1"/>
          <p:nvPr/>
        </p:nvSpPr>
        <p:spPr>
          <a:xfrm>
            <a:off x="736600" y="254000"/>
            <a:ext cx="4953000" cy="10772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700" b="1">
                <a:solidFill>
                  <a:srgbClr val="CDEBFF"/>
                </a:solidFill>
                <a:latin typeface="Microsoft YaHei" panose="020B0503020204020204" pitchFamily="34" charset="-122"/>
              </a:rPr>
              <a:t>C-MEANS RESULTS</a:t>
            </a:r>
            <a:endParaRPr lang="zh-CN" altLang="en-US" sz="700" b="1">
              <a:solidFill>
                <a:srgbClr val="CDEBFF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C6FC245E-ADCF-3DA0-19E1-7D9514268307}"/>
              </a:ext>
            </a:extLst>
          </p:cNvPr>
          <p:cNvSpPr txBox="1"/>
          <p:nvPr/>
        </p:nvSpPr>
        <p:spPr>
          <a:xfrm>
            <a:off x="736600" y="533400"/>
            <a:ext cx="8509000" cy="41549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2700" b="1">
                <a:solidFill>
                  <a:srgbClr val="FFFFFF"/>
                </a:solidFill>
                <a:latin typeface="Microsoft YaHei" panose="020B0503020204020204" pitchFamily="34" charset="-122"/>
              </a:rPr>
              <a:t>实验五结果：</a:t>
            </a:r>
            <a:r>
              <a:rPr lang="en-US" altLang="zh-CN" sz="2700" b="1">
                <a:solidFill>
                  <a:srgbClr val="FFFFFF"/>
                </a:solidFill>
                <a:latin typeface="Microsoft YaHei" panose="020B0503020204020204" pitchFamily="34" charset="-122"/>
              </a:rPr>
              <a:t>C=2 </a:t>
            </a:r>
            <a:r>
              <a:rPr lang="zh-CN" altLang="en-US" sz="2700" b="1">
                <a:solidFill>
                  <a:srgbClr val="FFFFFF"/>
                </a:solidFill>
                <a:latin typeface="Microsoft YaHei" panose="020B0503020204020204" pitchFamily="34" charset="-122"/>
              </a:rPr>
              <a:t>聚类与初始值影响</a:t>
            </a:r>
          </a:p>
        </p:txBody>
      </p:sp>
      <p:cxnSp>
        <p:nvCxnSpPr>
          <p:cNvPr id="8" name="直接连接符 7">
            <a:extLst>
              <a:ext uri="{FF2B5EF4-FFF2-40B4-BE49-F238E27FC236}">
                <a16:creationId xmlns:a16="http://schemas.microsoft.com/office/drawing/2014/main" id="{A14BA93B-1AEB-C992-4DDC-9E28931AEB23}"/>
              </a:ext>
            </a:extLst>
          </p:cNvPr>
          <p:cNvCxnSpPr/>
          <p:nvPr/>
        </p:nvCxnSpPr>
        <p:spPr>
          <a:xfrm>
            <a:off x="736600" y="1295400"/>
            <a:ext cx="1168400" cy="0"/>
          </a:xfrm>
          <a:prstGeom prst="line">
            <a:avLst/>
          </a:prstGeom>
          <a:ln w="38100">
            <a:solidFill>
              <a:srgbClr val="D4A84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文本框 8">
            <a:extLst>
              <a:ext uri="{FF2B5EF4-FFF2-40B4-BE49-F238E27FC236}">
                <a16:creationId xmlns:a16="http://schemas.microsoft.com/office/drawing/2014/main" id="{C5FA32BA-2159-3BAB-5F0F-DBA5E911065C}"/>
              </a:ext>
            </a:extLst>
          </p:cNvPr>
          <p:cNvSpPr txBox="1"/>
          <p:nvPr/>
        </p:nvSpPr>
        <p:spPr>
          <a:xfrm>
            <a:off x="533400" y="6527800"/>
            <a:ext cx="3937000" cy="10772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700">
                <a:solidFill>
                  <a:srgbClr val="8FA8BA"/>
                </a:solidFill>
                <a:latin typeface="Microsoft YaHei" panose="020B0503020204020204" pitchFamily="34" charset="-122"/>
              </a:rPr>
              <a:t>模式识别课程实验汇报 </a:t>
            </a:r>
            <a:r>
              <a:rPr lang="en-US" altLang="zh-CN" sz="700">
                <a:solidFill>
                  <a:srgbClr val="8FA8BA"/>
                </a:solidFill>
                <a:latin typeface="Microsoft YaHei" panose="020B0503020204020204" pitchFamily="34" charset="-122"/>
              </a:rPr>
              <a:t>· </a:t>
            </a:r>
            <a:r>
              <a:rPr lang="zh-CN" altLang="en-US" sz="700">
                <a:solidFill>
                  <a:srgbClr val="8FA8BA"/>
                </a:solidFill>
                <a:latin typeface="Microsoft YaHei" panose="020B0503020204020204" pitchFamily="34" charset="-122"/>
              </a:rPr>
              <a:t>蓝白科研汇报模板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5194F1D6-647E-F555-6C84-8535A769ECE4}"/>
              </a:ext>
            </a:extLst>
          </p:cNvPr>
          <p:cNvSpPr txBox="1"/>
          <p:nvPr/>
        </p:nvSpPr>
        <p:spPr>
          <a:xfrm>
            <a:off x="11366500" y="6477000"/>
            <a:ext cx="355600" cy="10772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r"/>
            <a:r>
              <a:rPr lang="en-US" altLang="zh-CN" sz="700" b="1">
                <a:solidFill>
                  <a:srgbClr val="006BB7"/>
                </a:solidFill>
                <a:latin typeface="Microsoft YaHei" panose="020B0503020204020204" pitchFamily="34" charset="-122"/>
              </a:rPr>
              <a:t>27</a:t>
            </a:r>
            <a:endParaRPr lang="zh-CN" altLang="en-US" sz="700" b="1">
              <a:solidFill>
                <a:srgbClr val="006BB7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A26EF44D-E386-B2A4-DFFB-98AC7B601637}"/>
              </a:ext>
            </a:extLst>
          </p:cNvPr>
          <p:cNvSpPr/>
          <p:nvPr/>
        </p:nvSpPr>
        <p:spPr>
          <a:xfrm>
            <a:off x="736600" y="1397000"/>
            <a:ext cx="5207000" cy="374650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3" name="图片 12">
            <a:extLst>
              <a:ext uri="{FF2B5EF4-FFF2-40B4-BE49-F238E27FC236}">
                <a16:creationId xmlns:a16="http://schemas.microsoft.com/office/drawing/2014/main" id="{7131DD1B-D8E0-F7D7-714D-DD227F37862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06219" y="1817478"/>
            <a:ext cx="4067762" cy="2905544"/>
          </a:xfrm>
          <a:prstGeom prst="rect">
            <a:avLst/>
          </a:prstGeom>
        </p:spPr>
      </p:pic>
      <p:sp>
        <p:nvSpPr>
          <p:cNvPr id="14" name="矩形: 圆角 13">
            <a:extLst>
              <a:ext uri="{FF2B5EF4-FFF2-40B4-BE49-F238E27FC236}">
                <a16:creationId xmlns:a16="http://schemas.microsoft.com/office/drawing/2014/main" id="{70D13D64-9EB5-EB8F-BF01-7A2FC319946C}"/>
              </a:ext>
            </a:extLst>
          </p:cNvPr>
          <p:cNvSpPr/>
          <p:nvPr/>
        </p:nvSpPr>
        <p:spPr>
          <a:xfrm>
            <a:off x="6248400" y="1397000"/>
            <a:ext cx="5207000" cy="374650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6" name="图片 15">
            <a:extLst>
              <a:ext uri="{FF2B5EF4-FFF2-40B4-BE49-F238E27FC236}">
                <a16:creationId xmlns:a16="http://schemas.microsoft.com/office/drawing/2014/main" id="{DFB862E7-C4D2-09EB-4E0D-57154F7C339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15995" y="1961454"/>
            <a:ext cx="4071811" cy="2617593"/>
          </a:xfrm>
          <a:prstGeom prst="rect">
            <a:avLst/>
          </a:prstGeom>
        </p:spPr>
      </p:pic>
      <p:sp>
        <p:nvSpPr>
          <p:cNvPr id="17" name="矩形: 圆角 16">
            <a:extLst>
              <a:ext uri="{FF2B5EF4-FFF2-40B4-BE49-F238E27FC236}">
                <a16:creationId xmlns:a16="http://schemas.microsoft.com/office/drawing/2014/main" id="{CE5A9145-66D1-673C-7B25-BC0A9C4699C1}"/>
              </a:ext>
            </a:extLst>
          </p:cNvPr>
          <p:cNvSpPr/>
          <p:nvPr/>
        </p:nvSpPr>
        <p:spPr>
          <a:xfrm>
            <a:off x="1016000" y="5435600"/>
            <a:ext cx="1905000" cy="660400"/>
          </a:xfrm>
          <a:prstGeom prst="roundRect">
            <a:avLst/>
          </a:prstGeom>
          <a:solidFill>
            <a:srgbClr val="FAFCFF"/>
          </a:solidFill>
          <a:ln w="889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63EBFF1E-BE31-BF4A-8D31-8254DE6A26CD}"/>
              </a:ext>
            </a:extLst>
          </p:cNvPr>
          <p:cNvSpPr txBox="1"/>
          <p:nvPr/>
        </p:nvSpPr>
        <p:spPr>
          <a:xfrm>
            <a:off x="1168400" y="5537200"/>
            <a:ext cx="1625600" cy="36933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2400" b="1">
                <a:solidFill>
                  <a:srgbClr val="006BB7"/>
                </a:solidFill>
                <a:latin typeface="Microsoft YaHei" panose="020B0503020204020204" pitchFamily="34" charset="-122"/>
              </a:rPr>
              <a:t>85.00%</a:t>
            </a:r>
            <a:endParaRPr lang="zh-CN" altLang="en-US" sz="2400" b="1">
              <a:solidFill>
                <a:srgbClr val="006BB7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E08FB48C-786C-CB10-4EDB-2C67597E3077}"/>
              </a:ext>
            </a:extLst>
          </p:cNvPr>
          <p:cNvSpPr txBox="1"/>
          <p:nvPr/>
        </p:nvSpPr>
        <p:spPr>
          <a:xfrm>
            <a:off x="1168400" y="5943600"/>
            <a:ext cx="1625600" cy="184666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200">
                <a:solidFill>
                  <a:srgbClr val="6B7F90"/>
                </a:solidFill>
                <a:latin typeface="Microsoft YaHei" panose="020B0503020204020204" pitchFamily="34" charset="-122"/>
              </a:rPr>
              <a:t>训练集 </a:t>
            </a:r>
            <a:r>
              <a:rPr lang="en-US" altLang="zh-CN" sz="1200">
                <a:solidFill>
                  <a:srgbClr val="6B7F90"/>
                </a:solidFill>
                <a:latin typeface="Microsoft YaHei" panose="020B0503020204020204" pitchFamily="34" charset="-122"/>
              </a:rPr>
              <a:t>C=2 </a:t>
            </a:r>
            <a:r>
              <a:rPr lang="zh-CN" altLang="en-US" sz="1200">
                <a:solidFill>
                  <a:srgbClr val="6B7F90"/>
                </a:solidFill>
                <a:latin typeface="Microsoft YaHei" panose="020B0503020204020204" pitchFamily="34" charset="-122"/>
              </a:rPr>
              <a:t>匹配率</a:t>
            </a:r>
          </a:p>
        </p:txBody>
      </p:sp>
      <p:sp>
        <p:nvSpPr>
          <p:cNvPr id="20" name="矩形: 圆角 19">
            <a:extLst>
              <a:ext uri="{FF2B5EF4-FFF2-40B4-BE49-F238E27FC236}">
                <a16:creationId xmlns:a16="http://schemas.microsoft.com/office/drawing/2014/main" id="{58CAC860-FB40-2FBE-B5DC-B653FCF907C6}"/>
              </a:ext>
            </a:extLst>
          </p:cNvPr>
          <p:cNvSpPr/>
          <p:nvPr/>
        </p:nvSpPr>
        <p:spPr>
          <a:xfrm>
            <a:off x="3302000" y="5435600"/>
            <a:ext cx="1905000" cy="660400"/>
          </a:xfrm>
          <a:prstGeom prst="roundRect">
            <a:avLst/>
          </a:prstGeom>
          <a:solidFill>
            <a:srgbClr val="FAFCFF"/>
          </a:solidFill>
          <a:ln w="889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E3CD1A75-05A9-D16F-8C6C-E586AB2FE7AC}"/>
              </a:ext>
            </a:extLst>
          </p:cNvPr>
          <p:cNvSpPr txBox="1"/>
          <p:nvPr/>
        </p:nvSpPr>
        <p:spPr>
          <a:xfrm>
            <a:off x="3454400" y="5537200"/>
            <a:ext cx="1625600" cy="36933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2400" b="1">
                <a:solidFill>
                  <a:srgbClr val="0A7FCC"/>
                </a:solidFill>
                <a:latin typeface="Microsoft YaHei" panose="020B0503020204020204" pitchFamily="34" charset="-122"/>
              </a:rPr>
              <a:t>85-87%</a:t>
            </a:r>
            <a:endParaRPr lang="zh-CN" altLang="en-US" sz="2400" b="1">
              <a:solidFill>
                <a:srgbClr val="0A7FCC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0BE376B5-6031-A38F-8DB1-29DA7DDD340B}"/>
              </a:ext>
            </a:extLst>
          </p:cNvPr>
          <p:cNvSpPr txBox="1"/>
          <p:nvPr/>
        </p:nvSpPr>
        <p:spPr>
          <a:xfrm>
            <a:off x="3454400" y="5943600"/>
            <a:ext cx="1625600" cy="184666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200">
                <a:solidFill>
                  <a:srgbClr val="6B7F90"/>
                </a:solidFill>
                <a:latin typeface="Microsoft YaHei" panose="020B0503020204020204" pitchFamily="34" charset="-122"/>
              </a:rPr>
              <a:t>不同初始值波动</a:t>
            </a:r>
          </a:p>
        </p:txBody>
      </p:sp>
      <p:sp>
        <p:nvSpPr>
          <p:cNvPr id="23" name="矩形: 圆角 22">
            <a:extLst>
              <a:ext uri="{FF2B5EF4-FFF2-40B4-BE49-F238E27FC236}">
                <a16:creationId xmlns:a16="http://schemas.microsoft.com/office/drawing/2014/main" id="{9146A186-0296-7771-0ED0-5CF1532ADF2B}"/>
              </a:ext>
            </a:extLst>
          </p:cNvPr>
          <p:cNvSpPr/>
          <p:nvPr/>
        </p:nvSpPr>
        <p:spPr>
          <a:xfrm>
            <a:off x="5588000" y="5435600"/>
            <a:ext cx="1905000" cy="660400"/>
          </a:xfrm>
          <a:prstGeom prst="roundRect">
            <a:avLst/>
          </a:prstGeom>
          <a:solidFill>
            <a:srgbClr val="FAFCFF"/>
          </a:solidFill>
          <a:ln w="889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287D026F-A34B-D92D-E761-6EFC84CED3E9}"/>
              </a:ext>
            </a:extLst>
          </p:cNvPr>
          <p:cNvSpPr txBox="1"/>
          <p:nvPr/>
        </p:nvSpPr>
        <p:spPr>
          <a:xfrm>
            <a:off x="5740400" y="5537200"/>
            <a:ext cx="1625600" cy="36933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2400" b="1">
                <a:solidFill>
                  <a:srgbClr val="D4A84B"/>
                </a:solidFill>
                <a:latin typeface="Microsoft YaHei" panose="020B0503020204020204" pitchFamily="34" charset="-122"/>
              </a:rPr>
              <a:t>0.5108</a:t>
            </a:r>
            <a:endParaRPr lang="zh-CN" altLang="en-US" sz="2400" b="1">
              <a:solidFill>
                <a:srgbClr val="D4A84B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DD5B46C6-FCB0-B8FB-A45D-6771FFD966D8}"/>
              </a:ext>
            </a:extLst>
          </p:cNvPr>
          <p:cNvSpPr txBox="1"/>
          <p:nvPr/>
        </p:nvSpPr>
        <p:spPr>
          <a:xfrm>
            <a:off x="5740400" y="5943600"/>
            <a:ext cx="1625600" cy="184666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200">
                <a:solidFill>
                  <a:srgbClr val="6B7F90"/>
                </a:solidFill>
                <a:latin typeface="Microsoft YaHei" panose="020B0503020204020204" pitchFamily="34" charset="-122"/>
              </a:rPr>
              <a:t>轮廓系数</a:t>
            </a:r>
          </a:p>
        </p:txBody>
      </p:sp>
      <p:sp>
        <p:nvSpPr>
          <p:cNvPr id="26" name="矩形: 圆角 25">
            <a:extLst>
              <a:ext uri="{FF2B5EF4-FFF2-40B4-BE49-F238E27FC236}">
                <a16:creationId xmlns:a16="http://schemas.microsoft.com/office/drawing/2014/main" id="{A1553B2F-5E2C-F202-A1FF-9E68788EAC92}"/>
              </a:ext>
            </a:extLst>
          </p:cNvPr>
          <p:cNvSpPr/>
          <p:nvPr/>
        </p:nvSpPr>
        <p:spPr>
          <a:xfrm>
            <a:off x="7874000" y="5435600"/>
            <a:ext cx="1905000" cy="660400"/>
          </a:xfrm>
          <a:prstGeom prst="roundRect">
            <a:avLst/>
          </a:prstGeom>
          <a:solidFill>
            <a:srgbClr val="FAFCFF"/>
          </a:solidFill>
          <a:ln w="889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3F7D61B6-EA13-78D1-AE1D-6BEF3581F35E}"/>
              </a:ext>
            </a:extLst>
          </p:cNvPr>
          <p:cNvSpPr txBox="1"/>
          <p:nvPr/>
        </p:nvSpPr>
        <p:spPr>
          <a:xfrm>
            <a:off x="8026400" y="5537200"/>
            <a:ext cx="1625600" cy="36933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2400" b="1">
                <a:solidFill>
                  <a:srgbClr val="2F80C9"/>
                </a:solidFill>
                <a:latin typeface="Microsoft YaHei" panose="020B0503020204020204" pitchFamily="34" charset="-122"/>
              </a:rPr>
              <a:t>0.4850</a:t>
            </a:r>
            <a:endParaRPr lang="zh-CN" altLang="en-US" sz="2400" b="1">
              <a:solidFill>
                <a:srgbClr val="2F80C9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28" name="文本框 27">
            <a:extLst>
              <a:ext uri="{FF2B5EF4-FFF2-40B4-BE49-F238E27FC236}">
                <a16:creationId xmlns:a16="http://schemas.microsoft.com/office/drawing/2014/main" id="{AB6FADC8-90AD-B31C-22E0-2FD95A106AC9}"/>
              </a:ext>
            </a:extLst>
          </p:cNvPr>
          <p:cNvSpPr txBox="1"/>
          <p:nvPr/>
        </p:nvSpPr>
        <p:spPr>
          <a:xfrm>
            <a:off x="8026400" y="5943600"/>
            <a:ext cx="1625600" cy="184666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1200">
                <a:solidFill>
                  <a:srgbClr val="6B7F90"/>
                </a:solidFill>
                <a:latin typeface="Microsoft YaHei" panose="020B0503020204020204" pitchFamily="34" charset="-122"/>
              </a:rPr>
              <a:t>ARI</a:t>
            </a:r>
            <a:endParaRPr lang="zh-CN" altLang="en-US" sz="1200">
              <a:solidFill>
                <a:srgbClr val="6B7F90"/>
              </a:solidFill>
              <a:latin typeface="Microsoft YaHei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19478325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B1745E87-F404-2BB1-554C-8F71FF7B7EAA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C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79CD6B39-13E0-938F-A695-C19F30CBB5A0}"/>
              </a:ext>
            </a:extLst>
          </p:cNvPr>
          <p:cNvSpPr/>
          <p:nvPr/>
        </p:nvSpPr>
        <p:spPr>
          <a:xfrm>
            <a:off x="0" y="0"/>
            <a:ext cx="12192000" cy="1016000"/>
          </a:xfrm>
          <a:prstGeom prst="rect">
            <a:avLst/>
          </a:prstGeom>
          <a:solidFill>
            <a:srgbClr val="006BB7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平行四边形 3">
            <a:extLst>
              <a:ext uri="{FF2B5EF4-FFF2-40B4-BE49-F238E27FC236}">
                <a16:creationId xmlns:a16="http://schemas.microsoft.com/office/drawing/2014/main" id="{DECCF7A2-3130-BD9F-9EBC-795E2BB05BDD}"/>
              </a:ext>
            </a:extLst>
          </p:cNvPr>
          <p:cNvSpPr/>
          <p:nvPr/>
        </p:nvSpPr>
        <p:spPr>
          <a:xfrm>
            <a:off x="8953500" y="-228600"/>
            <a:ext cx="3581400" cy="1346200"/>
          </a:xfrm>
          <a:prstGeom prst="parallelogram">
            <a:avLst>
              <a:gd name="adj" fmla="val 20000"/>
            </a:avLst>
          </a:prstGeom>
          <a:solidFill>
            <a:srgbClr val="3A9BD9">
              <a:alpha val="85000"/>
            </a:srgbClr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平行四边形 4">
            <a:extLst>
              <a:ext uri="{FF2B5EF4-FFF2-40B4-BE49-F238E27FC236}">
                <a16:creationId xmlns:a16="http://schemas.microsoft.com/office/drawing/2014/main" id="{53CD2D63-F243-585B-8C75-9E7D2D3F2AE1}"/>
              </a:ext>
            </a:extLst>
          </p:cNvPr>
          <p:cNvSpPr/>
          <p:nvPr/>
        </p:nvSpPr>
        <p:spPr>
          <a:xfrm>
            <a:off x="-508000" y="6324600"/>
            <a:ext cx="5969000" cy="660400"/>
          </a:xfrm>
          <a:prstGeom prst="parallelogram">
            <a:avLst>
              <a:gd name="adj" fmla="val 20000"/>
            </a:avLst>
          </a:prstGeom>
          <a:solidFill>
            <a:srgbClr val="DDF0F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E6C0CB13-C32E-742A-8997-39ECDB7669D4}"/>
              </a:ext>
            </a:extLst>
          </p:cNvPr>
          <p:cNvSpPr txBox="1"/>
          <p:nvPr/>
        </p:nvSpPr>
        <p:spPr>
          <a:xfrm>
            <a:off x="736600" y="254000"/>
            <a:ext cx="4953000" cy="10772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700" b="1">
                <a:solidFill>
                  <a:srgbClr val="CDEBFF"/>
                </a:solidFill>
                <a:latin typeface="Microsoft YaHei" panose="020B0503020204020204" pitchFamily="34" charset="-122"/>
              </a:rPr>
              <a:t>MODEL SELECTION</a:t>
            </a:r>
            <a:endParaRPr lang="zh-CN" altLang="en-US" sz="700" b="1">
              <a:solidFill>
                <a:srgbClr val="CDEBFF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2CD2756D-FD2E-1041-A514-27AFA560F70E}"/>
              </a:ext>
            </a:extLst>
          </p:cNvPr>
          <p:cNvSpPr txBox="1"/>
          <p:nvPr/>
        </p:nvSpPr>
        <p:spPr>
          <a:xfrm>
            <a:off x="736600" y="533400"/>
            <a:ext cx="8509000" cy="41549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2700" b="1">
                <a:solidFill>
                  <a:srgbClr val="FFFFFF"/>
                </a:solidFill>
                <a:latin typeface="Microsoft YaHei" panose="020B0503020204020204" pitchFamily="34" charset="-122"/>
              </a:rPr>
              <a:t>实验五结果：类别数选择与分级聚类</a:t>
            </a:r>
          </a:p>
        </p:txBody>
      </p:sp>
      <p:cxnSp>
        <p:nvCxnSpPr>
          <p:cNvPr id="8" name="直接连接符 7">
            <a:extLst>
              <a:ext uri="{FF2B5EF4-FFF2-40B4-BE49-F238E27FC236}">
                <a16:creationId xmlns:a16="http://schemas.microsoft.com/office/drawing/2014/main" id="{6FD00DAD-17C2-E5F2-0EC7-A0AA255BCCED}"/>
              </a:ext>
            </a:extLst>
          </p:cNvPr>
          <p:cNvCxnSpPr/>
          <p:nvPr/>
        </p:nvCxnSpPr>
        <p:spPr>
          <a:xfrm>
            <a:off x="736600" y="1295400"/>
            <a:ext cx="1168400" cy="0"/>
          </a:xfrm>
          <a:prstGeom prst="line">
            <a:avLst/>
          </a:prstGeom>
          <a:ln w="38100">
            <a:solidFill>
              <a:srgbClr val="D4A84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文本框 8">
            <a:extLst>
              <a:ext uri="{FF2B5EF4-FFF2-40B4-BE49-F238E27FC236}">
                <a16:creationId xmlns:a16="http://schemas.microsoft.com/office/drawing/2014/main" id="{F6D911C7-E3BD-DFAB-43C8-5E36479E93A9}"/>
              </a:ext>
            </a:extLst>
          </p:cNvPr>
          <p:cNvSpPr txBox="1"/>
          <p:nvPr/>
        </p:nvSpPr>
        <p:spPr>
          <a:xfrm>
            <a:off x="533400" y="6527800"/>
            <a:ext cx="3937000" cy="10772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700">
                <a:solidFill>
                  <a:srgbClr val="8FA8BA"/>
                </a:solidFill>
                <a:latin typeface="Microsoft YaHei" panose="020B0503020204020204" pitchFamily="34" charset="-122"/>
              </a:rPr>
              <a:t>模式识别课程实验汇报 </a:t>
            </a:r>
            <a:r>
              <a:rPr lang="en-US" altLang="zh-CN" sz="700">
                <a:solidFill>
                  <a:srgbClr val="8FA8BA"/>
                </a:solidFill>
                <a:latin typeface="Microsoft YaHei" panose="020B0503020204020204" pitchFamily="34" charset="-122"/>
              </a:rPr>
              <a:t>· </a:t>
            </a:r>
            <a:r>
              <a:rPr lang="zh-CN" altLang="en-US" sz="700">
                <a:solidFill>
                  <a:srgbClr val="8FA8BA"/>
                </a:solidFill>
                <a:latin typeface="Microsoft YaHei" panose="020B0503020204020204" pitchFamily="34" charset="-122"/>
              </a:rPr>
              <a:t>蓝白科研汇报模板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5E9E1F76-A40A-863D-0F97-32C9703753E9}"/>
              </a:ext>
            </a:extLst>
          </p:cNvPr>
          <p:cNvSpPr txBox="1"/>
          <p:nvPr/>
        </p:nvSpPr>
        <p:spPr>
          <a:xfrm>
            <a:off x="11366500" y="6477000"/>
            <a:ext cx="355600" cy="10772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r"/>
            <a:r>
              <a:rPr lang="en-US" altLang="zh-CN" sz="700" b="1">
                <a:solidFill>
                  <a:srgbClr val="006BB7"/>
                </a:solidFill>
                <a:latin typeface="Microsoft YaHei" panose="020B0503020204020204" pitchFamily="34" charset="-122"/>
              </a:rPr>
              <a:t>28</a:t>
            </a:r>
            <a:endParaRPr lang="zh-CN" altLang="en-US" sz="700" b="1">
              <a:solidFill>
                <a:srgbClr val="006BB7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98E860FA-F118-6EFB-8410-2274B178E3E3}"/>
              </a:ext>
            </a:extLst>
          </p:cNvPr>
          <p:cNvSpPr/>
          <p:nvPr/>
        </p:nvSpPr>
        <p:spPr>
          <a:xfrm>
            <a:off x="736600" y="1397000"/>
            <a:ext cx="5207000" cy="374650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3" name="图片 12">
            <a:extLst>
              <a:ext uri="{FF2B5EF4-FFF2-40B4-BE49-F238E27FC236}">
                <a16:creationId xmlns:a16="http://schemas.microsoft.com/office/drawing/2014/main" id="{ED562C4B-DBA3-DF21-E475-24647FBE9BA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04194" y="1961454"/>
            <a:ext cx="4071811" cy="2617593"/>
          </a:xfrm>
          <a:prstGeom prst="rect">
            <a:avLst/>
          </a:prstGeom>
        </p:spPr>
      </p:pic>
      <p:sp>
        <p:nvSpPr>
          <p:cNvPr id="14" name="矩形: 圆角 13">
            <a:extLst>
              <a:ext uri="{FF2B5EF4-FFF2-40B4-BE49-F238E27FC236}">
                <a16:creationId xmlns:a16="http://schemas.microsoft.com/office/drawing/2014/main" id="{84C3969F-A205-2E5C-6C19-570EC90600ED}"/>
              </a:ext>
            </a:extLst>
          </p:cNvPr>
          <p:cNvSpPr/>
          <p:nvPr/>
        </p:nvSpPr>
        <p:spPr>
          <a:xfrm>
            <a:off x="6248400" y="1397000"/>
            <a:ext cx="5207000" cy="374650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6" name="图片 15">
            <a:extLst>
              <a:ext uri="{FF2B5EF4-FFF2-40B4-BE49-F238E27FC236}">
                <a16:creationId xmlns:a16="http://schemas.microsoft.com/office/drawing/2014/main" id="{94AF4E83-D33A-EF68-9B8E-33D07246E7D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68418" y="2424749"/>
            <a:ext cx="3166965" cy="1691003"/>
          </a:xfrm>
          <a:prstGeom prst="rect">
            <a:avLst/>
          </a:prstGeom>
        </p:spPr>
      </p:pic>
      <p:sp>
        <p:nvSpPr>
          <p:cNvPr id="17" name="矩形: 圆角 16">
            <a:extLst>
              <a:ext uri="{FF2B5EF4-FFF2-40B4-BE49-F238E27FC236}">
                <a16:creationId xmlns:a16="http://schemas.microsoft.com/office/drawing/2014/main" id="{A5698C6E-D7EE-3541-0DD4-7A0DFCF885B9}"/>
              </a:ext>
            </a:extLst>
          </p:cNvPr>
          <p:cNvSpPr/>
          <p:nvPr/>
        </p:nvSpPr>
        <p:spPr>
          <a:xfrm>
            <a:off x="1016000" y="5461000"/>
            <a:ext cx="4572000" cy="63500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9821EE7D-1AD3-CE5F-500B-4196BB8C4EB8}"/>
              </a:ext>
            </a:extLst>
          </p:cNvPr>
          <p:cNvSpPr/>
          <p:nvPr/>
        </p:nvSpPr>
        <p:spPr>
          <a:xfrm>
            <a:off x="1016000" y="5461000"/>
            <a:ext cx="76200" cy="635000"/>
          </a:xfrm>
          <a:prstGeom prst="rect">
            <a:avLst/>
          </a:prstGeom>
          <a:solidFill>
            <a:srgbClr val="006BB7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7C02B8BA-DBBA-725A-747E-82AE4C485867}"/>
              </a:ext>
            </a:extLst>
          </p:cNvPr>
          <p:cNvSpPr txBox="1"/>
          <p:nvPr/>
        </p:nvSpPr>
        <p:spPr>
          <a:xfrm>
            <a:off x="1206500" y="5588000"/>
            <a:ext cx="4267200" cy="215444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400" b="1">
                <a:solidFill>
                  <a:srgbClr val="0A2E4E"/>
                </a:solidFill>
                <a:latin typeface="Microsoft YaHei" panose="020B0503020204020204" pitchFamily="34" charset="-122"/>
              </a:rPr>
              <a:t>类别数判断</a:t>
            </a: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C406528D-A99C-002F-BF96-7D544FB08F10}"/>
              </a:ext>
            </a:extLst>
          </p:cNvPr>
          <p:cNvSpPr txBox="1"/>
          <p:nvPr/>
        </p:nvSpPr>
        <p:spPr>
          <a:xfrm>
            <a:off x="1206500" y="5943600"/>
            <a:ext cx="4267200" cy="184666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1200">
                <a:solidFill>
                  <a:srgbClr val="38566F"/>
                </a:solidFill>
                <a:latin typeface="Microsoft YaHei" panose="020B0503020204020204" pitchFamily="34" charset="-122"/>
              </a:rPr>
              <a:t>SSE </a:t>
            </a:r>
            <a:r>
              <a:rPr lang="zh-CN" altLang="en-US" sz="1200">
                <a:solidFill>
                  <a:srgbClr val="38566F"/>
                </a:solidFill>
                <a:latin typeface="Microsoft YaHei" panose="020B0503020204020204" pitchFamily="34" charset="-122"/>
              </a:rPr>
              <a:t>随 </a:t>
            </a:r>
            <a:r>
              <a:rPr lang="en-US" altLang="zh-CN" sz="1200">
                <a:solidFill>
                  <a:srgbClr val="38566F"/>
                </a:solidFill>
                <a:latin typeface="Microsoft YaHei" panose="020B0503020204020204" pitchFamily="34" charset="-122"/>
              </a:rPr>
              <a:t>C </a:t>
            </a:r>
            <a:r>
              <a:rPr lang="zh-CN" altLang="en-US" sz="1200">
                <a:solidFill>
                  <a:srgbClr val="38566F"/>
                </a:solidFill>
                <a:latin typeface="Microsoft YaHei" panose="020B0503020204020204" pitchFamily="34" charset="-122"/>
              </a:rPr>
              <a:t>增大下降，但轮廓系数在 </a:t>
            </a:r>
            <a:r>
              <a:rPr lang="en-US" altLang="zh-CN" sz="1200">
                <a:solidFill>
                  <a:srgbClr val="38566F"/>
                </a:solidFill>
                <a:latin typeface="Microsoft YaHei" panose="020B0503020204020204" pitchFamily="34" charset="-122"/>
              </a:rPr>
              <a:t>C=2 </a:t>
            </a:r>
            <a:r>
              <a:rPr lang="zh-CN" altLang="en-US" sz="1200">
                <a:solidFill>
                  <a:srgbClr val="38566F"/>
                </a:solidFill>
                <a:latin typeface="Microsoft YaHei" panose="020B0503020204020204" pitchFamily="34" charset="-122"/>
              </a:rPr>
              <a:t>最高，因此两类更合理。</a:t>
            </a:r>
          </a:p>
        </p:txBody>
      </p:sp>
      <p:sp>
        <p:nvSpPr>
          <p:cNvPr id="21" name="矩形: 圆角 20">
            <a:extLst>
              <a:ext uri="{FF2B5EF4-FFF2-40B4-BE49-F238E27FC236}">
                <a16:creationId xmlns:a16="http://schemas.microsoft.com/office/drawing/2014/main" id="{9957446C-4D19-18A5-102B-6A98130D3EE5}"/>
              </a:ext>
            </a:extLst>
          </p:cNvPr>
          <p:cNvSpPr/>
          <p:nvPr/>
        </p:nvSpPr>
        <p:spPr>
          <a:xfrm>
            <a:off x="6604000" y="5461000"/>
            <a:ext cx="4572000" cy="63500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F6864192-8548-57AA-11CD-97D718BE50AB}"/>
              </a:ext>
            </a:extLst>
          </p:cNvPr>
          <p:cNvSpPr/>
          <p:nvPr/>
        </p:nvSpPr>
        <p:spPr>
          <a:xfrm>
            <a:off x="6604000" y="5461000"/>
            <a:ext cx="76200" cy="635000"/>
          </a:xfrm>
          <a:prstGeom prst="rect">
            <a:avLst/>
          </a:prstGeom>
          <a:solidFill>
            <a:srgbClr val="0A7FC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B46DD613-F652-2D94-C1FB-CEE557C4A14A}"/>
              </a:ext>
            </a:extLst>
          </p:cNvPr>
          <p:cNvSpPr txBox="1"/>
          <p:nvPr/>
        </p:nvSpPr>
        <p:spPr>
          <a:xfrm>
            <a:off x="6794500" y="5588000"/>
            <a:ext cx="4267200" cy="215444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400" b="1">
                <a:solidFill>
                  <a:srgbClr val="0A2E4E"/>
                </a:solidFill>
                <a:latin typeface="Microsoft YaHei" panose="020B0503020204020204" pitchFamily="34" charset="-122"/>
              </a:rPr>
              <a:t>分级聚类</a:t>
            </a:r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F0C04CF3-1678-5654-3A3A-B3A8A1171724}"/>
              </a:ext>
            </a:extLst>
          </p:cNvPr>
          <p:cNvSpPr txBox="1"/>
          <p:nvPr/>
        </p:nvSpPr>
        <p:spPr>
          <a:xfrm>
            <a:off x="6794500" y="5943600"/>
            <a:ext cx="4267200" cy="184666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1200">
                <a:solidFill>
                  <a:srgbClr val="38566F"/>
                </a:solidFill>
                <a:latin typeface="Microsoft YaHei" panose="020B0503020204020204" pitchFamily="34" charset="-122"/>
              </a:rPr>
              <a:t>Ward </a:t>
            </a:r>
            <a:r>
              <a:rPr lang="zh-CN" altLang="en-US" sz="1200">
                <a:solidFill>
                  <a:srgbClr val="38566F"/>
                </a:solidFill>
                <a:latin typeface="Microsoft YaHei" panose="020B0503020204020204" pitchFamily="34" charset="-122"/>
              </a:rPr>
              <a:t>方法匹配率 </a:t>
            </a:r>
            <a:r>
              <a:rPr lang="en-US" altLang="zh-CN" sz="1200">
                <a:solidFill>
                  <a:srgbClr val="38566F"/>
                </a:solidFill>
                <a:latin typeface="Microsoft YaHei" panose="020B0503020204020204" pitchFamily="34" charset="-122"/>
              </a:rPr>
              <a:t>81.00%</a:t>
            </a:r>
            <a:r>
              <a:rPr lang="zh-CN" altLang="en-US" sz="1200">
                <a:solidFill>
                  <a:srgbClr val="38566F"/>
                </a:solidFill>
                <a:latin typeface="Microsoft YaHei" panose="020B0503020204020204" pitchFamily="34" charset="-122"/>
              </a:rPr>
              <a:t>，略低于 </a:t>
            </a:r>
            <a:r>
              <a:rPr lang="en-US" altLang="zh-CN" sz="1200">
                <a:solidFill>
                  <a:srgbClr val="38566F"/>
                </a:solidFill>
                <a:latin typeface="Microsoft YaHei" panose="020B0503020204020204" pitchFamily="34" charset="-122"/>
              </a:rPr>
              <a:t>C </a:t>
            </a:r>
            <a:r>
              <a:rPr lang="zh-CN" altLang="en-US" sz="1200">
                <a:solidFill>
                  <a:srgbClr val="38566F"/>
                </a:solidFill>
                <a:latin typeface="Microsoft YaHei" panose="020B0503020204020204" pitchFamily="34" charset="-122"/>
              </a:rPr>
              <a:t>均值，但能展示层次结构。</a:t>
            </a:r>
          </a:p>
        </p:txBody>
      </p:sp>
    </p:spTree>
    <p:extLst>
      <p:ext uri="{BB962C8B-B14F-4D97-AF65-F5344CB8AC3E}">
        <p14:creationId xmlns:p14="http://schemas.microsoft.com/office/powerpoint/2010/main" val="309098117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97A647BB-BE19-B873-FA4E-8CB9E61DDE05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C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25860636-A42B-1360-AC29-CAC751876B4A}"/>
              </a:ext>
            </a:extLst>
          </p:cNvPr>
          <p:cNvSpPr/>
          <p:nvPr/>
        </p:nvSpPr>
        <p:spPr>
          <a:xfrm>
            <a:off x="0" y="0"/>
            <a:ext cx="12192000" cy="1016000"/>
          </a:xfrm>
          <a:prstGeom prst="rect">
            <a:avLst/>
          </a:prstGeom>
          <a:solidFill>
            <a:srgbClr val="006BB7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平行四边形 3">
            <a:extLst>
              <a:ext uri="{FF2B5EF4-FFF2-40B4-BE49-F238E27FC236}">
                <a16:creationId xmlns:a16="http://schemas.microsoft.com/office/drawing/2014/main" id="{B77B5C77-006A-3BB9-C339-0AF5BBCF0E77}"/>
              </a:ext>
            </a:extLst>
          </p:cNvPr>
          <p:cNvSpPr/>
          <p:nvPr/>
        </p:nvSpPr>
        <p:spPr>
          <a:xfrm>
            <a:off x="8953500" y="-228600"/>
            <a:ext cx="3581400" cy="1346200"/>
          </a:xfrm>
          <a:prstGeom prst="parallelogram">
            <a:avLst>
              <a:gd name="adj" fmla="val 20000"/>
            </a:avLst>
          </a:prstGeom>
          <a:solidFill>
            <a:srgbClr val="3A9BD9">
              <a:alpha val="85000"/>
            </a:srgbClr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平行四边形 4">
            <a:extLst>
              <a:ext uri="{FF2B5EF4-FFF2-40B4-BE49-F238E27FC236}">
                <a16:creationId xmlns:a16="http://schemas.microsoft.com/office/drawing/2014/main" id="{4F815EC0-DED1-687F-F472-729E5464A0CD}"/>
              </a:ext>
            </a:extLst>
          </p:cNvPr>
          <p:cNvSpPr/>
          <p:nvPr/>
        </p:nvSpPr>
        <p:spPr>
          <a:xfrm>
            <a:off x="-508000" y="6324600"/>
            <a:ext cx="5969000" cy="660400"/>
          </a:xfrm>
          <a:prstGeom prst="parallelogram">
            <a:avLst>
              <a:gd name="adj" fmla="val 20000"/>
            </a:avLst>
          </a:prstGeom>
          <a:solidFill>
            <a:srgbClr val="DDF0F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930F618D-443B-AB36-8C19-97F8F4D69D6A}"/>
              </a:ext>
            </a:extLst>
          </p:cNvPr>
          <p:cNvSpPr txBox="1"/>
          <p:nvPr/>
        </p:nvSpPr>
        <p:spPr>
          <a:xfrm>
            <a:off x="736600" y="254000"/>
            <a:ext cx="4953000" cy="10772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700" b="1">
                <a:solidFill>
                  <a:srgbClr val="CDEBFF"/>
                </a:solidFill>
                <a:latin typeface="Microsoft YaHei" panose="020B0503020204020204" pitchFamily="34" charset="-122"/>
              </a:rPr>
              <a:t>COMBINED DATA</a:t>
            </a:r>
            <a:endParaRPr lang="zh-CN" altLang="en-US" sz="700" b="1">
              <a:solidFill>
                <a:srgbClr val="CDEBFF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93297F2-CA95-D421-1DCA-E38AFB404077}"/>
              </a:ext>
            </a:extLst>
          </p:cNvPr>
          <p:cNvSpPr txBox="1"/>
          <p:nvPr/>
        </p:nvSpPr>
        <p:spPr>
          <a:xfrm>
            <a:off x="736600" y="533400"/>
            <a:ext cx="8509000" cy="41549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2700" b="1">
                <a:solidFill>
                  <a:srgbClr val="FFFFFF"/>
                </a:solidFill>
                <a:latin typeface="Microsoft YaHei" panose="020B0503020204020204" pitchFamily="34" charset="-122"/>
              </a:rPr>
              <a:t>实验五分析：加入 </a:t>
            </a:r>
            <a:r>
              <a:rPr lang="en-US" altLang="zh-CN" sz="2700" b="1">
                <a:solidFill>
                  <a:srgbClr val="FFFFFF"/>
                </a:solidFill>
                <a:latin typeface="Microsoft YaHei" panose="020B0503020204020204" pitchFamily="34" charset="-122"/>
              </a:rPr>
              <a:t>test2 </a:t>
            </a:r>
            <a:r>
              <a:rPr lang="zh-CN" altLang="en-US" sz="2700" b="1">
                <a:solidFill>
                  <a:srgbClr val="FFFFFF"/>
                </a:solidFill>
                <a:latin typeface="Microsoft YaHei" panose="020B0503020204020204" pitchFamily="34" charset="-122"/>
              </a:rPr>
              <a:t>后结构保持但边界更复杂</a:t>
            </a:r>
          </a:p>
        </p:txBody>
      </p:sp>
      <p:cxnSp>
        <p:nvCxnSpPr>
          <p:cNvPr id="8" name="直接连接符 7">
            <a:extLst>
              <a:ext uri="{FF2B5EF4-FFF2-40B4-BE49-F238E27FC236}">
                <a16:creationId xmlns:a16="http://schemas.microsoft.com/office/drawing/2014/main" id="{4B9CEED1-D7A1-5274-BAAF-79314D19D0EE}"/>
              </a:ext>
            </a:extLst>
          </p:cNvPr>
          <p:cNvCxnSpPr/>
          <p:nvPr/>
        </p:nvCxnSpPr>
        <p:spPr>
          <a:xfrm>
            <a:off x="736600" y="1295400"/>
            <a:ext cx="1168400" cy="0"/>
          </a:xfrm>
          <a:prstGeom prst="line">
            <a:avLst/>
          </a:prstGeom>
          <a:ln w="38100">
            <a:solidFill>
              <a:srgbClr val="D4A84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文本框 8">
            <a:extLst>
              <a:ext uri="{FF2B5EF4-FFF2-40B4-BE49-F238E27FC236}">
                <a16:creationId xmlns:a16="http://schemas.microsoft.com/office/drawing/2014/main" id="{543F1149-7E5D-0F64-7481-463F53D48FF3}"/>
              </a:ext>
            </a:extLst>
          </p:cNvPr>
          <p:cNvSpPr txBox="1"/>
          <p:nvPr/>
        </p:nvSpPr>
        <p:spPr>
          <a:xfrm>
            <a:off x="533400" y="6527800"/>
            <a:ext cx="3937000" cy="10772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700">
                <a:solidFill>
                  <a:srgbClr val="8FA8BA"/>
                </a:solidFill>
                <a:latin typeface="Microsoft YaHei" panose="020B0503020204020204" pitchFamily="34" charset="-122"/>
              </a:rPr>
              <a:t>模式识别课程实验汇报 </a:t>
            </a:r>
            <a:r>
              <a:rPr lang="en-US" altLang="zh-CN" sz="700">
                <a:solidFill>
                  <a:srgbClr val="8FA8BA"/>
                </a:solidFill>
                <a:latin typeface="Microsoft YaHei" panose="020B0503020204020204" pitchFamily="34" charset="-122"/>
              </a:rPr>
              <a:t>· </a:t>
            </a:r>
            <a:r>
              <a:rPr lang="zh-CN" altLang="en-US" sz="700">
                <a:solidFill>
                  <a:srgbClr val="8FA8BA"/>
                </a:solidFill>
                <a:latin typeface="Microsoft YaHei" panose="020B0503020204020204" pitchFamily="34" charset="-122"/>
              </a:rPr>
              <a:t>蓝白科研汇报模板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4C890F34-FDE6-7D44-9B2B-7402A6D31276}"/>
              </a:ext>
            </a:extLst>
          </p:cNvPr>
          <p:cNvSpPr txBox="1"/>
          <p:nvPr/>
        </p:nvSpPr>
        <p:spPr>
          <a:xfrm>
            <a:off x="11366500" y="6477000"/>
            <a:ext cx="355600" cy="10772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r"/>
            <a:r>
              <a:rPr lang="en-US" altLang="zh-CN" sz="700" b="1">
                <a:solidFill>
                  <a:srgbClr val="006BB7"/>
                </a:solidFill>
                <a:latin typeface="Microsoft YaHei" panose="020B0503020204020204" pitchFamily="34" charset="-122"/>
              </a:rPr>
              <a:t>29</a:t>
            </a:r>
            <a:endParaRPr lang="zh-CN" altLang="en-US" sz="700" b="1">
              <a:solidFill>
                <a:srgbClr val="006BB7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E8391AA3-CB5E-3AE4-E896-83C591B8B0E8}"/>
              </a:ext>
            </a:extLst>
          </p:cNvPr>
          <p:cNvSpPr/>
          <p:nvPr/>
        </p:nvSpPr>
        <p:spPr>
          <a:xfrm>
            <a:off x="736600" y="1371600"/>
            <a:ext cx="5143500" cy="349250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3" name="图片 12">
            <a:extLst>
              <a:ext uri="{FF2B5EF4-FFF2-40B4-BE49-F238E27FC236}">
                <a16:creationId xmlns:a16="http://schemas.microsoft.com/office/drawing/2014/main" id="{80B97D27-CC77-DD05-0279-3AFC43E5C7A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48060" y="1860500"/>
            <a:ext cx="3520580" cy="2514700"/>
          </a:xfrm>
          <a:prstGeom prst="rect">
            <a:avLst/>
          </a:prstGeom>
        </p:spPr>
      </p:pic>
      <p:sp>
        <p:nvSpPr>
          <p:cNvPr id="14" name="矩形: 圆角 13">
            <a:extLst>
              <a:ext uri="{FF2B5EF4-FFF2-40B4-BE49-F238E27FC236}">
                <a16:creationId xmlns:a16="http://schemas.microsoft.com/office/drawing/2014/main" id="{46104D04-0F11-DF69-4AF4-18E78EBE9E95}"/>
              </a:ext>
            </a:extLst>
          </p:cNvPr>
          <p:cNvSpPr/>
          <p:nvPr/>
        </p:nvSpPr>
        <p:spPr>
          <a:xfrm>
            <a:off x="6324600" y="1371600"/>
            <a:ext cx="5143500" cy="349250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6" name="图片 15">
            <a:extLst>
              <a:ext uri="{FF2B5EF4-FFF2-40B4-BE49-F238E27FC236}">
                <a16:creationId xmlns:a16="http://schemas.microsoft.com/office/drawing/2014/main" id="{F3CE885B-6A99-E393-1BDE-1C37A5CAF17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10774" y="1841408"/>
            <a:ext cx="3971152" cy="2552884"/>
          </a:xfrm>
          <a:prstGeom prst="rect">
            <a:avLst/>
          </a:prstGeom>
        </p:spPr>
      </p:pic>
      <p:graphicFrame>
        <p:nvGraphicFramePr>
          <p:cNvPr id="17" name="表格 16">
            <a:extLst>
              <a:ext uri="{FF2B5EF4-FFF2-40B4-BE49-F238E27FC236}">
                <a16:creationId xmlns:a16="http://schemas.microsoft.com/office/drawing/2014/main" id="{36B7A3E3-39D6-EE72-E778-F96F281568E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94239718"/>
              </p:ext>
            </p:extLst>
          </p:nvPr>
        </p:nvGraphicFramePr>
        <p:xfrm>
          <a:off x="889000" y="5207000"/>
          <a:ext cx="10414000" cy="914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82800">
                  <a:extLst>
                    <a:ext uri="{9D8B030D-6E8A-4147-A177-3AD203B41FA5}">
                      <a16:colId xmlns:a16="http://schemas.microsoft.com/office/drawing/2014/main" val="1661800418"/>
                    </a:ext>
                  </a:extLst>
                </a:gridCol>
                <a:gridCol w="2082800">
                  <a:extLst>
                    <a:ext uri="{9D8B030D-6E8A-4147-A177-3AD203B41FA5}">
                      <a16:colId xmlns:a16="http://schemas.microsoft.com/office/drawing/2014/main" val="2351764199"/>
                    </a:ext>
                  </a:extLst>
                </a:gridCol>
                <a:gridCol w="2082800">
                  <a:extLst>
                    <a:ext uri="{9D8B030D-6E8A-4147-A177-3AD203B41FA5}">
                      <a16:colId xmlns:a16="http://schemas.microsoft.com/office/drawing/2014/main" val="2081314076"/>
                    </a:ext>
                  </a:extLst>
                </a:gridCol>
                <a:gridCol w="2082800">
                  <a:extLst>
                    <a:ext uri="{9D8B030D-6E8A-4147-A177-3AD203B41FA5}">
                      <a16:colId xmlns:a16="http://schemas.microsoft.com/office/drawing/2014/main" val="3226645145"/>
                    </a:ext>
                  </a:extLst>
                </a:gridCol>
                <a:gridCol w="2082800">
                  <a:extLst>
                    <a:ext uri="{9D8B030D-6E8A-4147-A177-3AD203B41FA5}">
                      <a16:colId xmlns:a16="http://schemas.microsoft.com/office/drawing/2014/main" val="2118088250"/>
                    </a:ext>
                  </a:extLst>
                </a:gridCol>
              </a:tblGrid>
              <a:tr h="18288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100" b="1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数据</a:t>
                      </a:r>
                    </a:p>
                  </a:txBody>
                  <a:tcPr marL="38100" marR="38100" marT="25400" marB="25400" anchor="ctr">
                    <a:solidFill>
                      <a:srgbClr val="006BB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100" b="1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方法</a:t>
                      </a:r>
                    </a:p>
                  </a:txBody>
                  <a:tcPr marL="38100" marR="38100" marT="25400" marB="25400" anchor="ctr">
                    <a:solidFill>
                      <a:srgbClr val="006BB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100" b="1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轮廓系数</a:t>
                      </a:r>
                    </a:p>
                  </a:txBody>
                  <a:tcPr marL="38100" marR="38100" marT="25400" marB="25400" anchor="ctr">
                    <a:solidFill>
                      <a:srgbClr val="006BB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100" b="1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ARI</a:t>
                      </a:r>
                      <a:endParaRPr lang="zh-CN" altLang="en-US" sz="1100" b="1">
                        <a:solidFill>
                          <a:srgbClr val="000000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marL="38100" marR="38100" marT="25400" marB="25400" anchor="ctr">
                    <a:solidFill>
                      <a:srgbClr val="006BB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100" b="1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匹配率</a:t>
                      </a:r>
                    </a:p>
                  </a:txBody>
                  <a:tcPr marL="38100" marR="38100" marT="25400" marB="25400" anchor="ctr">
                    <a:solidFill>
                      <a:srgbClr val="006BB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18590700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训练集</a:t>
                      </a:r>
                    </a:p>
                  </a:txBody>
                  <a:tcPr marL="38100" marR="38100" marT="25400" marB="254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C </a:t>
                      </a:r>
                      <a:r>
                        <a:rPr lang="zh-CN" altLang="en-US" sz="10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均值</a:t>
                      </a:r>
                    </a:p>
                  </a:txBody>
                  <a:tcPr marL="38100" marR="38100" marT="25400" marB="254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0.5108</a:t>
                      </a:r>
                      <a:endParaRPr lang="zh-CN" altLang="en-US" sz="1000" b="0">
                        <a:solidFill>
                          <a:srgbClr val="000000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marL="38100" marR="38100" marT="25400" marB="254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0.4850</a:t>
                      </a:r>
                      <a:endParaRPr lang="zh-CN" altLang="en-US" sz="1000" b="0">
                        <a:solidFill>
                          <a:srgbClr val="000000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marL="38100" marR="38100" marT="25400" marB="254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85.00%</a:t>
                      </a:r>
                      <a:endParaRPr lang="zh-CN" altLang="en-US" sz="1000" b="0">
                        <a:solidFill>
                          <a:srgbClr val="000000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marL="38100" marR="38100" marT="25400" marB="25400" anchor="ctr"/>
                </a:tc>
                <a:extLst>
                  <a:ext uri="{0D108BD9-81ED-4DB2-BD59-A6C34878D82A}">
                    <a16:rowId xmlns:a16="http://schemas.microsoft.com/office/drawing/2014/main" val="3425917849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训练集</a:t>
                      </a:r>
                    </a:p>
                  </a:txBody>
                  <a:tcPr marL="38100" marR="38100" marT="25400" marB="254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Ward</a:t>
                      </a:r>
                      <a:endParaRPr lang="zh-CN" altLang="en-US" sz="1000" b="0">
                        <a:solidFill>
                          <a:srgbClr val="000000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marL="38100" marR="38100" marT="25400" marB="254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0.5049</a:t>
                      </a:r>
                      <a:endParaRPr lang="zh-CN" altLang="en-US" sz="1000" b="0">
                        <a:solidFill>
                          <a:srgbClr val="000000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marL="38100" marR="38100" marT="25400" marB="254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0.3789</a:t>
                      </a:r>
                      <a:endParaRPr lang="zh-CN" altLang="en-US" sz="1000" b="0">
                        <a:solidFill>
                          <a:srgbClr val="000000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marL="38100" marR="38100" marT="25400" marB="254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81.00%</a:t>
                      </a:r>
                      <a:endParaRPr lang="zh-CN" altLang="en-US" sz="1000" b="0">
                        <a:solidFill>
                          <a:srgbClr val="000000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marL="38100" marR="38100" marT="25400" marB="25400" anchor="ctr"/>
                </a:tc>
                <a:extLst>
                  <a:ext uri="{0D108BD9-81ED-4DB2-BD59-A6C34878D82A}">
                    <a16:rowId xmlns:a16="http://schemas.microsoft.com/office/drawing/2014/main" val="530389627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训练集</a:t>
                      </a:r>
                      <a:r>
                        <a:rPr lang="en-US" altLang="zh-CN" sz="10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+test2</a:t>
                      </a:r>
                      <a:endParaRPr lang="zh-CN" altLang="en-US" sz="1000" b="0">
                        <a:solidFill>
                          <a:srgbClr val="000000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marL="38100" marR="38100" marT="25400" marB="254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C </a:t>
                      </a:r>
                      <a:r>
                        <a:rPr lang="zh-CN" altLang="en-US" sz="10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均值</a:t>
                      </a:r>
                    </a:p>
                  </a:txBody>
                  <a:tcPr marL="38100" marR="38100" marT="25400" marB="254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0.4850</a:t>
                      </a:r>
                      <a:endParaRPr lang="zh-CN" altLang="en-US" sz="1000" b="0">
                        <a:solidFill>
                          <a:srgbClr val="000000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marL="38100" marR="38100" marT="25400" marB="254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0.4693</a:t>
                      </a:r>
                      <a:endParaRPr lang="zh-CN" altLang="en-US" sz="1000" b="0">
                        <a:solidFill>
                          <a:srgbClr val="000000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marL="38100" marR="38100" marT="25400" marB="254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84.50%</a:t>
                      </a:r>
                      <a:endParaRPr lang="zh-CN" altLang="en-US" sz="1000" b="0">
                        <a:solidFill>
                          <a:srgbClr val="000000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marL="38100" marR="38100" marT="25400" marB="25400" anchor="ctr"/>
                </a:tc>
                <a:extLst>
                  <a:ext uri="{0D108BD9-81ED-4DB2-BD59-A6C34878D82A}">
                    <a16:rowId xmlns:a16="http://schemas.microsoft.com/office/drawing/2014/main" val="920876916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训练集</a:t>
                      </a:r>
                      <a:r>
                        <a:rPr lang="en-US" altLang="zh-CN" sz="10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+test2</a:t>
                      </a:r>
                      <a:endParaRPr lang="zh-CN" altLang="en-US" sz="1000" b="0">
                        <a:solidFill>
                          <a:srgbClr val="000000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marL="38100" marR="38100" marT="25400" marB="254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Ward</a:t>
                      </a:r>
                      <a:endParaRPr lang="zh-CN" altLang="en-US" sz="1000" b="0">
                        <a:solidFill>
                          <a:srgbClr val="000000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marL="38100" marR="38100" marT="25400" marB="254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0.4739</a:t>
                      </a:r>
                      <a:endParaRPr lang="zh-CN" altLang="en-US" sz="1000" b="0">
                        <a:solidFill>
                          <a:srgbClr val="000000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marL="38100" marR="38100" marT="25400" marB="254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0.4172</a:t>
                      </a:r>
                      <a:endParaRPr lang="zh-CN" altLang="en-US" sz="1000" b="0">
                        <a:solidFill>
                          <a:srgbClr val="000000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marL="38100" marR="38100" marT="25400" marB="254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82.50%</a:t>
                      </a:r>
                      <a:endParaRPr lang="zh-CN" altLang="en-US" sz="1000" b="0">
                        <a:solidFill>
                          <a:srgbClr val="000000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marL="38100" marR="38100" marT="25400" marB="25400" anchor="ctr"/>
                </a:tc>
                <a:extLst>
                  <a:ext uri="{0D108BD9-81ED-4DB2-BD59-A6C34878D82A}">
                    <a16:rowId xmlns:a16="http://schemas.microsoft.com/office/drawing/2014/main" val="161404412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45498623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7EA37B29-9E3B-E338-BD69-3A2BD141E162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C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85C30E87-6202-B5D4-AA58-C211E9FF8AFD}"/>
              </a:ext>
            </a:extLst>
          </p:cNvPr>
          <p:cNvSpPr/>
          <p:nvPr/>
        </p:nvSpPr>
        <p:spPr>
          <a:xfrm>
            <a:off x="0" y="0"/>
            <a:ext cx="12192000" cy="1016000"/>
          </a:xfrm>
          <a:prstGeom prst="rect">
            <a:avLst/>
          </a:prstGeom>
          <a:solidFill>
            <a:srgbClr val="006BB7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平行四边形 3">
            <a:extLst>
              <a:ext uri="{FF2B5EF4-FFF2-40B4-BE49-F238E27FC236}">
                <a16:creationId xmlns:a16="http://schemas.microsoft.com/office/drawing/2014/main" id="{EC4E4050-8F7B-FD12-8083-01F9CA37C0DF}"/>
              </a:ext>
            </a:extLst>
          </p:cNvPr>
          <p:cNvSpPr/>
          <p:nvPr/>
        </p:nvSpPr>
        <p:spPr>
          <a:xfrm>
            <a:off x="8953500" y="-228600"/>
            <a:ext cx="3581400" cy="1346200"/>
          </a:xfrm>
          <a:prstGeom prst="parallelogram">
            <a:avLst>
              <a:gd name="adj" fmla="val 20000"/>
            </a:avLst>
          </a:prstGeom>
          <a:solidFill>
            <a:srgbClr val="3A9BD9">
              <a:alpha val="85000"/>
            </a:srgbClr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平行四边形 4">
            <a:extLst>
              <a:ext uri="{FF2B5EF4-FFF2-40B4-BE49-F238E27FC236}">
                <a16:creationId xmlns:a16="http://schemas.microsoft.com/office/drawing/2014/main" id="{18ABC9BA-EBDB-7812-ED9C-C57DB1E55023}"/>
              </a:ext>
            </a:extLst>
          </p:cNvPr>
          <p:cNvSpPr/>
          <p:nvPr/>
        </p:nvSpPr>
        <p:spPr>
          <a:xfrm>
            <a:off x="-508000" y="6324600"/>
            <a:ext cx="5969000" cy="660400"/>
          </a:xfrm>
          <a:prstGeom prst="parallelogram">
            <a:avLst>
              <a:gd name="adj" fmla="val 20000"/>
            </a:avLst>
          </a:prstGeom>
          <a:solidFill>
            <a:srgbClr val="DDF0F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6B20FEB8-E493-5F13-8968-D12D73006EF5}"/>
              </a:ext>
            </a:extLst>
          </p:cNvPr>
          <p:cNvSpPr txBox="1"/>
          <p:nvPr/>
        </p:nvSpPr>
        <p:spPr>
          <a:xfrm>
            <a:off x="736600" y="254000"/>
            <a:ext cx="4953000" cy="10772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700" b="1">
                <a:solidFill>
                  <a:srgbClr val="CDEBFF"/>
                </a:solidFill>
                <a:latin typeface="Microsoft YaHei" panose="020B0503020204020204" pitchFamily="34" charset="-122"/>
              </a:rPr>
              <a:t>SYNTHESIS</a:t>
            </a:r>
            <a:endParaRPr lang="zh-CN" altLang="en-US" sz="700" b="1">
              <a:solidFill>
                <a:srgbClr val="CDEBFF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95534A2-54E3-3F81-3991-6AEE01AD38C8}"/>
              </a:ext>
            </a:extLst>
          </p:cNvPr>
          <p:cNvSpPr txBox="1"/>
          <p:nvPr/>
        </p:nvSpPr>
        <p:spPr>
          <a:xfrm>
            <a:off x="736600" y="533400"/>
            <a:ext cx="8509000" cy="41549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2700" b="1">
                <a:solidFill>
                  <a:srgbClr val="FFFFFF"/>
                </a:solidFill>
                <a:latin typeface="Microsoft YaHei" panose="020B0503020204020204" pitchFamily="34" charset="-122"/>
              </a:rPr>
              <a:t>五个实验的横向总结</a:t>
            </a:r>
          </a:p>
        </p:txBody>
      </p:sp>
      <p:cxnSp>
        <p:nvCxnSpPr>
          <p:cNvPr id="8" name="直接连接符 7">
            <a:extLst>
              <a:ext uri="{FF2B5EF4-FFF2-40B4-BE49-F238E27FC236}">
                <a16:creationId xmlns:a16="http://schemas.microsoft.com/office/drawing/2014/main" id="{84E4185B-0FA0-9BD3-ADF9-C3ACB5AA8D6F}"/>
              </a:ext>
            </a:extLst>
          </p:cNvPr>
          <p:cNvCxnSpPr/>
          <p:nvPr/>
        </p:nvCxnSpPr>
        <p:spPr>
          <a:xfrm>
            <a:off x="736600" y="1295400"/>
            <a:ext cx="1168400" cy="0"/>
          </a:xfrm>
          <a:prstGeom prst="line">
            <a:avLst/>
          </a:prstGeom>
          <a:ln w="38100">
            <a:solidFill>
              <a:srgbClr val="D4A84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文本框 8">
            <a:extLst>
              <a:ext uri="{FF2B5EF4-FFF2-40B4-BE49-F238E27FC236}">
                <a16:creationId xmlns:a16="http://schemas.microsoft.com/office/drawing/2014/main" id="{0286C4B7-E4FD-8C28-4502-E1048D11A8E4}"/>
              </a:ext>
            </a:extLst>
          </p:cNvPr>
          <p:cNvSpPr txBox="1"/>
          <p:nvPr/>
        </p:nvSpPr>
        <p:spPr>
          <a:xfrm>
            <a:off x="533400" y="6527800"/>
            <a:ext cx="3937000" cy="10772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700">
                <a:solidFill>
                  <a:srgbClr val="8FA8BA"/>
                </a:solidFill>
                <a:latin typeface="Microsoft YaHei" panose="020B0503020204020204" pitchFamily="34" charset="-122"/>
              </a:rPr>
              <a:t>模式识别课程实验汇报 </a:t>
            </a:r>
            <a:r>
              <a:rPr lang="en-US" altLang="zh-CN" sz="700">
                <a:solidFill>
                  <a:srgbClr val="8FA8BA"/>
                </a:solidFill>
                <a:latin typeface="Microsoft YaHei" panose="020B0503020204020204" pitchFamily="34" charset="-122"/>
              </a:rPr>
              <a:t>· </a:t>
            </a:r>
            <a:r>
              <a:rPr lang="zh-CN" altLang="en-US" sz="700">
                <a:solidFill>
                  <a:srgbClr val="8FA8BA"/>
                </a:solidFill>
                <a:latin typeface="Microsoft YaHei" panose="020B0503020204020204" pitchFamily="34" charset="-122"/>
              </a:rPr>
              <a:t>蓝白科研汇报模板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A7893254-8B10-1F99-8659-7EC8F6EF8BB5}"/>
              </a:ext>
            </a:extLst>
          </p:cNvPr>
          <p:cNvSpPr txBox="1"/>
          <p:nvPr/>
        </p:nvSpPr>
        <p:spPr>
          <a:xfrm>
            <a:off x="11366500" y="6477000"/>
            <a:ext cx="355600" cy="10772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r"/>
            <a:r>
              <a:rPr lang="en-US" altLang="zh-CN" sz="700" b="1">
                <a:solidFill>
                  <a:srgbClr val="006BB7"/>
                </a:solidFill>
                <a:latin typeface="Microsoft YaHei" panose="020B0503020204020204" pitchFamily="34" charset="-122"/>
              </a:rPr>
              <a:t>30</a:t>
            </a:r>
            <a:endParaRPr lang="zh-CN" altLang="en-US" sz="700" b="1">
              <a:solidFill>
                <a:srgbClr val="006BB7"/>
              </a:solidFill>
              <a:latin typeface="Microsoft YaHei" panose="020B0503020204020204" pitchFamily="34" charset="-122"/>
            </a:endParaRPr>
          </a:p>
        </p:txBody>
      </p:sp>
      <p:graphicFrame>
        <p:nvGraphicFramePr>
          <p:cNvPr id="11" name="表格 10">
            <a:extLst>
              <a:ext uri="{FF2B5EF4-FFF2-40B4-BE49-F238E27FC236}">
                <a16:creationId xmlns:a16="http://schemas.microsoft.com/office/drawing/2014/main" id="{D09A5C06-1598-6B60-4AAA-F4F33F73673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89432779"/>
              </p:ext>
            </p:extLst>
          </p:nvPr>
        </p:nvGraphicFramePr>
        <p:xfrm>
          <a:off x="736600" y="1397000"/>
          <a:ext cx="10718800" cy="3683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79700">
                  <a:extLst>
                    <a:ext uri="{9D8B030D-6E8A-4147-A177-3AD203B41FA5}">
                      <a16:colId xmlns:a16="http://schemas.microsoft.com/office/drawing/2014/main" val="146200852"/>
                    </a:ext>
                  </a:extLst>
                </a:gridCol>
                <a:gridCol w="2679700">
                  <a:extLst>
                    <a:ext uri="{9D8B030D-6E8A-4147-A177-3AD203B41FA5}">
                      <a16:colId xmlns:a16="http://schemas.microsoft.com/office/drawing/2014/main" val="386767769"/>
                    </a:ext>
                  </a:extLst>
                </a:gridCol>
                <a:gridCol w="2679700">
                  <a:extLst>
                    <a:ext uri="{9D8B030D-6E8A-4147-A177-3AD203B41FA5}">
                      <a16:colId xmlns:a16="http://schemas.microsoft.com/office/drawing/2014/main" val="592160513"/>
                    </a:ext>
                  </a:extLst>
                </a:gridCol>
                <a:gridCol w="2679700">
                  <a:extLst>
                    <a:ext uri="{9D8B030D-6E8A-4147-A177-3AD203B41FA5}">
                      <a16:colId xmlns:a16="http://schemas.microsoft.com/office/drawing/2014/main" val="4068469214"/>
                    </a:ext>
                  </a:extLst>
                </a:gridCol>
              </a:tblGrid>
              <a:tr h="613833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100" b="1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实验</a:t>
                      </a:r>
                    </a:p>
                  </a:txBody>
                  <a:tcPr marL="38100" marR="38100" marT="25400" marB="25400" anchor="ctr">
                    <a:solidFill>
                      <a:srgbClr val="006BB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100" b="1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课程知识点</a:t>
                      </a:r>
                    </a:p>
                  </a:txBody>
                  <a:tcPr marL="38100" marR="38100" marT="25400" marB="25400" anchor="ctr">
                    <a:solidFill>
                      <a:srgbClr val="006BB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100" b="1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监督信息</a:t>
                      </a:r>
                    </a:p>
                  </a:txBody>
                  <a:tcPr marL="38100" marR="38100" marT="25400" marB="25400" anchor="ctr">
                    <a:solidFill>
                      <a:srgbClr val="006BB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100" b="1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主要目标</a:t>
                      </a:r>
                    </a:p>
                  </a:txBody>
                  <a:tcPr marL="38100" marR="38100" marT="25400" marB="25400" anchor="ctr">
                    <a:solidFill>
                      <a:srgbClr val="006BB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92930557"/>
                  </a:ext>
                </a:extLst>
              </a:tr>
              <a:tr h="613833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Bayes </a:t>
                      </a:r>
                      <a:r>
                        <a:rPr lang="zh-CN" altLang="en-US" sz="10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分类</a:t>
                      </a:r>
                    </a:p>
                  </a:txBody>
                  <a:tcPr marL="38100" marR="38100" marT="25400" marB="254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后验概率、参数估计、风险决策</a:t>
                      </a:r>
                    </a:p>
                  </a:txBody>
                  <a:tcPr marL="38100" marR="38100" marT="25400" marB="254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使用标签</a:t>
                      </a:r>
                    </a:p>
                  </a:txBody>
                  <a:tcPr marL="38100" marR="38100" marT="25400" marB="254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最小错误率或最小风险</a:t>
                      </a:r>
                    </a:p>
                  </a:txBody>
                  <a:tcPr marL="38100" marR="38100" marT="25400" marB="25400" anchor="ctr"/>
                </a:tc>
                <a:extLst>
                  <a:ext uri="{0D108BD9-81ED-4DB2-BD59-A6C34878D82A}">
                    <a16:rowId xmlns:a16="http://schemas.microsoft.com/office/drawing/2014/main" val="621653419"/>
                  </a:ext>
                </a:extLst>
              </a:tr>
              <a:tr h="613833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Fisher / Parzen</a:t>
                      </a:r>
                      <a:endParaRPr lang="zh-CN" altLang="en-US" sz="1000" b="0">
                        <a:solidFill>
                          <a:srgbClr val="000000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marL="38100" marR="38100" marT="25400" marB="254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非参数估计、线性判别、留一法</a:t>
                      </a:r>
                    </a:p>
                  </a:txBody>
                  <a:tcPr marL="38100" marR="38100" marT="25400" marB="254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使用标签</a:t>
                      </a:r>
                    </a:p>
                  </a:txBody>
                  <a:tcPr marL="38100" marR="38100" marT="25400" marB="254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比较概率模型与直接判别</a:t>
                      </a:r>
                    </a:p>
                  </a:txBody>
                  <a:tcPr marL="38100" marR="38100" marT="25400" marB="25400" anchor="ctr"/>
                </a:tc>
                <a:extLst>
                  <a:ext uri="{0D108BD9-81ED-4DB2-BD59-A6C34878D82A}">
                    <a16:rowId xmlns:a16="http://schemas.microsoft.com/office/drawing/2014/main" val="1904964044"/>
                  </a:ext>
                </a:extLst>
              </a:tr>
              <a:tr h="613833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K-L </a:t>
                      </a:r>
                      <a:r>
                        <a:rPr lang="zh-CN" altLang="en-US" sz="10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特征提取</a:t>
                      </a:r>
                    </a:p>
                  </a:txBody>
                  <a:tcPr marL="38100" marR="38100" marT="25400" marB="254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PCA</a:t>
                      </a:r>
                      <a:r>
                        <a:rPr lang="zh-CN" altLang="en-US" sz="10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、协方差特征分解</a:t>
                      </a:r>
                    </a:p>
                  </a:txBody>
                  <a:tcPr marL="38100" marR="38100" marT="25400" marB="254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可不使用标签</a:t>
                      </a:r>
                    </a:p>
                  </a:txBody>
                  <a:tcPr marL="38100" marR="38100" marT="25400" marB="254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降维与主方向分析</a:t>
                      </a:r>
                    </a:p>
                  </a:txBody>
                  <a:tcPr marL="38100" marR="38100" marT="25400" marB="25400" anchor="ctr"/>
                </a:tc>
                <a:extLst>
                  <a:ext uri="{0D108BD9-81ED-4DB2-BD59-A6C34878D82A}">
                    <a16:rowId xmlns:a16="http://schemas.microsoft.com/office/drawing/2014/main" val="2168204179"/>
                  </a:ext>
                </a:extLst>
              </a:tr>
              <a:tr h="613833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K-L </a:t>
                      </a:r>
                      <a:r>
                        <a:rPr lang="zh-CN" altLang="en-US" sz="10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图像应用</a:t>
                      </a:r>
                    </a:p>
                  </a:txBody>
                  <a:tcPr marL="38100" marR="38100" marT="25400" marB="254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高维图像特征压缩</a:t>
                      </a:r>
                    </a:p>
                  </a:txBody>
                  <a:tcPr marL="38100" marR="38100" marT="25400" marB="254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使用标签</a:t>
                      </a:r>
                    </a:p>
                  </a:txBody>
                  <a:tcPr marL="38100" marR="38100" marT="25400" marB="254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验证 </a:t>
                      </a:r>
                      <a:r>
                        <a:rPr lang="en-US" altLang="zh-CN" sz="10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PCA </a:t>
                      </a:r>
                      <a:r>
                        <a:rPr lang="zh-CN" altLang="en-US" sz="10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图像识别作用</a:t>
                      </a:r>
                    </a:p>
                  </a:txBody>
                  <a:tcPr marL="38100" marR="38100" marT="25400" marB="25400" anchor="ctr"/>
                </a:tc>
                <a:extLst>
                  <a:ext uri="{0D108BD9-81ED-4DB2-BD59-A6C34878D82A}">
                    <a16:rowId xmlns:a16="http://schemas.microsoft.com/office/drawing/2014/main" val="1616823521"/>
                  </a:ext>
                </a:extLst>
              </a:tr>
              <a:tr h="613833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聚类分析</a:t>
                      </a:r>
                    </a:p>
                  </a:txBody>
                  <a:tcPr marL="38100" marR="38100" marT="25400" marB="254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C </a:t>
                      </a:r>
                      <a:r>
                        <a:rPr lang="zh-CN" altLang="en-US" sz="10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均值、分级聚类</a:t>
                      </a:r>
                    </a:p>
                  </a:txBody>
                  <a:tcPr marL="38100" marR="38100" marT="25400" marB="254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不使用标签</a:t>
                      </a:r>
                    </a:p>
                  </a:txBody>
                  <a:tcPr marL="38100" marR="38100" marT="25400" marB="254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发现样本自然结构</a:t>
                      </a:r>
                    </a:p>
                  </a:txBody>
                  <a:tcPr marL="38100" marR="38100" marT="25400" marB="25400" anchor="ctr"/>
                </a:tc>
                <a:extLst>
                  <a:ext uri="{0D108BD9-81ED-4DB2-BD59-A6C34878D82A}">
                    <a16:rowId xmlns:a16="http://schemas.microsoft.com/office/drawing/2014/main" val="3175281272"/>
                  </a:ext>
                </a:extLst>
              </a:tr>
            </a:tbl>
          </a:graphicData>
        </a:graphic>
      </p:graphicFrame>
      <p:sp>
        <p:nvSpPr>
          <p:cNvPr id="12" name="矩形: 圆角 11">
            <a:extLst>
              <a:ext uri="{FF2B5EF4-FFF2-40B4-BE49-F238E27FC236}">
                <a16:creationId xmlns:a16="http://schemas.microsoft.com/office/drawing/2014/main" id="{D38D7749-A9F1-C233-F31B-8C4FDE3A2B3D}"/>
              </a:ext>
            </a:extLst>
          </p:cNvPr>
          <p:cNvSpPr/>
          <p:nvPr/>
        </p:nvSpPr>
        <p:spPr>
          <a:xfrm>
            <a:off x="1079500" y="5461000"/>
            <a:ext cx="10033000" cy="609600"/>
          </a:xfrm>
          <a:prstGeom prst="roundRect">
            <a:avLst/>
          </a:prstGeom>
          <a:solidFill>
            <a:srgbClr val="E3F2FD"/>
          </a:solidFill>
          <a:ln w="8890">
            <a:solidFill>
              <a:srgbClr val="A7F3D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256CA960-ADFE-49D2-3820-B68EFE93FBAD}"/>
              </a:ext>
            </a:extLst>
          </p:cNvPr>
          <p:cNvSpPr txBox="1"/>
          <p:nvPr/>
        </p:nvSpPr>
        <p:spPr>
          <a:xfrm>
            <a:off x="1397000" y="5664200"/>
            <a:ext cx="9398000" cy="215444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ctr"/>
            <a:r>
              <a:rPr lang="zh-CN" altLang="en-US" sz="1400" b="1">
                <a:solidFill>
                  <a:srgbClr val="006BB7"/>
                </a:solidFill>
                <a:latin typeface="Microsoft YaHei" panose="020B0503020204020204" pitchFamily="34" charset="-122"/>
              </a:rPr>
              <a:t>主线：从概率决策到线性判别，从监督分类到无监督聚类，从低维特征到高维图像识别。</a:t>
            </a:r>
          </a:p>
        </p:txBody>
      </p:sp>
    </p:spTree>
    <p:extLst>
      <p:ext uri="{BB962C8B-B14F-4D97-AF65-F5344CB8AC3E}">
        <p14:creationId xmlns:p14="http://schemas.microsoft.com/office/powerpoint/2010/main" val="3574797201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DD1DD3FA-4E18-CF9A-CC92-E58B88CA513B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C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02A7A219-67BC-11F4-EC71-86B00CCF775C}"/>
              </a:ext>
            </a:extLst>
          </p:cNvPr>
          <p:cNvSpPr/>
          <p:nvPr/>
        </p:nvSpPr>
        <p:spPr>
          <a:xfrm>
            <a:off x="0" y="0"/>
            <a:ext cx="12192000" cy="1016000"/>
          </a:xfrm>
          <a:prstGeom prst="rect">
            <a:avLst/>
          </a:prstGeom>
          <a:solidFill>
            <a:srgbClr val="006BB7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平行四边形 3">
            <a:extLst>
              <a:ext uri="{FF2B5EF4-FFF2-40B4-BE49-F238E27FC236}">
                <a16:creationId xmlns:a16="http://schemas.microsoft.com/office/drawing/2014/main" id="{1D76ED6D-A1F9-8FCC-A581-3897A51F474E}"/>
              </a:ext>
            </a:extLst>
          </p:cNvPr>
          <p:cNvSpPr/>
          <p:nvPr/>
        </p:nvSpPr>
        <p:spPr>
          <a:xfrm>
            <a:off x="8953500" y="-228600"/>
            <a:ext cx="3581400" cy="1346200"/>
          </a:xfrm>
          <a:prstGeom prst="parallelogram">
            <a:avLst>
              <a:gd name="adj" fmla="val 20000"/>
            </a:avLst>
          </a:prstGeom>
          <a:solidFill>
            <a:srgbClr val="3A9BD9">
              <a:alpha val="85000"/>
            </a:srgbClr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平行四边形 4">
            <a:extLst>
              <a:ext uri="{FF2B5EF4-FFF2-40B4-BE49-F238E27FC236}">
                <a16:creationId xmlns:a16="http://schemas.microsoft.com/office/drawing/2014/main" id="{8A5F023D-4176-ABB4-B8F3-25A17BB6F517}"/>
              </a:ext>
            </a:extLst>
          </p:cNvPr>
          <p:cNvSpPr/>
          <p:nvPr/>
        </p:nvSpPr>
        <p:spPr>
          <a:xfrm>
            <a:off x="-508000" y="6324600"/>
            <a:ext cx="5969000" cy="660400"/>
          </a:xfrm>
          <a:prstGeom prst="parallelogram">
            <a:avLst>
              <a:gd name="adj" fmla="val 20000"/>
            </a:avLst>
          </a:prstGeom>
          <a:solidFill>
            <a:srgbClr val="DDF0F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B91F24C6-04F6-6FC5-6CE5-41EA374B04B2}"/>
              </a:ext>
            </a:extLst>
          </p:cNvPr>
          <p:cNvSpPr txBox="1"/>
          <p:nvPr/>
        </p:nvSpPr>
        <p:spPr>
          <a:xfrm>
            <a:off x="736600" y="254000"/>
            <a:ext cx="4953000" cy="10772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700" b="1">
                <a:solidFill>
                  <a:srgbClr val="CDEBFF"/>
                </a:solidFill>
                <a:latin typeface="Microsoft YaHei" panose="020B0503020204020204" pitchFamily="34" charset="-122"/>
              </a:rPr>
              <a:t>CONCLUSION</a:t>
            </a:r>
            <a:endParaRPr lang="zh-CN" altLang="en-US" sz="700" b="1">
              <a:solidFill>
                <a:srgbClr val="CDEBFF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6893CF8A-D99E-385E-B3CA-43A0ED9622FF}"/>
              </a:ext>
            </a:extLst>
          </p:cNvPr>
          <p:cNvSpPr txBox="1"/>
          <p:nvPr/>
        </p:nvSpPr>
        <p:spPr>
          <a:xfrm>
            <a:off x="736600" y="533400"/>
            <a:ext cx="8509000" cy="41549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2700" b="1">
                <a:solidFill>
                  <a:srgbClr val="FFFFFF"/>
                </a:solidFill>
                <a:latin typeface="Microsoft YaHei" panose="020B0503020204020204" pitchFamily="34" charset="-122"/>
              </a:rPr>
              <a:t>总体结论与汇报收束</a:t>
            </a:r>
          </a:p>
        </p:txBody>
      </p:sp>
      <p:cxnSp>
        <p:nvCxnSpPr>
          <p:cNvPr id="8" name="直接连接符 7">
            <a:extLst>
              <a:ext uri="{FF2B5EF4-FFF2-40B4-BE49-F238E27FC236}">
                <a16:creationId xmlns:a16="http://schemas.microsoft.com/office/drawing/2014/main" id="{C881190A-032F-C422-2AA4-8255568434F7}"/>
              </a:ext>
            </a:extLst>
          </p:cNvPr>
          <p:cNvCxnSpPr/>
          <p:nvPr/>
        </p:nvCxnSpPr>
        <p:spPr>
          <a:xfrm>
            <a:off x="736600" y="1295400"/>
            <a:ext cx="1168400" cy="0"/>
          </a:xfrm>
          <a:prstGeom prst="line">
            <a:avLst/>
          </a:prstGeom>
          <a:ln w="38100">
            <a:solidFill>
              <a:srgbClr val="D4A84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文本框 8">
            <a:extLst>
              <a:ext uri="{FF2B5EF4-FFF2-40B4-BE49-F238E27FC236}">
                <a16:creationId xmlns:a16="http://schemas.microsoft.com/office/drawing/2014/main" id="{624512CF-7447-1AC7-B5C1-767EBC67B51B}"/>
              </a:ext>
            </a:extLst>
          </p:cNvPr>
          <p:cNvSpPr txBox="1"/>
          <p:nvPr/>
        </p:nvSpPr>
        <p:spPr>
          <a:xfrm>
            <a:off x="533400" y="6527800"/>
            <a:ext cx="3937000" cy="10772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700">
                <a:solidFill>
                  <a:srgbClr val="8FA8BA"/>
                </a:solidFill>
                <a:latin typeface="Microsoft YaHei" panose="020B0503020204020204" pitchFamily="34" charset="-122"/>
              </a:rPr>
              <a:t>模式识别课程实验汇报 </a:t>
            </a:r>
            <a:r>
              <a:rPr lang="en-US" altLang="zh-CN" sz="700">
                <a:solidFill>
                  <a:srgbClr val="8FA8BA"/>
                </a:solidFill>
                <a:latin typeface="Microsoft YaHei" panose="020B0503020204020204" pitchFamily="34" charset="-122"/>
              </a:rPr>
              <a:t>· </a:t>
            </a:r>
            <a:r>
              <a:rPr lang="zh-CN" altLang="en-US" sz="700">
                <a:solidFill>
                  <a:srgbClr val="8FA8BA"/>
                </a:solidFill>
                <a:latin typeface="Microsoft YaHei" panose="020B0503020204020204" pitchFamily="34" charset="-122"/>
              </a:rPr>
              <a:t>蓝白科研汇报模板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3A20B5A7-7E71-C565-DA2F-C9DDE44B09AE}"/>
              </a:ext>
            </a:extLst>
          </p:cNvPr>
          <p:cNvSpPr txBox="1"/>
          <p:nvPr/>
        </p:nvSpPr>
        <p:spPr>
          <a:xfrm>
            <a:off x="11366500" y="6477000"/>
            <a:ext cx="355600" cy="10772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r"/>
            <a:r>
              <a:rPr lang="en-US" altLang="zh-CN" sz="700" b="1">
                <a:solidFill>
                  <a:srgbClr val="006BB7"/>
                </a:solidFill>
                <a:latin typeface="Microsoft YaHei" panose="020B0503020204020204" pitchFamily="34" charset="-122"/>
              </a:rPr>
              <a:t>31</a:t>
            </a:r>
            <a:endParaRPr lang="zh-CN" altLang="en-US" sz="700" b="1">
              <a:solidFill>
                <a:srgbClr val="006BB7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0309AA1B-9B78-1FEF-AC91-D1F1663A76AD}"/>
              </a:ext>
            </a:extLst>
          </p:cNvPr>
          <p:cNvSpPr/>
          <p:nvPr/>
        </p:nvSpPr>
        <p:spPr>
          <a:xfrm>
            <a:off x="889000" y="1524000"/>
            <a:ext cx="3111500" cy="120650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58F1D6E8-398A-C858-A764-F69496492522}"/>
              </a:ext>
            </a:extLst>
          </p:cNvPr>
          <p:cNvSpPr/>
          <p:nvPr/>
        </p:nvSpPr>
        <p:spPr>
          <a:xfrm>
            <a:off x="889000" y="1524000"/>
            <a:ext cx="76200" cy="1206500"/>
          </a:xfrm>
          <a:prstGeom prst="rect">
            <a:avLst/>
          </a:prstGeom>
          <a:solidFill>
            <a:srgbClr val="006BB7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CCF7FF1D-622D-434A-BF69-7DE0107D462A}"/>
              </a:ext>
            </a:extLst>
          </p:cNvPr>
          <p:cNvSpPr txBox="1"/>
          <p:nvPr/>
        </p:nvSpPr>
        <p:spPr>
          <a:xfrm>
            <a:off x="1079500" y="1651000"/>
            <a:ext cx="2806700" cy="215444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400" b="1">
                <a:solidFill>
                  <a:srgbClr val="0A2E4E"/>
                </a:solidFill>
                <a:latin typeface="Microsoft YaHei" panose="020B0503020204020204" pitchFamily="34" charset="-122"/>
              </a:rPr>
              <a:t>特征选择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124F310B-CDE2-FE65-6801-5B801832D487}"/>
              </a:ext>
            </a:extLst>
          </p:cNvPr>
          <p:cNvSpPr txBox="1"/>
          <p:nvPr/>
        </p:nvSpPr>
        <p:spPr>
          <a:xfrm>
            <a:off x="1079500" y="2006600"/>
            <a:ext cx="2806700" cy="36933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200">
                <a:solidFill>
                  <a:srgbClr val="38566F"/>
                </a:solidFill>
                <a:latin typeface="Microsoft YaHei" panose="020B0503020204020204" pitchFamily="34" charset="-122"/>
              </a:rPr>
              <a:t>身高</a:t>
            </a:r>
            <a:r>
              <a:rPr lang="en-US" altLang="zh-CN" sz="1200">
                <a:solidFill>
                  <a:srgbClr val="38566F"/>
                </a:solidFill>
                <a:latin typeface="Microsoft YaHei" panose="020B0503020204020204" pitchFamily="34" charset="-122"/>
              </a:rPr>
              <a:t>+</a:t>
            </a:r>
            <a:r>
              <a:rPr lang="zh-CN" altLang="en-US" sz="1200">
                <a:solidFill>
                  <a:srgbClr val="38566F"/>
                </a:solidFill>
                <a:latin typeface="Microsoft YaHei" panose="020B0503020204020204" pitchFamily="34" charset="-122"/>
              </a:rPr>
              <a:t>体重比单特征更稳定；图像任务中 </a:t>
            </a:r>
            <a:r>
              <a:rPr lang="en-US" altLang="zh-CN" sz="1200">
                <a:solidFill>
                  <a:srgbClr val="38566F"/>
                </a:solidFill>
                <a:latin typeface="Microsoft YaHei" panose="020B0503020204020204" pitchFamily="34" charset="-122"/>
              </a:rPr>
              <a:t>PCA </a:t>
            </a:r>
            <a:r>
              <a:rPr lang="zh-CN" altLang="en-US" sz="1200">
                <a:solidFill>
                  <a:srgbClr val="38566F"/>
                </a:solidFill>
                <a:latin typeface="Microsoft YaHei" panose="020B0503020204020204" pitchFamily="34" charset="-122"/>
              </a:rPr>
              <a:t>可压缩高维特征。</a:t>
            </a:r>
          </a:p>
        </p:txBody>
      </p:sp>
      <p:sp>
        <p:nvSpPr>
          <p:cNvPr id="15" name="矩形: 圆角 14">
            <a:extLst>
              <a:ext uri="{FF2B5EF4-FFF2-40B4-BE49-F238E27FC236}">
                <a16:creationId xmlns:a16="http://schemas.microsoft.com/office/drawing/2014/main" id="{34168840-C4B6-55EA-329A-25CA6B4EBD5E}"/>
              </a:ext>
            </a:extLst>
          </p:cNvPr>
          <p:cNvSpPr/>
          <p:nvPr/>
        </p:nvSpPr>
        <p:spPr>
          <a:xfrm>
            <a:off x="4572000" y="1524000"/>
            <a:ext cx="3111500" cy="120650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AE2F7C1F-4E9C-AB55-02BA-ABD462A260F7}"/>
              </a:ext>
            </a:extLst>
          </p:cNvPr>
          <p:cNvSpPr/>
          <p:nvPr/>
        </p:nvSpPr>
        <p:spPr>
          <a:xfrm>
            <a:off x="4572000" y="1524000"/>
            <a:ext cx="76200" cy="1206500"/>
          </a:xfrm>
          <a:prstGeom prst="rect">
            <a:avLst/>
          </a:prstGeom>
          <a:solidFill>
            <a:srgbClr val="0A7FC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5B1102DA-A36B-7980-C3AB-EA25E5E100B5}"/>
              </a:ext>
            </a:extLst>
          </p:cNvPr>
          <p:cNvSpPr txBox="1"/>
          <p:nvPr/>
        </p:nvSpPr>
        <p:spPr>
          <a:xfrm>
            <a:off x="4762500" y="1651000"/>
            <a:ext cx="2806700" cy="215444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400" b="1">
                <a:solidFill>
                  <a:srgbClr val="0A2E4E"/>
                </a:solidFill>
                <a:latin typeface="Microsoft YaHei" panose="020B0503020204020204" pitchFamily="34" charset="-122"/>
              </a:rPr>
              <a:t>模型假设</a:t>
            </a: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9B9F604F-9F80-1C46-7558-271D4EA0765C}"/>
              </a:ext>
            </a:extLst>
          </p:cNvPr>
          <p:cNvSpPr txBox="1"/>
          <p:nvPr/>
        </p:nvSpPr>
        <p:spPr>
          <a:xfrm>
            <a:off x="4762500" y="2006600"/>
            <a:ext cx="2806700" cy="36933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200">
                <a:solidFill>
                  <a:srgbClr val="38566F"/>
                </a:solidFill>
                <a:latin typeface="Microsoft YaHei" panose="020B0503020204020204" pitchFamily="34" charset="-122"/>
              </a:rPr>
              <a:t>正态假设、窗口宽度、线性边界都会影响最终性能。</a:t>
            </a:r>
          </a:p>
        </p:txBody>
      </p:sp>
      <p:sp>
        <p:nvSpPr>
          <p:cNvPr id="19" name="矩形: 圆角 18">
            <a:extLst>
              <a:ext uri="{FF2B5EF4-FFF2-40B4-BE49-F238E27FC236}">
                <a16:creationId xmlns:a16="http://schemas.microsoft.com/office/drawing/2014/main" id="{DF55B053-D7A4-4995-3C5C-B67FD6411EC4}"/>
              </a:ext>
            </a:extLst>
          </p:cNvPr>
          <p:cNvSpPr/>
          <p:nvPr/>
        </p:nvSpPr>
        <p:spPr>
          <a:xfrm>
            <a:off x="8255000" y="1524000"/>
            <a:ext cx="2857500" cy="120650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810AE86D-A38F-9A98-504F-3D127075A92E}"/>
              </a:ext>
            </a:extLst>
          </p:cNvPr>
          <p:cNvSpPr/>
          <p:nvPr/>
        </p:nvSpPr>
        <p:spPr>
          <a:xfrm>
            <a:off x="8255000" y="1524000"/>
            <a:ext cx="76200" cy="1206500"/>
          </a:xfrm>
          <a:prstGeom prst="rect">
            <a:avLst/>
          </a:prstGeom>
          <a:solidFill>
            <a:srgbClr val="D4A84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71DF0BBE-8045-3A58-7ECD-A4490CD5A171}"/>
              </a:ext>
            </a:extLst>
          </p:cNvPr>
          <p:cNvSpPr txBox="1"/>
          <p:nvPr/>
        </p:nvSpPr>
        <p:spPr>
          <a:xfrm>
            <a:off x="8445500" y="1651000"/>
            <a:ext cx="2552700" cy="215444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400" b="1">
                <a:solidFill>
                  <a:srgbClr val="0A2E4E"/>
                </a:solidFill>
                <a:latin typeface="Microsoft YaHei" panose="020B0503020204020204" pitchFamily="34" charset="-122"/>
              </a:rPr>
              <a:t>评价指标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BF45930E-7686-E0C0-EC82-3C77B4B1C833}"/>
              </a:ext>
            </a:extLst>
          </p:cNvPr>
          <p:cNvSpPr txBox="1"/>
          <p:nvPr/>
        </p:nvSpPr>
        <p:spPr>
          <a:xfrm>
            <a:off x="8445500" y="2006600"/>
            <a:ext cx="2552700" cy="36933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200">
                <a:solidFill>
                  <a:srgbClr val="38566F"/>
                </a:solidFill>
                <a:latin typeface="Microsoft YaHei" panose="020B0503020204020204" pitchFamily="34" charset="-122"/>
              </a:rPr>
              <a:t>准确率、错误率、召回率、混淆矩阵和聚类指标需要综合分析。</a:t>
            </a:r>
          </a:p>
        </p:txBody>
      </p:sp>
      <p:sp>
        <p:nvSpPr>
          <p:cNvPr id="23" name="矩形: 圆角 22">
            <a:extLst>
              <a:ext uri="{FF2B5EF4-FFF2-40B4-BE49-F238E27FC236}">
                <a16:creationId xmlns:a16="http://schemas.microsoft.com/office/drawing/2014/main" id="{B092B35C-FF7B-C449-4416-751D19BBF2FB}"/>
              </a:ext>
            </a:extLst>
          </p:cNvPr>
          <p:cNvSpPr/>
          <p:nvPr/>
        </p:nvSpPr>
        <p:spPr>
          <a:xfrm>
            <a:off x="1270000" y="3810000"/>
            <a:ext cx="9652000" cy="965200"/>
          </a:xfrm>
          <a:prstGeom prst="roundRect">
            <a:avLst/>
          </a:prstGeom>
          <a:solidFill>
            <a:srgbClr val="FFF7E0"/>
          </a:solidFill>
          <a:ln w="8890">
            <a:solidFill>
              <a:srgbClr val="FDE68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31E2A6BF-F16F-9363-951D-6B635A3098BE}"/>
              </a:ext>
            </a:extLst>
          </p:cNvPr>
          <p:cNvSpPr txBox="1"/>
          <p:nvPr/>
        </p:nvSpPr>
        <p:spPr>
          <a:xfrm>
            <a:off x="1587500" y="4140200"/>
            <a:ext cx="9017000" cy="261610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ctr"/>
            <a:r>
              <a:rPr lang="zh-CN" altLang="en-US" sz="1700" b="1">
                <a:solidFill>
                  <a:srgbClr val="92400E"/>
                </a:solidFill>
                <a:latin typeface="Microsoft YaHei" panose="020B0503020204020204" pitchFamily="34" charset="-122"/>
              </a:rPr>
              <a:t>核心体会：模式识别方法没有绝对最优，算法选择必须结合数据分布、任务目标和评价指标。</a:t>
            </a:r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01EA2BC9-E488-0260-4E3B-203B3D2B58D8}"/>
              </a:ext>
            </a:extLst>
          </p:cNvPr>
          <p:cNvSpPr txBox="1"/>
          <p:nvPr/>
        </p:nvSpPr>
        <p:spPr>
          <a:xfrm>
            <a:off x="1498600" y="5181600"/>
            <a:ext cx="9271000" cy="779701"/>
          </a:xfrm>
          <a:prstGeom prst="rect">
            <a:avLst/>
          </a:prstGeom>
          <a:noFill/>
        </p:spPr>
        <p:txBody>
          <a:bodyPr vert="horz" lIns="101600" tIns="25400" rIns="25400" bIns="25400" rtlCol="0">
            <a:spAutoFit/>
          </a:bodyPr>
          <a:lstStyle/>
          <a:p>
            <a:pPr marL="342900" indent="-342900">
              <a:spcAft>
                <a:spcPts val="500"/>
              </a:spcAft>
              <a:buFont typeface="+mj-lt"/>
              <a:buAutoNum type="arabicPeriod"/>
            </a:pPr>
            <a:r>
              <a:rPr lang="en-US" altLang="zh-CN" sz="1300">
                <a:solidFill>
                  <a:srgbClr val="38566F"/>
                </a:solidFill>
                <a:latin typeface="Microsoft YaHei" panose="020B0503020204020204" pitchFamily="34" charset="-122"/>
              </a:rPr>
              <a:t>Bayes </a:t>
            </a:r>
            <a:r>
              <a:rPr lang="zh-CN" altLang="en-US" sz="1300">
                <a:solidFill>
                  <a:srgbClr val="38566F"/>
                </a:solidFill>
                <a:latin typeface="Microsoft YaHei" panose="020B0503020204020204" pitchFamily="34" charset="-122"/>
              </a:rPr>
              <a:t>强调概率决策，</a:t>
            </a:r>
            <a:r>
              <a:rPr lang="en-US" altLang="zh-CN" sz="1300">
                <a:solidFill>
                  <a:srgbClr val="38566F"/>
                </a:solidFill>
                <a:latin typeface="Microsoft YaHei" panose="020B0503020204020204" pitchFamily="34" charset="-122"/>
              </a:rPr>
              <a:t>Fisher </a:t>
            </a:r>
            <a:r>
              <a:rPr lang="zh-CN" altLang="en-US" sz="1300">
                <a:solidFill>
                  <a:srgbClr val="38566F"/>
                </a:solidFill>
                <a:latin typeface="Microsoft YaHei" panose="020B0503020204020204" pitchFamily="34" charset="-122"/>
              </a:rPr>
              <a:t>强调判别方向，</a:t>
            </a:r>
            <a:r>
              <a:rPr lang="en-US" altLang="zh-CN" sz="1300">
                <a:solidFill>
                  <a:srgbClr val="38566F"/>
                </a:solidFill>
                <a:latin typeface="Microsoft YaHei" panose="020B0503020204020204" pitchFamily="34" charset="-122"/>
              </a:rPr>
              <a:t>K-L </a:t>
            </a:r>
            <a:r>
              <a:rPr lang="zh-CN" altLang="en-US" sz="1300">
                <a:solidFill>
                  <a:srgbClr val="38566F"/>
                </a:solidFill>
                <a:latin typeface="Microsoft YaHei" panose="020B0503020204020204" pitchFamily="34" charset="-122"/>
              </a:rPr>
              <a:t>强调表示与降维，聚类强调自然结构。</a:t>
            </a:r>
          </a:p>
          <a:p>
            <a:pPr marL="342900" indent="-342900">
              <a:spcAft>
                <a:spcPts val="500"/>
              </a:spcAft>
              <a:buFont typeface="+mj-lt"/>
              <a:buAutoNum type="arabicPeriod"/>
            </a:pPr>
            <a:r>
              <a:rPr lang="zh-CN" altLang="en-US" sz="1300">
                <a:solidFill>
                  <a:srgbClr val="38566F"/>
                </a:solidFill>
                <a:latin typeface="Microsoft YaHei" panose="020B0503020204020204" pitchFamily="34" charset="-122"/>
              </a:rPr>
              <a:t>同一数据集上，不同模型的差异主要来自特征表示、概率假设、判别边界和评价目标。</a:t>
            </a:r>
          </a:p>
          <a:p>
            <a:pPr marL="342900" indent="-342900">
              <a:spcAft>
                <a:spcPts val="500"/>
              </a:spcAft>
              <a:buFont typeface="+mj-lt"/>
              <a:buAutoNum type="arabicPeriod"/>
            </a:pPr>
            <a:r>
              <a:rPr lang="zh-CN" altLang="en-US" sz="1300">
                <a:solidFill>
                  <a:srgbClr val="38566F"/>
                </a:solidFill>
                <a:latin typeface="Microsoft YaHei" panose="020B0503020204020204" pitchFamily="34" charset="-122"/>
              </a:rPr>
              <a:t>实验设计需要同时报告设置、指标和图形结果，才能解释模型为什么有效或失效。</a:t>
            </a:r>
          </a:p>
        </p:txBody>
      </p:sp>
    </p:spTree>
    <p:extLst>
      <p:ext uri="{BB962C8B-B14F-4D97-AF65-F5344CB8AC3E}">
        <p14:creationId xmlns:p14="http://schemas.microsoft.com/office/powerpoint/2010/main" val="3437363519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E6A3F51B-8921-A880-911F-7318007E4382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4A82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E7A870F6-E836-A368-94A7-19655EC67595}"/>
              </a:ext>
            </a:extLst>
          </p:cNvPr>
          <p:cNvSpPr/>
          <p:nvPr/>
        </p:nvSpPr>
        <p:spPr>
          <a:xfrm>
            <a:off x="0" y="0"/>
            <a:ext cx="203200" cy="6858000"/>
          </a:xfrm>
          <a:prstGeom prst="rect">
            <a:avLst/>
          </a:prstGeom>
          <a:solidFill>
            <a:srgbClr val="006BB7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51E6B7A4-BD24-9717-D074-5A83369A1C86}"/>
              </a:ext>
            </a:extLst>
          </p:cNvPr>
          <p:cNvSpPr/>
          <p:nvPr/>
        </p:nvSpPr>
        <p:spPr>
          <a:xfrm>
            <a:off x="203200" y="0"/>
            <a:ext cx="63500" cy="6858000"/>
          </a:xfrm>
          <a:prstGeom prst="rect">
            <a:avLst/>
          </a:prstGeom>
          <a:solidFill>
            <a:srgbClr val="D4A84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C0DD5C5-C73B-F45D-BC87-A6C2455CA6B6}"/>
              </a:ext>
            </a:extLst>
          </p:cNvPr>
          <p:cNvSpPr txBox="1"/>
          <p:nvPr/>
        </p:nvSpPr>
        <p:spPr>
          <a:xfrm>
            <a:off x="889000" y="2514600"/>
            <a:ext cx="3810000" cy="784830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5100" b="1">
                <a:solidFill>
                  <a:srgbClr val="FFFFFF"/>
                </a:solidFill>
                <a:latin typeface="Microsoft YaHei" panose="020B0503020204020204" pitchFamily="34" charset="-122"/>
              </a:rPr>
              <a:t>谢谢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B09AB545-54D6-B825-6A80-7E286B691B5D}"/>
              </a:ext>
            </a:extLst>
          </p:cNvPr>
          <p:cNvSpPr txBox="1"/>
          <p:nvPr/>
        </p:nvSpPr>
        <p:spPr>
          <a:xfrm>
            <a:off x="939800" y="3492500"/>
            <a:ext cx="5588000" cy="323165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2100">
                <a:solidFill>
                  <a:srgbClr val="CBD5E1"/>
                </a:solidFill>
                <a:latin typeface="Microsoft YaHei" panose="020B0503020204020204" pitchFamily="34" charset="-122"/>
              </a:rPr>
              <a:t>欢迎老师和同学批评指正</a:t>
            </a:r>
          </a:p>
        </p:txBody>
      </p:sp>
      <p:cxnSp>
        <p:nvCxnSpPr>
          <p:cNvPr id="7" name="直接连接符 6">
            <a:extLst>
              <a:ext uri="{FF2B5EF4-FFF2-40B4-BE49-F238E27FC236}">
                <a16:creationId xmlns:a16="http://schemas.microsoft.com/office/drawing/2014/main" id="{E4789134-A06E-2738-3FEC-1F5CA4F2D720}"/>
              </a:ext>
            </a:extLst>
          </p:cNvPr>
          <p:cNvCxnSpPr/>
          <p:nvPr/>
        </p:nvCxnSpPr>
        <p:spPr>
          <a:xfrm>
            <a:off x="939800" y="4140200"/>
            <a:ext cx="2362200" cy="0"/>
          </a:xfrm>
          <a:prstGeom prst="line">
            <a:avLst/>
          </a:prstGeom>
          <a:ln w="50800">
            <a:solidFill>
              <a:srgbClr val="D4A84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0191869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3499</Words>
  <Application>Microsoft Office PowerPoint</Application>
  <PresentationFormat>自定义</PresentationFormat>
  <Paragraphs>583</Paragraphs>
  <Slides>38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38</vt:i4>
      </vt:variant>
    </vt:vector>
  </HeadingPairs>
  <TitlesOfParts>
    <vt:vector size="43" baseType="lpstr">
      <vt:lpstr>等线</vt:lpstr>
      <vt:lpstr>等线 Light</vt:lpstr>
      <vt:lpstr>Microsoft YaHei</vt:lpstr>
      <vt:lpstr>Arial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军 曹</dc:creator>
  <cp:lastModifiedBy>军 曹</cp:lastModifiedBy>
  <cp:revision>1</cp:revision>
  <dcterms:created xsi:type="dcterms:W3CDTF">2026-06-16T20:17:47Z</dcterms:created>
  <dcterms:modified xsi:type="dcterms:W3CDTF">2026-06-16T20:18:19Z</dcterms:modified>
</cp:coreProperties>
</file>