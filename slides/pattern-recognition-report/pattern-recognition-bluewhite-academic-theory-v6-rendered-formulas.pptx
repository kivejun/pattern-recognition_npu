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36B1E9-A452-E2FF-3DD7-0A54CF65E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4A4C51-9A2B-EC06-8F70-0D77BD8CE8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2815AA-0476-E0A8-7A7C-F49A3D670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E69-2C77-4E29-91D2-4F23A55CE47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749463-2E62-7C3B-F56C-AE493B43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53C572-6049-A369-2672-43C259E3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48B9-EA4B-4049-8414-0039295A3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749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FB701F-6307-7E9B-F7C8-8DF2D91E5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757357-CA6F-CC03-D952-059780FE6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D22D83-CBF9-261E-4BDF-49C1FA1A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E69-2C77-4E29-91D2-4F23A55CE47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822959-5B6E-7CEB-D6AB-D98B59D43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6DB903-AF55-670E-2452-98F25C562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48B9-EA4B-4049-8414-0039295A3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065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1EDFDE-5B0D-EA44-37D3-A02AAC141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8447BF-3ACE-214A-2AE0-AE36DC8E1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66A25A-4582-234B-E210-1AE9548FA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E69-2C77-4E29-91D2-4F23A55CE47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FDC239-9D42-4F9E-FC6D-2AF35A77D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E50630-9A75-225D-86F1-94C4477C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48B9-EA4B-4049-8414-0039295A3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887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8C2C13-FBDD-2FC9-2F92-E7698BD0A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3D32E6-B6B6-D584-181E-1AB08AB0CD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7CF30A-9ECA-81B3-F489-F78F2BA5E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5F5ABE-33C0-E350-B459-646909E7C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E69-2C77-4E29-91D2-4F23A55CE47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491505-7734-7BAE-F67C-9166DFCCE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F5AEFA-A898-0E64-5DFD-87FC020CC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48B9-EA4B-4049-8414-0039295A3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693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7E4BC2-C62F-ED31-C8FA-B76523EE1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9DA243-3847-D0C2-1CD4-0AF488F04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84F838-C531-C8AC-8B3A-95AC4D8F0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912D4F-2604-FDE8-517B-B77D6C63A2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678409A-5D6C-0B30-3E14-469EC1E65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DB0943E-BDF0-E8B0-5049-EAA7B639A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E69-2C77-4E29-91D2-4F23A55CE47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E8B06D-9522-DF75-0919-913A3EBC1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469256-018A-1678-2CD4-F48D9AA34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48B9-EA4B-4049-8414-0039295A3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961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7FBB6-D412-9D63-D4F9-C5E29CF7E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00D76A-55A3-BF2E-BD43-027BF37A6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E69-2C77-4E29-91D2-4F23A55CE47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AE80EB6-BB08-ADC9-78D9-75A66DF0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0C90AE-5544-B4F9-976E-2BFF7E701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48B9-EA4B-4049-8414-0039295A3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659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F1A5F3-87D3-AD35-43FA-CEAA9B647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E69-2C77-4E29-91D2-4F23A55CE47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41421D-5038-0E5D-8F86-73E7F0501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FEFE89-A68C-4BED-7800-72F38336C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48B9-EA4B-4049-8414-0039295A3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43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824C01-16B2-D1BD-5FE6-98235C72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AE4CF-915A-BC86-5854-F0185AF14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CED58E-5544-8287-2318-B920B3251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1F7F42-EC5B-02BB-0CD5-34A4B83D5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E69-2C77-4E29-91D2-4F23A55CE47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6A42E4-F48E-16B3-2EAB-6512E46FD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8A0E6D-BE09-8C5A-0AD7-F25953DC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48B9-EA4B-4049-8414-0039295A3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588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03DE1C-F39F-52A8-C4B9-6F9C9CFEA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30847A-270E-CFCF-6FC6-E0EE14316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1E1D7F-B9F9-885B-DCD0-1DE9EF2F5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426600-D29D-106B-236B-612DC1FFE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E69-2C77-4E29-91D2-4F23A55CE47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AA89BF-CDF1-99E6-58F6-505F3CA19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5D105B-16A1-7EF7-FCFE-276414291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48B9-EA4B-4049-8414-0039295A3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931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3F939-D7D4-A1B7-3CE1-4E71588D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115620-F9FA-E8CD-066C-59D326349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C89DE1-CDB8-F490-34E9-D44897DE7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E69-2C77-4E29-91D2-4F23A55CE47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DDA4E4-317D-3FC9-6DBB-1BD17EE46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6D8F36-9A4E-69CC-9223-AF756CF28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48B9-EA4B-4049-8414-0039295A3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479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F91D9B-D435-A608-9FF4-44E909ADCA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D2C814-0842-F089-309F-1540E18F0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EBFFE1-8D19-1790-FAD4-0C5C4578F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E69-2C77-4E29-91D2-4F23A55CE47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1872D6-AF6D-17E2-3C5E-8923EA37F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460B93-55FD-6310-9474-34911F96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48B9-EA4B-4049-8414-0039295A3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345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5219DA-1334-DA7B-731E-7806DCEF3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4A6938-49D0-8A2F-9393-F25C3EAF1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7BED60-04B0-8C4C-4D58-13FC47B3C3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9DE69-2C77-4E29-91D2-4F23A55CE47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BBF99C-DEEB-7C02-935E-8CA154A3A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C050F9-F96C-782D-031F-4EA4AF952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948B9-EA4B-4049-8414-0039295A3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437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9AC27AC-D0E0-EBFA-ACDC-F2CA539F30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EF03F724-55C4-77BB-C989-F093D62D78F3}"/>
              </a:ext>
            </a:extLst>
          </p:cNvPr>
          <p:cNvSpPr/>
          <p:nvPr/>
        </p:nvSpPr>
        <p:spPr>
          <a:xfrm>
            <a:off x="-1016000" y="4381500"/>
            <a:ext cx="6794500" cy="28575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2181601-B5E4-4DAA-F3F3-B4A3107CCC41}"/>
              </a:ext>
            </a:extLst>
          </p:cNvPr>
          <p:cNvSpPr/>
          <p:nvPr/>
        </p:nvSpPr>
        <p:spPr>
          <a:xfrm>
            <a:off x="8064500" y="-254000"/>
            <a:ext cx="5334000" cy="1968500"/>
          </a:xfrm>
          <a:prstGeom prst="parallelogram">
            <a:avLst>
              <a:gd name="adj" fmla="val 18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FC52E1-ED8E-CEEE-141B-5C83D1EE5CAF}"/>
              </a:ext>
            </a:extLst>
          </p:cNvPr>
          <p:cNvSpPr txBox="1"/>
          <p:nvPr/>
        </p:nvSpPr>
        <p:spPr>
          <a:xfrm>
            <a:off x="914400" y="1422400"/>
            <a:ext cx="406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BFE8FF"/>
                </a:solidFill>
                <a:latin typeface="Microsoft YaHei" panose="020B0503020204020204" pitchFamily="34" charset="-122"/>
              </a:rPr>
              <a:t>PATTERN RECOGNITION</a:t>
            </a:r>
            <a:endParaRPr lang="zh-CN" altLang="en-US" sz="1000" b="1">
              <a:solidFill>
                <a:srgbClr val="BFE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9A2F4A-EF4D-3786-488E-206878600DBD}"/>
              </a:ext>
            </a:extLst>
          </p:cNvPr>
          <p:cNvSpPr txBox="1"/>
          <p:nvPr/>
        </p:nvSpPr>
        <p:spPr>
          <a:xfrm>
            <a:off x="914400" y="2006600"/>
            <a:ext cx="7874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4400" b="1">
                <a:solidFill>
                  <a:srgbClr val="FFFFFF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BF868D-4807-68D2-F864-429D49EEA114}"/>
              </a:ext>
            </a:extLst>
          </p:cNvPr>
          <p:cNvSpPr txBox="1"/>
          <p:nvPr/>
        </p:nvSpPr>
        <p:spPr>
          <a:xfrm>
            <a:off x="965200" y="2921000"/>
            <a:ext cx="876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分类器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Fisher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判别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K-L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变换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图像识别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F3AFEA1-0623-40E0-1D90-C20A5F707641}"/>
              </a:ext>
            </a:extLst>
          </p:cNvPr>
          <p:cNvSpPr/>
          <p:nvPr/>
        </p:nvSpPr>
        <p:spPr>
          <a:xfrm>
            <a:off x="9144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A11228-2E8A-C82B-448B-9596469297B0}"/>
              </a:ext>
            </a:extLst>
          </p:cNvPr>
          <p:cNvSpPr/>
          <p:nvPr/>
        </p:nvSpPr>
        <p:spPr>
          <a:xfrm>
            <a:off x="914400" y="4165600"/>
            <a:ext cx="76200" cy="6985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8871A4-C7CB-21A3-51C6-28D1029CF90A}"/>
              </a:ext>
            </a:extLst>
          </p:cNvPr>
          <p:cNvSpPr txBox="1"/>
          <p:nvPr/>
        </p:nvSpPr>
        <p:spPr>
          <a:xfrm>
            <a:off x="11176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姓名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E23A7F8-5113-351A-4799-39E32A7247D3}"/>
              </a:ext>
            </a:extLst>
          </p:cNvPr>
          <p:cNvSpPr txBox="1"/>
          <p:nvPr/>
        </p:nvSpPr>
        <p:spPr>
          <a:xfrm>
            <a:off x="11176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396EDB3-ECBC-3D07-FCAF-0F9308EAF1FB}"/>
              </a:ext>
            </a:extLst>
          </p:cNvPr>
          <p:cNvSpPr/>
          <p:nvPr/>
        </p:nvSpPr>
        <p:spPr>
          <a:xfrm>
            <a:off x="39243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A160D0-DF89-E5F4-D776-F2E3215DDFD0}"/>
              </a:ext>
            </a:extLst>
          </p:cNvPr>
          <p:cNvSpPr/>
          <p:nvPr/>
        </p:nvSpPr>
        <p:spPr>
          <a:xfrm>
            <a:off x="3924300" y="4165600"/>
            <a:ext cx="76200" cy="698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4794FB1-7053-6F07-FB52-5D82253E3895}"/>
              </a:ext>
            </a:extLst>
          </p:cNvPr>
          <p:cNvSpPr txBox="1"/>
          <p:nvPr/>
        </p:nvSpPr>
        <p:spPr>
          <a:xfrm>
            <a:off x="41275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学号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17A35A-EFF2-6763-7079-A25F8EDF31CB}"/>
              </a:ext>
            </a:extLst>
          </p:cNvPr>
          <p:cNvSpPr txBox="1"/>
          <p:nvPr/>
        </p:nvSpPr>
        <p:spPr>
          <a:xfrm>
            <a:off x="41275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FEF2E9B-4D7E-FA17-7299-8D51072548C0}"/>
              </a:ext>
            </a:extLst>
          </p:cNvPr>
          <p:cNvSpPr/>
          <p:nvPr/>
        </p:nvSpPr>
        <p:spPr>
          <a:xfrm>
            <a:off x="69342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191B51-2B5E-D787-D7B9-E4D5E6B56725}"/>
              </a:ext>
            </a:extLst>
          </p:cNvPr>
          <p:cNvSpPr/>
          <p:nvPr/>
        </p:nvSpPr>
        <p:spPr>
          <a:xfrm>
            <a:off x="6934200" y="4165600"/>
            <a:ext cx="76200" cy="698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9BB4BD5-8CD4-3C01-6704-0E73633D8AB8}"/>
              </a:ext>
            </a:extLst>
          </p:cNvPr>
          <p:cNvSpPr txBox="1"/>
          <p:nvPr/>
        </p:nvSpPr>
        <p:spPr>
          <a:xfrm>
            <a:off x="71374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班级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40F895D-4F2B-FA06-FAC0-E70BE845DE86}"/>
              </a:ext>
            </a:extLst>
          </p:cNvPr>
          <p:cNvSpPr txBox="1"/>
          <p:nvPr/>
        </p:nvSpPr>
        <p:spPr>
          <a:xfrm>
            <a:off x="71374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</p:spTree>
    <p:extLst>
      <p:ext uri="{BB962C8B-B14F-4D97-AF65-F5344CB8AC3E}">
        <p14:creationId xmlns:p14="http://schemas.microsoft.com/office/powerpoint/2010/main" val="3830187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714159-EB2C-A775-14DB-0176147EDC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43AE9D-D0A3-5DF4-4E6B-A0110A57912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CC0CA91-229D-FCEF-49C3-E64A090CA14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7CBF335A-60EC-92E4-03AE-285E18703E21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81728A-C7AF-F0C8-306C-872FB0AB2AB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TALK ROADMAP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AB99D0-3DAB-4FD3-36E3-55E9F2400CB5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汇报结构：从分类到聚类的完整方法链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DE97574-1167-ACF7-6B2D-D01E4820B6B1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AD432E4-8BE4-AAFC-6C9C-8841F74FF74A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85CB42-7E61-5295-28F7-F9EDFD18DB34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CC2D736-11C2-D0A3-BCB5-624C87436B4C}"/>
              </a:ext>
            </a:extLst>
          </p:cNvPr>
          <p:cNvSpPr/>
          <p:nvPr/>
        </p:nvSpPr>
        <p:spPr>
          <a:xfrm>
            <a:off x="7112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76FDBF-A6B7-2D48-BE3C-17BA555F307F}"/>
              </a:ext>
            </a:extLst>
          </p:cNvPr>
          <p:cNvSpPr/>
          <p:nvPr/>
        </p:nvSpPr>
        <p:spPr>
          <a:xfrm>
            <a:off x="711200" y="1498600"/>
            <a:ext cx="76200" cy="1168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CDF118-E0BC-99F7-646D-C08BFE6381DB}"/>
              </a:ext>
            </a:extLst>
          </p:cNvPr>
          <p:cNvSpPr txBox="1"/>
          <p:nvPr/>
        </p:nvSpPr>
        <p:spPr>
          <a:xfrm>
            <a:off x="9017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01 Bayes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8C9C89-2BA2-34DE-02B0-347C066B41C9}"/>
              </a:ext>
            </a:extLst>
          </p:cNvPr>
          <p:cNvSpPr txBox="1"/>
          <p:nvPr/>
        </p:nvSpPr>
        <p:spPr>
          <a:xfrm>
            <a:off x="901700" y="1981200"/>
            <a:ext cx="153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概率密度估计与风险决策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40E5EB4-7012-32C5-E987-9D3002B9BC19}"/>
              </a:ext>
            </a:extLst>
          </p:cNvPr>
          <p:cNvSpPr/>
          <p:nvPr/>
        </p:nvSpPr>
        <p:spPr>
          <a:xfrm>
            <a:off x="29718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31D0B7-7C0C-4A1E-AB6C-C048AE93182A}"/>
              </a:ext>
            </a:extLst>
          </p:cNvPr>
          <p:cNvSpPr/>
          <p:nvPr/>
        </p:nvSpPr>
        <p:spPr>
          <a:xfrm>
            <a:off x="2971800" y="1498600"/>
            <a:ext cx="76200" cy="1168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CC26AE-4BDF-7D4D-9198-00ACE104F132}"/>
              </a:ext>
            </a:extLst>
          </p:cNvPr>
          <p:cNvSpPr txBox="1"/>
          <p:nvPr/>
        </p:nvSpPr>
        <p:spPr>
          <a:xfrm>
            <a:off x="31623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02 Fisher/Parzen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1AE136E-C332-BF10-3BC5-435CB136643B}"/>
              </a:ext>
            </a:extLst>
          </p:cNvPr>
          <p:cNvSpPr txBox="1"/>
          <p:nvPr/>
        </p:nvSpPr>
        <p:spPr>
          <a:xfrm>
            <a:off x="31623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非参数估计与直接判别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B17F57F-495A-5A38-9544-84E570218631}"/>
              </a:ext>
            </a:extLst>
          </p:cNvPr>
          <p:cNvSpPr/>
          <p:nvPr/>
        </p:nvSpPr>
        <p:spPr>
          <a:xfrm>
            <a:off x="52324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8E08E90-49A0-B645-80B9-4BC095F8FC66}"/>
              </a:ext>
            </a:extLst>
          </p:cNvPr>
          <p:cNvSpPr/>
          <p:nvPr/>
        </p:nvSpPr>
        <p:spPr>
          <a:xfrm>
            <a:off x="5232400" y="1498600"/>
            <a:ext cx="76200" cy="1168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389152-B4F9-D05F-5B89-AC1341484355}"/>
              </a:ext>
            </a:extLst>
          </p:cNvPr>
          <p:cNvSpPr txBox="1"/>
          <p:nvPr/>
        </p:nvSpPr>
        <p:spPr>
          <a:xfrm>
            <a:off x="54229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03 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特征提取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6743E8A-7839-FCCE-E1BC-CC6B0BA9C427}"/>
              </a:ext>
            </a:extLst>
          </p:cNvPr>
          <p:cNvSpPr txBox="1"/>
          <p:nvPr/>
        </p:nvSpPr>
        <p:spPr>
          <a:xfrm>
            <a:off x="54229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协方差特征分解与降维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6143EDB-D4A9-22B9-A619-A87F3F3B2BDB}"/>
              </a:ext>
            </a:extLst>
          </p:cNvPr>
          <p:cNvSpPr/>
          <p:nvPr/>
        </p:nvSpPr>
        <p:spPr>
          <a:xfrm>
            <a:off x="74930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3D77056-87B3-F007-EBC0-13049DCE7E06}"/>
              </a:ext>
            </a:extLst>
          </p:cNvPr>
          <p:cNvSpPr/>
          <p:nvPr/>
        </p:nvSpPr>
        <p:spPr>
          <a:xfrm>
            <a:off x="7493000" y="1498600"/>
            <a:ext cx="76200" cy="11684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FCB0109-DD61-0680-FC7B-CF4082ED5845}"/>
              </a:ext>
            </a:extLst>
          </p:cNvPr>
          <p:cNvSpPr txBox="1"/>
          <p:nvPr/>
        </p:nvSpPr>
        <p:spPr>
          <a:xfrm>
            <a:off x="76835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04 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图像应用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52129EA-F697-9BBE-A261-C926DF3F6FDE}"/>
              </a:ext>
            </a:extLst>
          </p:cNvPr>
          <p:cNvSpPr txBox="1"/>
          <p:nvPr/>
        </p:nvSpPr>
        <p:spPr>
          <a:xfrm>
            <a:off x="76835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高维图像压缩与识别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793AB7F-C174-845D-EA70-C7448F2C865E}"/>
              </a:ext>
            </a:extLst>
          </p:cNvPr>
          <p:cNvSpPr/>
          <p:nvPr/>
        </p:nvSpPr>
        <p:spPr>
          <a:xfrm>
            <a:off x="97536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17900BC-5F2C-4FB2-03D1-CCC881C12C64}"/>
              </a:ext>
            </a:extLst>
          </p:cNvPr>
          <p:cNvSpPr/>
          <p:nvPr/>
        </p:nvSpPr>
        <p:spPr>
          <a:xfrm>
            <a:off x="9753600" y="1498600"/>
            <a:ext cx="76200" cy="1168400"/>
          </a:xfrm>
          <a:prstGeom prst="rect">
            <a:avLst/>
          </a:prstGeom>
          <a:solidFill>
            <a:srgbClr val="2B8A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C1FC0BD-D278-1F69-9FC0-D6767F0DF4C5}"/>
              </a:ext>
            </a:extLst>
          </p:cNvPr>
          <p:cNvSpPr txBox="1"/>
          <p:nvPr/>
        </p:nvSpPr>
        <p:spPr>
          <a:xfrm>
            <a:off x="99441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05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C8A7748-0C28-C63B-847A-6139A9776488}"/>
              </a:ext>
            </a:extLst>
          </p:cNvPr>
          <p:cNvSpPr txBox="1"/>
          <p:nvPr/>
        </p:nvSpPr>
        <p:spPr>
          <a:xfrm>
            <a:off x="99441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无监督样本结构发现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9ACB8C4-F948-7563-106A-6EF2BE3DAE21}"/>
              </a:ext>
            </a:extLst>
          </p:cNvPr>
          <p:cNvSpPr/>
          <p:nvPr/>
        </p:nvSpPr>
        <p:spPr>
          <a:xfrm>
            <a:off x="1117600" y="3378200"/>
            <a:ext cx="9956800" cy="609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4EF15EF-EC3F-0411-B9E2-84854DD028DC}"/>
              </a:ext>
            </a:extLst>
          </p:cNvPr>
          <p:cNvSpPr txBox="1"/>
          <p:nvPr/>
        </p:nvSpPr>
        <p:spPr>
          <a:xfrm>
            <a:off x="1498600" y="3581400"/>
            <a:ext cx="9194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每个实验统一按照「理论知识 </a:t>
            </a:r>
            <a:r>
              <a:rPr lang="en-US" altLang="zh-CN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实验设置 </a:t>
            </a:r>
            <a:r>
              <a:rPr lang="en-US" altLang="zh-CN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实验结果 </a:t>
            </a:r>
            <a:r>
              <a:rPr lang="en-US" altLang="zh-CN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分析总结」的顺序展开，便于把算法原理和实验现象对应起来。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4965B8A-A8D7-BB6C-BCCE-552B3ED27228}"/>
              </a:ext>
            </a:extLst>
          </p:cNvPr>
          <p:cNvSpPr/>
          <p:nvPr/>
        </p:nvSpPr>
        <p:spPr>
          <a:xfrm>
            <a:off x="9652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9D4EF61-2A3C-C2BA-6529-A62F9BCE368C}"/>
              </a:ext>
            </a:extLst>
          </p:cNvPr>
          <p:cNvSpPr/>
          <p:nvPr/>
        </p:nvSpPr>
        <p:spPr>
          <a:xfrm>
            <a:off x="965200" y="4445000"/>
            <a:ext cx="76200" cy="1041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8FE7955-BF4E-195C-5F6E-8C21ECA0C52C}"/>
              </a:ext>
            </a:extLst>
          </p:cNvPr>
          <p:cNvSpPr txBox="1"/>
          <p:nvPr/>
        </p:nvSpPr>
        <p:spPr>
          <a:xfrm>
            <a:off x="11557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理论知识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67A2BD7-8914-0127-A25C-78BFDC2EC6B1}"/>
              </a:ext>
            </a:extLst>
          </p:cNvPr>
          <p:cNvSpPr txBox="1"/>
          <p:nvPr/>
        </p:nvSpPr>
        <p:spPr>
          <a:xfrm>
            <a:off x="1155700" y="4927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先讲课程概念、公式和方法思想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FEB3822-2301-5EFA-5B9F-6C0739C3E77F}"/>
              </a:ext>
            </a:extLst>
          </p:cNvPr>
          <p:cNvSpPr/>
          <p:nvPr/>
        </p:nvSpPr>
        <p:spPr>
          <a:xfrm>
            <a:off x="35306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5CFD8CD-9433-1CF7-6D31-C8A6DEE84084}"/>
              </a:ext>
            </a:extLst>
          </p:cNvPr>
          <p:cNvSpPr/>
          <p:nvPr/>
        </p:nvSpPr>
        <p:spPr>
          <a:xfrm>
            <a:off x="3530600" y="4445000"/>
            <a:ext cx="76200" cy="1041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2DDED75-64A4-FD0D-11C6-3EE94BF63090}"/>
              </a:ext>
            </a:extLst>
          </p:cNvPr>
          <p:cNvSpPr txBox="1"/>
          <p:nvPr/>
        </p:nvSpPr>
        <p:spPr>
          <a:xfrm>
            <a:off x="37211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实验设置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683FFF6-0C22-1B20-FA74-DB7ED7E25644}"/>
              </a:ext>
            </a:extLst>
          </p:cNvPr>
          <p:cNvSpPr txBox="1"/>
          <p:nvPr/>
        </p:nvSpPr>
        <p:spPr>
          <a:xfrm>
            <a:off x="3721100" y="4927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说明数据、特征、模型参数和指标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891948C0-04FE-BD0E-AB13-D8351C01EABF}"/>
              </a:ext>
            </a:extLst>
          </p:cNvPr>
          <p:cNvSpPr/>
          <p:nvPr/>
        </p:nvSpPr>
        <p:spPr>
          <a:xfrm>
            <a:off x="60960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871ED4C-11AB-D848-ABEE-E24DB0D72B5E}"/>
              </a:ext>
            </a:extLst>
          </p:cNvPr>
          <p:cNvSpPr/>
          <p:nvPr/>
        </p:nvSpPr>
        <p:spPr>
          <a:xfrm>
            <a:off x="6096000" y="4445000"/>
            <a:ext cx="76200" cy="1041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C9FF097-845D-EB72-E56A-4AE1CAF2DC15}"/>
              </a:ext>
            </a:extLst>
          </p:cNvPr>
          <p:cNvSpPr txBox="1"/>
          <p:nvPr/>
        </p:nvSpPr>
        <p:spPr>
          <a:xfrm>
            <a:off x="62865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实验结果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5E65049-3348-4CD4-5BB4-83896BCD1DED}"/>
              </a:ext>
            </a:extLst>
          </p:cNvPr>
          <p:cNvSpPr txBox="1"/>
          <p:nvPr/>
        </p:nvSpPr>
        <p:spPr>
          <a:xfrm>
            <a:off x="6286500" y="4927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展示准确率、错误率、混淆矩阵和图像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DD114E4C-F2B9-3795-79BB-20EB02B16F78}"/>
              </a:ext>
            </a:extLst>
          </p:cNvPr>
          <p:cNvSpPr/>
          <p:nvPr/>
        </p:nvSpPr>
        <p:spPr>
          <a:xfrm>
            <a:off x="86614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FE74440-4A87-277E-1E52-8DEEEDBF5029}"/>
              </a:ext>
            </a:extLst>
          </p:cNvPr>
          <p:cNvSpPr/>
          <p:nvPr/>
        </p:nvSpPr>
        <p:spPr>
          <a:xfrm>
            <a:off x="8661400" y="4445000"/>
            <a:ext cx="76200" cy="10414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1808B96-D12E-2CF0-64AD-A9AF431313D7}"/>
              </a:ext>
            </a:extLst>
          </p:cNvPr>
          <p:cNvSpPr txBox="1"/>
          <p:nvPr/>
        </p:nvSpPr>
        <p:spPr>
          <a:xfrm>
            <a:off x="88519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分析总结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EB25305-14D9-AE80-8A7E-25AD60A1723F}"/>
              </a:ext>
            </a:extLst>
          </p:cNvPr>
          <p:cNvSpPr txBox="1"/>
          <p:nvPr/>
        </p:nvSpPr>
        <p:spPr>
          <a:xfrm>
            <a:off x="8851900" y="4927600"/>
            <a:ext cx="1854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解释现象并联系课程理论</a:t>
            </a:r>
          </a:p>
        </p:txBody>
      </p:sp>
    </p:spTree>
    <p:extLst>
      <p:ext uri="{BB962C8B-B14F-4D97-AF65-F5344CB8AC3E}">
        <p14:creationId xmlns:p14="http://schemas.microsoft.com/office/powerpoint/2010/main" val="693878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B892319-7020-3077-67FA-71A8A7268A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5716F4-3E15-77FF-ABFF-3A0F706D97EE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ADFC53E-6FB6-738C-399F-CE0A25B0E4E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7E5DED16-8816-74F4-6642-61DB5E0F3AC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1B45EF-0B94-5BDA-D1C1-5CF4586FF840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SOURCE &amp; SETUP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9990FD-F064-F5AB-AC9E-814478706F48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数据与实验环境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79A409A-6886-8C84-D830-4DABDF5030FE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90C9CD4-D851-B339-DE21-362058A1B81E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84E9E8-0A48-6E9F-5E2A-886FBDBE766B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F3F3C88-27E5-DEC7-035A-A0540A40C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117703"/>
              </p:ext>
            </p:extLst>
          </p:nvPr>
        </p:nvGraphicFramePr>
        <p:xfrm>
          <a:off x="736600" y="1333500"/>
          <a:ext cx="57785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167">
                  <a:extLst>
                    <a:ext uri="{9D8B030D-6E8A-4147-A177-3AD203B41FA5}">
                      <a16:colId xmlns:a16="http://schemas.microsoft.com/office/drawing/2014/main" val="766707810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260378808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21802359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实验用途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规模</a:t>
                      </a: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70191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/ MALE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实验一、二、三、五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+ 50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3307032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/ 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分类器泛化测试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35 / 300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个测试样本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65798049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飞机图像数据集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实验四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训练图，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测试图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399016337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6B66D77B-2F13-10E5-D37A-CEB33DB67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269575"/>
              </p:ext>
            </p:extLst>
          </p:nvPr>
        </p:nvGraphicFramePr>
        <p:xfrm>
          <a:off x="6921500" y="1333500"/>
          <a:ext cx="44450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4031531170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3131597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工具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166699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Python 3.11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实验脚本运行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93824173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NumPy / SciPy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数值计算与矩阵运算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38254287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scikit-learn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、评估指标、分级聚类辅助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8288149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Matplotlib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分类边界、投影、聚类图输出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140829181"/>
                  </a:ext>
                </a:extLst>
              </a:tr>
            </a:tbl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3C83657-EE44-F6AA-D02B-65F7C622420B}"/>
              </a:ext>
            </a:extLst>
          </p:cNvPr>
          <p:cNvSpPr/>
          <p:nvPr/>
        </p:nvSpPr>
        <p:spPr>
          <a:xfrm>
            <a:off x="99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01011B-423A-3A2A-C248-65EE7CB76AAB}"/>
              </a:ext>
            </a:extLst>
          </p:cNvPr>
          <p:cNvSpPr txBox="1"/>
          <p:nvPr/>
        </p:nvSpPr>
        <p:spPr>
          <a:xfrm>
            <a:off x="114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5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B64FC9-0083-7272-BDCE-2958621FF47A}"/>
              </a:ext>
            </a:extLst>
          </p:cNvPr>
          <p:cNvSpPr txBox="1"/>
          <p:nvPr/>
        </p:nvSpPr>
        <p:spPr>
          <a:xfrm>
            <a:off x="114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已完成实验任务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97CE2CB-9278-8663-51CD-9540800A6150}"/>
              </a:ext>
            </a:extLst>
          </p:cNvPr>
          <p:cNvSpPr/>
          <p:nvPr/>
        </p:nvSpPr>
        <p:spPr>
          <a:xfrm>
            <a:off x="353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24D7D10-9E79-7E53-09CE-4588CD4B3F94}"/>
              </a:ext>
            </a:extLst>
          </p:cNvPr>
          <p:cNvSpPr txBox="1"/>
          <p:nvPr/>
        </p:nvSpPr>
        <p:spPr>
          <a:xfrm>
            <a:off x="368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418622A-01AB-078E-82F7-2EC77CC707AC}"/>
              </a:ext>
            </a:extLst>
          </p:cNvPr>
          <p:cNvSpPr txBox="1"/>
          <p:nvPr/>
        </p:nvSpPr>
        <p:spPr>
          <a:xfrm>
            <a:off x="368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汇报中使用图表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F945F88-018E-54BD-0DB5-8ED934B553DE}"/>
              </a:ext>
            </a:extLst>
          </p:cNvPr>
          <p:cNvSpPr/>
          <p:nvPr/>
        </p:nvSpPr>
        <p:spPr>
          <a:xfrm>
            <a:off x="607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B22EEE0-F498-1AE1-AE09-56982A631A85}"/>
              </a:ext>
            </a:extLst>
          </p:cNvPr>
          <p:cNvSpPr txBox="1"/>
          <p:nvPr/>
        </p:nvSpPr>
        <p:spPr>
          <a:xfrm>
            <a:off x="622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2D/1024D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955581-A13D-BEAE-74C6-08DCEF9FB3D1}"/>
              </a:ext>
            </a:extLst>
          </p:cNvPr>
          <p:cNvSpPr txBox="1"/>
          <p:nvPr/>
        </p:nvSpPr>
        <p:spPr>
          <a:xfrm>
            <a:off x="622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低维与图像高维特征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C667FFE-1DD6-4DBC-E3C6-3394E2B46FA7}"/>
              </a:ext>
            </a:extLst>
          </p:cNvPr>
          <p:cNvSpPr/>
          <p:nvPr/>
        </p:nvSpPr>
        <p:spPr>
          <a:xfrm>
            <a:off x="861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1104DF7-4BA6-FFD7-D63B-A7C5C510146A}"/>
              </a:ext>
            </a:extLst>
          </p:cNvPr>
          <p:cNvSpPr txBox="1"/>
          <p:nvPr/>
        </p:nvSpPr>
        <p:spPr>
          <a:xfrm>
            <a:off x="876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分类</a:t>
            </a:r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聚类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B848618-E8E0-A170-C90C-608F40BD2D1D}"/>
              </a:ext>
            </a:extLst>
          </p:cNvPr>
          <p:cNvSpPr txBox="1"/>
          <p:nvPr/>
        </p:nvSpPr>
        <p:spPr>
          <a:xfrm>
            <a:off x="876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监督与无监督覆盖</a:t>
            </a:r>
          </a:p>
        </p:txBody>
      </p:sp>
    </p:spTree>
    <p:extLst>
      <p:ext uri="{BB962C8B-B14F-4D97-AF65-F5344CB8AC3E}">
        <p14:creationId xmlns:p14="http://schemas.microsoft.com/office/powerpoint/2010/main" val="2140708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E5710E9-D626-41FB-5F2D-5A26EA6A02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1DF91668-5C46-8636-3253-E5F541989677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F8F9A5D-DD72-2FEC-CD96-180F12D56CEA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5A32EA8-88C0-0506-5EAB-B8D3B392FF33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7FBDD9-2020-36EF-72E5-2E95F5A4DFC7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FAB49E1-3B40-306A-453A-41BE59273DE7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用身高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体重数据进行最小错误率与最小风险决策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6FE6AD8-D226-C512-A3D2-3EF06EF0D0E2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027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7297BE7-BA4C-D264-8018-F3A068C702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D39E3F-171F-D35B-8FE3-85F9142B850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A3446DD-A644-67F8-242A-A317B075BC2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E682A32B-894F-5CDC-FB0E-34D768934A72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2F13A3-0040-F455-4252-ECBE10484D7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BAYES CLASSIFIER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EC42FC-AFB2-44D7-0C01-B9CFBF653CF1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实验一理论：概率决策框架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EF27CC3-597C-678F-51A0-A6354C89725E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1AC0BCA-89DC-8D47-F75C-B48E902CA372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3B58A5-8C9F-6036-0DDD-C94182DC60FA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616F66B-BCF1-6192-B979-54160DAEF673}"/>
              </a:ext>
            </a:extLst>
          </p:cNvPr>
          <p:cNvSpPr/>
          <p:nvPr/>
        </p:nvSpPr>
        <p:spPr>
          <a:xfrm>
            <a:off x="7366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C18B63-3D13-DF07-C3AC-D0B3F3875019}"/>
              </a:ext>
            </a:extLst>
          </p:cNvPr>
          <p:cNvSpPr/>
          <p:nvPr/>
        </p:nvSpPr>
        <p:spPr>
          <a:xfrm>
            <a:off x="736600" y="1371600"/>
            <a:ext cx="76200" cy="1092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05A417D-F49E-BA00-6DA7-6A3820809A72}"/>
              </a:ext>
            </a:extLst>
          </p:cNvPr>
          <p:cNvSpPr txBox="1"/>
          <p:nvPr/>
        </p:nvSpPr>
        <p:spPr>
          <a:xfrm>
            <a:off x="9271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后验概率决策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5C5493-519A-94EB-A460-5422BC733E7D}"/>
              </a:ext>
            </a:extLst>
          </p:cNvPr>
          <p:cNvSpPr txBox="1"/>
          <p:nvPr/>
        </p:nvSpPr>
        <p:spPr>
          <a:xfrm>
            <a:off x="9271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选择给定特征后最可能的类别，本质是把观测特征映射到类别后验。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718FF7B-077A-21DE-73F7-281F9ACCA4B0}"/>
              </a:ext>
            </a:extLst>
          </p:cNvPr>
          <p:cNvSpPr/>
          <p:nvPr/>
        </p:nvSpPr>
        <p:spPr>
          <a:xfrm>
            <a:off x="44450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61D481-1BED-5702-23D9-95786EB2607E}"/>
              </a:ext>
            </a:extLst>
          </p:cNvPr>
          <p:cNvSpPr/>
          <p:nvPr/>
        </p:nvSpPr>
        <p:spPr>
          <a:xfrm>
            <a:off x="4445000" y="1371600"/>
            <a:ext cx="76200" cy="1092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FA372E4-25CF-4FE4-7AF3-FF8BF1E6F14C}"/>
              </a:ext>
            </a:extLst>
          </p:cNvPr>
          <p:cNvSpPr txBox="1"/>
          <p:nvPr/>
        </p:nvSpPr>
        <p:spPr>
          <a:xfrm>
            <a:off x="46355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高斯参数估计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72967E4-FB9C-8899-1467-7AA4C6ED7A24}"/>
              </a:ext>
            </a:extLst>
          </p:cNvPr>
          <p:cNvSpPr txBox="1"/>
          <p:nvPr/>
        </p:nvSpPr>
        <p:spPr>
          <a:xfrm>
            <a:off x="46355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在正态假设下估计均值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μ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与协方差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，得到二次判别函数。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017D94B-E371-C006-5A31-518E402F6824}"/>
              </a:ext>
            </a:extLst>
          </p:cNvPr>
          <p:cNvSpPr/>
          <p:nvPr/>
        </p:nvSpPr>
        <p:spPr>
          <a:xfrm>
            <a:off x="8153400" y="1371600"/>
            <a:ext cx="2921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9A6F6D6-1025-5D7F-EB69-CE4941693466}"/>
              </a:ext>
            </a:extLst>
          </p:cNvPr>
          <p:cNvSpPr/>
          <p:nvPr/>
        </p:nvSpPr>
        <p:spPr>
          <a:xfrm>
            <a:off x="8153400" y="1371600"/>
            <a:ext cx="76200" cy="1092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09D5781-CEC1-30F6-F994-99E93BAB54D1}"/>
              </a:ext>
            </a:extLst>
          </p:cNvPr>
          <p:cNvSpPr txBox="1"/>
          <p:nvPr/>
        </p:nvSpPr>
        <p:spPr>
          <a:xfrm>
            <a:off x="8343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风险敏感决策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C6DAE70-3AC2-0610-DBAA-11599A76C986}"/>
              </a:ext>
            </a:extLst>
          </p:cNvPr>
          <p:cNvSpPr txBox="1"/>
          <p:nvPr/>
        </p:nvSpPr>
        <p:spPr>
          <a:xfrm>
            <a:off x="8343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用损失表刻画不同错误代价，选择条件风险最小的动作。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8CF4C65-5A39-F88F-B675-AFA36602ACE5}"/>
              </a:ext>
            </a:extLst>
          </p:cNvPr>
          <p:cNvSpPr/>
          <p:nvPr/>
        </p:nvSpPr>
        <p:spPr>
          <a:xfrm>
            <a:off x="990600" y="3200400"/>
            <a:ext cx="10210800" cy="10922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BBC16F7C-3FBB-6D5D-8990-5C274C2AE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355" y="3346042"/>
            <a:ext cx="7109290" cy="800916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9BA6FA52-C996-5AD5-895F-0B41525468FD}"/>
              </a:ext>
            </a:extLst>
          </p:cNvPr>
          <p:cNvSpPr txBox="1"/>
          <p:nvPr/>
        </p:nvSpPr>
        <p:spPr>
          <a:xfrm>
            <a:off x="1016000" y="4851400"/>
            <a:ext cx="9906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课程相关：参数估计、先验概率、贝叶斯判别函数、最小风险决策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实验目的：观察特征、先验、协方差假设和风险表对分类性能的影响</a:t>
            </a:r>
          </a:p>
        </p:txBody>
      </p:sp>
    </p:spTree>
    <p:extLst>
      <p:ext uri="{BB962C8B-B14F-4D97-AF65-F5344CB8AC3E}">
        <p14:creationId xmlns:p14="http://schemas.microsoft.com/office/powerpoint/2010/main" val="2083782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325A184-34DF-C45F-7F92-0635181D1B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395594-7A70-F0BC-BF70-FA20DA4D7DC4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8A7D862-EF9D-306E-6BD7-6AAE880FA834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4E815813-97D7-90E2-1D76-3F2D377F7A41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3E9DCB-50C9-7BB0-945B-8BC554650CA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BAYES INTUITION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05380A0-474D-E208-4C73-A5CC6652154B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实验一理论展开：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分类器到底在算什么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EC15D0-D875-68CC-5FF4-AC7720DE38F4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3EB9AD9-AE74-7F53-E063-C70E69DF9D8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03DEF34-22F8-5C58-7D0C-049E0D5BECD4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4029AEA-DC84-6CA9-313E-B20804077A58}"/>
              </a:ext>
            </a:extLst>
          </p:cNvPr>
          <p:cNvSpPr/>
          <p:nvPr/>
        </p:nvSpPr>
        <p:spPr>
          <a:xfrm>
            <a:off x="736600" y="1371600"/>
            <a:ext cx="3175000" cy="1320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EF768B-B0D5-A3B1-ACC3-8EAD476487AE}"/>
              </a:ext>
            </a:extLst>
          </p:cNvPr>
          <p:cNvSpPr/>
          <p:nvPr/>
        </p:nvSpPr>
        <p:spPr>
          <a:xfrm>
            <a:off x="736600" y="1371600"/>
            <a:ext cx="76200" cy="13208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39774FB-B153-56C5-D09D-D47288EDAA4D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先看样本像谁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0D83F73-3F04-EDCC-22F0-08030A54EE76}"/>
              </a:ext>
            </a:extLst>
          </p:cNvPr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身高、体重是观测到的特征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x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。分类器先比较这个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在女生分布和男生分布中出现的可能性。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C5CA083-B437-CBF7-1CD1-F7B158E29F95}"/>
              </a:ext>
            </a:extLst>
          </p:cNvPr>
          <p:cNvSpPr/>
          <p:nvPr/>
        </p:nvSpPr>
        <p:spPr>
          <a:xfrm>
            <a:off x="4508500" y="1371600"/>
            <a:ext cx="3175000" cy="1320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8691D73-BD9D-655D-DE0F-5CC5EAB4964D}"/>
              </a:ext>
            </a:extLst>
          </p:cNvPr>
          <p:cNvSpPr/>
          <p:nvPr/>
        </p:nvSpPr>
        <p:spPr>
          <a:xfrm>
            <a:off x="4508500" y="1371600"/>
            <a:ext cx="76200" cy="13208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DFBEAB-0C65-EEBE-6183-024131EAF16E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再考虑先验比例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54551E4-499F-3259-E5D2-6E803ECAE409}"/>
              </a:ext>
            </a:extLst>
          </p:cNvPr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如果测试集中男生更多，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P(M)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更大；同样的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可能更容易被判为男生。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41A42A3-402F-9D98-C893-0B2B0094E991}"/>
              </a:ext>
            </a:extLst>
          </p:cNvPr>
          <p:cNvSpPr/>
          <p:nvPr/>
        </p:nvSpPr>
        <p:spPr>
          <a:xfrm>
            <a:off x="8280400" y="1371600"/>
            <a:ext cx="2921000" cy="1320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CE0378-F3BB-C8D0-2929-A1A102A72178}"/>
              </a:ext>
            </a:extLst>
          </p:cNvPr>
          <p:cNvSpPr/>
          <p:nvPr/>
        </p:nvSpPr>
        <p:spPr>
          <a:xfrm>
            <a:off x="8280400" y="1371600"/>
            <a:ext cx="76200" cy="132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8D7742-9189-0E67-3D1B-3F5992686DE6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最后选择后验最大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CC87B47-0A57-BA5D-48C4-1833D86B8CFC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后验概率综合了类条件密度和先验概率，是做类别决策的直接依据。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25BBE16-5D0D-81FB-939A-5B53445466D5}"/>
              </a:ext>
            </a:extLst>
          </p:cNvPr>
          <p:cNvSpPr/>
          <p:nvPr/>
        </p:nvSpPr>
        <p:spPr>
          <a:xfrm>
            <a:off x="1041400" y="3327400"/>
            <a:ext cx="10109200" cy="863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E8A9F4FA-00BB-1303-E7DA-20A0953FF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415" y="3538212"/>
            <a:ext cx="3923169" cy="441975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57EB4621-742E-80F1-03AD-7CF7E15C9373}"/>
              </a:ext>
            </a:extLst>
          </p:cNvPr>
          <p:cNvSpPr txBox="1"/>
          <p:nvPr/>
        </p:nvSpPr>
        <p:spPr>
          <a:xfrm>
            <a:off x="1143000" y="48260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类条件密度：某一类别内部的特征分布，例如女生身高体重大多集中在哪里。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先验概率：在看到特征之前，某一类本来出现的概率。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两类比较时，归一化项相同，实际只需要比较：密度乘以先验。</a:t>
            </a:r>
          </a:p>
        </p:txBody>
      </p:sp>
    </p:spTree>
    <p:extLst>
      <p:ext uri="{BB962C8B-B14F-4D97-AF65-F5344CB8AC3E}">
        <p14:creationId xmlns:p14="http://schemas.microsoft.com/office/powerpoint/2010/main" val="1964718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C10F567-34F7-0B43-BE00-8CD12D05C6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6696F1-529F-1790-09DC-406C90CD1A1C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7221E24-84F5-0913-753C-21E8C207FD64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9B59DCB-3C37-F245-4578-3A7CB73830E5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09CBE4-C2C7-C95A-44DF-A5AD0969D76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DISCRIMINANT FUNCTION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E955F6-D842-92C0-869E-DFEC22CFCD5D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实验一理论展开：为什么会出现曲线决策边界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AAEC874-261F-CAF4-C666-328EBF8CBF9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1B81AF7-B895-7A21-F9A1-1E0700CC98D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5DBF1C-9E6F-9E5C-3850-99F12264C588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CCA78B3-B04D-1844-32AA-654CD4F16B3F}"/>
              </a:ext>
            </a:extLst>
          </p:cNvPr>
          <p:cNvSpPr/>
          <p:nvPr/>
        </p:nvSpPr>
        <p:spPr>
          <a:xfrm>
            <a:off x="863600" y="1498600"/>
            <a:ext cx="3175000" cy="124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E06691-B987-1A6A-D2C1-A96E51C446CB}"/>
              </a:ext>
            </a:extLst>
          </p:cNvPr>
          <p:cNvSpPr/>
          <p:nvPr/>
        </p:nvSpPr>
        <p:spPr>
          <a:xfrm>
            <a:off x="863600" y="1498600"/>
            <a:ext cx="76200" cy="12446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8099D4-FBAB-6A62-DEE4-4B08B7FC837D}"/>
              </a:ext>
            </a:extLst>
          </p:cNvPr>
          <p:cNvSpPr txBox="1"/>
          <p:nvPr/>
        </p:nvSpPr>
        <p:spPr>
          <a:xfrm>
            <a:off x="1054100" y="1625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一维特征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428AA94-9699-DE1C-B4D5-2FCE3DD674A7}"/>
              </a:ext>
            </a:extLst>
          </p:cNvPr>
          <p:cNvSpPr txBox="1"/>
          <p:nvPr/>
        </p:nvSpPr>
        <p:spPr>
          <a:xfrm>
            <a:off x="1054100" y="1981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只用身高或体重时，每个类别是一条正态曲线。两条曲线加上先验后，交点就是阈值。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339979A-E328-496C-6F61-3F778C18EF5B}"/>
              </a:ext>
            </a:extLst>
          </p:cNvPr>
          <p:cNvSpPr/>
          <p:nvPr/>
        </p:nvSpPr>
        <p:spPr>
          <a:xfrm>
            <a:off x="4508500" y="1498600"/>
            <a:ext cx="3175000" cy="124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87F254B-0D83-8E08-E596-3980338D3E16}"/>
              </a:ext>
            </a:extLst>
          </p:cNvPr>
          <p:cNvSpPr/>
          <p:nvPr/>
        </p:nvSpPr>
        <p:spPr>
          <a:xfrm>
            <a:off x="4508500" y="1498600"/>
            <a:ext cx="76200" cy="12446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1260A5B-0558-1686-D5A9-5048266CF00C}"/>
              </a:ext>
            </a:extLst>
          </p:cNvPr>
          <p:cNvSpPr txBox="1"/>
          <p:nvPr/>
        </p:nvSpPr>
        <p:spPr>
          <a:xfrm>
            <a:off x="4699000" y="1625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二维特征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8243C73-5C80-B0EF-F369-866D0A851F75}"/>
              </a:ext>
            </a:extLst>
          </p:cNvPr>
          <p:cNvSpPr txBox="1"/>
          <p:nvPr/>
        </p:nvSpPr>
        <p:spPr>
          <a:xfrm>
            <a:off x="4699000" y="1981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同时使用身高和体重时，每个类别是二维高斯分布，等概率位置形成决策边界。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8617C7E-3517-748A-4AB4-0E70DF268324}"/>
              </a:ext>
            </a:extLst>
          </p:cNvPr>
          <p:cNvSpPr/>
          <p:nvPr/>
        </p:nvSpPr>
        <p:spPr>
          <a:xfrm>
            <a:off x="8153400" y="1498600"/>
            <a:ext cx="3022600" cy="124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D840E2-4773-AE6B-46A9-7E987D6657B6}"/>
              </a:ext>
            </a:extLst>
          </p:cNvPr>
          <p:cNvSpPr/>
          <p:nvPr/>
        </p:nvSpPr>
        <p:spPr>
          <a:xfrm>
            <a:off x="8153400" y="1498600"/>
            <a:ext cx="76200" cy="12446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8657EB6-2D94-3138-B76A-AF487A21E8DF}"/>
              </a:ext>
            </a:extLst>
          </p:cNvPr>
          <p:cNvSpPr txBox="1"/>
          <p:nvPr/>
        </p:nvSpPr>
        <p:spPr>
          <a:xfrm>
            <a:off x="8343900" y="1625600"/>
            <a:ext cx="2717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协方差的作用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F1F640C-92C0-F320-5A3F-6DAB9DD5E2A4}"/>
              </a:ext>
            </a:extLst>
          </p:cNvPr>
          <p:cNvSpPr txBox="1"/>
          <p:nvPr/>
        </p:nvSpPr>
        <p:spPr>
          <a:xfrm>
            <a:off x="8343900" y="1981200"/>
            <a:ext cx="27178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完整协方差会描述身高和体重的相关性，因此边界可以弯曲；对角协方差会更简化。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E738B60-4885-D8BC-AEBB-5B9D5130D759}"/>
              </a:ext>
            </a:extLst>
          </p:cNvPr>
          <p:cNvSpPr/>
          <p:nvPr/>
        </p:nvSpPr>
        <p:spPr>
          <a:xfrm>
            <a:off x="1016000" y="3479800"/>
            <a:ext cx="10160000" cy="8890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21F18B78-C09F-B99C-3AB6-EBED7914E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623" y="3685987"/>
            <a:ext cx="4230755" cy="476627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6A11838C-7996-CFC6-D67C-41F443424DB7}"/>
              </a:ext>
            </a:extLst>
          </p:cNvPr>
          <p:cNvSpPr txBox="1"/>
          <p:nvPr/>
        </p:nvSpPr>
        <p:spPr>
          <a:xfrm>
            <a:off x="1117600" y="49022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决策边界本质上是两类判别函数相等的位置。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边界附近的样本最容易被错分，因为它们同时像两个类别。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本实验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中男生样本更多，先验设置会明显影响边界向哪一侧移动。</a:t>
            </a:r>
          </a:p>
        </p:txBody>
      </p:sp>
    </p:spTree>
    <p:extLst>
      <p:ext uri="{BB962C8B-B14F-4D97-AF65-F5344CB8AC3E}">
        <p14:creationId xmlns:p14="http://schemas.microsoft.com/office/powerpoint/2010/main" val="1993964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7410C8A-ECD9-DD58-E823-256F9812BF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A063B5-6C69-D26D-0C76-E6D2DD184F6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1161E62-176B-246C-8017-8EDFF431A10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4FDB84A-EB48-EE22-C3DD-A2E8C6230E12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5BD1FA-3452-494C-5BED-E0B764AC50F0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CC0136B-6EF2-CA51-BFD7-3620F614F0CD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实验一设置：数据、特征与实现流程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D6EBBE1-5206-8540-3475-E44C0F5FA88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D85BA4E-383C-77C2-E4CF-9D997E11FA1A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A51311B-D2E3-E105-4110-86469D1511C0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CC73656-34F5-8586-2F85-715739EA5911}"/>
              </a:ext>
            </a:extLst>
          </p:cNvPr>
          <p:cNvSpPr/>
          <p:nvPr/>
        </p:nvSpPr>
        <p:spPr>
          <a:xfrm>
            <a:off x="889000" y="14986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6D3077-D26A-5520-07B0-30AD3F9EB5D1}"/>
              </a:ext>
            </a:extLst>
          </p:cNvPr>
          <p:cNvSpPr txBox="1"/>
          <p:nvPr/>
        </p:nvSpPr>
        <p:spPr>
          <a:xfrm>
            <a:off x="901700" y="1574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FD911D7-D777-7581-CA0C-0CE3B491968B}"/>
              </a:ext>
            </a:extLst>
          </p:cNvPr>
          <p:cNvSpPr txBox="1"/>
          <p:nvPr/>
        </p:nvSpPr>
        <p:spPr>
          <a:xfrm>
            <a:off x="1422400" y="1460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读取数据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367375-0415-FADC-C9DC-AC95450E8E03}"/>
              </a:ext>
            </a:extLst>
          </p:cNvPr>
          <p:cNvSpPr txBox="1"/>
          <p:nvPr/>
        </p:nvSpPr>
        <p:spPr>
          <a:xfrm>
            <a:off x="1422400" y="1778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FEMALE/MALE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作为训练集；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test1/test2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作为测试集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7172C9C-F23B-260E-3091-014721718287}"/>
              </a:ext>
            </a:extLst>
          </p:cNvPr>
          <p:cNvSpPr/>
          <p:nvPr/>
        </p:nvSpPr>
        <p:spPr>
          <a:xfrm>
            <a:off x="889000" y="25146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A3A14A2-C341-BF35-F7EF-D86B1E77577D}"/>
              </a:ext>
            </a:extLst>
          </p:cNvPr>
          <p:cNvSpPr txBox="1"/>
          <p:nvPr/>
        </p:nvSpPr>
        <p:spPr>
          <a:xfrm>
            <a:off x="901700" y="2590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946003-D599-63D5-E463-8E604F7022A9}"/>
              </a:ext>
            </a:extLst>
          </p:cNvPr>
          <p:cNvSpPr txBox="1"/>
          <p:nvPr/>
        </p:nvSpPr>
        <p:spPr>
          <a:xfrm>
            <a:off x="1422400" y="2476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选择特征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8286247-85E0-A8D1-F75E-EDB2D95BC29D}"/>
              </a:ext>
            </a:extLst>
          </p:cNvPr>
          <p:cNvSpPr txBox="1"/>
          <p:nvPr/>
        </p:nvSpPr>
        <p:spPr>
          <a:xfrm>
            <a:off x="1422400" y="2794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身高、体重、身高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体重三组对比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3C0FF6F-D399-92C7-5313-CD0FE147968B}"/>
              </a:ext>
            </a:extLst>
          </p:cNvPr>
          <p:cNvSpPr/>
          <p:nvPr/>
        </p:nvSpPr>
        <p:spPr>
          <a:xfrm>
            <a:off x="889000" y="35306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45695FF-C45C-D36D-A019-A25E4AC6269D}"/>
              </a:ext>
            </a:extLst>
          </p:cNvPr>
          <p:cNvSpPr txBox="1"/>
          <p:nvPr/>
        </p:nvSpPr>
        <p:spPr>
          <a:xfrm>
            <a:off x="901700" y="3606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4B5FC2-590A-F386-7054-53250E856E51}"/>
              </a:ext>
            </a:extLst>
          </p:cNvPr>
          <p:cNvSpPr txBox="1"/>
          <p:nvPr/>
        </p:nvSpPr>
        <p:spPr>
          <a:xfrm>
            <a:off x="1422400" y="3492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估计分布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C4D9653-F2E3-7450-A429-7B83F1E3306D}"/>
              </a:ext>
            </a:extLst>
          </p:cNvPr>
          <p:cNvSpPr txBox="1"/>
          <p:nvPr/>
        </p:nvSpPr>
        <p:spPr>
          <a:xfrm>
            <a:off x="1422400" y="3810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最大似然估计 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μ</a:t>
            </a:r>
            <a:r>
              <a:rPr lang="zh-CN" altLang="el-GR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或 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</a:t>
            </a:r>
            <a:endParaRPr lang="zh-CN" altLang="en-US" sz="12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29A067D2-F59F-0850-7FC1-20DBA9F5BCF5}"/>
              </a:ext>
            </a:extLst>
          </p:cNvPr>
          <p:cNvSpPr/>
          <p:nvPr/>
        </p:nvSpPr>
        <p:spPr>
          <a:xfrm>
            <a:off x="889000" y="45466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F87A15-FF88-A453-1BB4-E680338FDF69}"/>
              </a:ext>
            </a:extLst>
          </p:cNvPr>
          <p:cNvSpPr txBox="1"/>
          <p:nvPr/>
        </p:nvSpPr>
        <p:spPr>
          <a:xfrm>
            <a:off x="901700" y="4622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CFBDAFA-D14B-2830-6ABA-80A5933AADE5}"/>
              </a:ext>
            </a:extLst>
          </p:cNvPr>
          <p:cNvSpPr txBox="1"/>
          <p:nvPr/>
        </p:nvSpPr>
        <p:spPr>
          <a:xfrm>
            <a:off x="1422400" y="4508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分类评估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0D1E4EF-A048-E5E7-F2C7-A91473849366}"/>
              </a:ext>
            </a:extLst>
          </p:cNvPr>
          <p:cNvSpPr txBox="1"/>
          <p:nvPr/>
        </p:nvSpPr>
        <p:spPr>
          <a:xfrm>
            <a:off x="1422400" y="4826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准确率、召回率、混淆矩阵、错误分析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68911BD2-01BF-DECE-182A-305314C0B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42196"/>
              </p:ext>
            </p:extLst>
          </p:nvPr>
        </p:nvGraphicFramePr>
        <p:xfrm>
          <a:off x="5943600" y="1524000"/>
          <a:ext cx="4953000" cy="234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2274769815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981574758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取值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60472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先验概率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0.5/0.5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0.75/0.25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0.9/0.1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287702888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19420460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风险表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M|F)=2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F|M)=1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90514930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非参数补充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窗、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834224654"/>
                  </a:ext>
                </a:extLst>
              </a:tr>
            </a:tbl>
          </a:graphicData>
        </a:graphic>
      </p:graphicFrame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2949FF3-C15A-571C-BEE8-F26D97D44263}"/>
              </a:ext>
            </a:extLst>
          </p:cNvPr>
          <p:cNvSpPr/>
          <p:nvPr/>
        </p:nvSpPr>
        <p:spPr>
          <a:xfrm>
            <a:off x="6197600" y="4521200"/>
            <a:ext cx="44450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39591F4-ACF7-9A3E-DC95-976958F9D7B4}"/>
              </a:ext>
            </a:extLst>
          </p:cNvPr>
          <p:cNvSpPr/>
          <p:nvPr/>
        </p:nvSpPr>
        <p:spPr>
          <a:xfrm>
            <a:off x="6197600" y="45212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367C8E0-4DC5-094B-4397-0251253FE9AE}"/>
              </a:ext>
            </a:extLst>
          </p:cNvPr>
          <p:cNvSpPr txBox="1"/>
          <p:nvPr/>
        </p:nvSpPr>
        <p:spPr>
          <a:xfrm>
            <a:off x="6388100" y="46482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实现要点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FBA57FA-587B-2039-E3A3-85B5DEB1F2E2}"/>
              </a:ext>
            </a:extLst>
          </p:cNvPr>
          <p:cNvSpPr txBox="1"/>
          <p:nvPr/>
        </p:nvSpPr>
        <p:spPr>
          <a:xfrm>
            <a:off x="6388100" y="5003800"/>
            <a:ext cx="414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所有分类器统一输出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train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test1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上的性能，便于横向比较。</a:t>
            </a:r>
          </a:p>
        </p:txBody>
      </p:sp>
    </p:spTree>
    <p:extLst>
      <p:ext uri="{BB962C8B-B14F-4D97-AF65-F5344CB8AC3E}">
        <p14:creationId xmlns:p14="http://schemas.microsoft.com/office/powerpoint/2010/main" val="151800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DE0013-0A2E-5486-827F-88589860AA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CCBBFE-6FE5-EFCF-8B0C-CAF943B06109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2BCB8A6-619B-71AC-663A-2E855E10DFA2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8A98F9A8-27D8-34E0-1FE6-7178C166AF4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103417-F4F1-5DC3-D990-93C7587B83A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RESULT VISUALS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B061AF-3AF9-9B05-8D76-DE779A429639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实验一结果：数据分布与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决策边界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D301B34-9811-3CB0-6AEC-0AE2EE503EF1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21EBF7F-A882-A73A-D4C2-1E7CF156DBE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18AE53-6D26-713D-40DE-BF19A30D5CDE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A479CFF-A5A8-7698-1B10-C9A5A8FC2B73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3A18372-65AF-8C29-BCB7-4C42F47D7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9A6E679-FCA1-8378-57D8-F5AC8B78521F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81A38F8-ED47-B910-A276-4A7B3DCF5D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847782"/>
            <a:ext cx="4071811" cy="290843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E5F90B2-530F-63FC-9E69-CA9C78AF470D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ECECBBB-D1E5-E473-6CF7-660BAC873F96}"/>
              </a:ext>
            </a:extLst>
          </p:cNvPr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88.00%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9314778-1D10-1D36-ECBB-6713B373E1ED}"/>
              </a:ext>
            </a:extLst>
          </p:cNvPr>
          <p:cNvSpPr txBox="1"/>
          <p:nvPr/>
        </p:nvSpPr>
        <p:spPr>
          <a:xfrm>
            <a:off x="1168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二维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训练准确率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890C525-8F03-E825-57BF-481C84890235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3958F4-B9E2-7251-8F22-06A8715FCE67}"/>
              </a:ext>
            </a:extLst>
          </p:cNvPr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97.14%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3813440-BCEF-F280-6624-65F521AD6454}"/>
              </a:ext>
            </a:extLst>
          </p:cNvPr>
          <p:cNvSpPr txBox="1"/>
          <p:nvPr/>
        </p:nvSpPr>
        <p:spPr>
          <a:xfrm>
            <a:off x="3454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test1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7930CB1-59E9-1A17-1271-8D2D5EB022C9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9DB9D9E-0022-0310-4604-F583EA5115B1}"/>
              </a:ext>
            </a:extLst>
          </p:cNvPr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AA74AB3-E2FC-CDDE-8F59-6C8A995B87DA}"/>
              </a:ext>
            </a:extLst>
          </p:cNvPr>
          <p:cNvSpPr txBox="1"/>
          <p:nvPr/>
        </p:nvSpPr>
        <p:spPr>
          <a:xfrm>
            <a:off x="5740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38CDE3F-7E35-5C5E-3C82-20B9167419C6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4EC4039-34AF-A6B6-A864-72B3CFF74180}"/>
              </a:ext>
            </a:extLst>
          </p:cNvPr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84C7B5A-3E95-4C7B-AF9C-C00A9AE6D8A9}"/>
              </a:ext>
            </a:extLst>
          </p:cNvPr>
          <p:cNvSpPr txBox="1"/>
          <p:nvPr/>
        </p:nvSpPr>
        <p:spPr>
          <a:xfrm>
            <a:off x="8026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对角协方差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test2</a:t>
            </a:r>
            <a:endParaRPr lang="zh-CN" altLang="en-US" sz="1200">
              <a:solidFill>
                <a:srgbClr val="6B7F9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1346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32EC2BB-BBC6-944E-9584-2FC93023A6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696919-1086-FD42-3F2F-89206D48E00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72CFCD2-3213-9154-3BCB-82298B2D842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A62BD84A-CAC8-6AEA-ED0C-6B3F06FF73CC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4C7380-DB33-6A77-068F-06494872C37C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F9681AE-1798-2C78-42A3-C09E3C041566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实验一分析：先验与风险改变决策偏向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36C940D-8F6B-17B9-D824-735FFE6615E7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3898766-2592-812A-B370-3D01D7858D9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4F4393-96D7-FAD8-B57C-5AEE757C6C10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5CED153-089A-337F-4837-B3AEF546F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933049"/>
              </p:ext>
            </p:extLst>
          </p:nvPr>
        </p:nvGraphicFramePr>
        <p:xfrm>
          <a:off x="762000" y="1333500"/>
          <a:ext cx="63500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4106942534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34912000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594197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922158017"/>
                    </a:ext>
                  </a:extLst>
                </a:gridCol>
              </a:tblGrid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059807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817844122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514070762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最小风险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94.29%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14282246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57617381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k=5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436516314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26DEEF9-7DEB-2635-D21C-E64A6EE2E902}"/>
              </a:ext>
            </a:extLst>
          </p:cNvPr>
          <p:cNvSpPr/>
          <p:nvPr/>
        </p:nvSpPr>
        <p:spPr>
          <a:xfrm>
            <a:off x="7848600" y="1333500"/>
            <a:ext cx="2794000" cy="241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499E59F-627B-C25B-91BF-4A3CA03C2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917" y="1731129"/>
            <a:ext cx="1887366" cy="161774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38D762A-1BE1-F75A-9A0D-9C33ACC6BEBE}"/>
              </a:ext>
            </a:extLst>
          </p:cNvPr>
          <p:cNvSpPr txBox="1"/>
          <p:nvPr/>
        </p:nvSpPr>
        <p:spPr>
          <a:xfrm>
            <a:off x="914400" y="4445000"/>
            <a:ext cx="9906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身高和体重组合能利用互补信息，整体比单特征更稳定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中男生比例更高，若人为设置女生先验过大，会显著降低整体准确率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最小风险决策体现错误代价不同时的分类器设计思想</a:t>
            </a:r>
          </a:p>
        </p:txBody>
      </p:sp>
    </p:spTree>
    <p:extLst>
      <p:ext uri="{BB962C8B-B14F-4D97-AF65-F5344CB8AC3E}">
        <p14:creationId xmlns:p14="http://schemas.microsoft.com/office/powerpoint/2010/main" val="1682724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F2A7A0D-8892-090B-6E1F-EF071C16EA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C64E1DD6-DBC4-01FB-2ADD-375D81259267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C15AC5C-4F2D-F4BB-CC4E-11549A490B46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8B5169-DE79-5747-B9EA-E5BED53854BD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FE3B83-8CBF-CE61-C850-569AFE2A494D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实验二：非参数估计与 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判别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C9AE51-76B5-D64F-5E8D-970A7EBACE88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比较概率密度估计方法与直接设计线性分类器的方法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E6588F5-75A5-6CCB-C08C-380779EE84BC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821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4A30946-C54B-436E-B4F4-D2AAD76A1E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3CA496-2260-831A-DDA0-ECD11AD96A27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A7ABFCDE-C9E8-7B93-75D7-F9CA93811A61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47C61AE9-AA0C-03C5-45D8-46B0D8E2C69A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FB0CA9-851B-AE45-3FED-6BA8F338AF8E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NONPARAMETRIC &amp; LINEAR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345B37-8FB7-40D8-A62E-A0AC4C2B6416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实验二理论：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Parzen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与留一法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6AFFBD2-D7C3-9F3F-13CE-1C68A9692317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392F042-199D-1D8F-1BE0-00F23A08D18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82269D-DACE-F5F6-2466-C1E144990694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891B8A4-BBF6-633F-AC14-F358CD69E49C}"/>
              </a:ext>
            </a:extLst>
          </p:cNvPr>
          <p:cNvSpPr/>
          <p:nvPr/>
        </p:nvSpPr>
        <p:spPr>
          <a:xfrm>
            <a:off x="7366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3BA04F-362D-6F11-F971-8DA161F7F2BA}"/>
              </a:ext>
            </a:extLst>
          </p:cNvPr>
          <p:cNvSpPr/>
          <p:nvPr/>
        </p:nvSpPr>
        <p:spPr>
          <a:xfrm>
            <a:off x="736600" y="13716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EA3B15-EC41-0B1F-AE1B-965A0EDE7980}"/>
              </a:ext>
            </a:extLst>
          </p:cNvPr>
          <p:cNvSpPr txBox="1"/>
          <p:nvPr/>
        </p:nvSpPr>
        <p:spPr>
          <a:xfrm>
            <a:off x="9271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窗估计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2F79FA8-8E28-5F4A-8CFF-CD89C019B0FA}"/>
              </a:ext>
            </a:extLst>
          </p:cNvPr>
          <p:cNvSpPr txBox="1"/>
          <p:nvPr/>
        </p:nvSpPr>
        <p:spPr>
          <a:xfrm>
            <a:off x="9271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不预设概率密度形式，用高斯核叠加估计类别条件密度。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A1CA6B8-C228-9684-CD91-9525064E4860}"/>
              </a:ext>
            </a:extLst>
          </p:cNvPr>
          <p:cNvSpPr/>
          <p:nvPr/>
        </p:nvSpPr>
        <p:spPr>
          <a:xfrm>
            <a:off x="44450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B73BF1-6D8E-3A0F-9BD0-A7AED421C746}"/>
              </a:ext>
            </a:extLst>
          </p:cNvPr>
          <p:cNvSpPr/>
          <p:nvPr/>
        </p:nvSpPr>
        <p:spPr>
          <a:xfrm>
            <a:off x="4445000" y="13716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8C9F3A4-8C15-11FC-E5C7-DB14C374C41F}"/>
              </a:ext>
            </a:extLst>
          </p:cNvPr>
          <p:cNvSpPr txBox="1"/>
          <p:nvPr/>
        </p:nvSpPr>
        <p:spPr>
          <a:xfrm>
            <a:off x="46355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线性判别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D7609C9-46EB-DFD3-E1AA-44F39CC73215}"/>
              </a:ext>
            </a:extLst>
          </p:cNvPr>
          <p:cNvSpPr txBox="1"/>
          <p:nvPr/>
        </p:nvSpPr>
        <p:spPr>
          <a:xfrm>
            <a:off x="46355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最大化类间离散度与类内离散度之比，得到线性投影方向。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D55D4C6-A488-6D2C-FFFE-BB6D7A6F4789}"/>
              </a:ext>
            </a:extLst>
          </p:cNvPr>
          <p:cNvSpPr/>
          <p:nvPr/>
        </p:nvSpPr>
        <p:spPr>
          <a:xfrm>
            <a:off x="8153400" y="1371600"/>
            <a:ext cx="2921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C08E07A-B3F7-6515-6D36-BD1D49F5F4A9}"/>
              </a:ext>
            </a:extLst>
          </p:cNvPr>
          <p:cNvSpPr/>
          <p:nvPr/>
        </p:nvSpPr>
        <p:spPr>
          <a:xfrm>
            <a:off x="8153400" y="13716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05B455-AE70-B9DF-C5E2-2A321AC90E9C}"/>
              </a:ext>
            </a:extLst>
          </p:cNvPr>
          <p:cNvSpPr txBox="1"/>
          <p:nvPr/>
        </p:nvSpPr>
        <p:spPr>
          <a:xfrm>
            <a:off x="8343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留一法估计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98414A9-42C8-DAD2-977C-63A6E8D11308}"/>
              </a:ext>
            </a:extLst>
          </p:cNvPr>
          <p:cNvSpPr txBox="1"/>
          <p:nvPr/>
        </p:nvSpPr>
        <p:spPr>
          <a:xfrm>
            <a:off x="8343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每次留出一个样本验证，适合小样本泛化误差估计。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64E0915-9670-E538-752E-C757C76B5B35}"/>
              </a:ext>
            </a:extLst>
          </p:cNvPr>
          <p:cNvSpPr/>
          <p:nvPr/>
        </p:nvSpPr>
        <p:spPr>
          <a:xfrm>
            <a:off x="1143000" y="3251200"/>
            <a:ext cx="9906000" cy="914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4FBFA0DF-DAD2-F641-9CCB-FBDE38D17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029" y="3452107"/>
            <a:ext cx="4549943" cy="512586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C6198500-7F66-A0F3-5949-492EA19983C0}"/>
              </a:ext>
            </a:extLst>
          </p:cNvPr>
          <p:cNvSpPr txBox="1"/>
          <p:nvPr/>
        </p:nvSpPr>
        <p:spPr>
          <a:xfrm>
            <a:off x="1016000" y="4851400"/>
            <a:ext cx="9906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课程重点：参数估计与非参数估计的差别；概率模型与判别模型的差别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实验问题：非参数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是否能达到高斯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的性能</a:t>
            </a:r>
          </a:p>
        </p:txBody>
      </p:sp>
    </p:spTree>
    <p:extLst>
      <p:ext uri="{BB962C8B-B14F-4D97-AF65-F5344CB8AC3E}">
        <p14:creationId xmlns:p14="http://schemas.microsoft.com/office/powerpoint/2010/main" val="3361619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84EDB0E-9739-20D0-8280-B63AF42BBF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620B4E-A72F-A97E-12FC-822D7B7ADA0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29475EA-5F6F-0783-075C-DBC02798962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9A6A9B57-C8AC-60BA-2F6C-AA60DA20C81D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37BC9A-D2F7-113E-34BD-D012D29E907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METHOD COMPARISON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ACA110-FF39-CB11-34DF-514F479E30C2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实验二理论展开：密度估计和直接判别的区别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B68607C-37F6-4230-AE35-FB8D2A03F585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67FBC1F-537B-79AB-AAF2-F24123B77B42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E7837B-B783-C4C1-A4F7-FC958CDEFD90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1678968-2E63-7796-06CC-3B7776B17DAE}"/>
              </a:ext>
            </a:extLst>
          </p:cNvPr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7585F4-E4A4-6E92-324A-2460A06321F4}"/>
              </a:ext>
            </a:extLst>
          </p:cNvPr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1D3839-9DCE-24F3-9C11-572308B7EF17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参数估计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8B516A3-A80E-738E-2EF3-970821ED29CA}"/>
              </a:ext>
            </a:extLst>
          </p:cNvPr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先假设数据服从某种分布，例如正态分布，再估计少量参数。优点是稳定，缺点是假设可能不准。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174F409-B4FB-0181-5410-63048D4941DF}"/>
              </a:ext>
            </a:extLst>
          </p:cNvPr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B66362-5AF4-F96B-DABD-BA6C6FB53394}"/>
              </a:ext>
            </a:extLst>
          </p:cNvPr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EB88D99-CAE4-E5FF-DDFA-D7422AB8DF12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非参数估计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CF8BF1C-8396-CEF4-298E-ED046D47ACB2}"/>
              </a:ext>
            </a:extLst>
          </p:cNvPr>
          <p:cNvSpPr txBox="1"/>
          <p:nvPr/>
        </p:nvSpPr>
        <p:spPr>
          <a:xfrm>
            <a:off x="46990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不强行指定密度形状，而是让训练样本本身决定分布外形。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窗可以看作给每个样本放一个小核。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50479E8-4D1C-7FC4-9744-99EDC255461C}"/>
              </a:ext>
            </a:extLst>
          </p:cNvPr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2907655-8773-E13A-D6BB-71B899B9A38E}"/>
              </a:ext>
            </a:extLst>
          </p:cNvPr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DBBC390-AEF3-A59B-496D-A8D577EF5629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直接判别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8D82820-A8B8-B0AA-EF1D-4CF0939D1A7E}"/>
              </a:ext>
            </a:extLst>
          </p:cNvPr>
          <p:cNvSpPr txBox="1"/>
          <p:nvPr/>
        </p:nvSpPr>
        <p:spPr>
          <a:xfrm>
            <a:off x="8470900" y="1854200"/>
            <a:ext cx="2616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不估计概率密度，而是直接找一条投影轴，让两类均值尽量远、类内尽量集中。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0CC300D-D2E9-0EA1-93C1-654E2E4C1964}"/>
              </a:ext>
            </a:extLst>
          </p:cNvPr>
          <p:cNvSpPr/>
          <p:nvPr/>
        </p:nvSpPr>
        <p:spPr>
          <a:xfrm>
            <a:off x="1168400" y="3429000"/>
            <a:ext cx="4521200" cy="1168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84329A2-5268-0F73-3396-333B67E20305}"/>
              </a:ext>
            </a:extLst>
          </p:cNvPr>
          <p:cNvSpPr txBox="1"/>
          <p:nvPr/>
        </p:nvSpPr>
        <p:spPr>
          <a:xfrm>
            <a:off x="1473200" y="3708400"/>
            <a:ext cx="393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Parzen</a:t>
            </a:r>
            <a:r>
              <a:rPr lang="zh-CN" altLang="en-US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：用样本堆出类别密度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2C9F7ED-A2A4-7C5E-2A29-CE0CE60AC3F3}"/>
              </a:ext>
            </a:extLst>
          </p:cNvPr>
          <p:cNvSpPr txBox="1"/>
          <p:nvPr/>
        </p:nvSpPr>
        <p:spPr>
          <a:xfrm>
            <a:off x="1473200" y="4089400"/>
            <a:ext cx="381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窗口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小：密度起伏大，容易过拟合；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大：密度过平滑，细节会丢失。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2038CE7-9196-8545-0D7D-6C2CC7C3CDCD}"/>
              </a:ext>
            </a:extLst>
          </p:cNvPr>
          <p:cNvSpPr/>
          <p:nvPr/>
        </p:nvSpPr>
        <p:spPr>
          <a:xfrm>
            <a:off x="6502400" y="3429000"/>
            <a:ext cx="4521200" cy="1168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57F23FE-50EC-4AE3-6099-92F196B59FF8}"/>
              </a:ext>
            </a:extLst>
          </p:cNvPr>
          <p:cNvSpPr txBox="1"/>
          <p:nvPr/>
        </p:nvSpPr>
        <p:spPr>
          <a:xfrm>
            <a:off x="6807200" y="3708400"/>
            <a:ext cx="393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Fisher</a:t>
            </a:r>
            <a:r>
              <a:rPr lang="zh-CN" altLang="en-US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：用投影方向分开类别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98AEA06-1D50-7201-6341-DEB0DF58AE7A}"/>
              </a:ext>
            </a:extLst>
          </p:cNvPr>
          <p:cNvSpPr txBox="1"/>
          <p:nvPr/>
        </p:nvSpPr>
        <p:spPr>
          <a:xfrm>
            <a:off x="6807200" y="4089400"/>
            <a:ext cx="381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它关心的不是密度形状，而是投影后一维空间里两类是否容易用阈值分开。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E8FD60B-8AAE-B465-19D9-7FF1B50B578F}"/>
              </a:ext>
            </a:extLst>
          </p:cNvPr>
          <p:cNvSpPr txBox="1"/>
          <p:nvPr/>
        </p:nvSpPr>
        <p:spPr>
          <a:xfrm>
            <a:off x="1117600" y="50546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本实验用同一组身高体重特征比较三类思想：高斯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Parzen Bayes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如果三者性能接近，说明这个数据集的类别结构比较简单，线性边界已经足够有效。</a:t>
            </a:r>
          </a:p>
        </p:txBody>
      </p:sp>
    </p:spTree>
    <p:extLst>
      <p:ext uri="{BB962C8B-B14F-4D97-AF65-F5344CB8AC3E}">
        <p14:creationId xmlns:p14="http://schemas.microsoft.com/office/powerpoint/2010/main" val="1331364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97F754C-5372-74E8-FCE9-C914028B1C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6ED3BB-8037-E944-ACEE-CCB87BA85B6C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6D6904A9-3576-677F-E9DF-E86FB1201A2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22398AF-96AC-3678-B547-6B4FBF31FFA7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786D3C-774E-E1E3-4387-E376FF6ACF1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VISUAL COMPARISON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FE3B64-1360-D9C7-9F86-3D0F66765A35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实验二结果：线性边界与投影分布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B4A763C-5E01-2538-32AE-B45BA01EDB26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D7D7902-35F1-CB11-7CEA-5A289CBC14C1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304A52-04A5-665E-2794-1EADF56E04B3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639B42F-02B3-0B03-A5AA-AC7C41AADD21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DFD6EB9-A190-3B0D-8184-66F67CBF2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182CC4F-BE06-E440-C4D6-A427BD6B78AE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C2DCE67-16C9-D4D9-0AB3-E845C82F88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4" y="2195178"/>
            <a:ext cx="4071812" cy="2213644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493C3A7-FA8F-CA15-44C0-D9B7A9D1E90A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A57BF66-D09C-883D-90A9-9D762289A51A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0A4A1C-C6D6-D33E-8748-D3727744C2BD}"/>
              </a:ext>
            </a:extLst>
          </p:cNvPr>
          <p:cNvSpPr txBox="1"/>
          <p:nvPr/>
        </p:nvSpPr>
        <p:spPr>
          <a:xfrm>
            <a:off x="1206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16EE20B-9AC8-8041-FE7D-5883C5189DA4}"/>
              </a:ext>
            </a:extLst>
          </p:cNvPr>
          <p:cNvSpPr txBox="1"/>
          <p:nvPr/>
        </p:nvSpPr>
        <p:spPr>
          <a:xfrm>
            <a:off x="1206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给出简单线性边界，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边界受密度估计影响。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69496ED-935C-822E-5734-1D5A58DF10D9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D146DAF-62BB-3482-8F76-054411665610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3249135-A4C0-50BD-A97F-D74FD269C112}"/>
              </a:ext>
            </a:extLst>
          </p:cNvPr>
          <p:cNvSpPr txBox="1"/>
          <p:nvPr/>
        </p:nvSpPr>
        <p:spPr>
          <a:xfrm>
            <a:off x="6794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EA9DA63-5A94-4D13-A0D0-C8166CFDDD99}"/>
              </a:ext>
            </a:extLst>
          </p:cNvPr>
          <p:cNvSpPr txBox="1"/>
          <p:nvPr/>
        </p:nvSpPr>
        <p:spPr>
          <a:xfrm>
            <a:off x="6794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投影后男女样本主体分离，但边界区域仍有重叠。</a:t>
            </a:r>
          </a:p>
        </p:txBody>
      </p:sp>
    </p:spTree>
    <p:extLst>
      <p:ext uri="{BB962C8B-B14F-4D97-AF65-F5344CB8AC3E}">
        <p14:creationId xmlns:p14="http://schemas.microsoft.com/office/powerpoint/2010/main" val="3520301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D713DA5-DBD6-E1CF-0C05-F938646A5C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F4A654-228F-2245-EE54-9116FDF397A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AE420854-C6D7-6620-D66C-36D557C202C2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04E15758-63A2-3270-C9F7-074A36EE8BEA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8EFBD2-BCCC-EE3C-2062-08F9B8579F6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803BFB-5AE5-0698-267C-3D48E32A1D05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实验二结果：错误率对比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BD1318F-E78F-8723-558D-E888B06A86E5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7298A19-3013-1A8E-4BA6-876621CE1A76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0261643-6CF5-19B0-79CF-DD0689940AAD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EE847EA-22EF-99D5-690E-AC8F702C5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047269"/>
              </p:ext>
            </p:extLst>
          </p:nvPr>
        </p:nvGraphicFramePr>
        <p:xfrm>
          <a:off x="889000" y="1549400"/>
          <a:ext cx="10414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359856112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557381254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603828463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418987474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355772438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 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留一法错误率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82274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06806111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14.00%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21178115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083628503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42CC2A2D-25F6-E302-30A7-4B0AE9E310DA}"/>
              </a:ext>
            </a:extLst>
          </p:cNvPr>
          <p:cNvSpPr txBox="1"/>
          <p:nvPr/>
        </p:nvSpPr>
        <p:spPr>
          <a:xfrm>
            <a:off x="1143000" y="4191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Gaussian Bayes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198B48-56EB-4B7C-CD5D-6389FF67557E}"/>
              </a:ext>
            </a:extLst>
          </p:cNvPr>
          <p:cNvSpPr/>
          <p:nvPr/>
        </p:nvSpPr>
        <p:spPr>
          <a:xfrm>
            <a:off x="3175000" y="4241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3BBBA6-A1C4-420C-2B9D-A680C272311A}"/>
              </a:ext>
            </a:extLst>
          </p:cNvPr>
          <p:cNvSpPr/>
          <p:nvPr/>
        </p:nvSpPr>
        <p:spPr>
          <a:xfrm>
            <a:off x="3175000" y="4241800"/>
            <a:ext cx="1928635" cy="889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D9E0A25-1156-5444-26D7-66C2120EC039}"/>
              </a:ext>
            </a:extLst>
          </p:cNvPr>
          <p:cNvSpPr txBox="1"/>
          <p:nvPr/>
        </p:nvSpPr>
        <p:spPr>
          <a:xfrm>
            <a:off x="5435600" y="4178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8F0976-4033-7AF8-A7F0-7EE24F8818DD}"/>
              </a:ext>
            </a:extLst>
          </p:cNvPr>
          <p:cNvSpPr txBox="1"/>
          <p:nvPr/>
        </p:nvSpPr>
        <p:spPr>
          <a:xfrm>
            <a:off x="1143000" y="46355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Parzen Bayes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D1629F-EE26-3429-C7F0-BEB473A8975B}"/>
              </a:ext>
            </a:extLst>
          </p:cNvPr>
          <p:cNvSpPr/>
          <p:nvPr/>
        </p:nvSpPr>
        <p:spPr>
          <a:xfrm>
            <a:off x="3175000" y="46863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0242DE-B8B2-32CC-FB36-D6EF94AD67A3}"/>
              </a:ext>
            </a:extLst>
          </p:cNvPr>
          <p:cNvSpPr/>
          <p:nvPr/>
        </p:nvSpPr>
        <p:spPr>
          <a:xfrm>
            <a:off x="3175000" y="4686300"/>
            <a:ext cx="1950225" cy="889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D186F74-7CF1-78AC-CD6B-8173EEAFC0E5}"/>
              </a:ext>
            </a:extLst>
          </p:cNvPr>
          <p:cNvSpPr txBox="1"/>
          <p:nvPr/>
        </p:nvSpPr>
        <p:spPr>
          <a:xfrm>
            <a:off x="5435600" y="46228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FF0C1D-59B1-6203-9336-BA73814B8033}"/>
              </a:ext>
            </a:extLst>
          </p:cNvPr>
          <p:cNvSpPr txBox="1"/>
          <p:nvPr/>
        </p:nvSpPr>
        <p:spPr>
          <a:xfrm>
            <a:off x="1143000" y="5080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Fisher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895E347-5EDF-D5AC-0EC8-689DD1585972}"/>
              </a:ext>
            </a:extLst>
          </p:cNvPr>
          <p:cNvSpPr/>
          <p:nvPr/>
        </p:nvSpPr>
        <p:spPr>
          <a:xfrm>
            <a:off x="3175000" y="5130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24267BE-2C9E-49FA-A070-1BF0AB225107}"/>
              </a:ext>
            </a:extLst>
          </p:cNvPr>
          <p:cNvSpPr/>
          <p:nvPr/>
        </p:nvSpPr>
        <p:spPr>
          <a:xfrm>
            <a:off x="3175000" y="5130800"/>
            <a:ext cx="1950225" cy="889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7BA88A6-3980-2037-5D3B-0662AC632FCD}"/>
              </a:ext>
            </a:extLst>
          </p:cNvPr>
          <p:cNvSpPr txBox="1"/>
          <p:nvPr/>
        </p:nvSpPr>
        <p:spPr>
          <a:xfrm>
            <a:off x="5435600" y="5067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EB909E4-107C-DA2B-5BD9-46380E6D2BF3}"/>
              </a:ext>
            </a:extLst>
          </p:cNvPr>
          <p:cNvSpPr/>
          <p:nvPr/>
        </p:nvSpPr>
        <p:spPr>
          <a:xfrm>
            <a:off x="7048500" y="4064000"/>
            <a:ext cx="3810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D90EF01-9519-9A6A-4D67-EFBC4E1C4A62}"/>
              </a:ext>
            </a:extLst>
          </p:cNvPr>
          <p:cNvSpPr/>
          <p:nvPr/>
        </p:nvSpPr>
        <p:spPr>
          <a:xfrm>
            <a:off x="7048500" y="406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5468994-D456-6741-E320-8D7034070CA3}"/>
              </a:ext>
            </a:extLst>
          </p:cNvPr>
          <p:cNvSpPr txBox="1"/>
          <p:nvPr/>
        </p:nvSpPr>
        <p:spPr>
          <a:xfrm>
            <a:off x="7239000" y="4191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D64BAE2-CC41-C6CF-CFC0-201E577E095C}"/>
              </a:ext>
            </a:extLst>
          </p:cNvPr>
          <p:cNvSpPr txBox="1"/>
          <p:nvPr/>
        </p:nvSpPr>
        <p:spPr>
          <a:xfrm>
            <a:off x="7239000" y="4546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三种方法表现接近。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用更简单的线性边界取得与非参数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相当的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准确率。</a:t>
            </a:r>
          </a:p>
        </p:txBody>
      </p:sp>
    </p:spTree>
    <p:extLst>
      <p:ext uri="{BB962C8B-B14F-4D97-AF65-F5344CB8AC3E}">
        <p14:creationId xmlns:p14="http://schemas.microsoft.com/office/powerpoint/2010/main" val="2850389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F4E62B2-5639-89C7-66CB-5A47D594F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9BCFE4-483B-044D-546A-81352701EC9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AEDDFE05-6A7B-A5F7-4501-1DBB85442881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00AACE67-0708-57C2-D63E-4672C40B302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8E87C9-E25B-9B57-7B31-19C37193E1C3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54A4D4-60D9-2BE2-E5F0-3AF9C2888C44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实验二分析：模型复杂度与泛化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8A93FB5-BC37-E253-1539-EB17FA06A04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25F4F74-7A64-CEF5-D49A-F7F771181453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A54197-AC7C-6352-9D83-F10351060AA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07E7097-098D-2000-0740-7B009E9FA0A7}"/>
              </a:ext>
            </a:extLst>
          </p:cNvPr>
          <p:cNvSpPr/>
          <p:nvPr/>
        </p:nvSpPr>
        <p:spPr>
          <a:xfrm>
            <a:off x="889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4EEDFD-DE79-AB70-D80D-F62843A5B4F1}"/>
              </a:ext>
            </a:extLst>
          </p:cNvPr>
          <p:cNvSpPr/>
          <p:nvPr/>
        </p:nvSpPr>
        <p:spPr>
          <a:xfrm>
            <a:off x="889000" y="1587500"/>
            <a:ext cx="76200" cy="1270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64C9C54-2633-A601-FDFF-7F74618FD3BD}"/>
              </a:ext>
            </a:extLst>
          </p:cNvPr>
          <p:cNvSpPr txBox="1"/>
          <p:nvPr/>
        </p:nvSpPr>
        <p:spPr>
          <a:xfrm>
            <a:off x="1079500" y="17145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参数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Bayes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0DD2D2E-BCF2-4D55-BE49-A74DE5DB9D69}"/>
              </a:ext>
            </a:extLst>
          </p:cNvPr>
          <p:cNvSpPr txBox="1"/>
          <p:nvPr/>
        </p:nvSpPr>
        <p:spPr>
          <a:xfrm>
            <a:off x="1079500" y="20701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形式清晰、样本效率高，但依赖正态分布假设。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1C836DC-E2E1-8ED2-5A1A-3B5A9C7DF225}"/>
              </a:ext>
            </a:extLst>
          </p:cNvPr>
          <p:cNvSpPr/>
          <p:nvPr/>
        </p:nvSpPr>
        <p:spPr>
          <a:xfrm>
            <a:off x="4572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BB86F8-E03C-86AB-7BC1-5F627F10A3D4}"/>
              </a:ext>
            </a:extLst>
          </p:cNvPr>
          <p:cNvSpPr/>
          <p:nvPr/>
        </p:nvSpPr>
        <p:spPr>
          <a:xfrm>
            <a:off x="4572000" y="1587500"/>
            <a:ext cx="76200" cy="1270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3E7CDD0-E1FA-74ED-79E2-AD130836DE83}"/>
              </a:ext>
            </a:extLst>
          </p:cNvPr>
          <p:cNvSpPr txBox="1"/>
          <p:nvPr/>
        </p:nvSpPr>
        <p:spPr>
          <a:xfrm>
            <a:off x="4762500" y="17145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Parzen Bayes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44E22F9-FE33-3B5D-220A-C8E2415623BB}"/>
              </a:ext>
            </a:extLst>
          </p:cNvPr>
          <p:cNvSpPr txBox="1"/>
          <p:nvPr/>
        </p:nvSpPr>
        <p:spPr>
          <a:xfrm>
            <a:off x="4762500" y="20701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密度形式灵活，但窗口宽度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和样本规模影响明显。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134950A-D911-4043-C406-D80D7FD45F9E}"/>
              </a:ext>
            </a:extLst>
          </p:cNvPr>
          <p:cNvSpPr/>
          <p:nvPr/>
        </p:nvSpPr>
        <p:spPr>
          <a:xfrm>
            <a:off x="8255000" y="1587500"/>
            <a:ext cx="2857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2906A22-0109-B04B-1201-5E999A44B5C8}"/>
              </a:ext>
            </a:extLst>
          </p:cNvPr>
          <p:cNvSpPr/>
          <p:nvPr/>
        </p:nvSpPr>
        <p:spPr>
          <a:xfrm>
            <a:off x="8255000" y="1587500"/>
            <a:ext cx="76200" cy="1270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B48C36-FD71-F0CA-D233-C812C7ADD8EC}"/>
              </a:ext>
            </a:extLst>
          </p:cNvPr>
          <p:cNvSpPr txBox="1"/>
          <p:nvPr/>
        </p:nvSpPr>
        <p:spPr>
          <a:xfrm>
            <a:off x="8445500" y="17145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EFC4C7-7EFA-914E-6648-4EEED73FCAF5}"/>
              </a:ext>
            </a:extLst>
          </p:cNvPr>
          <p:cNvSpPr txBox="1"/>
          <p:nvPr/>
        </p:nvSpPr>
        <p:spPr>
          <a:xfrm>
            <a:off x="8445500" y="20701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不估计密度，直接寻找判别方向，解释性强。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45E9A0A-81F6-6C8A-BC3A-D40524C07B7B}"/>
              </a:ext>
            </a:extLst>
          </p:cNvPr>
          <p:cNvSpPr/>
          <p:nvPr/>
        </p:nvSpPr>
        <p:spPr>
          <a:xfrm>
            <a:off x="1143000" y="4000500"/>
            <a:ext cx="9906000" cy="8890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0B7522A-7287-0AA7-BCED-67800D4EC348}"/>
              </a:ext>
            </a:extLst>
          </p:cNvPr>
          <p:cNvSpPr txBox="1"/>
          <p:nvPr/>
        </p:nvSpPr>
        <p:spPr>
          <a:xfrm>
            <a:off x="1498600" y="4318000"/>
            <a:ext cx="914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留一法结果与 </a:t>
            </a:r>
            <a:r>
              <a:rPr lang="en-US" altLang="zh-CN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错误率接近，说明它能在训练样本有限时给出较稳健的泛化误差估计。</a:t>
            </a:r>
          </a:p>
        </p:txBody>
      </p:sp>
    </p:spTree>
    <p:extLst>
      <p:ext uri="{BB962C8B-B14F-4D97-AF65-F5344CB8AC3E}">
        <p14:creationId xmlns:p14="http://schemas.microsoft.com/office/powerpoint/2010/main" val="1973097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0B38860-FA29-4602-1E59-108511D5CC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E1B8C259-2310-CD8C-F777-D6234D5F1C34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7C72BAC-C37C-C76C-293D-A4E51452443D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1FF4C8-71D6-BBA6-3F8B-602654A93ABF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D82A4D-87C2-025D-764A-DF3B8165D130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变换进行特征提取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964E82-3147-8291-5617-1E22B9746209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从无监督主成分方向理解身高体重样本的主要变化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BC2A7B4-F986-C769-BD38-6216F9EEF418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99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D217AC7-7C0E-339E-E836-747A054A6E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4A1450-80CC-EE80-CE9C-2BEEB1CE521C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69F4E4A-A324-4346-E6E8-9A956D337AA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0DD772F-CD5B-B0BE-AB0F-16B3A8342909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88375D-1F86-81AD-24E0-A02191F14529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FEATURE EXTRACTION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CCA3F6-295C-5542-7204-D4B63625AF95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实验三理论：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的差别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AC46661-B827-BFE1-CC06-692ECABDBCE0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C73B2AD-4967-8E34-10CD-2E04AB09FEF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A1916D5-F860-8757-85BB-D1FE7B493833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64DAC7A-521D-FC62-2741-1CEBD7D99E7C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910AAF-594C-D51D-50E5-07C844FA0008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ABA90F-BD67-1BB3-3AAB-00FBBCD295A2}"/>
              </a:ext>
            </a:extLst>
          </p:cNvPr>
          <p:cNvSpPr txBox="1"/>
          <p:nvPr/>
        </p:nvSpPr>
        <p:spPr>
          <a:xfrm>
            <a:off x="10795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K-L / PCA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35F5EB6-7567-6D05-8578-2540AF7DEDBC}"/>
              </a:ext>
            </a:extLst>
          </p:cNvPr>
          <p:cNvSpPr txBox="1"/>
          <p:nvPr/>
        </p:nvSpPr>
        <p:spPr>
          <a:xfrm>
            <a:off x="10795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对协方差矩阵做特征分解，保留总体方差最大的方向。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0D46F8A-5817-D94C-5D08-9845B20A9BD6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79339E-58EB-41A1-0044-32A4CDEB6072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232E3A4-4F8C-1353-E148-3627A60FDEED}"/>
              </a:ext>
            </a:extLst>
          </p:cNvPr>
          <p:cNvSpPr txBox="1"/>
          <p:nvPr/>
        </p:nvSpPr>
        <p:spPr>
          <a:xfrm>
            <a:off x="64770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5294E0E-F8DD-BBBA-CA7F-32C1A1F97EFE}"/>
              </a:ext>
            </a:extLst>
          </p:cNvPr>
          <p:cNvSpPr txBox="1"/>
          <p:nvPr/>
        </p:nvSpPr>
        <p:spPr>
          <a:xfrm>
            <a:off x="64770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利用类别标签，寻找最有利于分类的投影方向。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1774E57-4891-49C8-2A6C-CEE3D6CDF05F}"/>
              </a:ext>
            </a:extLst>
          </p:cNvPr>
          <p:cNvSpPr/>
          <p:nvPr/>
        </p:nvSpPr>
        <p:spPr>
          <a:xfrm>
            <a:off x="1270000" y="3276600"/>
            <a:ext cx="9652000" cy="990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FECDC1D-0917-E46F-0EF4-370924C28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7414" y="3457744"/>
            <a:ext cx="5577171" cy="62831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F3F6FF4A-C3A0-B7E9-0B06-F3B09DEA16C6}"/>
              </a:ext>
            </a:extLst>
          </p:cNvPr>
          <p:cNvSpPr txBox="1"/>
          <p:nvPr/>
        </p:nvSpPr>
        <p:spPr>
          <a:xfrm>
            <a:off x="1016000" y="48260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的目标是表示数据，不是直接优化分类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当最大方差方向与类别差异方向一致时，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也能得到较好分类效果</a:t>
            </a:r>
          </a:p>
        </p:txBody>
      </p:sp>
    </p:spTree>
    <p:extLst>
      <p:ext uri="{BB962C8B-B14F-4D97-AF65-F5344CB8AC3E}">
        <p14:creationId xmlns:p14="http://schemas.microsoft.com/office/powerpoint/2010/main" val="3604785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AA769DA-599E-6533-EC78-E2E0200BD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A9B9EA-E9E8-5E10-6D03-D8FE05301A2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6E28D042-B245-9CBA-A93D-E6417218479B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CC12A29-E1C3-2012-F858-D1E73780440A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E328501-31DE-CB92-DCD3-ACF6EDB3148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PCA INTUITION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4309A4A-0CB0-693D-2A67-09922896E15F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实验三理论展开：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变换怎样提取新特征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720D476-1372-905E-84B0-A8A786CA7BCD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2F68AC2-3639-9F29-6C62-41C87672EAD9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89AD55-631A-793A-D9CC-CA2826AA6CD5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2B51454-3E1C-A3B4-68E7-9117CE1B0113}"/>
              </a:ext>
            </a:extLst>
          </p:cNvPr>
          <p:cNvSpPr/>
          <p:nvPr/>
        </p:nvSpPr>
        <p:spPr>
          <a:xfrm>
            <a:off x="736600" y="1371600"/>
            <a:ext cx="3175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3B5D20-5EF2-4022-90B8-5309AD01F05E}"/>
              </a:ext>
            </a:extLst>
          </p:cNvPr>
          <p:cNvSpPr/>
          <p:nvPr/>
        </p:nvSpPr>
        <p:spPr>
          <a:xfrm>
            <a:off x="736600" y="1371600"/>
            <a:ext cx="76200" cy="1295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F1F969-607D-72D6-2F1F-215C84F6212B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找数据中心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9ACE233-AD0E-1C4B-2B60-A0FDE49AC136}"/>
              </a:ext>
            </a:extLst>
          </p:cNvPr>
          <p:cNvSpPr txBox="1"/>
          <p:nvPr/>
        </p:nvSpPr>
        <p:spPr>
          <a:xfrm>
            <a:off x="9271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先计算所有样本的平均向量，把样本平移到以均值为中心，关注相对变化。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2010846-99CC-5B38-0698-B8065B789885}"/>
              </a:ext>
            </a:extLst>
          </p:cNvPr>
          <p:cNvSpPr/>
          <p:nvPr/>
        </p:nvSpPr>
        <p:spPr>
          <a:xfrm>
            <a:off x="4508500" y="1371600"/>
            <a:ext cx="3175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E5CE4D-25D9-8792-40E6-E160079FF9D4}"/>
              </a:ext>
            </a:extLst>
          </p:cNvPr>
          <p:cNvSpPr/>
          <p:nvPr/>
        </p:nvSpPr>
        <p:spPr>
          <a:xfrm>
            <a:off x="4508500" y="1371600"/>
            <a:ext cx="76200" cy="1295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BFD5DB8-BACA-B167-4598-36D29421A542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找变化方向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18231F9-E19E-FE42-0BB5-764178C671E7}"/>
              </a:ext>
            </a:extLst>
          </p:cNvPr>
          <p:cNvSpPr txBox="1"/>
          <p:nvPr/>
        </p:nvSpPr>
        <p:spPr>
          <a:xfrm>
            <a:off x="46990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协方差矩阵描述两个特征如何共同变化。特征向量给出新坐标轴，特征值表示该方向上变化有多大。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14A22F2-6D07-6FD1-44A9-37170ADA7A34}"/>
              </a:ext>
            </a:extLst>
          </p:cNvPr>
          <p:cNvSpPr/>
          <p:nvPr/>
        </p:nvSpPr>
        <p:spPr>
          <a:xfrm>
            <a:off x="8280400" y="1371600"/>
            <a:ext cx="2921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E8BEA17-AA2D-2354-C851-6344E1896239}"/>
              </a:ext>
            </a:extLst>
          </p:cNvPr>
          <p:cNvSpPr/>
          <p:nvPr/>
        </p:nvSpPr>
        <p:spPr>
          <a:xfrm>
            <a:off x="8280400" y="1371600"/>
            <a:ext cx="76200" cy="1295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5176C5E-D0C3-4341-0C80-A8AA19999261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投影降维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29121A-3521-F4C2-1049-393F67DDD384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把样本投影到最大特征值对应的方向，就得到保留主要变化的一维新特征。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F9F3A75-2B0C-7614-0600-AB48A18DB264}"/>
              </a:ext>
            </a:extLst>
          </p:cNvPr>
          <p:cNvSpPr/>
          <p:nvPr/>
        </p:nvSpPr>
        <p:spPr>
          <a:xfrm>
            <a:off x="1016000" y="3276600"/>
            <a:ext cx="10160000" cy="914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BBFCA62-95FA-0AAC-1492-7D1F42A675C7}"/>
              </a:ext>
            </a:extLst>
          </p:cNvPr>
          <p:cNvSpPr txBox="1"/>
          <p:nvPr/>
        </p:nvSpPr>
        <p:spPr>
          <a:xfrm>
            <a:off x="1422400" y="3581400"/>
            <a:ext cx="9347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0A7FCC"/>
                </a:solidFill>
                <a:latin typeface="Microsoft YaHei" panose="020B0503020204020204" pitchFamily="34" charset="-122"/>
              </a:rPr>
              <a:t>通俗理解：</a:t>
            </a:r>
            <a:r>
              <a:rPr lang="en-US" altLang="zh-CN" sz="1700" b="1">
                <a:solidFill>
                  <a:srgbClr val="0A7FCC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700" b="1">
                <a:solidFill>
                  <a:srgbClr val="0A7FCC"/>
                </a:solidFill>
                <a:latin typeface="Microsoft YaHei" panose="020B0503020204020204" pitchFamily="34" charset="-122"/>
              </a:rPr>
              <a:t>像是在散点图上找一根尺子，让样本沿这根尺子的展开范围最大。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F8C3CC9-B756-38F2-72A3-36F18D2D4AA8}"/>
              </a:ext>
            </a:extLst>
          </p:cNvPr>
          <p:cNvSpPr txBox="1"/>
          <p:nvPr/>
        </p:nvSpPr>
        <p:spPr>
          <a:xfrm>
            <a:off x="1143000" y="48260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如果男女样本主要沿这根尺子分开，那么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第一主成分就能用于分类。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如果最大变化来自身高体重以外的因素，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可能保留了方差，却没有保留判别信息。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所以实验三要把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、类均值方向、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放在一起比较。</a:t>
            </a:r>
          </a:p>
        </p:txBody>
      </p:sp>
    </p:spTree>
    <p:extLst>
      <p:ext uri="{BB962C8B-B14F-4D97-AF65-F5344CB8AC3E}">
        <p14:creationId xmlns:p14="http://schemas.microsoft.com/office/powerpoint/2010/main" val="1337271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842DAF0-C39E-7304-114D-889F5E8D4C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5DAE5F-5326-5F9E-BBA2-C64B1075CE64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A77D7BA-6E51-4D0F-9845-054416D0AFAB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E467CAA-8B53-3C10-B702-71E7FCD79D0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21FCDB-517E-21E2-150E-865881D66918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70F922-6603-94DD-74A4-EAA3AD6D9CEE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实验三设置：二维特征的主方向分析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472A811-F5EA-BDDA-71B2-4C5B0E2AD95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F83E83E-4C3E-F92E-AEB7-99E844335636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637948-45A0-4C22-3822-25CA9F730178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53B52B2-D8A1-497A-3149-4178ED5D8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520496"/>
              </p:ext>
            </p:extLst>
          </p:nvPr>
        </p:nvGraphicFramePr>
        <p:xfrm>
          <a:off x="825500" y="1397000"/>
          <a:ext cx="4445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2568201193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958784524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</a:t>
                      </a: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87673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43562354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27351271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第一主成分解释率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87.52%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67967153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(0.6269, 0.7791)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20734259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(0.6514, 0.7587)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446138508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4A9A1AD-4294-DAFD-BF29-25E4A5F0DBF7}"/>
              </a:ext>
            </a:extLst>
          </p:cNvPr>
          <p:cNvSpPr/>
          <p:nvPr/>
        </p:nvSpPr>
        <p:spPr>
          <a:xfrm>
            <a:off x="5778500" y="1333500"/>
            <a:ext cx="52705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659EA35-B95C-C475-9D97-96026B6F1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886" y="1811382"/>
            <a:ext cx="4173729" cy="2981235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57292EF-C01A-402B-AB9F-BC16B7E34E21}"/>
              </a:ext>
            </a:extLst>
          </p:cNvPr>
          <p:cNvSpPr/>
          <p:nvPr/>
        </p:nvSpPr>
        <p:spPr>
          <a:xfrm>
            <a:off x="1016000" y="4927600"/>
            <a:ext cx="40005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DCB81E-9B03-0D11-78D8-BEAAAFD4B132}"/>
              </a:ext>
            </a:extLst>
          </p:cNvPr>
          <p:cNvSpPr/>
          <p:nvPr/>
        </p:nvSpPr>
        <p:spPr>
          <a:xfrm>
            <a:off x="1016000" y="49276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7D50EAD-FDCC-EF83-D275-B787078F1092}"/>
              </a:ext>
            </a:extLst>
          </p:cNvPr>
          <p:cNvSpPr txBox="1"/>
          <p:nvPr/>
        </p:nvSpPr>
        <p:spPr>
          <a:xfrm>
            <a:off x="1206500" y="5054600"/>
            <a:ext cx="3695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设置说明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8A367A2-4BEE-4BEA-1514-FA87EDC7AC5E}"/>
              </a:ext>
            </a:extLst>
          </p:cNvPr>
          <p:cNvSpPr txBox="1"/>
          <p:nvPr/>
        </p:nvSpPr>
        <p:spPr>
          <a:xfrm>
            <a:off x="1206500" y="5410200"/>
            <a:ext cx="3695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分别使用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第一主成分、类均值差方向、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进行分类比较。</a:t>
            </a:r>
          </a:p>
        </p:txBody>
      </p:sp>
    </p:spTree>
    <p:extLst>
      <p:ext uri="{BB962C8B-B14F-4D97-AF65-F5344CB8AC3E}">
        <p14:creationId xmlns:p14="http://schemas.microsoft.com/office/powerpoint/2010/main" val="1913697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EADB889-E831-8A6F-9C46-59CD0B1761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1339FB-6803-0FD6-8378-D4EA253F244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14843C5-53A4-D8F0-25AC-6ED9D00CE4A1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4C4AE6E0-D21C-F3C8-1415-FBD83BE6423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666276F-50E7-F774-96A1-956678589093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647EC8-C97A-CBD9-AB38-DA4A459992D3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实验三结果：投影分布与分类性能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1FC965F-3556-A4DF-4012-DD7AC086E47E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3517278-FCB9-7513-9C83-5C67B560973D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2D24F96-6CEB-49CB-83C5-82923F1DA82F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844D2C2-9EBA-2FE7-2B31-43CC762F84CE}"/>
              </a:ext>
            </a:extLst>
          </p:cNvPr>
          <p:cNvSpPr/>
          <p:nvPr/>
        </p:nvSpPr>
        <p:spPr>
          <a:xfrm>
            <a:off x="825500" y="1397000"/>
            <a:ext cx="5207000" cy="3302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DD01B89-E11E-6605-17BB-CFFECB0D0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094" y="1941178"/>
            <a:ext cx="4071812" cy="2213644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DE4C3EE8-25D8-4FA4-DEA2-53EE9DECA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832858"/>
              </p:ext>
            </p:extLst>
          </p:nvPr>
        </p:nvGraphicFramePr>
        <p:xfrm>
          <a:off x="6540500" y="1549400"/>
          <a:ext cx="482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3035529398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0943730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51637078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07898827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0784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PCA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0181632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6982772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7266585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019969711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405ADACD-8F49-27E9-06AF-01D471113444}"/>
              </a:ext>
            </a:extLst>
          </p:cNvPr>
          <p:cNvSpPr txBox="1"/>
          <p:nvPr/>
        </p:nvSpPr>
        <p:spPr>
          <a:xfrm>
            <a:off x="6667500" y="4318000"/>
            <a:ext cx="457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第一主成分已经能较好区分男女样本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上略优，体现监督判别方向的优势</a:t>
            </a:r>
          </a:p>
        </p:txBody>
      </p:sp>
    </p:spTree>
    <p:extLst>
      <p:ext uri="{BB962C8B-B14F-4D97-AF65-F5344CB8AC3E}">
        <p14:creationId xmlns:p14="http://schemas.microsoft.com/office/powerpoint/2010/main" val="2261686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5AA964A-FF3B-F0EB-8E53-21432C5254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579F15-3690-DA9C-8553-53A0916F434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3101E5E-928A-0E3A-8ECC-DC47818B897D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4DDDB55-85C1-B241-3130-74EE8B9D0DC2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EDC13B-ECF4-3382-7E13-E2AC3791A1E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E359C91-9E99-2B82-8B6D-094D94EFF51F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实验三分析：最大方差不等于最佳分类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949B2E2-3A7B-D047-C2C0-454905D2469D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909592A-3502-B341-5D55-1A598AD3D8A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D28EF30-FB1B-55B1-C13D-3D4453C221F7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E80C16A-7EA9-7A2C-2D6B-829E5770377E}"/>
              </a:ext>
            </a:extLst>
          </p:cNvPr>
          <p:cNvSpPr/>
          <p:nvPr/>
        </p:nvSpPr>
        <p:spPr>
          <a:xfrm>
            <a:off x="889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A7BA01A-32A9-76CA-38B2-4B4D53F3C210}"/>
              </a:ext>
            </a:extLst>
          </p:cNvPr>
          <p:cNvSpPr/>
          <p:nvPr/>
        </p:nvSpPr>
        <p:spPr>
          <a:xfrm>
            <a:off x="889000" y="152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AD047B-1002-899D-042C-E06C1FEED5CD}"/>
              </a:ext>
            </a:extLst>
          </p:cNvPr>
          <p:cNvSpPr txBox="1"/>
          <p:nvPr/>
        </p:nvSpPr>
        <p:spPr>
          <a:xfrm>
            <a:off x="1079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有效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E155209-EC88-123A-D8E9-8F844D59F443}"/>
              </a:ext>
            </a:extLst>
          </p:cNvPr>
          <p:cNvSpPr txBox="1"/>
          <p:nvPr/>
        </p:nvSpPr>
        <p:spPr>
          <a:xfrm>
            <a:off x="1079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本数据中身高和体重的主要变化方向与性别差异方向接近。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3E7CA28-F887-E452-7F4E-36C795AB605E}"/>
              </a:ext>
            </a:extLst>
          </p:cNvPr>
          <p:cNvSpPr/>
          <p:nvPr/>
        </p:nvSpPr>
        <p:spPr>
          <a:xfrm>
            <a:off x="4572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A121BC-A9A2-F2DE-3A02-C4A98FDAD202}"/>
              </a:ext>
            </a:extLst>
          </p:cNvPr>
          <p:cNvSpPr/>
          <p:nvPr/>
        </p:nvSpPr>
        <p:spPr>
          <a:xfrm>
            <a:off x="4572000" y="15240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A43514C-3EFA-E3F6-3503-AB392359BE60}"/>
              </a:ext>
            </a:extLst>
          </p:cNvPr>
          <p:cNvSpPr txBox="1"/>
          <p:nvPr/>
        </p:nvSpPr>
        <p:spPr>
          <a:xfrm>
            <a:off x="4762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略优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7851FE2-D7B9-CC91-F6A5-630B96807E6D}"/>
              </a:ext>
            </a:extLst>
          </p:cNvPr>
          <p:cNvSpPr txBox="1"/>
          <p:nvPr/>
        </p:nvSpPr>
        <p:spPr>
          <a:xfrm>
            <a:off x="4762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直接利用类别标签，目标就是提高类别分离度。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723F6AB-C4BF-5A0F-2025-4C170300C0B6}"/>
              </a:ext>
            </a:extLst>
          </p:cNvPr>
          <p:cNvSpPr/>
          <p:nvPr/>
        </p:nvSpPr>
        <p:spPr>
          <a:xfrm>
            <a:off x="8255000" y="1524000"/>
            <a:ext cx="2857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8169B80-5A19-C87B-E058-85ADC5F82F04}"/>
              </a:ext>
            </a:extLst>
          </p:cNvPr>
          <p:cNvSpPr/>
          <p:nvPr/>
        </p:nvSpPr>
        <p:spPr>
          <a:xfrm>
            <a:off x="8255000" y="15240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EB3290-65BC-27EF-598C-9CBC7761262D}"/>
              </a:ext>
            </a:extLst>
          </p:cNvPr>
          <p:cNvSpPr txBox="1"/>
          <p:nvPr/>
        </p:nvSpPr>
        <p:spPr>
          <a:xfrm>
            <a:off x="8445500" y="16510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一般规律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B0B9605-806E-DE87-57D1-33469A7714F8}"/>
              </a:ext>
            </a:extLst>
          </p:cNvPr>
          <p:cNvSpPr txBox="1"/>
          <p:nvPr/>
        </p:nvSpPr>
        <p:spPr>
          <a:xfrm>
            <a:off x="8445500" y="20066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无监督降维需要和监督分类器共同评价。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C4C3657-8357-107F-C42B-D47B5DDCD418}"/>
              </a:ext>
            </a:extLst>
          </p:cNvPr>
          <p:cNvSpPr/>
          <p:nvPr/>
        </p:nvSpPr>
        <p:spPr>
          <a:xfrm>
            <a:off x="2032000" y="3429000"/>
            <a:ext cx="8128000" cy="228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1218E206-F024-6CF6-1DEF-FEFB5DCC8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979" y="3886445"/>
            <a:ext cx="2522041" cy="13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80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362F3A5-95C5-ED71-9653-024009861B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AABE8917-839E-9D62-4AA5-BF38E339594A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9B81EF5-F0DC-1242-8633-5A844C35FD6C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720779-418E-CFE7-60E8-EB49F49A3BEF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94B821-B8F0-E7C0-4C9C-FC1D1EC23251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变换的图像识别应用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9934018-863C-50DC-ABFE-19545357D284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把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从二维样本扩展到高维飞机图像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3885E4F-F371-E3AE-3AE3-05EC5D29C44E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515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14EBE67-3BC1-5510-9D3F-A360B14DEC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DE47D1-284A-B484-47D5-15530F97EE2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46FDBEB-1855-850B-6353-D3D7CA1FA40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E551329-A59D-A0CC-6921-FA1FC17CD26D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59144D-98EC-ED13-391A-E9DC1388AC7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IMAGE RECOGNITION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2D6909-B880-F8C4-0A8A-C1320E29AC8F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实验四理论：高维图像的低维表示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CE09BCB-9CD8-B4C2-0FF6-5208D7EB8B42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F7595EB-69D9-1D71-6F9A-A049D5C11032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6D928B7-3B8D-9714-53A4-506D77FE0195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B917CD6-CFD4-4685-A96C-A42D7ECDECCE}"/>
              </a:ext>
            </a:extLst>
          </p:cNvPr>
          <p:cNvSpPr/>
          <p:nvPr/>
        </p:nvSpPr>
        <p:spPr>
          <a:xfrm>
            <a:off x="10160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3ACC2E-7C83-2A1D-BBC8-F7716333364B}"/>
              </a:ext>
            </a:extLst>
          </p:cNvPr>
          <p:cNvSpPr txBox="1"/>
          <p:nvPr/>
        </p:nvSpPr>
        <p:spPr>
          <a:xfrm>
            <a:off x="1028700" y="1600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711022-0AA3-13F5-D699-454DE61C8223}"/>
              </a:ext>
            </a:extLst>
          </p:cNvPr>
          <p:cNvSpPr txBox="1"/>
          <p:nvPr/>
        </p:nvSpPr>
        <p:spPr>
          <a:xfrm>
            <a:off x="1549400" y="1485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图像预处理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AB6CF3E-A4BA-B16D-BC78-485CF9F71EBD}"/>
              </a:ext>
            </a:extLst>
          </p:cNvPr>
          <p:cNvSpPr txBox="1"/>
          <p:nvPr/>
        </p:nvSpPr>
        <p:spPr>
          <a:xfrm>
            <a:off x="1549400" y="1803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灰度化、缩放到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32×32</a:t>
            </a:r>
            <a:endParaRPr lang="zh-CN" altLang="en-US" sz="12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7656531-2676-21C2-2CB4-646D11DF5666}"/>
              </a:ext>
            </a:extLst>
          </p:cNvPr>
          <p:cNvSpPr/>
          <p:nvPr/>
        </p:nvSpPr>
        <p:spPr>
          <a:xfrm>
            <a:off x="10160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361366C-C997-FABC-3744-A2076CE92BF4}"/>
              </a:ext>
            </a:extLst>
          </p:cNvPr>
          <p:cNvSpPr txBox="1"/>
          <p:nvPr/>
        </p:nvSpPr>
        <p:spPr>
          <a:xfrm>
            <a:off x="1028700" y="2616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8CAD5-8AE2-4DB6-0BA4-CAC9AF423CA1}"/>
              </a:ext>
            </a:extLst>
          </p:cNvPr>
          <p:cNvSpPr txBox="1"/>
          <p:nvPr/>
        </p:nvSpPr>
        <p:spPr>
          <a:xfrm>
            <a:off x="1549400" y="2501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向量化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8CF24B3-27D4-C751-C7C4-37654EF4CACE}"/>
              </a:ext>
            </a:extLst>
          </p:cNvPr>
          <p:cNvSpPr txBox="1"/>
          <p:nvPr/>
        </p:nvSpPr>
        <p:spPr>
          <a:xfrm>
            <a:off x="1549400" y="2819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每张图像展开为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维向量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4DDED2BB-CB09-680D-B3CC-72F91E28A550}"/>
              </a:ext>
            </a:extLst>
          </p:cNvPr>
          <p:cNvSpPr/>
          <p:nvPr/>
        </p:nvSpPr>
        <p:spPr>
          <a:xfrm>
            <a:off x="10160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9E7003-09C3-EED0-1BEA-D237D516FAC5}"/>
              </a:ext>
            </a:extLst>
          </p:cNvPr>
          <p:cNvSpPr txBox="1"/>
          <p:nvPr/>
        </p:nvSpPr>
        <p:spPr>
          <a:xfrm>
            <a:off x="1028700" y="3632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DCB733-F071-6DDD-0854-A1B14CA30935}"/>
              </a:ext>
            </a:extLst>
          </p:cNvPr>
          <p:cNvSpPr txBox="1"/>
          <p:nvPr/>
        </p:nvSpPr>
        <p:spPr>
          <a:xfrm>
            <a:off x="1549400" y="3517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降维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115AAA-1A08-1EEF-9314-9274A0A00A5C}"/>
              </a:ext>
            </a:extLst>
          </p:cNvPr>
          <p:cNvSpPr txBox="1"/>
          <p:nvPr/>
        </p:nvSpPr>
        <p:spPr>
          <a:xfrm>
            <a:off x="1549400" y="3835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提取前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k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个主成分作为图像特征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4DBA5412-4C21-5126-72D0-D64E0E32C268}"/>
              </a:ext>
            </a:extLst>
          </p:cNvPr>
          <p:cNvSpPr/>
          <p:nvPr/>
        </p:nvSpPr>
        <p:spPr>
          <a:xfrm>
            <a:off x="10160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7B3FCD1-3F5F-533C-2847-242382D71C62}"/>
              </a:ext>
            </a:extLst>
          </p:cNvPr>
          <p:cNvSpPr txBox="1"/>
          <p:nvPr/>
        </p:nvSpPr>
        <p:spPr>
          <a:xfrm>
            <a:off x="1028700" y="4648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AAB0D37-8D66-F511-CEA6-8C2B89D19BD3}"/>
              </a:ext>
            </a:extLst>
          </p:cNvPr>
          <p:cNvSpPr txBox="1"/>
          <p:nvPr/>
        </p:nvSpPr>
        <p:spPr>
          <a:xfrm>
            <a:off x="1549400" y="4533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低维分类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5AB572A-0B17-E48F-28AF-5F8BABE93717}"/>
              </a:ext>
            </a:extLst>
          </p:cNvPr>
          <p:cNvSpPr txBox="1"/>
          <p:nvPr/>
        </p:nvSpPr>
        <p:spPr>
          <a:xfrm>
            <a:off x="1549400" y="4851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NearestCentroid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对比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188D4E3-C642-E893-787C-E50A83CF1C8D}"/>
              </a:ext>
            </a:extLst>
          </p:cNvPr>
          <p:cNvSpPr/>
          <p:nvPr/>
        </p:nvSpPr>
        <p:spPr>
          <a:xfrm>
            <a:off x="6540500" y="1625600"/>
            <a:ext cx="4000500" cy="8636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31481B9-F7DE-AD3F-2FC1-93B643217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061" y="1976660"/>
            <a:ext cx="1433377" cy="161481"/>
          </a:xfrm>
          <a:prstGeom prst="rect">
            <a:avLst/>
          </a:prstGeom>
        </p:spPr>
      </p:pic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DD5C63C5-C856-EE8B-2479-899A297DE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312305"/>
              </p:ext>
            </p:extLst>
          </p:nvPr>
        </p:nvGraphicFramePr>
        <p:xfrm>
          <a:off x="6540500" y="3048000"/>
          <a:ext cx="4000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4274666875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43674522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67583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类别数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50788497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5310838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24512593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 / 16 / 32 / 64 / 128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718335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840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0E223D7-A249-F555-9637-EEF2421007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930B91-A089-179B-FD4D-65CA736E74D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323EF24-F88B-BF7A-2D04-37DBBA4FB8D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2DD67988-267D-0E93-9B70-233C31811AA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4973EB-A4F2-EFE8-46BC-865F7B0199E5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HIGH-DIMENSIONAL FEATURES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8908F9-22F0-9F30-D60A-C725129F160E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实验四理论展开：为什么图像识别需要降维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A5BE701-14B6-1815-7814-8E8F29625B9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EC00902-1446-856B-5CB2-C9F044D5835A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7BD065-1F98-6367-89D3-412703A930F8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B0961F8-2821-5275-87B7-57400D96507B}"/>
              </a:ext>
            </a:extLst>
          </p:cNvPr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F17B0F-C570-E9C1-9EE9-D03580437E21}"/>
              </a:ext>
            </a:extLst>
          </p:cNvPr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DEA56D8-2012-CFB5-45AC-1659A23D3936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维数高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FBF8B2-6B79-7A7A-4E1E-8B2DA9F10B6A}"/>
              </a:ext>
            </a:extLst>
          </p:cNvPr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32×32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灰度图展开后就是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维。维数越高，距离计算越容易受噪声和无关背景影响。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D0716E3-724B-CD95-7E43-346578E43A67}"/>
              </a:ext>
            </a:extLst>
          </p:cNvPr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F857A48-B0B2-D8AA-A607-9DFA4B162537}"/>
              </a:ext>
            </a:extLst>
          </p:cNvPr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BF31709-1A90-0D68-DE6D-630417246AE4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样本有限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0A687E6-66F9-8647-9A3C-2E42F91A5AC5}"/>
              </a:ext>
            </a:extLst>
          </p:cNvPr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虽然有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2530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张训练图，但相对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维特征仍不算充分，直接分类容易过拟合。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B3E00D1-0902-9620-7DEE-2BE6F801681C}"/>
              </a:ext>
            </a:extLst>
          </p:cNvPr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2B2B677-44EA-C800-E369-394B5B446AED}"/>
              </a:ext>
            </a:extLst>
          </p:cNvPr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6D4693-99DB-2573-13D4-4B7EE1BC5C54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的作用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72B12A7-B018-36E4-95BE-C68C13A240EE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用较少主成分表示图像，把共同轮廓、明暗结构等主要变化保留下来。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3D721DB-E052-977D-62D3-1A25DBF52756}"/>
              </a:ext>
            </a:extLst>
          </p:cNvPr>
          <p:cNvSpPr/>
          <p:nvPr/>
        </p:nvSpPr>
        <p:spPr>
          <a:xfrm>
            <a:off x="1092200" y="3429000"/>
            <a:ext cx="10033000" cy="9652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0D50049-93F8-3474-645A-B4DFF642CA59}"/>
              </a:ext>
            </a:extLst>
          </p:cNvPr>
          <p:cNvSpPr txBox="1"/>
          <p:nvPr/>
        </p:nvSpPr>
        <p:spPr>
          <a:xfrm>
            <a:off x="1422400" y="3759200"/>
            <a:ext cx="9347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006BB7"/>
                </a:solidFill>
                <a:latin typeface="Microsoft YaHei" panose="020B0503020204020204" pitchFamily="34" charset="-122"/>
              </a:rPr>
              <a:t>从二维身高体重到 </a:t>
            </a:r>
            <a:r>
              <a:rPr lang="en-US" altLang="zh-CN" sz="1700" b="1">
                <a:solidFill>
                  <a:srgbClr val="006BB7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700" b="1">
                <a:solidFill>
                  <a:srgbClr val="006BB7"/>
                </a:solidFill>
                <a:latin typeface="Microsoft YaHei" panose="020B0503020204020204" pitchFamily="34" charset="-122"/>
              </a:rPr>
              <a:t>维图像，本质仍是寻找更适合分类的特征表示。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9F054DE-3B39-28CC-698D-6277862D13CB}"/>
              </a:ext>
            </a:extLst>
          </p:cNvPr>
          <p:cNvSpPr txBox="1"/>
          <p:nvPr/>
        </p:nvSpPr>
        <p:spPr>
          <a:xfrm>
            <a:off x="1143000" y="49022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主成分可以看作一组基础图像模式，原图像由这些模式加权组合得到。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保留太少主成分会丢失类别细节；保留太多主成分又可能引入背景和噪声。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因此实验四考察不同主成分数下的识别准确率。</a:t>
            </a:r>
          </a:p>
        </p:txBody>
      </p:sp>
    </p:spTree>
    <p:extLst>
      <p:ext uri="{BB962C8B-B14F-4D97-AF65-F5344CB8AC3E}">
        <p14:creationId xmlns:p14="http://schemas.microsoft.com/office/powerpoint/2010/main" val="15678429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BBE121E-6C2D-B740-8036-D021B75601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3BBBC7-6346-E529-FA0D-17AB01D1EBA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FD775C64-2366-B9E1-FCEA-B37BD1BA049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2073309-4B80-A286-4AAD-1171716298D8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9E7EAE-63EF-2B26-8BE1-1B4365D544D0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VISUAL 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B588FD-8AF6-DE67-6A8A-3DA26D283936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实验四结果：样本图像与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主成分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EB9F719-0147-6D24-954E-697BD26F66D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2F5FE4E-1E15-498E-53D0-030688C460B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4DDA9F3-A4C0-5E9F-B69F-8950F61E2673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D5561F5-4DCA-177A-57E3-D8EE0B5CF3AF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6D33C68-D8E7-E536-056B-ED028E43B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83" y="2454590"/>
            <a:ext cx="3562835" cy="1694821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0455274-803B-8BBF-80DF-494A71465559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20C4A5C-D25B-50E5-8828-5AEFE9BEF1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482" y="2500362"/>
            <a:ext cx="3562836" cy="160327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CEE914F-F51C-2015-5262-1364DC2E43A4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B6D178F-C6B4-4774-FAC3-950746732136}"/>
              </a:ext>
            </a:extLst>
          </p:cNvPr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1024→64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948590-90F6-2630-CB5B-0431DEF3448D}"/>
              </a:ext>
            </a:extLst>
          </p:cNvPr>
          <p:cNvSpPr txBox="1"/>
          <p:nvPr/>
        </p:nvSpPr>
        <p:spPr>
          <a:xfrm>
            <a:off x="1168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维度压缩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F3B0834-0D51-04E5-E209-9FA47972549A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6FF0E94-AC9F-9BD7-81F6-A49897316F01}"/>
              </a:ext>
            </a:extLst>
          </p:cNvPr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89.88%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9F210F1-E495-9729-2967-97D616399A9F}"/>
              </a:ext>
            </a:extLst>
          </p:cNvPr>
          <p:cNvSpPr txBox="1"/>
          <p:nvPr/>
        </p:nvSpPr>
        <p:spPr>
          <a:xfrm>
            <a:off x="3454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64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维解释方差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B43DA9C-29B4-201B-D3B5-B31B9F06BFFD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7245CA4-5FCA-C0B7-D531-2CB0D29B8C06}"/>
              </a:ext>
            </a:extLst>
          </p:cNvPr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5B702CA-8890-B218-545A-696E2D39FF59}"/>
              </a:ext>
            </a:extLst>
          </p:cNvPr>
          <p:cNvSpPr txBox="1"/>
          <p:nvPr/>
        </p:nvSpPr>
        <p:spPr>
          <a:xfrm>
            <a:off x="5740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飞机类别数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1E924B-307F-78A4-1E08-0F771CB80C1C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831DD9-3EAA-9E32-1FE6-B585DECE0C54}"/>
              </a:ext>
            </a:extLst>
          </p:cNvPr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636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3282E50-C754-4B31-B154-66353DDC292F}"/>
              </a:ext>
            </a:extLst>
          </p:cNvPr>
          <p:cNvSpPr txBox="1"/>
          <p:nvPr/>
        </p:nvSpPr>
        <p:spPr>
          <a:xfrm>
            <a:off x="8026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测试图像数</a:t>
            </a:r>
          </a:p>
        </p:txBody>
      </p:sp>
    </p:spTree>
    <p:extLst>
      <p:ext uri="{BB962C8B-B14F-4D97-AF65-F5344CB8AC3E}">
        <p14:creationId xmlns:p14="http://schemas.microsoft.com/office/powerpoint/2010/main" val="36941140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0191E53-9BB9-09B7-C0F4-00328458DD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3AD848-BCB1-3B68-6267-18A212A0A748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1D37677-09AA-F753-DF67-DA880E387A71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0D51758-830E-1590-1C94-893B042F1D75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855096-5BAD-0D28-F07C-0D45FAB24B9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AC68A7-FFAB-2D9A-06A4-6B0B3F57625D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实验四结果：主成分数与识别准确率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43FCB0A-E8ED-C88E-DA1A-823886CC719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88A54A9-8523-B1D0-657B-DF4082B873A6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0AE6B3A-C477-0086-D641-4691719701DF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B36662E-18ED-CB3A-EA5A-C9C9C7FFF602}"/>
              </a:ext>
            </a:extLst>
          </p:cNvPr>
          <p:cNvSpPr/>
          <p:nvPr/>
        </p:nvSpPr>
        <p:spPr>
          <a:xfrm>
            <a:off x="825500" y="1397000"/>
            <a:ext cx="5334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C99BADE-DDEF-0ACE-705D-7BFCB6713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046" y="1927279"/>
            <a:ext cx="4276908" cy="2749441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C9D692E-ABF5-E421-2C64-421A1D1FE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318607"/>
              </p:ext>
            </p:extLst>
          </p:nvPr>
        </p:nvGraphicFramePr>
        <p:xfrm>
          <a:off x="6667500" y="1587500"/>
          <a:ext cx="4445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250">
                  <a:extLst>
                    <a:ext uri="{9D8B030D-6E8A-4147-A177-3AD203B41FA5}">
                      <a16:colId xmlns:a16="http://schemas.microsoft.com/office/drawing/2014/main" val="3245581152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547446424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404648545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135955260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主成分数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70267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质心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20.47%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19.97%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85448677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54.09%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2279546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53.93%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94169292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52.99%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512866550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DF3FEE77-61AB-9E6A-45FE-65FBFDF04E3A}"/>
              </a:ext>
            </a:extLst>
          </p:cNvPr>
          <p:cNvSpPr txBox="1"/>
          <p:nvPr/>
        </p:nvSpPr>
        <p:spPr>
          <a:xfrm>
            <a:off x="6794500" y="4318000"/>
            <a:ext cx="4318000" cy="91563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明显优于最近质心，说明飞机类别内部变化复杂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主成分数增加到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32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后收益变小，后续成分可能包含背景和噪声</a:t>
            </a:r>
          </a:p>
        </p:txBody>
      </p:sp>
    </p:spTree>
    <p:extLst>
      <p:ext uri="{BB962C8B-B14F-4D97-AF65-F5344CB8AC3E}">
        <p14:creationId xmlns:p14="http://schemas.microsoft.com/office/powerpoint/2010/main" val="1965997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088402A-02DA-E543-94FF-79210B7642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945BCCD-CEAF-8F73-7B48-70A68EDDE90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2B717E5-1925-8815-9C05-BA85E7A57E87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CFD1711F-A13B-92AE-6D1D-11BAB6605876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7E2053-91CB-81A1-8183-2E572E76F6BE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E1CE7B3-9C9E-3D66-026C-05DB1F240FD1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实验四分析：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能压缩，但不是完整识别方案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B7C0015-8FC3-8748-9437-0C38E483E462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4BF2794-75A5-E945-926B-A35B2A242961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ED475E-D497-3764-C335-2BF7AD347E9E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386D56F-AA4A-06BA-78AC-875B3EA8BCF9}"/>
              </a:ext>
            </a:extLst>
          </p:cNvPr>
          <p:cNvSpPr/>
          <p:nvPr/>
        </p:nvSpPr>
        <p:spPr>
          <a:xfrm>
            <a:off x="952500" y="1397000"/>
            <a:ext cx="53340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7CDDAC6-7C6F-0AE7-711E-12B8C04EA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722" y="2248418"/>
            <a:ext cx="2637555" cy="223416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3D7E448-08E3-DDF5-B85F-C2D171D8FEE6}"/>
              </a:ext>
            </a:extLst>
          </p:cNvPr>
          <p:cNvSpPr/>
          <p:nvPr/>
        </p:nvSpPr>
        <p:spPr>
          <a:xfrm>
            <a:off x="7048500" y="1524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C8859E-680F-7486-714D-9A4F42AB1AC6}"/>
              </a:ext>
            </a:extLst>
          </p:cNvPr>
          <p:cNvSpPr/>
          <p:nvPr/>
        </p:nvSpPr>
        <p:spPr>
          <a:xfrm>
            <a:off x="7048500" y="1524000"/>
            <a:ext cx="76200" cy="10160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BA37E0F-9C8D-DA08-E250-AB75C4779E4E}"/>
              </a:ext>
            </a:extLst>
          </p:cNvPr>
          <p:cNvSpPr txBox="1"/>
          <p:nvPr/>
        </p:nvSpPr>
        <p:spPr>
          <a:xfrm>
            <a:off x="7239000" y="1651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混淆原因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B30E36C-BE66-01F7-C5EE-92BA4600DED0}"/>
              </a:ext>
            </a:extLst>
          </p:cNvPr>
          <p:cNvSpPr txBox="1"/>
          <p:nvPr/>
        </p:nvSpPr>
        <p:spPr>
          <a:xfrm>
            <a:off x="7239000" y="2006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低分辨率灰度图中，部分飞机外形相近，姿态和背景也会干扰。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5C6281F-4416-11AE-51C6-BE51545F38C7}"/>
              </a:ext>
            </a:extLst>
          </p:cNvPr>
          <p:cNvSpPr/>
          <p:nvPr/>
        </p:nvSpPr>
        <p:spPr>
          <a:xfrm>
            <a:off x="7048500" y="29845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F8E448-4435-AF32-9302-F921692AF063}"/>
              </a:ext>
            </a:extLst>
          </p:cNvPr>
          <p:cNvSpPr/>
          <p:nvPr/>
        </p:nvSpPr>
        <p:spPr>
          <a:xfrm>
            <a:off x="7048500" y="2984500"/>
            <a:ext cx="76200" cy="1016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A6F42E9-6A48-F7DF-9C80-B70CE3A4DA75}"/>
              </a:ext>
            </a:extLst>
          </p:cNvPr>
          <p:cNvSpPr txBox="1"/>
          <p:nvPr/>
        </p:nvSpPr>
        <p:spPr>
          <a:xfrm>
            <a:off x="7239000" y="31115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方法局限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05EDE23-3D91-AE75-822B-F33767315517}"/>
              </a:ext>
            </a:extLst>
          </p:cNvPr>
          <p:cNvSpPr txBox="1"/>
          <p:nvPr/>
        </p:nvSpPr>
        <p:spPr>
          <a:xfrm>
            <a:off x="7239000" y="34671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是无监督降维，优先保留总体方差，不保证保留最强判别信息。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B3FA446-C8FC-A69F-2390-48D08091AEF4}"/>
              </a:ext>
            </a:extLst>
          </p:cNvPr>
          <p:cNvSpPr/>
          <p:nvPr/>
        </p:nvSpPr>
        <p:spPr>
          <a:xfrm>
            <a:off x="7048500" y="4445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70A0C4C-E151-6C11-640B-2F8ACFF10D75}"/>
              </a:ext>
            </a:extLst>
          </p:cNvPr>
          <p:cNvSpPr/>
          <p:nvPr/>
        </p:nvSpPr>
        <p:spPr>
          <a:xfrm>
            <a:off x="7048500" y="4445000"/>
            <a:ext cx="762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C49DB3D-B12C-B737-53D4-284B932EFC0C}"/>
              </a:ext>
            </a:extLst>
          </p:cNvPr>
          <p:cNvSpPr txBox="1"/>
          <p:nvPr/>
        </p:nvSpPr>
        <p:spPr>
          <a:xfrm>
            <a:off x="7239000" y="4572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改进方向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143E25D-99B5-46D8-E257-CD59CA027D95}"/>
              </a:ext>
            </a:extLst>
          </p:cNvPr>
          <p:cNvSpPr txBox="1"/>
          <p:nvPr/>
        </p:nvSpPr>
        <p:spPr>
          <a:xfrm>
            <a:off x="7239000" y="4927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可结合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HOG/SIFT/ORB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、数据增强或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CNN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提升识别性能。</a:t>
            </a:r>
          </a:p>
        </p:txBody>
      </p:sp>
    </p:spTree>
    <p:extLst>
      <p:ext uri="{BB962C8B-B14F-4D97-AF65-F5344CB8AC3E}">
        <p14:creationId xmlns:p14="http://schemas.microsoft.com/office/powerpoint/2010/main" val="1192728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27E71FC-D3C1-9545-F617-61FC9CBC0D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61D83612-D377-FB62-C8B3-5AF8C1B8526C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5AAE2E1-6A19-7DB7-594C-DA8EE5032ACB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886531-0A8A-41E4-6FD9-8368D9513710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75A0FD-FE70-2A8A-3202-71B841103573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均值与分级聚类分析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21D42B-1DB0-8F86-5CF0-EBD7D09D08F3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不使用类别标签，观察身高体重样本的自然结构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99C6961-ADEB-B006-37D0-57BDAF25934B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611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B1E94BE-AF5F-7047-643B-A896C62219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FA5281-5F92-148E-35A1-0741BD535AD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6A90819-CABE-B6DB-5A79-8A7A03C30660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9F502E9A-33B1-3281-0AB2-1DA17CC996B6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FEF07E-150B-3A52-6F88-E40F8AE0F5C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CLUSTERING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E80C89-A29B-940E-5DA5-346F779A26E1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实验五理论：从监督分类到无监督聚类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AE5397C-CBB2-3EDC-A6C6-9FC6C3BB67C0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038F49A-D0F5-CAC9-4FC6-24C3C4D9FC1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3CE611D-DD85-880A-D702-9E9DE71E9DAD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DDDD328-CDE2-8E95-B0FC-77BE3578CDC2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B4DA92-DCCD-7768-19C2-FEF7BB7A1817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E3F55E6-998C-96C1-9478-85F9940CB3BA}"/>
              </a:ext>
            </a:extLst>
          </p:cNvPr>
          <p:cNvSpPr txBox="1"/>
          <p:nvPr/>
        </p:nvSpPr>
        <p:spPr>
          <a:xfrm>
            <a:off x="10795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均值聚类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2F63897-0CE3-B94D-A4B7-09D79EECA798}"/>
              </a:ext>
            </a:extLst>
          </p:cNvPr>
          <p:cNvSpPr txBox="1"/>
          <p:nvPr/>
        </p:nvSpPr>
        <p:spPr>
          <a:xfrm>
            <a:off x="10795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独立编程实现，通过样本分配和中心更新最小化类内平方误差。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953D9D7-9D0B-5694-10CC-9AB02DF84730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6AADB95-075C-7069-1F38-AAAD73437176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35DDC10-32AA-9F72-B174-DC2485C959F9}"/>
              </a:ext>
            </a:extLst>
          </p:cNvPr>
          <p:cNvSpPr txBox="1"/>
          <p:nvPr/>
        </p:nvSpPr>
        <p:spPr>
          <a:xfrm>
            <a:off x="64770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54E254A-6257-E582-49A1-493F2AC8C6C1}"/>
              </a:ext>
            </a:extLst>
          </p:cNvPr>
          <p:cNvSpPr txBox="1"/>
          <p:nvPr/>
        </p:nvSpPr>
        <p:spPr>
          <a:xfrm>
            <a:off x="64770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方法形成层次结构，用树状图观察样本合并过程。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FA08C26-7D85-8080-0C1B-0899A9D8602C}"/>
              </a:ext>
            </a:extLst>
          </p:cNvPr>
          <p:cNvSpPr/>
          <p:nvPr/>
        </p:nvSpPr>
        <p:spPr>
          <a:xfrm>
            <a:off x="1270000" y="3276600"/>
            <a:ext cx="9652000" cy="990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2099313-611D-3D8F-81D0-F44C96184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7414" y="3457744"/>
            <a:ext cx="5577171" cy="62831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2F424E34-FE2E-9B45-4AED-3B49B3749D69}"/>
              </a:ext>
            </a:extLst>
          </p:cNvPr>
          <p:cNvSpPr txBox="1"/>
          <p:nvPr/>
        </p:nvSpPr>
        <p:spPr>
          <a:xfrm>
            <a:off x="1016000" y="48260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聚类不使用性别标签，评价时再与真实标签比较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特征标准化很重要，否则体重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身高尺度会影响距离计算</a:t>
            </a:r>
          </a:p>
        </p:txBody>
      </p:sp>
    </p:spTree>
    <p:extLst>
      <p:ext uri="{BB962C8B-B14F-4D97-AF65-F5344CB8AC3E}">
        <p14:creationId xmlns:p14="http://schemas.microsoft.com/office/powerpoint/2010/main" val="40588770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A0EC3AF-3773-A080-F190-F35BDABBA9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D2C383-5AAF-E72D-B698-C284292E51B0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2947255-563E-694A-4EFD-113B4D5F72E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7D587AB5-261C-ECA7-4C03-4E85B3BEE71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C4C6B0-79BE-C925-19E9-236FEAA00D6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UNSUPERVISED LEARNING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4873D9-B55F-82B9-7A5C-C9C986E83255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实验五理论展开：聚类如何判断样本自然结构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E0CA9D0-9186-2E13-AA33-4CE95800B5FD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1F76742-1AE2-EE58-D4EB-97742693623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9E24CF-0781-3BD3-CA93-C5CB161B827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52154C4-E038-8CA6-6D1A-9F4C5E4CB07A}"/>
              </a:ext>
            </a:extLst>
          </p:cNvPr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2067DC-6A38-3E99-3630-646F84D31E01}"/>
              </a:ext>
            </a:extLst>
          </p:cNvPr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12B9294-69A9-526C-CF63-39784EA5C189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没有标签参与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18940D8-A84C-EDE1-4C71-9C37678FB8A2}"/>
              </a:ext>
            </a:extLst>
          </p:cNvPr>
          <p:cNvSpPr txBox="1"/>
          <p:nvPr/>
        </p:nvSpPr>
        <p:spPr>
          <a:xfrm>
            <a:off x="9271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聚类阶段不知道样本是男生还是女生，只根据身高体重距离把相似样本放到一起。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1041D5E-2780-BA2B-551E-74B9D2C8A39D}"/>
              </a:ext>
            </a:extLst>
          </p:cNvPr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EE7E2F-F59B-25F2-DD93-8057F26D713F}"/>
              </a:ext>
            </a:extLst>
          </p:cNvPr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09690F3-FBB6-CE1F-095F-B88D1AB0AA6B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均值思想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F6D0BA6-62B7-8D52-B56D-540B747ED1DE}"/>
              </a:ext>
            </a:extLst>
          </p:cNvPr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反复执行两步：先按最近中心分组，再用每组均值更新中心，直到中心基本不变。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F0F56A4-5383-C317-9D2D-D116015FE8D1}"/>
              </a:ext>
            </a:extLst>
          </p:cNvPr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9F2E01A-30BB-740F-6860-5EE1DB7057A8}"/>
              </a:ext>
            </a:extLst>
          </p:cNvPr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CF173E-A3E3-1238-FA77-C78A8EAA4488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分级聚类思想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0CA2EE1-4DA3-7549-2837-EAEF80EF38E4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从单个样本或小簇开始逐步合并，形成树状结构，可以观察样本相似性的层次。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AAD4A35-FCAF-314E-05CB-B0CCE25C7589}"/>
              </a:ext>
            </a:extLst>
          </p:cNvPr>
          <p:cNvSpPr/>
          <p:nvPr/>
        </p:nvSpPr>
        <p:spPr>
          <a:xfrm>
            <a:off x="965200" y="3429000"/>
            <a:ext cx="4826000" cy="1168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652261F-FBAB-38B8-5E14-5D687694583D}"/>
              </a:ext>
            </a:extLst>
          </p:cNvPr>
          <p:cNvSpPr txBox="1"/>
          <p:nvPr/>
        </p:nvSpPr>
        <p:spPr>
          <a:xfrm>
            <a:off x="1270000" y="3708400"/>
            <a:ext cx="419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：簇内越紧凑，数值越小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801462D-8E67-9CF5-6E60-E038B164DD82}"/>
              </a:ext>
            </a:extLst>
          </p:cNvPr>
          <p:cNvSpPr txBox="1"/>
          <p:nvPr/>
        </p:nvSpPr>
        <p:spPr>
          <a:xfrm>
            <a:off x="1270000" y="4089400"/>
            <a:ext cx="406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但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越大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通常越小，所以不能只看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，还要结合轮廓系数。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D1C9EDD-BEC4-A863-16FB-66FE42A43DC9}"/>
              </a:ext>
            </a:extLst>
          </p:cNvPr>
          <p:cNvSpPr/>
          <p:nvPr/>
        </p:nvSpPr>
        <p:spPr>
          <a:xfrm>
            <a:off x="6426200" y="3429000"/>
            <a:ext cx="4826000" cy="1168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B2EDAB5-123D-A939-CD4C-1D4B70383520}"/>
              </a:ext>
            </a:extLst>
          </p:cNvPr>
          <p:cNvSpPr txBox="1"/>
          <p:nvPr/>
        </p:nvSpPr>
        <p:spPr>
          <a:xfrm>
            <a:off x="6731000" y="3708400"/>
            <a:ext cx="419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轮廓系数：簇内近、簇间远更好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A17D743-C3CC-CD1B-72CE-815F23CD99BD}"/>
              </a:ext>
            </a:extLst>
          </p:cNvPr>
          <p:cNvSpPr txBox="1"/>
          <p:nvPr/>
        </p:nvSpPr>
        <p:spPr>
          <a:xfrm>
            <a:off x="6731000" y="4089400"/>
            <a:ext cx="406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ARI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和匹配率用于把聚类结果与真实性别标签作事后比较，评价自然结构是否对应类别。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23A58CC-F394-2CEB-1874-CAD6AD0045B6}"/>
              </a:ext>
            </a:extLst>
          </p:cNvPr>
          <p:cNvSpPr txBox="1"/>
          <p:nvPr/>
        </p:nvSpPr>
        <p:spPr>
          <a:xfrm>
            <a:off x="1117600" y="50546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本实验重点不是训练分类器，而是观察数据本身是否天然形成两团。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的轮廓系数较高且匹配率较好，说明性别差异确实反映在身高体重结构中。</a:t>
            </a:r>
          </a:p>
        </p:txBody>
      </p:sp>
    </p:spTree>
    <p:extLst>
      <p:ext uri="{BB962C8B-B14F-4D97-AF65-F5344CB8AC3E}">
        <p14:creationId xmlns:p14="http://schemas.microsoft.com/office/powerpoint/2010/main" val="28065545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2DBE5E-7D68-4865-0F56-80F74F3101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47B8EA-21D5-156B-9B5F-7E09DFE67DC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A675FB4-A99A-ACA2-5EF5-534A1D23329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405A65A-C2B5-61A5-4B61-D1970F6C6C92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49D050-ADFA-3BDA-C5CA-CE08B1EF665E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84AE99-6EAE-E38B-6B59-3A85AFD8BF46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实验五设置：两组数据与多种聚类数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565007A-EE09-9A32-7446-144C3DBCBC6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6DB4B7F-3340-F6A0-79D0-54444C55147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1654D9D-DF97-6CF9-9CFB-EF927F3D556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68B1A07-7EEE-15C4-44E3-096CD747D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598062"/>
              </p:ext>
            </p:extLst>
          </p:nvPr>
        </p:nvGraphicFramePr>
        <p:xfrm>
          <a:off x="889000" y="1397000"/>
          <a:ext cx="5080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3050170643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299247355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45609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数据一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15266463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数据二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test2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96848177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身高、体重，先标准化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465262466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均值类别数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68901562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初始值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多个随机种子比较稳定性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967311577"/>
                  </a:ext>
                </a:extLst>
              </a:tr>
            </a:tbl>
          </a:graphicData>
        </a:graphic>
      </p:graphicFrame>
      <p:sp>
        <p:nvSpPr>
          <p:cNvPr id="12" name="椭圆 11">
            <a:extLst>
              <a:ext uri="{FF2B5EF4-FFF2-40B4-BE49-F238E27FC236}">
                <a16:creationId xmlns:a16="http://schemas.microsoft.com/office/drawing/2014/main" id="{28C2DEA9-0138-D3C5-D20B-9BCBA2D4FE14}"/>
              </a:ext>
            </a:extLst>
          </p:cNvPr>
          <p:cNvSpPr/>
          <p:nvPr/>
        </p:nvSpPr>
        <p:spPr>
          <a:xfrm>
            <a:off x="69215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FE18C05-3637-59DC-72BE-E41A0FC823E3}"/>
              </a:ext>
            </a:extLst>
          </p:cNvPr>
          <p:cNvSpPr txBox="1"/>
          <p:nvPr/>
        </p:nvSpPr>
        <p:spPr>
          <a:xfrm>
            <a:off x="6934200" y="1600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94E0F0-7E38-CC1B-F28A-DE1885628905}"/>
              </a:ext>
            </a:extLst>
          </p:cNvPr>
          <p:cNvSpPr txBox="1"/>
          <p:nvPr/>
        </p:nvSpPr>
        <p:spPr>
          <a:xfrm>
            <a:off x="7454900" y="1485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初始化中心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4D28B2-4DC9-ACED-4250-E96A59D558EE}"/>
              </a:ext>
            </a:extLst>
          </p:cNvPr>
          <p:cNvSpPr txBox="1"/>
          <p:nvPr/>
        </p:nvSpPr>
        <p:spPr>
          <a:xfrm>
            <a:off x="7454900" y="1803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随机选择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个中心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ACF21CE-699A-CB3F-D116-093A0FEFEFCE}"/>
              </a:ext>
            </a:extLst>
          </p:cNvPr>
          <p:cNvSpPr/>
          <p:nvPr/>
        </p:nvSpPr>
        <p:spPr>
          <a:xfrm>
            <a:off x="69215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759D6E0-2779-0D42-14AE-B3E64C649B21}"/>
              </a:ext>
            </a:extLst>
          </p:cNvPr>
          <p:cNvSpPr txBox="1"/>
          <p:nvPr/>
        </p:nvSpPr>
        <p:spPr>
          <a:xfrm>
            <a:off x="6934200" y="2616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75217AC-B335-DACF-50E0-273739BE9841}"/>
              </a:ext>
            </a:extLst>
          </p:cNvPr>
          <p:cNvSpPr txBox="1"/>
          <p:nvPr/>
        </p:nvSpPr>
        <p:spPr>
          <a:xfrm>
            <a:off x="7454900" y="2501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样本分配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FE41D93-54B6-B565-BAAE-A63493B6C093}"/>
              </a:ext>
            </a:extLst>
          </p:cNvPr>
          <p:cNvSpPr txBox="1"/>
          <p:nvPr/>
        </p:nvSpPr>
        <p:spPr>
          <a:xfrm>
            <a:off x="7454900" y="2819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分配到最近中心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F94528E-0566-0B6E-986C-E0235C344ABF}"/>
              </a:ext>
            </a:extLst>
          </p:cNvPr>
          <p:cNvSpPr/>
          <p:nvPr/>
        </p:nvSpPr>
        <p:spPr>
          <a:xfrm>
            <a:off x="69215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FDAE20-16B9-3F78-A9D0-C9F7A765E242}"/>
              </a:ext>
            </a:extLst>
          </p:cNvPr>
          <p:cNvSpPr txBox="1"/>
          <p:nvPr/>
        </p:nvSpPr>
        <p:spPr>
          <a:xfrm>
            <a:off x="6934200" y="3632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CA515DF-8F58-6231-786F-E2840EE162B2}"/>
              </a:ext>
            </a:extLst>
          </p:cNvPr>
          <p:cNvSpPr txBox="1"/>
          <p:nvPr/>
        </p:nvSpPr>
        <p:spPr>
          <a:xfrm>
            <a:off x="7454900" y="3517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中心更新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A6B5378-C1B8-BE44-D4B5-3D66988AA8AF}"/>
              </a:ext>
            </a:extLst>
          </p:cNvPr>
          <p:cNvSpPr txBox="1"/>
          <p:nvPr/>
        </p:nvSpPr>
        <p:spPr>
          <a:xfrm>
            <a:off x="7454900" y="3835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计算各簇均值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B5EBD930-7525-2FF1-C41E-82AFB76E6344}"/>
              </a:ext>
            </a:extLst>
          </p:cNvPr>
          <p:cNvSpPr/>
          <p:nvPr/>
        </p:nvSpPr>
        <p:spPr>
          <a:xfrm>
            <a:off x="69215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6324101-2EAC-7EF0-67E2-8C8F0B3C44BC}"/>
              </a:ext>
            </a:extLst>
          </p:cNvPr>
          <p:cNvSpPr txBox="1"/>
          <p:nvPr/>
        </p:nvSpPr>
        <p:spPr>
          <a:xfrm>
            <a:off x="6934200" y="4648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BB1E9FE-DD8F-9A38-4FE9-8B207132368A}"/>
              </a:ext>
            </a:extLst>
          </p:cNvPr>
          <p:cNvSpPr txBox="1"/>
          <p:nvPr/>
        </p:nvSpPr>
        <p:spPr>
          <a:xfrm>
            <a:off x="7454900" y="4533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指标评估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2090770-2A73-509E-C07A-A414028ACA7A}"/>
              </a:ext>
            </a:extLst>
          </p:cNvPr>
          <p:cNvSpPr txBox="1"/>
          <p:nvPr/>
        </p:nvSpPr>
        <p:spPr>
          <a:xfrm>
            <a:off x="7454900" y="4851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、轮廓系数、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ARI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、匹配率</a:t>
            </a:r>
          </a:p>
        </p:txBody>
      </p:sp>
    </p:spTree>
    <p:extLst>
      <p:ext uri="{BB962C8B-B14F-4D97-AF65-F5344CB8AC3E}">
        <p14:creationId xmlns:p14="http://schemas.microsoft.com/office/powerpoint/2010/main" val="24265198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7537E0-8BC5-CACB-4D06-2E89EBE7BC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A7DC00-4485-1F1E-47A3-F6A1F7C567C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37C81049-6F81-4A54-7EFB-A5CBC711EEA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CF563FED-C283-1AA6-2E9C-9259C1CDE726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0D914C-5B17-C11F-3E75-EEF8891E108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C-MEANS 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D841BB-B555-3A26-B3C2-A8F1E5BEE1FA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实验五结果：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聚类与初始值影响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DAC17DC-54C0-E2CF-0CCC-94D2819254AD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E32F755-7A88-65D7-C281-AC189CF487C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5C2E3A7-FEA1-33B3-538C-99098DC58890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288D042-0329-D0A6-3FAD-030E051A1E0C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A686B4E-CC9A-87EA-3C10-391A1ECC8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19" y="1817478"/>
            <a:ext cx="4067762" cy="290554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4FC3077-D2D5-3ECB-664D-0CBE14DF8284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DD104CB-210F-94F8-E85F-B0031D28AB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961454"/>
            <a:ext cx="4071811" cy="2617593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616FAFC-F881-888B-8305-A36444BCC18A}"/>
              </a:ext>
            </a:extLst>
          </p:cNvPr>
          <p:cNvSpPr/>
          <p:nvPr/>
        </p:nvSpPr>
        <p:spPr>
          <a:xfrm>
            <a:off x="1016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1D0C25-6E1A-F9E5-CC7B-FA23F01C77D8}"/>
              </a:ext>
            </a:extLst>
          </p:cNvPr>
          <p:cNvSpPr txBox="1"/>
          <p:nvPr/>
        </p:nvSpPr>
        <p:spPr>
          <a:xfrm>
            <a:off x="1168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85.00%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45662FB-1C72-BE16-8CF9-46AC2467EFC2}"/>
              </a:ext>
            </a:extLst>
          </p:cNvPr>
          <p:cNvSpPr txBox="1"/>
          <p:nvPr/>
        </p:nvSpPr>
        <p:spPr>
          <a:xfrm>
            <a:off x="1168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训练集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匹配率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220F155-2A97-8603-02C4-5CF58E4DD335}"/>
              </a:ext>
            </a:extLst>
          </p:cNvPr>
          <p:cNvSpPr/>
          <p:nvPr/>
        </p:nvSpPr>
        <p:spPr>
          <a:xfrm>
            <a:off x="3302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85900F-61B2-084F-5030-552C331388D6}"/>
              </a:ext>
            </a:extLst>
          </p:cNvPr>
          <p:cNvSpPr txBox="1"/>
          <p:nvPr/>
        </p:nvSpPr>
        <p:spPr>
          <a:xfrm>
            <a:off x="3454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85-87%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F8CD68F-349D-5550-BF18-4BCC0F542B8E}"/>
              </a:ext>
            </a:extLst>
          </p:cNvPr>
          <p:cNvSpPr txBox="1"/>
          <p:nvPr/>
        </p:nvSpPr>
        <p:spPr>
          <a:xfrm>
            <a:off x="3454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不同初始值波动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85290A7-2483-410A-29A3-77B61CEDEA7A}"/>
              </a:ext>
            </a:extLst>
          </p:cNvPr>
          <p:cNvSpPr/>
          <p:nvPr/>
        </p:nvSpPr>
        <p:spPr>
          <a:xfrm>
            <a:off x="5588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B2AC28E-3CDF-ABA8-7A7A-06A013899B4F}"/>
              </a:ext>
            </a:extLst>
          </p:cNvPr>
          <p:cNvSpPr txBox="1"/>
          <p:nvPr/>
        </p:nvSpPr>
        <p:spPr>
          <a:xfrm>
            <a:off x="5740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0.5108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1074839-B377-C0E8-5827-401F7F264317}"/>
              </a:ext>
            </a:extLst>
          </p:cNvPr>
          <p:cNvSpPr txBox="1"/>
          <p:nvPr/>
        </p:nvSpPr>
        <p:spPr>
          <a:xfrm>
            <a:off x="5740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轮廓系数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35B8F01-C2C8-AB99-4912-3AAE0C3FF9F0}"/>
              </a:ext>
            </a:extLst>
          </p:cNvPr>
          <p:cNvSpPr/>
          <p:nvPr/>
        </p:nvSpPr>
        <p:spPr>
          <a:xfrm>
            <a:off x="7874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E112841-1E2B-123A-121E-544F770E4778}"/>
              </a:ext>
            </a:extLst>
          </p:cNvPr>
          <p:cNvSpPr txBox="1"/>
          <p:nvPr/>
        </p:nvSpPr>
        <p:spPr>
          <a:xfrm>
            <a:off x="8026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0.4850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62FE430-FD13-871C-A94D-987522FA3828}"/>
              </a:ext>
            </a:extLst>
          </p:cNvPr>
          <p:cNvSpPr txBox="1"/>
          <p:nvPr/>
        </p:nvSpPr>
        <p:spPr>
          <a:xfrm>
            <a:off x="8026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ARI</a:t>
            </a:r>
            <a:endParaRPr lang="zh-CN" altLang="en-US" sz="1200">
              <a:solidFill>
                <a:srgbClr val="6B7F9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86525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1179C9-5795-B2C8-BCFC-1CECCDABD9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3520B9-7BF1-45A1-C660-C06272620BC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68632201-1390-C738-7B34-134E9D5C95E5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AB73AAEE-F544-AC95-8111-8587E7CFC7B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2A6E9A-518A-1AF5-0261-92917F10F89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MODEL SELECTION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34CA43-2236-D6A6-654F-9F9BECB4D75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实验五结果：类别数选择与分级聚类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0003DE4-73D1-2476-3769-50275025D526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A118EFE-7A73-DCCA-E37D-DFDA7762B8D5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E8F7987-146F-1194-0ABD-73912C89CF48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48C90AF-4151-F1A1-40E5-D96BE1C28782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C505275-2D63-D9EE-A5FE-A9C7297D1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961454"/>
            <a:ext cx="4071811" cy="2617593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160FA98-1DC8-A987-16FC-A12A102F3010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13EBC1C-0BA7-E283-C166-A6555B629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18" y="2424749"/>
            <a:ext cx="3166965" cy="1691003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9A2E29C-CD99-4C40-2B51-085A1137317A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6E60AE-83C8-2824-B1DD-37C551449C28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8B8EDD7-6F9F-6BD9-328F-3D32EF11DD13}"/>
              </a:ext>
            </a:extLst>
          </p:cNvPr>
          <p:cNvSpPr txBox="1"/>
          <p:nvPr/>
        </p:nvSpPr>
        <p:spPr>
          <a:xfrm>
            <a:off x="1206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类别数判断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455C0FD-690B-2791-D243-5B900EC2F504}"/>
              </a:ext>
            </a:extLst>
          </p:cNvPr>
          <p:cNvSpPr txBox="1"/>
          <p:nvPr/>
        </p:nvSpPr>
        <p:spPr>
          <a:xfrm>
            <a:off x="1206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随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增大下降，但轮廓系数在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最高，因此两类更合理。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559ACC4-3EDD-731D-33AE-50F227639FD0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5ED999-F9A2-77C6-C41E-18D28AAA4D27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7FB1A00-F8FB-6898-75D7-B1F025B20CCC}"/>
              </a:ext>
            </a:extLst>
          </p:cNvPr>
          <p:cNvSpPr txBox="1"/>
          <p:nvPr/>
        </p:nvSpPr>
        <p:spPr>
          <a:xfrm>
            <a:off x="6794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DDD3B00-67CD-E7B8-86E0-FC477428C0FF}"/>
              </a:ext>
            </a:extLst>
          </p:cNvPr>
          <p:cNvSpPr txBox="1"/>
          <p:nvPr/>
        </p:nvSpPr>
        <p:spPr>
          <a:xfrm>
            <a:off x="6794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方法匹配率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81.00%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，略低于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均值，但能展示层次结构。</a:t>
            </a:r>
          </a:p>
        </p:txBody>
      </p:sp>
    </p:spTree>
    <p:extLst>
      <p:ext uri="{BB962C8B-B14F-4D97-AF65-F5344CB8AC3E}">
        <p14:creationId xmlns:p14="http://schemas.microsoft.com/office/powerpoint/2010/main" val="3146287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DC5B68C-356D-C126-62BD-5A0831D181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70D210-731F-EF90-7F0F-FEDF3C7E952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779FC2B-44C6-978E-471C-73D8F97AED34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985F179A-BBC1-E957-C4E0-8724CB592D2D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CEC3E0-72F6-76B6-8499-6F33A3C4E8F5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COMBINED DATA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975AA2-118D-76B3-BA7B-593ADDD8FFBA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实验五分析：加入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后结构保持但边界更复杂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E07CDC3-01CB-1E1C-EFAC-56E71657374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0C873F2-84A3-580C-3892-93FB4A48198D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89D51C-BDA2-2547-8B3E-4CCC82E62003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C8E2E67-4E7E-0E83-79CB-312960BE4307}"/>
              </a:ext>
            </a:extLst>
          </p:cNvPr>
          <p:cNvSpPr/>
          <p:nvPr/>
        </p:nvSpPr>
        <p:spPr>
          <a:xfrm>
            <a:off x="736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470E84B-DB48-35D6-CB0F-C288643BE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060" y="1860500"/>
            <a:ext cx="3520580" cy="25147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DEC9D32-1FC0-5876-84CE-86AEA13983A0}"/>
              </a:ext>
            </a:extLst>
          </p:cNvPr>
          <p:cNvSpPr/>
          <p:nvPr/>
        </p:nvSpPr>
        <p:spPr>
          <a:xfrm>
            <a:off x="6324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61F6400-9CA4-F2C7-3F42-E2C90A6763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774" y="1841408"/>
            <a:ext cx="3971152" cy="2552884"/>
          </a:xfrm>
          <a:prstGeom prst="rect">
            <a:avLst/>
          </a:prstGeom>
        </p:spPr>
      </p:pic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65CCDFD5-EF09-1720-41F2-633B76774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41843"/>
              </p:ext>
            </p:extLst>
          </p:nvPr>
        </p:nvGraphicFramePr>
        <p:xfrm>
          <a:off x="889000" y="5207000"/>
          <a:ext cx="10414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1786840187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54904422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696868796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89532020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86987285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轮廓系数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ARI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匹配率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9299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0.5108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85.00%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5765466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0.5049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0.3789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81.00%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7120440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0.4693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84.50%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7950104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0.4739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0.4172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82.50%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473119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4394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EAF083B-E12D-C268-902F-96E549E09F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A301AE-EF42-8643-44B2-69BBF6CBC9A4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6690E8F-E7C5-54E9-E10F-D1E749874727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917288C-C832-86B3-39C5-7EAE41B3390D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79D577-65F3-3DBC-71E8-9F3BAF546830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SYNTHESIS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BC9A42-7D34-9FD4-2633-E84AE64C280E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五个实验的横向总结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6D2FA85-E1B2-D2FC-7CF5-5045C87F26AD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5388360-A776-C32B-ACDB-7FD93D8AB7ED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530A9C7-AD5A-580C-4197-A92DDC110929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30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E15BADF-73AF-3AEE-9999-B871BB4A9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204020"/>
              </p:ext>
            </p:extLst>
          </p:nvPr>
        </p:nvGraphicFramePr>
        <p:xfrm>
          <a:off x="736600" y="1397000"/>
          <a:ext cx="107188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0">
                  <a:extLst>
                    <a:ext uri="{9D8B030D-6E8A-4147-A177-3AD203B41FA5}">
                      <a16:colId xmlns:a16="http://schemas.microsoft.com/office/drawing/2014/main" val="1157436084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1803811655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4257643892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3964886464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课程知识点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监督信息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主要目标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352639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后验概率、参数估计、风险决策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最小错误率或最小风险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803164879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 / Parzen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非参数估计、线性判别、留一法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比较概率模型与直接判别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531921254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特征提取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、协方差特征分解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可不使用标签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降维与主方向分析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848269688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图像应用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高维图像特征压缩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验证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图像识别作用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68405461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聚类分析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均值、分级聚类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不使用标签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发现样本自然结构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470736844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7240DA5-E50F-E51A-0650-703A28D1C3DD}"/>
              </a:ext>
            </a:extLst>
          </p:cNvPr>
          <p:cNvSpPr/>
          <p:nvPr/>
        </p:nvSpPr>
        <p:spPr>
          <a:xfrm>
            <a:off x="1079500" y="5461000"/>
            <a:ext cx="10033000" cy="609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45D68B-B4AA-96C0-F297-1013855AD39F}"/>
              </a:ext>
            </a:extLst>
          </p:cNvPr>
          <p:cNvSpPr txBox="1"/>
          <p:nvPr/>
        </p:nvSpPr>
        <p:spPr>
          <a:xfrm>
            <a:off x="1397000" y="5664200"/>
            <a:ext cx="9398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主线：从概率决策到线性判别，从监督分类到无监督聚类，从低维特征到高维图像识别。</a:t>
            </a:r>
          </a:p>
        </p:txBody>
      </p:sp>
    </p:spTree>
    <p:extLst>
      <p:ext uri="{BB962C8B-B14F-4D97-AF65-F5344CB8AC3E}">
        <p14:creationId xmlns:p14="http://schemas.microsoft.com/office/powerpoint/2010/main" val="30350246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04BD4D2-8F9D-DE32-7219-6BFD7408ED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5FFCA3-DA4C-4BC7-B0E9-6D660FB57C00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262ABC8-ED62-6896-6C9D-BC6C30D01B5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8623BCE-4652-8D90-2FEF-467AECD1FE79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0F1039-6852-8E5A-6923-613979333A4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CONCLUSION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A7BA1F4-C989-083D-1647-B95EDC5D15F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总体结论与汇报收束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C6ED29B-BEBA-D301-2045-D05CAC518D8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5A2045C-1C7E-0593-08E3-55B4E5D2DF3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74ED24-DCCE-2C13-63C8-25AC41309FDD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31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D59225C-5ED5-78DD-9048-55C07D6E10D3}"/>
              </a:ext>
            </a:extLst>
          </p:cNvPr>
          <p:cNvSpPr/>
          <p:nvPr/>
        </p:nvSpPr>
        <p:spPr>
          <a:xfrm>
            <a:off x="889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A065F7F-B99F-CCCF-360E-18F6EFF9D9C5}"/>
              </a:ext>
            </a:extLst>
          </p:cNvPr>
          <p:cNvSpPr/>
          <p:nvPr/>
        </p:nvSpPr>
        <p:spPr>
          <a:xfrm>
            <a:off x="889000" y="1524000"/>
            <a:ext cx="76200" cy="12065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1E7965E-A77E-DF2F-24A7-BD47D6C37995}"/>
              </a:ext>
            </a:extLst>
          </p:cNvPr>
          <p:cNvSpPr txBox="1"/>
          <p:nvPr/>
        </p:nvSpPr>
        <p:spPr>
          <a:xfrm>
            <a:off x="1079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特征选择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2159983-E03E-A84F-792B-D49C136723D3}"/>
              </a:ext>
            </a:extLst>
          </p:cNvPr>
          <p:cNvSpPr txBox="1"/>
          <p:nvPr/>
        </p:nvSpPr>
        <p:spPr>
          <a:xfrm>
            <a:off x="1079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体重比单特征更稳定；图像任务中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可压缩高维特征。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A2EB59D-4852-4402-4CEE-1FAAAE77DDDD}"/>
              </a:ext>
            </a:extLst>
          </p:cNvPr>
          <p:cNvSpPr/>
          <p:nvPr/>
        </p:nvSpPr>
        <p:spPr>
          <a:xfrm>
            <a:off x="4572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7F7AA49-E747-2740-1627-4361D6CFF622}"/>
              </a:ext>
            </a:extLst>
          </p:cNvPr>
          <p:cNvSpPr/>
          <p:nvPr/>
        </p:nvSpPr>
        <p:spPr>
          <a:xfrm>
            <a:off x="4572000" y="1524000"/>
            <a:ext cx="76200" cy="1206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560E199-CDFC-F71D-0739-EE1214B47E4D}"/>
              </a:ext>
            </a:extLst>
          </p:cNvPr>
          <p:cNvSpPr txBox="1"/>
          <p:nvPr/>
        </p:nvSpPr>
        <p:spPr>
          <a:xfrm>
            <a:off x="4762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模型假设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2A4C034-9776-B846-9DE5-52B1C12DEF6D}"/>
              </a:ext>
            </a:extLst>
          </p:cNvPr>
          <p:cNvSpPr txBox="1"/>
          <p:nvPr/>
        </p:nvSpPr>
        <p:spPr>
          <a:xfrm>
            <a:off x="4762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正态假设、窗口宽度、线性边界都会影响最终性能。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FF4C5DC-4910-C65A-2EA7-01F3E967B206}"/>
              </a:ext>
            </a:extLst>
          </p:cNvPr>
          <p:cNvSpPr/>
          <p:nvPr/>
        </p:nvSpPr>
        <p:spPr>
          <a:xfrm>
            <a:off x="8255000" y="1524000"/>
            <a:ext cx="2857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C89B362-FF73-820A-AC5E-E0D8BFEA7FE1}"/>
              </a:ext>
            </a:extLst>
          </p:cNvPr>
          <p:cNvSpPr/>
          <p:nvPr/>
        </p:nvSpPr>
        <p:spPr>
          <a:xfrm>
            <a:off x="8255000" y="1524000"/>
            <a:ext cx="76200" cy="1206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AFBEBE5-05B9-A696-5334-1E5C242AC720}"/>
              </a:ext>
            </a:extLst>
          </p:cNvPr>
          <p:cNvSpPr txBox="1"/>
          <p:nvPr/>
        </p:nvSpPr>
        <p:spPr>
          <a:xfrm>
            <a:off x="8445500" y="16510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评价指标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9957C1A-82E0-C1C8-727D-1DF4E1762E45}"/>
              </a:ext>
            </a:extLst>
          </p:cNvPr>
          <p:cNvSpPr txBox="1"/>
          <p:nvPr/>
        </p:nvSpPr>
        <p:spPr>
          <a:xfrm>
            <a:off x="8445500" y="20066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准确率、错误率、召回率、混淆矩阵和聚类指标需要综合分析。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E056493-43B2-0250-8DC0-0B0C53D1D3BA}"/>
              </a:ext>
            </a:extLst>
          </p:cNvPr>
          <p:cNvSpPr/>
          <p:nvPr/>
        </p:nvSpPr>
        <p:spPr>
          <a:xfrm>
            <a:off x="1270000" y="3810000"/>
            <a:ext cx="9652000" cy="9652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3733A7A-1C17-4678-0B85-2F9DBDBAD142}"/>
              </a:ext>
            </a:extLst>
          </p:cNvPr>
          <p:cNvSpPr txBox="1"/>
          <p:nvPr/>
        </p:nvSpPr>
        <p:spPr>
          <a:xfrm>
            <a:off x="1587500" y="4140200"/>
            <a:ext cx="9017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92400E"/>
                </a:solidFill>
                <a:latin typeface="Microsoft YaHei" panose="020B0503020204020204" pitchFamily="34" charset="-122"/>
              </a:rPr>
              <a:t>核心体会：模式识别方法没有绝对最优，算法选择必须结合数据分布、任务目标和评价指标。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27F91E6-D102-7CCB-0FA9-4B036A78F802}"/>
              </a:ext>
            </a:extLst>
          </p:cNvPr>
          <p:cNvSpPr txBox="1"/>
          <p:nvPr/>
        </p:nvSpPr>
        <p:spPr>
          <a:xfrm>
            <a:off x="1498600" y="5181600"/>
            <a:ext cx="9271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强调概率决策，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强调判别方向，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强调表示与降维，聚类强调自然结构。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同一数据集上，不同模型的差异主要来自特征表示、概率假设、判别边界和评价目标。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实验设计需要同时报告设置、指标和图形结果，才能解释模型为什么有效或失效。</a:t>
            </a:r>
          </a:p>
        </p:txBody>
      </p:sp>
    </p:spTree>
    <p:extLst>
      <p:ext uri="{BB962C8B-B14F-4D97-AF65-F5344CB8AC3E}">
        <p14:creationId xmlns:p14="http://schemas.microsoft.com/office/powerpoint/2010/main" val="37200160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8A013B4-175E-F11D-7751-17939DE5DE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075D56-6158-06DD-5EAC-A4611CFBD2DB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5ECF16-320E-0137-D214-5323392779CD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474689-093E-D143-A12A-7991AED4BD7F}"/>
              </a:ext>
            </a:extLst>
          </p:cNvPr>
          <p:cNvSpPr txBox="1"/>
          <p:nvPr/>
        </p:nvSpPr>
        <p:spPr>
          <a:xfrm>
            <a:off x="889000" y="2514600"/>
            <a:ext cx="3810000" cy="7848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5100" b="1">
                <a:solidFill>
                  <a:srgbClr val="FFFFFF"/>
                </a:solidFill>
                <a:latin typeface="Microsoft YaHei" panose="020B0503020204020204" pitchFamily="34" charset="-122"/>
              </a:rPr>
              <a:t>谢谢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7FF10D-BCDA-637F-E973-37416F5E636A}"/>
              </a:ext>
            </a:extLst>
          </p:cNvPr>
          <p:cNvSpPr txBox="1"/>
          <p:nvPr/>
        </p:nvSpPr>
        <p:spPr>
          <a:xfrm>
            <a:off x="939800" y="3492500"/>
            <a:ext cx="5588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100">
                <a:solidFill>
                  <a:srgbClr val="CBD5E1"/>
                </a:solidFill>
                <a:latin typeface="Microsoft YaHei" panose="020B0503020204020204" pitchFamily="34" charset="-122"/>
              </a:rPr>
              <a:t>欢迎老师和同学批评指正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147A5A0-F5F7-CCD8-3BC4-DD34322BD369}"/>
              </a:ext>
            </a:extLst>
          </p:cNvPr>
          <p:cNvCxnSpPr/>
          <p:nvPr/>
        </p:nvCxnSpPr>
        <p:spPr>
          <a:xfrm>
            <a:off x="939800" y="4140200"/>
            <a:ext cx="2362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095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3499</Words>
  <Application>Microsoft Office PowerPoint</Application>
  <PresentationFormat>自定义</PresentationFormat>
  <Paragraphs>583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3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军 曹</dc:creator>
  <cp:lastModifiedBy>军 曹</cp:lastModifiedBy>
  <cp:revision>1</cp:revision>
  <dcterms:created xsi:type="dcterms:W3CDTF">2026-06-16T20:14:33Z</dcterms:created>
  <dcterms:modified xsi:type="dcterms:W3CDTF">2026-06-16T20:15:04Z</dcterms:modified>
</cp:coreProperties>
</file>