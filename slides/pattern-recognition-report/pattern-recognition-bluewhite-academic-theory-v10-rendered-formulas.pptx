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9"/>
  </p:notesMasterIdLst>
  <p:sldIdLst>
    <p:sldId id="256" r:id="rId4"/>
    <p:sldId id="259" r:id="rId5"/>
    <p:sldId id="295" r:id="rId6"/>
    <p:sldId id="260" r:id="rId7"/>
    <p:sldId id="296" r:id="rId8"/>
    <p:sldId id="297" r:id="rId10"/>
    <p:sldId id="298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6EA74-835C-49DC-B7AB-338243BDD3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97BB3-1F88-47E6-9B0C-E23BFBD163D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8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/>
          <p:cNvSpPr/>
          <p:nvPr/>
        </p:nvSpPr>
        <p:spPr>
          <a:xfrm>
            <a:off x="-1016000" y="4381500"/>
            <a:ext cx="6794500" cy="28575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064500" y="-254000"/>
            <a:ext cx="5334000" cy="1968500"/>
          </a:xfrm>
          <a:prstGeom prst="parallelogram">
            <a:avLst>
              <a:gd name="adj" fmla="val 18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914400" y="1422400"/>
            <a:ext cx="4064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BFE8FF"/>
                </a:solidFill>
                <a:latin typeface="微软雅黑" panose="020B0503020204020204" pitchFamily="34" charset="-122"/>
              </a:rPr>
              <a:t>PATTERN RECOGNITION</a:t>
            </a:r>
            <a:endParaRPr lang="zh-CN" altLang="en-US" sz="1000" b="1">
              <a:solidFill>
                <a:srgbClr val="BFE8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14400" y="2006600"/>
            <a:ext cx="7874000" cy="67710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4400" b="1">
                <a:solidFill>
                  <a:srgbClr val="FFFFFF"/>
                </a:solidFill>
                <a:latin typeface="微软雅黑" panose="020B0503020204020204" pitchFamily="34" charset="-122"/>
              </a:rPr>
              <a:t>模式识别课程实验汇报</a:t>
            </a:r>
            <a:endParaRPr lang="zh-CN" altLang="en-US" sz="44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65200" y="2921000"/>
            <a:ext cx="8763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>
                <a:solidFill>
                  <a:srgbClr val="D9ECF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分类器 </a:t>
            </a:r>
            <a:r>
              <a:rPr lang="en-US" altLang="zh-CN" sz="1700">
                <a:solidFill>
                  <a:srgbClr val="D9ECFF"/>
                </a:solidFill>
                <a:latin typeface="微软雅黑" panose="020B0503020204020204" pitchFamily="34" charset="-122"/>
              </a:rPr>
              <a:t>· Fisher </a:t>
            </a:r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判别 </a:t>
            </a:r>
            <a:r>
              <a:rPr lang="en-US" altLang="zh-CN" sz="1700">
                <a:solidFill>
                  <a:srgbClr val="D9ECFF"/>
                </a:solidFill>
                <a:latin typeface="微软雅黑" panose="020B0503020204020204" pitchFamily="34" charset="-122"/>
              </a:rPr>
              <a:t>· K-L </a:t>
            </a:r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变换 </a:t>
            </a:r>
            <a:r>
              <a:rPr lang="en-US" altLang="zh-CN" sz="1700">
                <a:solidFill>
                  <a:srgbClr val="D9ECFF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图像识别 </a:t>
            </a:r>
            <a:r>
              <a:rPr lang="en-US" altLang="zh-CN" sz="1700">
                <a:solidFill>
                  <a:srgbClr val="D9ECFF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聚类分析</a:t>
            </a:r>
            <a:endParaRPr lang="zh-CN" altLang="en-US" sz="1700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8" name="矩形: 圆角 7"/>
          <p:cNvSpPr/>
          <p:nvPr/>
        </p:nvSpPr>
        <p:spPr>
          <a:xfrm>
            <a:off x="9144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14400" y="4165600"/>
            <a:ext cx="76200" cy="698500"/>
          </a:xfrm>
          <a:prstGeom prst="rect">
            <a:avLst/>
          </a:prstGeom>
          <a:solidFill>
            <a:srgbClr val="3A9BD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1176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微软雅黑" panose="020B0503020204020204" pitchFamily="34" charset="-122"/>
              </a:rPr>
              <a:t>姓名</a:t>
            </a:r>
            <a:endParaRPr lang="zh-CN" altLang="en-US" sz="1000" b="1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176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微软雅黑" panose="020B0503020204020204" pitchFamily="34" charset="-122"/>
              </a:rPr>
              <a:t>请填写</a:t>
            </a:r>
            <a:endParaRPr lang="zh-CN" altLang="en-US" sz="100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39243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924300" y="4165600"/>
            <a:ext cx="76200" cy="698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1275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微软雅黑" panose="020B0503020204020204" pitchFamily="34" charset="-122"/>
              </a:rPr>
              <a:t>学号</a:t>
            </a:r>
            <a:endParaRPr lang="zh-CN" altLang="en-US" sz="1000" b="1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275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微软雅黑" panose="020B0503020204020204" pitchFamily="34" charset="-122"/>
              </a:rPr>
              <a:t>请填写</a:t>
            </a:r>
            <a:endParaRPr lang="zh-CN" altLang="en-US" sz="100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6934200" y="4165600"/>
            <a:ext cx="2540000" cy="698500"/>
          </a:xfrm>
          <a:prstGeom prst="roundRect">
            <a:avLst/>
          </a:prstGeom>
          <a:solidFill>
            <a:srgbClr val="0E3556"/>
          </a:solidFill>
          <a:ln w="8890">
            <a:solidFill>
              <a:srgbClr val="75BD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6934200" y="4165600"/>
            <a:ext cx="76200" cy="698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137400" y="43180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 b="1">
                <a:solidFill>
                  <a:srgbClr val="D9ECFF"/>
                </a:solidFill>
                <a:latin typeface="微软雅黑" panose="020B0503020204020204" pitchFamily="34" charset="-122"/>
              </a:rPr>
              <a:t>班级</a:t>
            </a:r>
            <a:endParaRPr lang="zh-CN" altLang="en-US" sz="1000" b="1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137400" y="4597400"/>
            <a:ext cx="2032000" cy="1538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000">
                <a:solidFill>
                  <a:srgbClr val="FFFFFF"/>
                </a:solidFill>
                <a:latin typeface="微软雅黑" panose="020B0503020204020204" pitchFamily="34" charset="-122"/>
              </a:rPr>
              <a:t>请填写</a:t>
            </a:r>
            <a:endParaRPr lang="zh-CN" altLang="en-US" sz="100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微软雅黑" panose="020B0503020204020204" pitchFamily="34" charset="-122"/>
              </a:rPr>
              <a:t>01</a:t>
            </a:r>
            <a:endParaRPr lang="zh-CN" altLang="en-US" sz="27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实验一：</a:t>
            </a:r>
            <a:r>
              <a:rPr lang="en-US" altLang="zh-CN" sz="3900" b="1">
                <a:solidFill>
                  <a:srgbClr val="FFFFF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性别分类器</a:t>
            </a:r>
            <a:endParaRPr lang="zh-CN" altLang="en-US" sz="3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用身高</a:t>
            </a:r>
            <a:r>
              <a:rPr lang="en-US" altLang="zh-CN" sz="1700">
                <a:solidFill>
                  <a:srgbClr val="D9ECFF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体重数据进行最小错误率与最小风险决策</a:t>
            </a:r>
            <a:endParaRPr lang="zh-CN" altLang="en-US" sz="1700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29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实验一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62050"/>
            <a:ext cx="6889750" cy="4755515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2489835" y="6063615"/>
            <a:ext cx="1160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实验要求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715" y="2041525"/>
            <a:ext cx="5095875" cy="1740535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9090025" y="6063615"/>
            <a:ext cx="889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黑体" panose="02010609060101010101" charset="-122"/>
                <a:ea typeface="黑体" panose="02010609060101010101" charset="-122"/>
              </a:rPr>
              <a:t>数据集</a:t>
            </a:r>
            <a:endParaRPr lang="zh-CN" altLang="en-US" b="1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 r="17716"/>
          <a:stretch>
            <a:fillRect/>
          </a:stretch>
        </p:blipFill>
        <p:spPr>
          <a:xfrm>
            <a:off x="6982460" y="4649470"/>
            <a:ext cx="5104130" cy="10198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29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实验一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6146800" y="1120140"/>
            <a:ext cx="2153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①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Bayes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分类器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115" y="1558290"/>
            <a:ext cx="6035675" cy="453263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88440"/>
            <a:ext cx="6015990" cy="1116965"/>
          </a:xfrm>
          <a:prstGeom prst="rect">
            <a:avLst/>
          </a:prstGeom>
        </p:spPr>
      </p:pic>
      <p:sp>
        <p:nvSpPr>
          <p:cNvPr id="37" name="矩形 36"/>
          <p:cNvSpPr/>
          <p:nvPr/>
        </p:nvSpPr>
        <p:spPr>
          <a:xfrm>
            <a:off x="8227060" y="1558290"/>
            <a:ext cx="1401445" cy="231775"/>
          </a:xfrm>
          <a:prstGeom prst="rect">
            <a:avLst/>
          </a:prstGeom>
          <a:solidFill>
            <a:schemeClr val="accent4">
              <a:lumMod val="60000"/>
              <a:lumOff val="40000"/>
              <a:alpha val="3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9829800" y="1558290"/>
            <a:ext cx="1884680" cy="231775"/>
          </a:xfrm>
          <a:prstGeom prst="rect">
            <a:avLst/>
          </a:prstGeom>
          <a:solidFill>
            <a:schemeClr val="accent4">
              <a:lumMod val="60000"/>
              <a:lumOff val="40000"/>
              <a:alpha val="3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800" y="2528570"/>
            <a:ext cx="4648200" cy="361950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6193790" y="2791460"/>
            <a:ext cx="5722620" cy="717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类条件概率密度：表示某一类中出现这个身高体重的可能性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先验概率：表示在不知道身高体重之前，某一类本身出现的概率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193790" y="4130675"/>
            <a:ext cx="2153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参数计算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825" y="4490085"/>
            <a:ext cx="4908550" cy="2373630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3790" y="3509010"/>
            <a:ext cx="2814955" cy="415290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9510" y="3855085"/>
            <a:ext cx="4352925" cy="352425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9126855" y="3474720"/>
            <a:ext cx="2580640" cy="412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最小错误率 </a:t>
            </a:r>
            <a:r>
              <a:rPr lang="en-US" altLang="zh-CN" sz="1400" b="1">
                <a:latin typeface="黑体" panose="02010609060101010101" charset="-122"/>
                <a:ea typeface="黑体" panose="02010609060101010101" charset="-122"/>
              </a:rPr>
              <a:t>Bayes </a:t>
            </a:r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分类器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29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实验一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175895" y="1165225"/>
            <a:ext cx="21539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②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参数计算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" y="1533525"/>
            <a:ext cx="4619625" cy="7429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" y="2371725"/>
            <a:ext cx="4467225" cy="7048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99610"/>
            <a:ext cx="5622290" cy="7188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5895" y="3171825"/>
            <a:ext cx="5722620" cy="1165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均值就是这一类样本的平均身高、平均体重。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方差表示样本分散程度。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协方差表示身高和体重是否一起变化。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898515" y="1282700"/>
            <a:ext cx="5260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③单个特征下的最小错误率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Bayes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分类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515" y="1732280"/>
            <a:ext cx="5659755" cy="40455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5863590" y="5777865"/>
            <a:ext cx="6328410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1400">
                <a:sym typeface="+mn-ea"/>
              </a:rPr>
              <a:t>橙色曲线：根据女生训练样本，用最大似然估计得到的女生高斯概率密度函数。</a:t>
            </a:r>
            <a:endParaRPr lang="zh-CN" altLang="en-US" sz="1400"/>
          </a:p>
          <a:p>
            <a:pPr indent="0" fontAlgn="auto">
              <a:lnSpc>
                <a:spcPct val="150000"/>
              </a:lnSpc>
            </a:pPr>
            <a:r>
              <a:rPr lang="zh-CN" altLang="en-US" sz="1400">
                <a:sym typeface="+mn-ea"/>
              </a:rPr>
              <a:t>绿色曲线：根据男生训练样本，用最大似然估计得到的男生高斯概率密度函数。</a:t>
            </a:r>
            <a:endParaRPr lang="zh-CN" altLang="en-US" sz="1400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400" b="1">
                <a:latin typeface="黑体" panose="02010609060101010101" charset="-122"/>
                <a:ea typeface="黑体" panose="02010609060101010101" charset="-122"/>
              </a:rPr>
              <a:t>身高分类效果好于体重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29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实验一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3520" y="1198245"/>
            <a:ext cx="5260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③两个特征下的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Bayes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分类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21680" y="1188720"/>
            <a:ext cx="5260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④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不同先验概率对决策规则的影响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310" y="1566545"/>
            <a:ext cx="3594100" cy="409511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85" y="5768975"/>
            <a:ext cx="5483860" cy="910590"/>
          </a:xfrm>
          <a:prstGeom prst="rect">
            <a:avLst/>
          </a:prstGeom>
        </p:spPr>
      </p:pic>
      <p:sp>
        <p:nvSpPr>
          <p:cNvPr id="37" name="矩形 36"/>
          <p:cNvSpPr/>
          <p:nvPr/>
        </p:nvSpPr>
        <p:spPr>
          <a:xfrm>
            <a:off x="2534920" y="5782945"/>
            <a:ext cx="1008380" cy="231775"/>
          </a:xfrm>
          <a:prstGeom prst="rect">
            <a:avLst/>
          </a:prstGeom>
          <a:solidFill>
            <a:schemeClr val="accent4">
              <a:lumMod val="60000"/>
              <a:lumOff val="40000"/>
              <a:alpha val="3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64490" y="6000750"/>
            <a:ext cx="1078865" cy="217805"/>
          </a:xfrm>
          <a:prstGeom prst="rect">
            <a:avLst/>
          </a:prstGeom>
          <a:solidFill>
            <a:schemeClr val="accent4">
              <a:lumMod val="60000"/>
              <a:lumOff val="40000"/>
              <a:alpha val="3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203200" y="6404610"/>
            <a:ext cx="3119120" cy="231775"/>
          </a:xfrm>
          <a:prstGeom prst="rect">
            <a:avLst/>
          </a:prstGeom>
          <a:solidFill>
            <a:schemeClr val="accent4">
              <a:lumMod val="60000"/>
              <a:lumOff val="40000"/>
              <a:alpha val="3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160" y="1646555"/>
            <a:ext cx="4428490" cy="4015105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5484495" y="5661660"/>
            <a:ext cx="6823075" cy="1080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altLang="en-US" sz="1400">
                <a:sym typeface="+mn-ea"/>
              </a:rPr>
              <a:t>由于 </a:t>
            </a:r>
            <a:r>
              <a:rPr lang="en-US" altLang="zh-CN" sz="1400">
                <a:sym typeface="+mn-ea"/>
              </a:rPr>
              <a:t>test2 </a:t>
            </a:r>
            <a:r>
              <a:rPr lang="zh-CN" altLang="en-US" sz="1400">
                <a:sym typeface="+mn-ea"/>
              </a:rPr>
              <a:t>中男生占多数，若人为设置更偏向女生的先验，会扩大女生判决区域，</a:t>
            </a:r>
            <a:endParaRPr lang="zh-CN" altLang="en-US" sz="1400"/>
          </a:p>
          <a:p>
            <a:pPr indent="0" fontAlgn="auto">
              <a:lnSpc>
                <a:spcPct val="150000"/>
              </a:lnSpc>
            </a:pPr>
            <a:r>
              <a:rPr lang="zh-CN" altLang="en-US" sz="1400">
                <a:sym typeface="+mn-ea"/>
              </a:rPr>
              <a:t>使更多男生被误判为女生，因此总体准确率明显下降。这说明先验概率不是随意调节</a:t>
            </a:r>
            <a:endParaRPr lang="zh-CN" altLang="en-US" sz="1400"/>
          </a:p>
          <a:p>
            <a:pPr indent="0" fontAlgn="auto">
              <a:lnSpc>
                <a:spcPct val="150000"/>
              </a:lnSpc>
            </a:pPr>
            <a:r>
              <a:rPr lang="zh-CN" altLang="en-US" sz="1400">
                <a:sym typeface="+mn-ea"/>
              </a:rPr>
              <a:t>的超参数，而应尽量反映真实应用场景中的类别比例或任务偏好。</a:t>
            </a:r>
            <a:endParaRPr lang="zh-CN" altLang="en-US" sz="1400" b="1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BAYES CLASSIFIER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29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实验一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23520" y="1198245"/>
            <a:ext cx="5260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⑤最小风险 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Bayes 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决策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21680" y="1188720"/>
            <a:ext cx="5260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⑥非参数估计实验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9375" y="5334000"/>
            <a:ext cx="6015990" cy="1524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test2 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上女生 50 个样本中有 49 个被正确识别，仅 1 个女生被判为男生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但男生中有 46 个被判为女生。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也就是说，最小风险决策牺牲了一部分总体准确率，换取了对高损失错误的控制。</a:t>
            </a:r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16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最小错误率追求平均错误少，最小风险追求代价小。</a:t>
            </a:r>
            <a:endParaRPr lang="zh-CN" altLang="en-US" sz="16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685" y="1684655"/>
            <a:ext cx="5414645" cy="18440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" y="3789045"/>
            <a:ext cx="5328920" cy="152082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23875" y="3993515"/>
            <a:ext cx="2189480" cy="231775"/>
          </a:xfrm>
          <a:prstGeom prst="rect">
            <a:avLst/>
          </a:prstGeom>
          <a:solidFill>
            <a:schemeClr val="accent4">
              <a:lumMod val="60000"/>
              <a:lumOff val="40000"/>
              <a:alpha val="3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0" y="3227705"/>
            <a:ext cx="4457065" cy="359791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689600" y="2491105"/>
            <a:ext cx="64008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KNN: 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对一个待分类样本，找到训练集中距离它最近的 5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个样本，看这 5 个邻居里女生多还是男生多，谁多就判为谁。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689600" y="1719580"/>
            <a:ext cx="640080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Parzen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窗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 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每一个训练样本都对它附近的区域产生影响，离样本越近，影响越大；离样本越远，影响越小。</a:t>
            </a:r>
            <a:r>
              <a:rPr lang="en-US" altLang="zh-CN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14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影响概率密度估计</a:t>
            </a:r>
            <a:endParaRPr lang="zh-CN" altLang="en-US" sz="14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/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微软雅黑" panose="020B0503020204020204" pitchFamily="34" charset="-122"/>
              </a:rPr>
              <a:t>02</a:t>
            </a:r>
            <a:endParaRPr lang="zh-CN" altLang="en-US" sz="27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实验二：非参数估计与 </a:t>
            </a:r>
            <a:r>
              <a:rPr lang="en-US" altLang="zh-CN" sz="3900" b="1">
                <a:solidFill>
                  <a:srgbClr val="FFFFF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判别</a:t>
            </a:r>
            <a:endParaRPr lang="zh-CN" altLang="en-US" sz="3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比较概率密度估计方法与直接设计线性分类器的方法</a:t>
            </a:r>
            <a:endParaRPr lang="zh-CN" altLang="en-US" sz="1700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NONPARAMETRIC &amp; LINEAR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实验二理论：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Parzen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与留一法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09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6600" y="13716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71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Parzen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窗估计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71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不预设概率密度形式，用高斯核叠加估计类别条件密度。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445000" y="1371600"/>
            <a:ext cx="3302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445000" y="13716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35500" y="1498600"/>
            <a:ext cx="299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线性判别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35500" y="1854200"/>
            <a:ext cx="2997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最大化类间离散度与类内离散度之比，得到线性投影方向。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153400" y="1371600"/>
            <a:ext cx="2921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53400" y="13716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343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留一法估计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343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每次留出一个样本验证，适合小样本泛化误差估计。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143000" y="3251200"/>
            <a:ext cx="9906000" cy="914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415" y="3425932"/>
            <a:ext cx="5053171" cy="564936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1016000" y="4851400"/>
            <a:ext cx="9906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课程重点：参数估计与非参数估计的差别；概率模型与判别模型的差别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实验问题：非参数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是否能达到高斯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的性能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METHOD COMPARISON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实验二理论展开：密度估计和直接判别的区别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10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参数估计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先假设数据服从某种分布，例如正态分布，再估计少量参数。优点是稳定，缺点是假设可能不准。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非参数估计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不强行指定密度形状，而是让训练样本本身决定分布外形。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Parzen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窗可以看作给每个样本放一个小核。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直接判别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70900" y="1854200"/>
            <a:ext cx="2616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不估计概率密度，而是直接找一条投影轴，让两类均值尽量远、类内尽量集中。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168400" y="3429000"/>
            <a:ext cx="45212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73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06BB7"/>
                </a:solidFill>
                <a:latin typeface="微软雅黑" panose="020B0503020204020204" pitchFamily="34" charset="-122"/>
              </a:rPr>
              <a:t>Parzen</a:t>
            </a:r>
            <a:r>
              <a:rPr lang="zh-CN" altLang="en-US" sz="1600" b="1">
                <a:solidFill>
                  <a:srgbClr val="006BB7"/>
                </a:solidFill>
                <a:latin typeface="微软雅黑" panose="020B0503020204020204" pitchFamily="34" charset="-122"/>
              </a:rPr>
              <a:t>：用样本堆出类别密度</a:t>
            </a:r>
            <a:endParaRPr lang="zh-CN" altLang="en-US" sz="16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73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窗口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小：密度起伏大，容易过拟合；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大：密度过平滑，细节会丢失。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6502400" y="3429000"/>
            <a:ext cx="45212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807200" y="3708400"/>
            <a:ext cx="3937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微软雅黑" panose="020B0503020204020204" pitchFamily="34" charset="-122"/>
              </a:rPr>
              <a:t>Fisher</a:t>
            </a:r>
            <a:r>
              <a:rPr lang="zh-CN" altLang="en-US" sz="1600" b="1">
                <a:solidFill>
                  <a:srgbClr val="0A7FCC"/>
                </a:solidFill>
                <a:latin typeface="微软雅黑" panose="020B0503020204020204" pitchFamily="34" charset="-122"/>
              </a:rPr>
              <a:t>：用投影方向分开类别</a:t>
            </a:r>
            <a:endParaRPr lang="zh-CN" altLang="en-US" sz="1600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807200" y="4089400"/>
            <a:ext cx="3810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它关心的不是密度形状，而是投影后一维空间里两类是否容易用阈值分开。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本实验用同一组身高体重特征比较三类思想：高斯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Bayes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Parzen Bayes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、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Fisher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如果三者性能接近，说明这个数据集的类别结构比较简单，线性边界已经足够有效。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VISUAL COMPARISON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实验二结果：线性边界与投影分布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11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847782"/>
            <a:ext cx="4071811" cy="2908436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4" y="2195178"/>
            <a:ext cx="4071812" cy="2213644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1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给出简单线性边界，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边界受密度估计影响。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观察 </a:t>
            </a:r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2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投影后男女样本主体分离，但边界区域仍有重叠。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实验二结果：错误率对比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12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89000" y="1549400"/>
          <a:ext cx="10414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/>
                <a:gridCol w="2082800"/>
                <a:gridCol w="2082800"/>
                <a:gridCol w="2082800"/>
                <a:gridCol w="20828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方法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训练错误率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test1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错误率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test2 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错误率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留一法错误率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Parzen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14.00%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2.86%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13.00%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143000" y="4191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微软雅黑" panose="020B0503020204020204" pitchFamily="34" charset="-122"/>
              </a:rPr>
              <a:t>Gaussian Bayes test2 acc.</a:t>
            </a:r>
            <a:endParaRPr lang="zh-CN" altLang="en-US" sz="7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175000" y="4241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175000" y="4241800"/>
            <a:ext cx="1928635" cy="889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435600" y="4178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微软雅黑" panose="020B0503020204020204" pitchFamily="34" charset="-122"/>
              </a:rPr>
              <a:t>89.33%</a:t>
            </a:r>
            <a:endParaRPr lang="zh-CN" altLang="en-US" sz="7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43000" y="46355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微软雅黑" panose="020B0503020204020204" pitchFamily="34" charset="-122"/>
              </a:rPr>
              <a:t>Parzen Bayes test2 acc.</a:t>
            </a:r>
            <a:endParaRPr lang="zh-CN" altLang="en-US" sz="7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175000" y="46863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3175000" y="4686300"/>
            <a:ext cx="1950225" cy="889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435600" y="46228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微软雅黑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143000" y="5080000"/>
            <a:ext cx="190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>
                <a:solidFill>
                  <a:srgbClr val="38566F"/>
                </a:solidFill>
                <a:latin typeface="微软雅黑" panose="020B0503020204020204" pitchFamily="34" charset="-122"/>
              </a:rPr>
              <a:t>Fisher test2 acc.</a:t>
            </a:r>
            <a:endParaRPr lang="zh-CN" altLang="en-US" sz="7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175000" y="5130800"/>
            <a:ext cx="2159000" cy="889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175000" y="5130800"/>
            <a:ext cx="1950225" cy="889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435600" y="5067300"/>
            <a:ext cx="635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A2E4E"/>
                </a:solidFill>
                <a:latin typeface="微软雅黑" panose="020B0503020204020204" pitchFamily="34" charset="-122"/>
              </a:rPr>
              <a:t>90.33%</a:t>
            </a:r>
            <a:endParaRPr lang="zh-CN" altLang="en-US" sz="7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矩形: 圆角 23"/>
          <p:cNvSpPr/>
          <p:nvPr/>
        </p:nvSpPr>
        <p:spPr>
          <a:xfrm>
            <a:off x="7048500" y="4064000"/>
            <a:ext cx="3810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048500" y="406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7239000" y="419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结论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239000" y="454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三种方法表现接近。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用更简单的线性边界取得与非参数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相当的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test2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准确率。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实验二分析：模型复杂度与泛化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13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89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9000" y="1587500"/>
            <a:ext cx="76200" cy="1270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79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参数 </a:t>
            </a:r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Bayes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9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形式清晰、样本效率高，但依赖正态分布假设。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72000" y="1587500"/>
            <a:ext cx="3111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72000" y="1587500"/>
            <a:ext cx="76200" cy="1270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762500" y="17145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Parzen Bayes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62500" y="20701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密度形式灵活，但窗口宽度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h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和样本规模影响明显。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55000" y="1587500"/>
            <a:ext cx="2857500" cy="127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55000" y="1587500"/>
            <a:ext cx="76200" cy="1270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45500" y="17145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45500" y="20701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不估计密度，直接寻找判别方向，解释性强。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143000" y="4000500"/>
            <a:ext cx="9906000" cy="8890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98600" y="4318000"/>
            <a:ext cx="9144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600" b="1">
                <a:solidFill>
                  <a:srgbClr val="92400E"/>
                </a:solidFill>
                <a:latin typeface="微软雅黑" panose="020B0503020204020204" pitchFamily="34" charset="-122"/>
              </a:rPr>
              <a:t>留一法结果与 </a:t>
            </a:r>
            <a:r>
              <a:rPr lang="en-US" altLang="zh-CN" sz="1600" b="1">
                <a:solidFill>
                  <a:srgbClr val="92400E"/>
                </a:solidFill>
                <a:latin typeface="微软雅黑" panose="020B0503020204020204" pitchFamily="34" charset="-122"/>
              </a:rPr>
              <a:t>test2 </a:t>
            </a:r>
            <a:r>
              <a:rPr lang="zh-CN" altLang="en-US" sz="1600" b="1">
                <a:solidFill>
                  <a:srgbClr val="92400E"/>
                </a:solidFill>
                <a:latin typeface="微软雅黑" panose="020B0503020204020204" pitchFamily="34" charset="-122"/>
              </a:rPr>
              <a:t>错误率接近，说明它能在训练样本有限时给出较稳健的泛化误差估计。</a:t>
            </a:r>
            <a:endParaRPr lang="zh-CN" altLang="en-US" sz="1600" b="1">
              <a:solidFill>
                <a:srgbClr val="92400E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/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微软雅黑" panose="020B0503020204020204" pitchFamily="34" charset="-122"/>
              </a:rPr>
              <a:t>03</a:t>
            </a:r>
            <a:endParaRPr lang="zh-CN" altLang="en-US" sz="27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实验三：</a:t>
            </a:r>
            <a:r>
              <a:rPr lang="en-US" altLang="zh-CN" sz="3900" b="1">
                <a:solidFill>
                  <a:srgbClr val="FFFFFF"/>
                </a:solidFill>
                <a:latin typeface="微软雅黑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变换进行特征提取</a:t>
            </a:r>
            <a:endParaRPr lang="zh-CN" altLang="en-US" sz="3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从无监督主成分方向理解身高体重样本的主要变化</a:t>
            </a:r>
            <a:endParaRPr lang="zh-CN" altLang="en-US" sz="1700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FEATURE EXTRACTION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实验三理论：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K-L/PCA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的差别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14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K-L / PCA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对协方差矩阵做特征分解，保留总体方差最大的方向。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Fisher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利用类别标签，寻找最有利于分类的投影方向。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1270000" y="3276600"/>
            <a:ext cx="9652000" cy="990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355" y="3378200"/>
            <a:ext cx="7439291" cy="7874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的目标是表示数据，不是直接优化分类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当最大方差方向与类别差异方向一致时，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也能得到较好分类效果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PCA INTUITION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实验三理论展开：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K-L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变换怎样提取新特征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15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6600" y="1371600"/>
            <a:ext cx="76200" cy="12954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1.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找数据中心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先计算所有样本的平均向量，把样本平移到以均值为中心，关注相对变化。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08500" y="1371600"/>
            <a:ext cx="3175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08500" y="1371600"/>
            <a:ext cx="76200" cy="12954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2.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找变化方向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990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协方差矩阵描述两个特征如何共同变化。特征向量给出新坐标轴，特征值表示该方向上变化有多大。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80400" y="1371600"/>
            <a:ext cx="2921000" cy="1295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80400" y="1371600"/>
            <a:ext cx="76200" cy="12954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3.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投影降维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把样本投影到最大特征值对应的方向，就得到保留主要变化的一维新特征。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016000" y="3276600"/>
            <a:ext cx="10160000" cy="914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22400" y="35814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A7FCC"/>
                </a:solidFill>
                <a:latin typeface="微软雅黑" panose="020B0503020204020204" pitchFamily="34" charset="-122"/>
              </a:rPr>
              <a:t>通俗理解：</a:t>
            </a:r>
            <a:r>
              <a:rPr lang="en-US" altLang="zh-CN" sz="1700" b="1">
                <a:solidFill>
                  <a:srgbClr val="0A7FCC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700" b="1">
                <a:solidFill>
                  <a:srgbClr val="0A7FCC"/>
                </a:solidFill>
                <a:latin typeface="微软雅黑" panose="020B0503020204020204" pitchFamily="34" charset="-122"/>
              </a:rPr>
              <a:t>像是在散点图上找一根尺子，让样本沿这根尺子的展开范围最大。</a:t>
            </a:r>
            <a:endParaRPr lang="zh-CN" altLang="en-US" sz="1700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43000" y="48260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如果男女样本主要沿这根尺子分开，那么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第一主成分就能用于分类。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如果最大变化来自身高体重以外的因素，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可能保留了方差，却没有保留判别信息。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所以实验三要把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、类均值方向、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和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放在一起比较。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实验三设置：二维特征的主方向分析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16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25500" y="1397000"/>
          <a:ext cx="4445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500"/>
                <a:gridCol w="2222500"/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项目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数值</a:t>
                      </a:r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说明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数据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个训练样本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特征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身高、体重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第一主成分解释率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87.52%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PC1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(0.6269, 0.7791)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类均值方向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(0.6514, 0.7587)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12" name="矩形: 圆角 11"/>
          <p:cNvSpPr/>
          <p:nvPr/>
        </p:nvSpPr>
        <p:spPr>
          <a:xfrm>
            <a:off x="5778500" y="1333500"/>
            <a:ext cx="52705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86" y="1811382"/>
            <a:ext cx="4173729" cy="2981235"/>
          </a:xfrm>
          <a:prstGeom prst="rect">
            <a:avLst/>
          </a:prstGeom>
        </p:spPr>
      </p:pic>
      <p:sp>
        <p:nvSpPr>
          <p:cNvPr id="15" name="矩形: 圆角 14"/>
          <p:cNvSpPr/>
          <p:nvPr/>
        </p:nvSpPr>
        <p:spPr>
          <a:xfrm>
            <a:off x="1016000" y="4927600"/>
            <a:ext cx="4000500" cy="711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016000" y="4927600"/>
            <a:ext cx="76200" cy="711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206500" y="5054600"/>
            <a:ext cx="3695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设置说明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206500" y="5410200"/>
            <a:ext cx="3695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分别使用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第一主成分、类均值差方向、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和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进行分类比较。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RESULTS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实验三结果：投影分布与分类性能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17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25500" y="1397000"/>
            <a:ext cx="5207000" cy="3302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3094" y="1941178"/>
            <a:ext cx="4071812" cy="2213644"/>
          </a:xfrm>
          <a:prstGeom prst="rect">
            <a:avLst/>
          </a:prstGeom>
        </p:spPr>
      </p:pic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540500" y="1549400"/>
          <a:ext cx="482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6500"/>
                <a:gridCol w="1206500"/>
                <a:gridCol w="1206500"/>
                <a:gridCol w="12065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方法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test1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test2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K-L 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第一主成分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类均值方向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86.00%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89.67%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Fisher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90.33%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Gaussian Bayes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88.00%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97.14%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89.33%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6667500" y="4318000"/>
            <a:ext cx="457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第一主成分已经能较好区分男女样本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在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test2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上略优，体现监督判别方向的优势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TAKEAWAYS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实验三分析：最大方差不等于最佳分类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18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89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9000" y="15240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有效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本数据中身高和体重的主要变化方向与性别差异方向接近。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72000" y="1524000"/>
            <a:ext cx="3111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72000" y="15240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为什么 </a:t>
            </a:r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略优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直接利用类别标签，目标就是提高类别分离度。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55000" y="1524000"/>
            <a:ext cx="28575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55000" y="1524000"/>
            <a:ext cx="76200" cy="1143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一般规律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无监督降维需要和监督分类器共同评价。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2032000" y="3429000"/>
            <a:ext cx="8128000" cy="228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979" y="3886445"/>
            <a:ext cx="2522041" cy="13711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/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微软雅黑" panose="020B0503020204020204" pitchFamily="34" charset="-122"/>
              </a:rPr>
              <a:t>04</a:t>
            </a:r>
            <a:endParaRPr lang="zh-CN" altLang="en-US" sz="27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实验四：</a:t>
            </a:r>
            <a:r>
              <a:rPr lang="en-US" altLang="zh-CN" sz="3900" b="1">
                <a:solidFill>
                  <a:srgbClr val="FFFFFF"/>
                </a:solidFill>
                <a:latin typeface="微软雅黑" panose="020B0503020204020204" pitchFamily="34" charset="-122"/>
              </a:rPr>
              <a:t>K-L </a:t>
            </a:r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变换的图像识别应用</a:t>
            </a:r>
            <a:endParaRPr lang="zh-CN" altLang="en-US" sz="3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D9ECFF"/>
                </a:solidFill>
                <a:latin typeface="微软雅黑" panose="020B0503020204020204" pitchFamily="34" charset="-122"/>
              </a:rPr>
              <a:t>K-L/PCA </a:t>
            </a:r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从二维样本扩展到高维飞机图像</a:t>
            </a:r>
            <a:endParaRPr lang="zh-CN" altLang="en-US" sz="1700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IMAGE RECOGNITION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实验四理论：高维图像的低维表示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19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0160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10287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5494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图像预处理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494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灰度化、缩放到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32×32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10160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10287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5494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向量化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5494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每张图像展开为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维向量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10160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0287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5494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K-L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降维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5494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提取前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k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个主成分作为图像特征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10160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0287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494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低维分类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5494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NearestCentroid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与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1NN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对比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6540500" y="1625600"/>
            <a:ext cx="4000500" cy="8636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621" y="1794851"/>
            <a:ext cx="2394259" cy="525099"/>
          </a:xfrm>
          <a:prstGeom prst="rect">
            <a:avLst/>
          </a:prstGeom>
        </p:spPr>
      </p:pic>
      <p:graphicFrame>
        <p:nvGraphicFramePr>
          <p:cNvPr id="30" name="表格 29"/>
          <p:cNvGraphicFramePr>
            <a:graphicFrameLocks noGrp="1"/>
          </p:cNvGraphicFramePr>
          <p:nvPr/>
        </p:nvGraphicFramePr>
        <p:xfrm>
          <a:off x="6540500" y="3048000"/>
          <a:ext cx="4000500" cy="2095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/>
                <a:gridCol w="2000250"/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项目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设置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A7FC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类别数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类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2530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张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测试集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636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张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主成分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 / 16 / 32 / 64 / 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HIGH-DIMENSIONAL FEATURES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实验四理论展开：为什么图像识别需要降维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20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维数高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7100" y="1854200"/>
            <a:ext cx="2870200" cy="5539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32×32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灰度图展开后就是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维。维数越高，距离计算越容易受噪声和无关背景影响。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样本有限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虽然有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2530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张训练图，但相对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1024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维特征仍不算充分，直接分类容易过拟合。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的作用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用较少主成分表示图像，把共同轮廓、明暗结构等主要变化保留下来。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092200" y="3429000"/>
            <a:ext cx="10033000" cy="9652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422400" y="3759200"/>
            <a:ext cx="93472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006BB7"/>
                </a:solidFill>
                <a:latin typeface="微软雅黑" panose="020B0503020204020204" pitchFamily="34" charset="-122"/>
              </a:rPr>
              <a:t>从二维身高体重到 </a:t>
            </a:r>
            <a:r>
              <a:rPr lang="en-US" altLang="zh-CN" sz="1700" b="1">
                <a:solidFill>
                  <a:srgbClr val="006BB7"/>
                </a:solidFill>
                <a:latin typeface="微软雅黑" panose="020B0503020204020204" pitchFamily="34" charset="-122"/>
              </a:rPr>
              <a:t>1024 </a:t>
            </a:r>
            <a:r>
              <a:rPr lang="zh-CN" altLang="en-US" sz="1700" b="1">
                <a:solidFill>
                  <a:srgbClr val="006BB7"/>
                </a:solidFill>
                <a:latin typeface="微软雅黑" panose="020B0503020204020204" pitchFamily="34" charset="-122"/>
              </a:rPr>
              <a:t>维图像，本质仍是寻找更适合分类的特征表示。</a:t>
            </a:r>
            <a:endParaRPr lang="zh-CN" altLang="en-US" sz="1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43000" y="4902200"/>
            <a:ext cx="9779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主成分可以看作一组基础图像模式，原图像由这些模式加权组合得到。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保留太少主成分会丢失类别细节；保留太多主成分又可能引入背景和噪声。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因此实验四考察不同主成分数下的识别准确率。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VISUAL RESULTS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实验四结果：样本图像与 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主成分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21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683" y="2454590"/>
            <a:ext cx="3562835" cy="1694821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6248400" y="1397000"/>
            <a:ext cx="5207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0482" y="2500362"/>
            <a:ext cx="3562836" cy="1603276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1016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68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微软雅黑" panose="020B0503020204020204" pitchFamily="34" charset="-122"/>
              </a:rPr>
              <a:t>1024→64</a:t>
            </a:r>
            <a:endParaRPr lang="zh-CN" altLang="en-US" sz="2400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68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维度压缩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3302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454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微软雅黑" panose="020B0503020204020204" pitchFamily="34" charset="-122"/>
              </a:rPr>
              <a:t>89.88%</a:t>
            </a:r>
            <a:endParaRPr lang="zh-CN" altLang="en-US" sz="24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454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微软雅黑" panose="020B0503020204020204" pitchFamily="34" charset="-122"/>
              </a:rPr>
              <a:t>64 </a:t>
            </a:r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维解释方差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5588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740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微软雅黑" panose="020B0503020204020204" pitchFamily="34" charset="-122"/>
              </a:rPr>
              <a:t>16</a:t>
            </a:r>
            <a:endParaRPr lang="zh-CN" altLang="en-US" sz="24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40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飞机类别数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7874000" y="54610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026400" y="55626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微软雅黑" panose="020B0503020204020204" pitchFamily="34" charset="-122"/>
              </a:rPr>
              <a:t>636</a:t>
            </a:r>
            <a:endParaRPr lang="zh-CN" altLang="en-US" sz="2400" b="1">
              <a:solidFill>
                <a:srgbClr val="2F80C9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026400" y="59690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测试图像数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METRICS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实验四结果：主成分数与识别准确率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22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25500" y="1397000"/>
            <a:ext cx="5334000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046" y="1927279"/>
            <a:ext cx="4276908" cy="2749441"/>
          </a:xfrm>
          <a:prstGeom prst="rect">
            <a:avLst/>
          </a:prstGeom>
        </p:spPr>
      </p:pic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6667500" y="1587500"/>
          <a:ext cx="4445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1250"/>
                <a:gridCol w="1111250"/>
                <a:gridCol w="1111250"/>
                <a:gridCol w="1111250"/>
              </a:tblGrid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方法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主成分数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测试集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2F80C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PCA+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质心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20.47%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19.97%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54.09%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64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53.93%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2672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PCA+1NN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128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52.99%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6794500" y="4318000"/>
            <a:ext cx="4318000" cy="915635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1NN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明显优于最近质心，说明飞机类别内部变化复杂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主成分数增加到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32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后收益变小，后续成分可能包含背景和噪声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ANALYSIS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实验四分析：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能压缩，但不是完整识别方案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23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952500" y="1397000"/>
            <a:ext cx="5334000" cy="3937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0722" y="2248418"/>
            <a:ext cx="2637555" cy="2234164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7048500" y="1524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048500" y="1524000"/>
            <a:ext cx="76200" cy="1016000"/>
          </a:xfrm>
          <a:prstGeom prst="rect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239000" y="1651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混淆原因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239000" y="2006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低分辨率灰度图中，部分飞机外形相近，姿态和背景也会干扰。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矩形: 圆角 17"/>
          <p:cNvSpPr/>
          <p:nvPr/>
        </p:nvSpPr>
        <p:spPr>
          <a:xfrm>
            <a:off x="7048500" y="29845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7048500" y="2984500"/>
            <a:ext cx="76200" cy="1016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39000" y="31115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方法局限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239000" y="34671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是无监督降维，优先保留总体方差，不保证保留最强判别信息。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矩形: 圆角 21"/>
          <p:cNvSpPr/>
          <p:nvPr/>
        </p:nvSpPr>
        <p:spPr>
          <a:xfrm>
            <a:off x="7048500" y="4445000"/>
            <a:ext cx="3810000" cy="1016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7048500" y="4445000"/>
            <a:ext cx="762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7239000" y="4572000"/>
            <a:ext cx="3505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改进方向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7239000" y="4927600"/>
            <a:ext cx="3505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可结合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HOG/SIFT/ORB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、数据增强或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CNN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提升识别性能。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平行四边形 2"/>
          <p:cNvSpPr/>
          <p:nvPr/>
        </p:nvSpPr>
        <p:spPr>
          <a:xfrm>
            <a:off x="-889000" y="4826000"/>
            <a:ext cx="7302500" cy="2159000"/>
          </a:xfrm>
          <a:prstGeom prst="parallelogram">
            <a:avLst>
              <a:gd name="adj" fmla="val 18000"/>
            </a:avLst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128000" y="-355600"/>
            <a:ext cx="4953000" cy="20955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9000" y="1168400"/>
            <a:ext cx="1651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700" b="1">
                <a:solidFill>
                  <a:srgbClr val="D4A84B"/>
                </a:solidFill>
                <a:latin typeface="微软雅黑" panose="020B0503020204020204" pitchFamily="34" charset="-122"/>
              </a:rPr>
              <a:t>05</a:t>
            </a:r>
            <a:endParaRPr lang="zh-CN" altLang="en-US" sz="27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89000" y="2006600"/>
            <a:ext cx="9652000" cy="60016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实验五：</a:t>
            </a:r>
            <a:r>
              <a:rPr lang="en-US" altLang="zh-CN" sz="3900" b="1">
                <a:solidFill>
                  <a:srgbClr val="FFFFFF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3900" b="1">
                <a:solidFill>
                  <a:srgbClr val="FFFFFF"/>
                </a:solidFill>
                <a:latin typeface="微软雅黑" panose="020B0503020204020204" pitchFamily="34" charset="-122"/>
              </a:rPr>
              <a:t>均值与分级聚类分析</a:t>
            </a:r>
            <a:endParaRPr lang="zh-CN" altLang="en-US" sz="39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9800" y="2946400"/>
            <a:ext cx="8890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700">
                <a:solidFill>
                  <a:srgbClr val="D9ECFF"/>
                </a:solidFill>
                <a:latin typeface="微软雅黑" panose="020B0503020204020204" pitchFamily="34" charset="-122"/>
              </a:rPr>
              <a:t>不使用类别标签，观察身高体重样本的自然结构</a:t>
            </a:r>
            <a:endParaRPr lang="zh-CN" altLang="en-US" sz="1700">
              <a:solidFill>
                <a:srgbClr val="D9EC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939800" y="3810000"/>
            <a:ext cx="2489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CLUSTERING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实验五理论：从监督分类到无监督聚类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24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890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9000" y="1460500"/>
            <a:ext cx="76200" cy="1143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795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均值聚类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95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独立编程实现，通过样本分配和中心更新最小化类内平方误差。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6286500" y="1460500"/>
            <a:ext cx="4445000" cy="1143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286500" y="1460500"/>
            <a:ext cx="76200" cy="1143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477000" y="1587500"/>
            <a:ext cx="414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分级聚类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477000" y="1943100"/>
            <a:ext cx="4140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使用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方法形成层次结构，用树状图观察样本合并过程。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1270000" y="3276600"/>
            <a:ext cx="9652000" cy="990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645" y="3510272"/>
            <a:ext cx="1988710" cy="523256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16000" y="48260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聚类不使用性别标签，评价时再与真实标签比较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特征标准化很重要，否则体重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/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身高尺度会影响距离计算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UNSUPERVISED LEARNING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实验五理论展开：聚类如何判断样本自然结构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25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36600" y="1371600"/>
            <a:ext cx="76200" cy="13462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71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没有标签参与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71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聚类阶段不知道样本是男生还是女生，只根据身高体重距离把相似样本放到一起。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08500" y="1371600"/>
            <a:ext cx="3175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08500" y="1371600"/>
            <a:ext cx="76200" cy="13462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699000" y="1498600"/>
            <a:ext cx="2870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0A2E4E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均值思想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99000" y="1854200"/>
            <a:ext cx="2870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反复执行两步：先按最近中心分组，再用每组均值更新中心，直到中心基本不变。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80400" y="1371600"/>
            <a:ext cx="2921000" cy="1346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80400" y="1371600"/>
            <a:ext cx="76200" cy="13462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70900" y="1498600"/>
            <a:ext cx="2616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分级聚类思想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70900" y="1854200"/>
            <a:ext cx="26162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从单个样本或小簇开始逐步合并，形成树状结构，可以观察样本相似性的层次。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965200" y="3429000"/>
            <a:ext cx="4826000" cy="1168400"/>
          </a:xfrm>
          <a:prstGeom prst="roundRect">
            <a:avLst/>
          </a:prstGeom>
          <a:solidFill>
            <a:srgbClr val="EFF6FF"/>
          </a:solidFill>
          <a:ln w="8890">
            <a:solidFill>
              <a:srgbClr val="BFDB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270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 b="1">
                <a:solidFill>
                  <a:srgbClr val="0A7FCC"/>
                </a:solidFill>
                <a:latin typeface="微软雅黑" panose="020B0503020204020204" pitchFamily="34" charset="-122"/>
              </a:rPr>
              <a:t>SSE</a:t>
            </a:r>
            <a:r>
              <a:rPr lang="zh-CN" altLang="en-US" sz="1600" b="1">
                <a:solidFill>
                  <a:srgbClr val="0A7FCC"/>
                </a:solidFill>
                <a:latin typeface="微软雅黑" panose="020B0503020204020204" pitchFamily="34" charset="-122"/>
              </a:rPr>
              <a:t>：簇内越紧凑，数值越小</a:t>
            </a:r>
            <a:endParaRPr lang="zh-CN" altLang="en-US" sz="1600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70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但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越大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通常越小，所以不能只看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，还要结合轮廓系数。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6426200" y="3429000"/>
            <a:ext cx="4826000" cy="11684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731000" y="3708400"/>
            <a:ext cx="4191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600" b="1">
                <a:solidFill>
                  <a:srgbClr val="006BB7"/>
                </a:solidFill>
                <a:latin typeface="微软雅黑" panose="020B0503020204020204" pitchFamily="34" charset="-122"/>
              </a:rPr>
              <a:t>轮廓系数：簇内近、簇间远更好</a:t>
            </a:r>
            <a:endParaRPr lang="zh-CN" altLang="en-US" sz="16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731000" y="4089400"/>
            <a:ext cx="40640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ARI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和匹配率用于把聚类结果与真实性别标签作事后比较，评价自然结构是否对应类别。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117600" y="5054600"/>
            <a:ext cx="9652000" cy="515526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本实验重点不是训练分类器，而是观察数据本身是否天然形成两团。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如果 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C=2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的轮廓系数较高且匹配率较好，说明性别差异确实反映在身高体重结构中。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EXPERIMENT DESIGN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实验五设置：两组数据与多种聚类数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26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889000" y="1397000"/>
          <a:ext cx="5080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设置项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说明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数据一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FEMALE + MALE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100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个训练样本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数据二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+ test2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，共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400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个样本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特征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身高、体重，先标准化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均值类别数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4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、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5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初始值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多个随机种子比较稳定性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12" name="椭圆 11"/>
          <p:cNvSpPr/>
          <p:nvPr/>
        </p:nvSpPr>
        <p:spPr>
          <a:xfrm>
            <a:off x="6921500" y="1524000"/>
            <a:ext cx="381000" cy="381000"/>
          </a:xfrm>
          <a:prstGeom prst="ellipse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934200" y="1600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1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454900" y="1485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初始化中心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454900" y="1803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随机选择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个中心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6921500" y="2540000"/>
            <a:ext cx="381000" cy="381000"/>
          </a:xfrm>
          <a:prstGeom prst="ellipse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934200" y="2616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2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54900" y="2501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样本分配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454900" y="2819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分配到最近中心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6921500" y="3556000"/>
            <a:ext cx="381000" cy="381000"/>
          </a:xfrm>
          <a:prstGeom prst="ellipse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6934200" y="3632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3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454900" y="3517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中心更新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454900" y="3835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计算各簇均值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6921500" y="4572000"/>
            <a:ext cx="381000" cy="381000"/>
          </a:xfrm>
          <a:prstGeom prst="ellipse">
            <a:avLst/>
          </a:prstGeom>
          <a:solidFill>
            <a:srgbClr val="2F80C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934200" y="4648200"/>
            <a:ext cx="35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1200" b="1">
                <a:solidFill>
                  <a:srgbClr val="FFFFFF"/>
                </a:solidFill>
                <a:latin typeface="微软雅黑" panose="020B0503020204020204" pitchFamily="34" charset="-122"/>
              </a:rPr>
              <a:t>4</a:t>
            </a:r>
            <a:endParaRPr lang="zh-CN" altLang="en-US"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454900" y="4533900"/>
            <a:ext cx="355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指标评估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454900" y="4851400"/>
            <a:ext cx="36195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SSE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、轮廓系数、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ARI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、匹配率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C-MEANS RESULTS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实验五结果：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C=2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聚类与初始值影响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27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19" y="1817478"/>
            <a:ext cx="4067762" cy="2905544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995" y="1961454"/>
            <a:ext cx="4071811" cy="2617593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1016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168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06BB7"/>
                </a:solidFill>
                <a:latin typeface="微软雅黑" panose="020B0503020204020204" pitchFamily="34" charset="-122"/>
              </a:rPr>
              <a:t>85.00%</a:t>
            </a:r>
            <a:endParaRPr lang="zh-CN" altLang="en-US" sz="24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68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训练集 </a:t>
            </a:r>
            <a:r>
              <a:rPr lang="en-US" altLang="zh-CN" sz="1200">
                <a:solidFill>
                  <a:srgbClr val="6B7F90"/>
                </a:solidFill>
                <a:latin typeface="微软雅黑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匹配率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3302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3454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0A7FCC"/>
                </a:solidFill>
                <a:latin typeface="微软雅黑" panose="020B0503020204020204" pitchFamily="34" charset="-122"/>
              </a:rPr>
              <a:t>85-87%</a:t>
            </a:r>
            <a:endParaRPr lang="zh-CN" altLang="en-US" sz="2400" b="1">
              <a:solidFill>
                <a:srgbClr val="0A7FCC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454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不同初始值波动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5588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740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D4A84B"/>
                </a:solidFill>
                <a:latin typeface="微软雅黑" panose="020B0503020204020204" pitchFamily="34" charset="-122"/>
              </a:rPr>
              <a:t>0.5108</a:t>
            </a:r>
            <a:endParaRPr lang="zh-CN" altLang="en-US" sz="2400" b="1">
              <a:solidFill>
                <a:srgbClr val="D4A84B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40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6B7F90"/>
                </a:solidFill>
                <a:latin typeface="微软雅黑" panose="020B0503020204020204" pitchFamily="34" charset="-122"/>
              </a:rPr>
              <a:t>轮廓系数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7874000" y="5435600"/>
            <a:ext cx="1905000" cy="660400"/>
          </a:xfrm>
          <a:prstGeom prst="roundRect">
            <a:avLst/>
          </a:prstGeom>
          <a:solidFill>
            <a:srgbClr val="FAFC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026400" y="5537200"/>
            <a:ext cx="16256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400" b="1">
                <a:solidFill>
                  <a:srgbClr val="2F80C9"/>
                </a:solidFill>
                <a:latin typeface="微软雅黑" panose="020B0503020204020204" pitchFamily="34" charset="-122"/>
              </a:rPr>
              <a:t>0.4850</a:t>
            </a:r>
            <a:endParaRPr lang="zh-CN" altLang="en-US" sz="2400" b="1">
              <a:solidFill>
                <a:srgbClr val="2F80C9"/>
              </a:solidFill>
              <a:latin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026400" y="5943600"/>
            <a:ext cx="16256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6B7F90"/>
                </a:solidFill>
                <a:latin typeface="微软雅黑" panose="020B0503020204020204" pitchFamily="34" charset="-122"/>
              </a:rPr>
              <a:t>ARI</a:t>
            </a:r>
            <a:endParaRPr lang="zh-CN" altLang="en-US" sz="1200">
              <a:solidFill>
                <a:srgbClr val="6B7F90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MODEL SELECTION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实验五结果：类别数选择与分级聚类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28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194" y="1961454"/>
            <a:ext cx="4071811" cy="2617593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6248400" y="1397000"/>
            <a:ext cx="5207000" cy="374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418" y="2424749"/>
            <a:ext cx="3166965" cy="1691003"/>
          </a:xfrm>
          <a:prstGeom prst="rect">
            <a:avLst/>
          </a:prstGeom>
        </p:spPr>
      </p:pic>
      <p:sp>
        <p:nvSpPr>
          <p:cNvPr id="17" name="矩形: 圆角 16"/>
          <p:cNvSpPr/>
          <p:nvPr/>
        </p:nvSpPr>
        <p:spPr>
          <a:xfrm>
            <a:off x="1016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1016000" y="5461000"/>
            <a:ext cx="76200" cy="635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206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类别数判断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206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SSE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随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增大下降，但轮廓系数在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C=2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最高，因此两类更合理。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矩形: 圆角 20"/>
          <p:cNvSpPr/>
          <p:nvPr/>
        </p:nvSpPr>
        <p:spPr>
          <a:xfrm>
            <a:off x="6604000" y="5461000"/>
            <a:ext cx="4572000" cy="635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604000" y="5461000"/>
            <a:ext cx="76200" cy="6350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6794500" y="5588000"/>
            <a:ext cx="42672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分级聚类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794500" y="5943600"/>
            <a:ext cx="42672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Ward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方法匹配率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81.00%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，略低于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C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均值，但能展示层次结构。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COMBINED DATA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实验五分析：加入 </a:t>
            </a:r>
            <a:r>
              <a:rPr lang="en-US" altLang="zh-CN" sz="2700" b="1">
                <a:solidFill>
                  <a:srgbClr val="FFFFFF"/>
                </a:solidFill>
                <a:latin typeface="微软雅黑" panose="020B0503020204020204" pitchFamily="34" charset="-122"/>
              </a:rPr>
              <a:t>test2 </a:t>
            </a:r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后结构保持但边界更复杂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29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736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8060" y="1860500"/>
            <a:ext cx="3520580" cy="2514700"/>
          </a:xfrm>
          <a:prstGeom prst="rect">
            <a:avLst/>
          </a:prstGeom>
        </p:spPr>
      </p:pic>
      <p:sp>
        <p:nvSpPr>
          <p:cNvPr id="14" name="矩形: 圆角 13"/>
          <p:cNvSpPr/>
          <p:nvPr/>
        </p:nvSpPr>
        <p:spPr>
          <a:xfrm>
            <a:off x="6324600" y="1371600"/>
            <a:ext cx="5143500" cy="3492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0774" y="1841408"/>
            <a:ext cx="3971152" cy="2552884"/>
          </a:xfrm>
          <a:prstGeom prst="rect">
            <a:avLst/>
          </a:prstGeom>
        </p:spPr>
      </p:pic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889000" y="5207000"/>
          <a:ext cx="10414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0"/>
                <a:gridCol w="2082800"/>
                <a:gridCol w="2082800"/>
                <a:gridCol w="2082800"/>
                <a:gridCol w="2082800"/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数据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方法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轮廓系数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ARI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匹配率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均值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0.5108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85.00%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0.5049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0.3789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81.00%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均值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0.4850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0.4693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84.50%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训练集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+test2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Ward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0.4739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0.4172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82.50%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SYNTHESIS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五个实验的横向总结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30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736600" y="1397000"/>
          <a:ext cx="10718800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9700"/>
                <a:gridCol w="2679700"/>
                <a:gridCol w="2679700"/>
                <a:gridCol w="2679700"/>
              </a:tblGrid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实验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课程知识点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监督信息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主要目标</a:t>
                      </a:r>
                      <a:endParaRPr lang="zh-CN" altLang="en-US" sz="1100" b="1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>
                    <a:solidFill>
                      <a:srgbClr val="006BB7"/>
                    </a:solidFill>
                  </a:tcPr>
                </a:tc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Bayes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分类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后验概率、参数估计、风险决策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使用标签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最小错误率或最小风险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Fisher / Parzen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非参数估计、线性判别、留一法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使用标签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比较概率模型与直接判别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特征提取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PCA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、协方差特征分解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可不使用标签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降维与主方向分析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K-L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图像应用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高维图像特征压缩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使用标签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验证 </a:t>
                      </a:r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PCA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图像识别作用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  <a:tr h="6138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聚类分析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C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均值、分级聚类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不使用标签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</a:rPr>
                        <a:t>发现样本自然结构</a:t>
                      </a:r>
                      <a:endParaRPr lang="zh-CN" altLang="en-US" sz="10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</a:endParaRPr>
                    </a:p>
                  </a:txBody>
                  <a:tcPr marL="38100" marR="38100" marT="25400" marB="25400" anchor="ctr"/>
                </a:tc>
              </a:tr>
            </a:tbl>
          </a:graphicData>
        </a:graphic>
      </p:graphicFrame>
      <p:sp>
        <p:nvSpPr>
          <p:cNvPr id="12" name="矩形: 圆角 11"/>
          <p:cNvSpPr/>
          <p:nvPr/>
        </p:nvSpPr>
        <p:spPr>
          <a:xfrm>
            <a:off x="1079500" y="5461000"/>
            <a:ext cx="10033000" cy="609600"/>
          </a:xfrm>
          <a:prstGeom prst="roundRect">
            <a:avLst/>
          </a:prstGeom>
          <a:solidFill>
            <a:srgbClr val="E3F2FD"/>
          </a:solidFill>
          <a:ln w="8890">
            <a:solidFill>
              <a:srgbClr val="A7F3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397000" y="5664200"/>
            <a:ext cx="9398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400" b="1">
                <a:solidFill>
                  <a:srgbClr val="006BB7"/>
                </a:solidFill>
                <a:latin typeface="微软雅黑" panose="020B0503020204020204" pitchFamily="34" charset="-122"/>
              </a:rPr>
              <a:t>主线：从概率决策到线性判别，从监督分类到无监督聚类，从低维特征到高维图像识别。</a:t>
            </a:r>
            <a:endParaRPr lang="zh-CN" altLang="en-US" sz="14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C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12192000" cy="1016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平行四边形 3"/>
          <p:cNvSpPr/>
          <p:nvPr/>
        </p:nvSpPr>
        <p:spPr>
          <a:xfrm>
            <a:off x="8953500" y="-228600"/>
            <a:ext cx="3581400" cy="1346200"/>
          </a:xfrm>
          <a:prstGeom prst="parallelogram">
            <a:avLst>
              <a:gd name="adj" fmla="val 20000"/>
            </a:avLst>
          </a:prstGeom>
          <a:solidFill>
            <a:srgbClr val="3A9BD9">
              <a:alpha val="8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平行四边形 4"/>
          <p:cNvSpPr/>
          <p:nvPr/>
        </p:nvSpPr>
        <p:spPr>
          <a:xfrm>
            <a:off x="-508000" y="6324600"/>
            <a:ext cx="5969000" cy="660400"/>
          </a:xfrm>
          <a:prstGeom prst="parallelogram">
            <a:avLst>
              <a:gd name="adj" fmla="val 20000"/>
            </a:avLst>
          </a:prstGeom>
          <a:solidFill>
            <a:srgbClr val="DDF0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36600" y="254000"/>
            <a:ext cx="4953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700" b="1">
                <a:solidFill>
                  <a:srgbClr val="CDEBFF"/>
                </a:solidFill>
                <a:latin typeface="微软雅黑" panose="020B0503020204020204" pitchFamily="34" charset="-122"/>
              </a:rPr>
              <a:t>CONCLUSION</a:t>
            </a:r>
            <a:endParaRPr lang="zh-CN" altLang="en-US" sz="700" b="1">
              <a:solidFill>
                <a:srgbClr val="CDEB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6600" y="533400"/>
            <a:ext cx="8509000" cy="41549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700" b="1">
                <a:solidFill>
                  <a:srgbClr val="FFFFFF"/>
                </a:solidFill>
                <a:latin typeface="微软雅黑" panose="020B0503020204020204" pitchFamily="34" charset="-122"/>
              </a:rPr>
              <a:t>总体结论与汇报收束</a:t>
            </a:r>
            <a:endParaRPr lang="zh-CN" altLang="en-US" sz="27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36600" y="1295400"/>
            <a:ext cx="1168400" cy="0"/>
          </a:xfrm>
          <a:prstGeom prst="line">
            <a:avLst/>
          </a:prstGeom>
          <a:ln w="381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33400" y="6527800"/>
            <a:ext cx="39370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模式识别课程实验汇报 </a:t>
            </a:r>
            <a:r>
              <a:rPr lang="en-US" altLang="zh-CN" sz="700">
                <a:solidFill>
                  <a:srgbClr val="8FA8BA"/>
                </a:solidFill>
                <a:latin typeface="微软雅黑" panose="020B0503020204020204" pitchFamily="34" charset="-122"/>
              </a:rPr>
              <a:t>· </a:t>
            </a:r>
            <a:r>
              <a:rPr lang="zh-CN" altLang="en-US" sz="700">
                <a:solidFill>
                  <a:srgbClr val="8FA8BA"/>
                </a:solidFill>
                <a:latin typeface="微软雅黑" panose="020B0503020204020204" pitchFamily="34" charset="-122"/>
              </a:rPr>
              <a:t>蓝白科研汇报模板</a:t>
            </a:r>
            <a:endParaRPr lang="zh-CN" altLang="en-US" sz="700">
              <a:solidFill>
                <a:srgbClr val="8FA8B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366500" y="6477000"/>
            <a:ext cx="355600" cy="1077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US" altLang="zh-CN" sz="700" b="1">
                <a:solidFill>
                  <a:srgbClr val="006BB7"/>
                </a:solidFill>
                <a:latin typeface="微软雅黑" panose="020B0503020204020204" pitchFamily="34" charset="-122"/>
              </a:rPr>
              <a:t>31</a:t>
            </a:r>
            <a:endParaRPr lang="zh-CN" altLang="en-US" sz="700" b="1">
              <a:solidFill>
                <a:srgbClr val="006BB7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矩形: 圆角 10"/>
          <p:cNvSpPr/>
          <p:nvPr/>
        </p:nvSpPr>
        <p:spPr>
          <a:xfrm>
            <a:off x="889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889000" y="1524000"/>
            <a:ext cx="76200" cy="12065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1079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特征选择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9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身高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+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体重比单特征更稳定；图像任务中 </a:t>
            </a:r>
            <a:r>
              <a:rPr lang="en-US" altLang="zh-CN" sz="1200">
                <a:solidFill>
                  <a:srgbClr val="38566F"/>
                </a:solidFill>
                <a:latin typeface="微软雅黑" panose="020B0503020204020204" pitchFamily="34" charset="-122"/>
              </a:rPr>
              <a:t>PCA </a:t>
            </a:r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可压缩高维特征。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572000" y="1524000"/>
            <a:ext cx="3111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572000" y="1524000"/>
            <a:ext cx="76200" cy="1206500"/>
          </a:xfrm>
          <a:prstGeom prst="rect">
            <a:avLst/>
          </a:prstGeom>
          <a:solidFill>
            <a:srgbClr val="0A7FC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762500" y="1651000"/>
            <a:ext cx="2806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模型假设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762500" y="2006600"/>
            <a:ext cx="2806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正态假设、窗口宽度、线性边界都会影响最终性能。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8255000" y="1524000"/>
            <a:ext cx="2857500" cy="12065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55000" y="1524000"/>
            <a:ext cx="76200" cy="12065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8445500" y="1651000"/>
            <a:ext cx="25527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400" b="1">
                <a:solidFill>
                  <a:srgbClr val="0A2E4E"/>
                </a:solidFill>
                <a:latin typeface="微软雅黑" panose="020B0503020204020204" pitchFamily="34" charset="-122"/>
              </a:rPr>
              <a:t>评价指标</a:t>
            </a:r>
            <a:endParaRPr lang="zh-CN" altLang="en-US" sz="1400" b="1">
              <a:solidFill>
                <a:srgbClr val="0A2E4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445500" y="2006600"/>
            <a:ext cx="2552700" cy="36933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1200">
                <a:solidFill>
                  <a:srgbClr val="38566F"/>
                </a:solidFill>
                <a:latin typeface="微软雅黑" panose="020B0503020204020204" pitchFamily="34" charset="-122"/>
              </a:rPr>
              <a:t>准确率、错误率、召回率、混淆矩阵和聚类指标需要综合分析。</a:t>
            </a:r>
            <a:endParaRPr lang="zh-CN" altLang="en-US" sz="12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1270000" y="3810000"/>
            <a:ext cx="9652000" cy="965200"/>
          </a:xfrm>
          <a:prstGeom prst="roundRect">
            <a:avLst/>
          </a:prstGeom>
          <a:solidFill>
            <a:srgbClr val="FFF7E0"/>
          </a:solidFill>
          <a:ln w="8890">
            <a:solidFill>
              <a:srgbClr val="FDE6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1587500" y="4140200"/>
            <a:ext cx="9017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zh-CN" altLang="en-US" sz="1700" b="1">
                <a:solidFill>
                  <a:srgbClr val="92400E"/>
                </a:solidFill>
                <a:latin typeface="微软雅黑" panose="020B0503020204020204" pitchFamily="34" charset="-122"/>
              </a:rPr>
              <a:t>核心体会：模式识别方法没有绝对最优，算法选择必须结合数据分布、任务目标和评价指标。</a:t>
            </a:r>
            <a:endParaRPr lang="zh-CN" altLang="en-US" sz="1700" b="1">
              <a:solidFill>
                <a:srgbClr val="92400E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98600" y="5181600"/>
            <a:ext cx="9271000" cy="779701"/>
          </a:xfrm>
          <a:prstGeom prst="rect">
            <a:avLst/>
          </a:prstGeom>
          <a:noFill/>
        </p:spPr>
        <p:txBody>
          <a:bodyPr vert="horz" lIns="101600" tIns="25400" rIns="25400" bIns="25400" rtlCol="0">
            <a:spAutoFit/>
          </a:bodyPr>
          <a:lstStyle/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Bayes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强调概率决策，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Fisher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强调判别方向，</a:t>
            </a:r>
            <a:r>
              <a:rPr lang="en-US" altLang="zh-CN" sz="1300">
                <a:solidFill>
                  <a:srgbClr val="38566F"/>
                </a:solidFill>
                <a:latin typeface="微软雅黑" panose="020B0503020204020204" pitchFamily="34" charset="-122"/>
              </a:rPr>
              <a:t>K-L </a:t>
            </a: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强调表示与降维，聚类强调自然结构。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同一数据集上，不同模型的差异主要来自特征表示、概率假设、判别边界和评价目标。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  <a:p>
            <a:pPr marL="342900" indent="-342900">
              <a:spcAft>
                <a:spcPts val="500"/>
              </a:spcAft>
              <a:buFont typeface="+mj-lt"/>
              <a:buAutoNum type="arabicPeriod"/>
            </a:pPr>
            <a:r>
              <a:rPr lang="zh-CN" altLang="en-US" sz="1300">
                <a:solidFill>
                  <a:srgbClr val="38566F"/>
                </a:solidFill>
                <a:latin typeface="微软雅黑" panose="020B0503020204020204" pitchFamily="34" charset="-122"/>
              </a:rPr>
              <a:t>实验设计需要同时报告设置、指标和图形结果，才能解释模型为什么有效或失效。</a:t>
            </a:r>
            <a:endParaRPr lang="zh-CN" altLang="en-US" sz="1300">
              <a:solidFill>
                <a:srgbClr val="38566F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A8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06BB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203200" y="0"/>
            <a:ext cx="63500" cy="6858000"/>
          </a:xfrm>
          <a:prstGeom prst="rect">
            <a:avLst/>
          </a:prstGeom>
          <a:solidFill>
            <a:srgbClr val="D4A84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89000" y="2514600"/>
            <a:ext cx="3810000" cy="78483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5100" b="1">
                <a:solidFill>
                  <a:srgbClr val="FFFFFF"/>
                </a:solidFill>
                <a:latin typeface="微软雅黑" panose="020B0503020204020204" pitchFamily="34" charset="-122"/>
              </a:rPr>
              <a:t>谢谢</a:t>
            </a:r>
            <a:endParaRPr lang="zh-CN" altLang="en-US" sz="51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39800" y="3492500"/>
            <a:ext cx="5588000" cy="3231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zh-CN" altLang="en-US" sz="2100">
                <a:solidFill>
                  <a:srgbClr val="CBD5E1"/>
                </a:solidFill>
                <a:latin typeface="微软雅黑" panose="020B0503020204020204" pitchFamily="34" charset="-122"/>
              </a:rPr>
              <a:t>欢迎老师和同学批评指正</a:t>
            </a:r>
            <a:endParaRPr lang="zh-CN" altLang="en-US" sz="2100">
              <a:solidFill>
                <a:srgbClr val="CBD5E1"/>
              </a:solidFill>
              <a:latin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939800" y="4140200"/>
            <a:ext cx="2362200" cy="0"/>
          </a:xfrm>
          <a:prstGeom prst="line">
            <a:avLst/>
          </a:prstGeom>
          <a:ln w="50800">
            <a:solidFill>
              <a:srgbClr val="D4A84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6092</Words>
  <Application>WPS 演示</Application>
  <PresentationFormat>自定义</PresentationFormat>
  <Paragraphs>887</Paragraphs>
  <Slides>35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黑体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军 曹</dc:creator>
  <cp:lastModifiedBy>kive军</cp:lastModifiedBy>
  <cp:revision>2</cp:revision>
  <dcterms:created xsi:type="dcterms:W3CDTF">2026-06-16T20:21:00Z</dcterms:created>
  <dcterms:modified xsi:type="dcterms:W3CDTF">2026-06-16T22:06:37Z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2BB9178D0F5040E3BA2B37697B5A48BE_12</vt:lpwstr>
  </property>
</Properties>
</file>