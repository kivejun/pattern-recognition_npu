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CB6BC-F181-EBA0-DBB5-05CFD7E78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D640B4-3C47-50C8-CF19-DCF62A5D6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F2D198-5E48-7DDB-7085-86978C63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593450-7B6A-D244-E35B-7A2AF6DC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E2B37-7841-FF64-EE53-D569F4EE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72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B7E3A0-6FB0-5228-288D-761683EF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200908-A462-9EC2-9F3B-E8B5C4D5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C38ED-7751-5DD0-0054-EDEC379A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371947-9912-E4BF-C97C-36669B3E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C4D7E1-A80E-F1C2-B9AF-9FB34BAF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38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AB85E-7EB3-75E8-DA74-B3E630F5A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490943-6156-5B82-A08E-C3649C0EF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BD7BEB-62CB-3041-7740-FB878DB8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F1960A-3D47-7C07-CF8D-D644D0D3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AC8BF4-A56E-8E26-915F-9F04D2D1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529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A8057-2EA1-087B-CC93-10DA5D28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1F77A5-8DE5-160D-EEAC-D14542875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D191E6-7EA2-EBAE-D2AB-A37ED4C51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B021EA-60F1-3689-9C59-050A9E64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48707E-65A5-9AB2-A48A-F7633580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7765B3-87A2-2F3A-056A-59CABB85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586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CF637-3EE5-0292-AB8C-4FCB4A10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9F2E69-5863-D91A-1AA4-4029A755A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7758F7-FA52-1788-24DC-BE50B75E2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2CEBC8-2C88-6E02-DD56-7EDE9B3AC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30665C-DEBB-CB5A-0263-A600F3E75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FA4C75-25C5-4555-B639-A46D8D814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9C25FF-45D6-183E-46D4-2990CCC0A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3C87A6-1BCE-A79A-DCD1-A1B31C89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49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E0F00-C8BE-28CD-06EA-831484C5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647586-B271-C5E8-2EEC-352884E7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D26E96-3D3A-96D7-1D8C-EE117941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239250-A0EA-9480-8FED-266A1871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62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89FD41-0DE2-A4EE-B987-BCE20E27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77B0A4-0DF1-050B-DF16-DDE981E7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9D1B01-17F6-08EB-EE89-B0BF4B631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60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5E9BB-DCC2-3A4E-B8E6-7B3478FC9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286CD-4BE3-37DA-F8EE-8DF8F6B7A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BE440A-9598-E43D-E44B-74A3DA726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BC65B-9589-1A3A-1AB6-DF2522DB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F3D28A-2449-533F-425D-0AAEB6C6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3A075B-8D05-E9BB-324E-9EA9142C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89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1A439-EF92-ADA8-1210-353DA4223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FB6392-DBF8-040A-8828-645CA7FFB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1CC6F5-4639-95F0-88EF-0AA083EE5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5FC89D-462C-BBF7-DAEA-BA2D4E2A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DF7FB4-1259-DB26-9299-5752371E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294055-0CC7-6353-0325-48964242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99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E763F-631C-FFA6-9CEB-B40E626D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E30AD5-AE99-95DE-D0DD-F025832F6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4E0D41-1B15-08BB-6CA1-6D8F6782A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3849DF-B05D-E946-3B0C-45CB9B710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1B95D-E69F-1C22-F6C4-619F1D72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72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9D6E18-C553-DD3E-C006-6C2CCEAE8D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002528-A442-32C3-68E1-B60BCD702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4CA240-A721-E512-B748-02CB6E30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9FC1A-049D-9D06-9C90-09ABED83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433E06-6831-9E96-5303-3E73E101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28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EC3811-A9D7-1A43-22AB-578611C0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ED6C74-29C7-ACF8-49FE-09071E280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0E471B-6F87-2774-C656-EC2630C69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7710-CE37-447C-A559-A6BE8F7E17F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3044E5-F775-3CE5-6089-4FA584430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AE067C-C2A9-5BC3-19C0-40840E48F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C17C4-E3EE-47BC-9113-9E9FD484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62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EF08A9-5EFC-C2DD-FBE1-805495CEAD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F778BE-B738-5283-FC4E-D662FA702B1B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92C637-4B9D-0B73-43CE-BE956DE03192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DA6A4D-FF02-890C-5999-13A6FA1AECD3}"/>
              </a:ext>
            </a:extLst>
          </p:cNvPr>
          <p:cNvSpPr txBox="1"/>
          <p:nvPr/>
        </p:nvSpPr>
        <p:spPr>
          <a:xfrm>
            <a:off x="787400" y="1422400"/>
            <a:ext cx="457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14B8A6"/>
                </a:solidFill>
                <a:latin typeface="Microsoft YaHei" panose="020B0503020204020204" pitchFamily="34" charset="-122"/>
              </a:rPr>
              <a:t>PATTERN RECOGNITION · EXPERIMENT 1</a:t>
            </a:r>
            <a:endParaRPr lang="zh-CN" altLang="en-US" sz="800" b="1">
              <a:solidFill>
                <a:srgbClr val="14B8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39589F-500B-F134-FC04-03E354E76D40}"/>
              </a:ext>
            </a:extLst>
          </p:cNvPr>
          <p:cNvSpPr txBox="1"/>
          <p:nvPr/>
        </p:nvSpPr>
        <p:spPr>
          <a:xfrm>
            <a:off x="787400" y="2006600"/>
            <a:ext cx="7620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性别分类器实验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A63705-9AEB-6875-631A-82A2328A2319}"/>
              </a:ext>
            </a:extLst>
          </p:cNvPr>
          <p:cNvSpPr txBox="1"/>
          <p:nvPr/>
        </p:nvSpPr>
        <p:spPr>
          <a:xfrm>
            <a:off x="838200" y="2921000"/>
            <a:ext cx="825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理论原理 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实验设计 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软件实现 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实验结果分析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44D1132-94F1-8036-FE49-665BF966BF70}"/>
              </a:ext>
            </a:extLst>
          </p:cNvPr>
          <p:cNvSpPr/>
          <p:nvPr/>
        </p:nvSpPr>
        <p:spPr>
          <a:xfrm>
            <a:off x="863600" y="4165600"/>
            <a:ext cx="2540000" cy="698500"/>
          </a:xfrm>
          <a:prstGeom prst="round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5A3FBD-B931-3849-2454-8C6E73964703}"/>
              </a:ext>
            </a:extLst>
          </p:cNvPr>
          <p:cNvSpPr/>
          <p:nvPr/>
        </p:nvSpPr>
        <p:spPr>
          <a:xfrm>
            <a:off x="863600" y="4165600"/>
            <a:ext cx="76200" cy="698500"/>
          </a:xfrm>
          <a:prstGeom prst="rect">
            <a:avLst/>
          </a:prstGeom>
          <a:solidFill>
            <a:srgbClr val="14B8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2165BB-06AF-B567-11A2-094DDA9AA9D8}"/>
              </a:ext>
            </a:extLst>
          </p:cNvPr>
          <p:cNvSpPr txBox="1"/>
          <p:nvPr/>
        </p:nvSpPr>
        <p:spPr>
          <a:xfrm>
            <a:off x="1066800" y="43180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CBD5E1"/>
                </a:solidFill>
                <a:latin typeface="Microsoft YaHei" panose="020B0503020204020204" pitchFamily="34" charset="-122"/>
              </a:rPr>
              <a:t>姓名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B583A7-A865-FA76-7516-96BB1274FEC4}"/>
              </a:ext>
            </a:extLst>
          </p:cNvPr>
          <p:cNvSpPr txBox="1"/>
          <p:nvPr/>
        </p:nvSpPr>
        <p:spPr>
          <a:xfrm>
            <a:off x="1066800" y="45974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E2E8F0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F63E707-AD5D-0E61-06C9-81F03964BA0A}"/>
              </a:ext>
            </a:extLst>
          </p:cNvPr>
          <p:cNvSpPr/>
          <p:nvPr/>
        </p:nvSpPr>
        <p:spPr>
          <a:xfrm>
            <a:off x="3873500" y="4165600"/>
            <a:ext cx="2540000" cy="698500"/>
          </a:xfrm>
          <a:prstGeom prst="round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5E470B-3248-ACEF-0C20-59B74F7B0CC3}"/>
              </a:ext>
            </a:extLst>
          </p:cNvPr>
          <p:cNvSpPr/>
          <p:nvPr/>
        </p:nvSpPr>
        <p:spPr>
          <a:xfrm>
            <a:off x="3873500" y="4165600"/>
            <a:ext cx="76200" cy="698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385E64-A138-494A-270C-84777CE247C1}"/>
              </a:ext>
            </a:extLst>
          </p:cNvPr>
          <p:cNvSpPr txBox="1"/>
          <p:nvPr/>
        </p:nvSpPr>
        <p:spPr>
          <a:xfrm>
            <a:off x="4076700" y="43180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CBD5E1"/>
                </a:solidFill>
                <a:latin typeface="Microsoft YaHei" panose="020B0503020204020204" pitchFamily="34" charset="-122"/>
              </a:rPr>
              <a:t>学号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7BC575-1CF7-1161-188D-AF918CC36848}"/>
              </a:ext>
            </a:extLst>
          </p:cNvPr>
          <p:cNvSpPr txBox="1"/>
          <p:nvPr/>
        </p:nvSpPr>
        <p:spPr>
          <a:xfrm>
            <a:off x="4076700" y="45974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E2E8F0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C58929A-C42D-3E31-3D3F-415751BD9603}"/>
              </a:ext>
            </a:extLst>
          </p:cNvPr>
          <p:cNvSpPr/>
          <p:nvPr/>
        </p:nvSpPr>
        <p:spPr>
          <a:xfrm>
            <a:off x="6883400" y="4165600"/>
            <a:ext cx="2540000" cy="698500"/>
          </a:xfrm>
          <a:prstGeom prst="roundRect">
            <a:avLst/>
          </a:prstGeom>
          <a:solidFill>
            <a:srgbClr val="111827"/>
          </a:solidFill>
          <a:ln w="889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539B20-E337-2FC5-C40B-0B8CBBBD4DE9}"/>
              </a:ext>
            </a:extLst>
          </p:cNvPr>
          <p:cNvSpPr/>
          <p:nvPr/>
        </p:nvSpPr>
        <p:spPr>
          <a:xfrm>
            <a:off x="6883400" y="4165600"/>
            <a:ext cx="76200" cy="698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1325BE-71FB-7484-7D94-BD225AE741AE}"/>
              </a:ext>
            </a:extLst>
          </p:cNvPr>
          <p:cNvSpPr txBox="1"/>
          <p:nvPr/>
        </p:nvSpPr>
        <p:spPr>
          <a:xfrm>
            <a:off x="7086600" y="43180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 b="1">
                <a:solidFill>
                  <a:srgbClr val="CBD5E1"/>
                </a:solidFill>
                <a:latin typeface="Microsoft YaHei" panose="020B0503020204020204" pitchFamily="34" charset="-122"/>
              </a:rPr>
              <a:t>班级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C4087B-80C7-5917-C434-7803D7C45DC8}"/>
              </a:ext>
            </a:extLst>
          </p:cNvPr>
          <p:cNvSpPr txBox="1"/>
          <p:nvPr/>
        </p:nvSpPr>
        <p:spPr>
          <a:xfrm>
            <a:off x="7086600" y="4597400"/>
            <a:ext cx="203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E2E8F0"/>
                </a:solidFill>
                <a:latin typeface="Microsoft YaHei" panose="020B0503020204020204" pitchFamily="34" charset="-122"/>
              </a:rPr>
              <a:t>请填写</a:t>
            </a:r>
          </a:p>
        </p:txBody>
      </p:sp>
    </p:spTree>
    <p:extLst>
      <p:ext uri="{BB962C8B-B14F-4D97-AF65-F5344CB8AC3E}">
        <p14:creationId xmlns:p14="http://schemas.microsoft.com/office/powerpoint/2010/main" val="3861580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195336E-7239-2D31-3921-3A9684F3D9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7E36CD-95BB-D7A8-8AB1-DB310B9877A0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C9F821-B945-7181-1317-2E5CB5DFF3E4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146D3F-DFBD-94F4-0AE2-84C0FC52BB47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OVERVIEW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F3241D-3AAC-2AA9-9D64-B4BF4DDA3B1B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本实验要解决什么问题？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98FAC2F-7200-1B14-956E-D63357BB5D0D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5B214D3-36A6-A042-AA6D-0DF9E79CB1FA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C5F4F7-226C-549D-EC6E-4D27A72DAB21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CB0DA74-9214-DAE3-2F29-E2849238607F}"/>
              </a:ext>
            </a:extLst>
          </p:cNvPr>
          <p:cNvSpPr/>
          <p:nvPr/>
        </p:nvSpPr>
        <p:spPr>
          <a:xfrm>
            <a:off x="762000" y="1460500"/>
            <a:ext cx="31750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5743BC-F4D4-C91F-D464-8FC088DBB423}"/>
              </a:ext>
            </a:extLst>
          </p:cNvPr>
          <p:cNvSpPr/>
          <p:nvPr/>
        </p:nvSpPr>
        <p:spPr>
          <a:xfrm>
            <a:off x="762000" y="1460500"/>
            <a:ext cx="76200" cy="1206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769697-E69D-8D96-902A-68FC347F3995}"/>
              </a:ext>
            </a:extLst>
          </p:cNvPr>
          <p:cNvSpPr txBox="1"/>
          <p:nvPr/>
        </p:nvSpPr>
        <p:spPr>
          <a:xfrm>
            <a:off x="952500" y="15875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36D13C-3744-B988-1CEB-017F02EA5BC9}"/>
              </a:ext>
            </a:extLst>
          </p:cNvPr>
          <p:cNvSpPr txBox="1"/>
          <p:nvPr/>
        </p:nvSpPr>
        <p:spPr>
          <a:xfrm>
            <a:off x="952500" y="1892300"/>
            <a:ext cx="2870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每个样本包含身高、体重两个特征，部分测试样本带有真实性别标签。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C83D595-E4E2-F1AD-753D-7E5BFA95FBC0}"/>
              </a:ext>
            </a:extLst>
          </p:cNvPr>
          <p:cNvSpPr/>
          <p:nvPr/>
        </p:nvSpPr>
        <p:spPr>
          <a:xfrm>
            <a:off x="4508500" y="1460500"/>
            <a:ext cx="31750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C754C1-A3CA-4B0B-47DD-84997259443D}"/>
              </a:ext>
            </a:extLst>
          </p:cNvPr>
          <p:cNvSpPr/>
          <p:nvPr/>
        </p:nvSpPr>
        <p:spPr>
          <a:xfrm>
            <a:off x="4508500" y="1460500"/>
            <a:ext cx="76200" cy="1206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951E3E-FBFB-C09D-6FF7-1C4C44DE666B}"/>
              </a:ext>
            </a:extLst>
          </p:cNvPr>
          <p:cNvSpPr txBox="1"/>
          <p:nvPr/>
        </p:nvSpPr>
        <p:spPr>
          <a:xfrm>
            <a:off x="4699000" y="15875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模型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0D16DE8-17D0-8E57-3963-4BA84F209DCE}"/>
              </a:ext>
            </a:extLst>
          </p:cNvPr>
          <p:cNvSpPr txBox="1"/>
          <p:nvPr/>
        </p:nvSpPr>
        <p:spPr>
          <a:xfrm>
            <a:off x="4699000" y="1892300"/>
            <a:ext cx="2870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在正态分布假设下建立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分类器，并比较不同特征、先验和风险设置。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68DAD8D-2E3D-393F-DDAE-124AC147E157}"/>
              </a:ext>
            </a:extLst>
          </p:cNvPr>
          <p:cNvSpPr/>
          <p:nvPr/>
        </p:nvSpPr>
        <p:spPr>
          <a:xfrm>
            <a:off x="8255000" y="1460500"/>
            <a:ext cx="29210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755351-390E-62DD-2BF0-8BC2FCCBB0C8}"/>
              </a:ext>
            </a:extLst>
          </p:cNvPr>
          <p:cNvSpPr/>
          <p:nvPr/>
        </p:nvSpPr>
        <p:spPr>
          <a:xfrm>
            <a:off x="8255000" y="1460500"/>
            <a:ext cx="76200" cy="1206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8A1B64-FBBF-7BDF-2B85-879ECB936562}"/>
              </a:ext>
            </a:extLst>
          </p:cNvPr>
          <p:cNvSpPr txBox="1"/>
          <p:nvPr/>
        </p:nvSpPr>
        <p:spPr>
          <a:xfrm>
            <a:off x="8445500" y="15875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输出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55F193-3A55-C1B7-2E8E-1121DE6FFFEE}"/>
              </a:ext>
            </a:extLst>
          </p:cNvPr>
          <p:cNvSpPr txBox="1"/>
          <p:nvPr/>
        </p:nvSpPr>
        <p:spPr>
          <a:xfrm>
            <a:off x="8445500" y="1892300"/>
            <a:ext cx="2616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预测性别，并用准确率、召回率、混淆矩阵等指标评价分类效果。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CCC1460-70DC-F4B6-6AEF-FF77D2E7D525}"/>
              </a:ext>
            </a:extLst>
          </p:cNvPr>
          <p:cNvSpPr/>
          <p:nvPr/>
        </p:nvSpPr>
        <p:spPr>
          <a:xfrm>
            <a:off x="1206500" y="3619500"/>
            <a:ext cx="9779000" cy="1143000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FE8C8D-C779-705F-5DBB-5D3E9CBD8E65}"/>
              </a:ext>
            </a:extLst>
          </p:cNvPr>
          <p:cNvSpPr txBox="1"/>
          <p:nvPr/>
        </p:nvSpPr>
        <p:spPr>
          <a:xfrm>
            <a:off x="1524000" y="40386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核心问题：如何根据身高</a:t>
            </a:r>
            <a:r>
              <a:rPr lang="en-US" altLang="zh-CN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体重特征 </a:t>
            </a:r>
            <a:r>
              <a:rPr lang="en-US" altLang="zh-CN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，判断样本属于女生 </a:t>
            </a:r>
            <a:r>
              <a:rPr lang="en-US" altLang="zh-CN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F </a:t>
            </a:r>
            <a:r>
              <a:rPr lang="zh-CN" altLang="en-US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还是男生 </a:t>
            </a:r>
            <a:r>
              <a:rPr lang="en-US" altLang="zh-CN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M</a:t>
            </a:r>
            <a:r>
              <a:rPr lang="zh-CN" altLang="en-US" sz="1600" b="1">
                <a:solidFill>
                  <a:srgbClr val="0F766E"/>
                </a:solidFill>
                <a:latin typeface="Microsoft YaHei" panose="020B0503020204020204" pitchFamily="34" charset="-122"/>
              </a:rPr>
              <a:t>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DEAB2B7-67AC-535A-BD33-1AAC36BB336C}"/>
              </a:ext>
            </a:extLst>
          </p:cNvPr>
          <p:cNvSpPr txBox="1"/>
          <p:nvPr/>
        </p:nvSpPr>
        <p:spPr>
          <a:xfrm>
            <a:off x="1143000" y="5334000"/>
            <a:ext cx="9652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这是典型的两类模式分类问题。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课程知识点包括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决策、参数估计、先验概率、风险函数和非参数估计。</a:t>
            </a:r>
          </a:p>
        </p:txBody>
      </p:sp>
    </p:spTree>
    <p:extLst>
      <p:ext uri="{BB962C8B-B14F-4D97-AF65-F5344CB8AC3E}">
        <p14:creationId xmlns:p14="http://schemas.microsoft.com/office/powerpoint/2010/main" val="618198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6356128-7DAF-5ED0-CB6F-244D9C5EFB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26C43A-E959-3C38-3D8A-5E3A6AFF1895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15C16A-567F-E920-C81A-5BD85FA34B72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43C788-4852-049A-C731-2B0A36603A6B}"/>
              </a:ext>
            </a:extLst>
          </p:cNvPr>
          <p:cNvSpPr txBox="1"/>
          <p:nvPr/>
        </p:nvSpPr>
        <p:spPr>
          <a:xfrm>
            <a:off x="736600" y="1041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59E0B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2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13E205-6C93-AA6D-84A9-15F9625987AF}"/>
              </a:ext>
            </a:extLst>
          </p:cNvPr>
          <p:cNvSpPr txBox="1"/>
          <p:nvPr/>
        </p:nvSpPr>
        <p:spPr>
          <a:xfrm>
            <a:off x="736600" y="1905000"/>
            <a:ext cx="9652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100" b="1">
                <a:solidFill>
                  <a:srgbClr val="FFFFFF"/>
                </a:solidFill>
                <a:latin typeface="Microsoft YaHei" panose="020B0503020204020204" pitchFamily="34" charset="-122"/>
              </a:rPr>
              <a:t>理论原理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0860B6-A34B-62ED-930C-427E7176AE3A}"/>
              </a:ext>
            </a:extLst>
          </p:cNvPr>
          <p:cNvSpPr txBox="1"/>
          <p:nvPr/>
        </p:nvSpPr>
        <p:spPr>
          <a:xfrm>
            <a:off x="787400" y="28575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400">
                <a:solidFill>
                  <a:srgbClr val="CBD5E1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决策到高斯判别函数、风险决策与非参数估计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93696CA-B73D-757C-0258-1E9EF1B618E5}"/>
              </a:ext>
            </a:extLst>
          </p:cNvPr>
          <p:cNvCxnSpPr/>
          <p:nvPr/>
        </p:nvCxnSpPr>
        <p:spPr>
          <a:xfrm>
            <a:off x="787400" y="3708400"/>
            <a:ext cx="25146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68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CC9FB6-CE59-1264-EC55-B139E2BDA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4FD621-D042-80C5-0CAF-A6CA6B5072AA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8B350A-D987-B5A5-A0A7-F74655405873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2D87BF-C1E7-BA36-BA79-9E576D455B1D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34A0E5-981D-021F-53F4-00BB6E85F813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决策：从先验到后验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C29B1F-58B4-21D8-F376-DC11D447AB1C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F98639B-19CD-A4C5-82E3-10098146A000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AFE6F9-CB1D-FF76-8E83-92D4012E8F67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34EB962-26DB-3EAA-1885-BD10A69545D7}"/>
              </a:ext>
            </a:extLst>
          </p:cNvPr>
          <p:cNvSpPr/>
          <p:nvPr/>
        </p:nvSpPr>
        <p:spPr>
          <a:xfrm>
            <a:off x="762000" y="1422400"/>
            <a:ext cx="317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BEFE34-D2DF-9FD4-EB16-18C042B4A5E9}"/>
              </a:ext>
            </a:extLst>
          </p:cNvPr>
          <p:cNvSpPr/>
          <p:nvPr/>
        </p:nvSpPr>
        <p:spPr>
          <a:xfrm>
            <a:off x="762000" y="14224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4F677D-F638-76E2-BE54-205A4E599884}"/>
              </a:ext>
            </a:extLst>
          </p:cNvPr>
          <p:cNvSpPr txBox="1"/>
          <p:nvPr/>
        </p:nvSpPr>
        <p:spPr>
          <a:xfrm>
            <a:off x="952500" y="15494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先验概率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P(</a:t>
            </a:r>
            <a:r>
              <a:rPr lang="el-GR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CED7D5-D2A4-4442-BD4A-B48C87152D09}"/>
              </a:ext>
            </a:extLst>
          </p:cNvPr>
          <p:cNvSpPr txBox="1"/>
          <p:nvPr/>
        </p:nvSpPr>
        <p:spPr>
          <a:xfrm>
            <a:off x="952500" y="18542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观察样本前对类别出现概率的估计，例如男女先验相等。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C0C8419-1A4E-B18C-CA8D-F5957869A9CF}"/>
              </a:ext>
            </a:extLst>
          </p:cNvPr>
          <p:cNvSpPr/>
          <p:nvPr/>
        </p:nvSpPr>
        <p:spPr>
          <a:xfrm>
            <a:off x="4508500" y="1422400"/>
            <a:ext cx="317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CDA25D-9953-CFC2-C221-8E0B6A530917}"/>
              </a:ext>
            </a:extLst>
          </p:cNvPr>
          <p:cNvSpPr/>
          <p:nvPr/>
        </p:nvSpPr>
        <p:spPr>
          <a:xfrm>
            <a:off x="4508500" y="14224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923F73-829D-676C-C729-C8CA18B66311}"/>
              </a:ext>
            </a:extLst>
          </p:cNvPr>
          <p:cNvSpPr txBox="1"/>
          <p:nvPr/>
        </p:nvSpPr>
        <p:spPr>
          <a:xfrm>
            <a:off x="4699000" y="15494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类条件密度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p(x|</a:t>
            </a:r>
            <a:r>
              <a:rPr lang="el-GR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A804F3C-D6E0-EF46-7E2C-278E21A01C06}"/>
              </a:ext>
            </a:extLst>
          </p:cNvPr>
          <p:cNvSpPr txBox="1"/>
          <p:nvPr/>
        </p:nvSpPr>
        <p:spPr>
          <a:xfrm>
            <a:off x="4699000" y="18542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给定类别后，身高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体重特征出现的概率密度。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81CA784-7B7A-374D-04CA-EEC236E38568}"/>
              </a:ext>
            </a:extLst>
          </p:cNvPr>
          <p:cNvSpPr/>
          <p:nvPr/>
        </p:nvSpPr>
        <p:spPr>
          <a:xfrm>
            <a:off x="8255000" y="14224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EA4B7C-7E20-E359-8D82-BEED6ABE8B4F}"/>
              </a:ext>
            </a:extLst>
          </p:cNvPr>
          <p:cNvSpPr/>
          <p:nvPr/>
        </p:nvSpPr>
        <p:spPr>
          <a:xfrm>
            <a:off x="8255000" y="1422400"/>
            <a:ext cx="76200" cy="1143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2FDD06-FE77-93AA-8CB0-BA3271A716A2}"/>
              </a:ext>
            </a:extLst>
          </p:cNvPr>
          <p:cNvSpPr txBox="1"/>
          <p:nvPr/>
        </p:nvSpPr>
        <p:spPr>
          <a:xfrm>
            <a:off x="8445500" y="15494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后验概率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P(</a:t>
            </a:r>
            <a:r>
              <a:rPr lang="el-GR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i|x)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B4E166-2391-3A0E-DB9F-D7CA1DE7CAD7}"/>
              </a:ext>
            </a:extLst>
          </p:cNvPr>
          <p:cNvSpPr txBox="1"/>
          <p:nvPr/>
        </p:nvSpPr>
        <p:spPr>
          <a:xfrm>
            <a:off x="8445500" y="18542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观察到特征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后，样本属于某类别的概率。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AE4ABCA-A50F-DB36-6A53-78FA98492195}"/>
              </a:ext>
            </a:extLst>
          </p:cNvPr>
          <p:cNvSpPr/>
          <p:nvPr/>
        </p:nvSpPr>
        <p:spPr>
          <a:xfrm>
            <a:off x="1143000" y="3302000"/>
            <a:ext cx="9906000" cy="863600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4088D8-D75C-26E7-FE1E-46449BF3FE11}"/>
              </a:ext>
            </a:extLst>
          </p:cNvPr>
          <p:cNvSpPr txBox="1"/>
          <p:nvPr/>
        </p:nvSpPr>
        <p:spPr>
          <a:xfrm>
            <a:off x="1524000" y="3606800"/>
            <a:ext cx="914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sz="1700" b="1">
                <a:solidFill>
                  <a:srgbClr val="0F766E"/>
                </a:solidFill>
                <a:latin typeface="Microsoft YaHei" panose="020B0503020204020204" pitchFamily="34" charset="-122"/>
              </a:rPr>
              <a:t>ω* = </a:t>
            </a:r>
            <a:r>
              <a:rPr lang="en-US" altLang="zh-CN" sz="1700" b="1">
                <a:solidFill>
                  <a:srgbClr val="0F766E"/>
                </a:solidFill>
                <a:latin typeface="Microsoft YaHei" panose="020B0503020204020204" pitchFamily="34" charset="-122"/>
              </a:rPr>
              <a:t>argmax P(</a:t>
            </a:r>
            <a:r>
              <a:rPr lang="el-GR" altLang="zh-CN" sz="1700" b="1">
                <a:solidFill>
                  <a:srgbClr val="0F766E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700" b="1">
                <a:solidFill>
                  <a:srgbClr val="0F766E"/>
                </a:solidFill>
                <a:latin typeface="Microsoft YaHei" panose="020B0503020204020204" pitchFamily="34" charset="-122"/>
              </a:rPr>
              <a:t>i|x) = argmax p(x|</a:t>
            </a:r>
            <a:r>
              <a:rPr lang="el-GR" altLang="zh-CN" sz="1700" b="1">
                <a:solidFill>
                  <a:srgbClr val="0F766E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700" b="1">
                <a:solidFill>
                  <a:srgbClr val="0F766E"/>
                </a:solidFill>
                <a:latin typeface="Microsoft YaHei" panose="020B0503020204020204" pitchFamily="34" charset="-122"/>
              </a:rPr>
              <a:t>i)P(</a:t>
            </a:r>
            <a:r>
              <a:rPr lang="el-GR" altLang="zh-CN" sz="1700" b="1">
                <a:solidFill>
                  <a:srgbClr val="0F766E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700" b="1">
                <a:solidFill>
                  <a:srgbClr val="0F766E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6A0B645-C754-3586-D8EC-FA9E86165327}"/>
              </a:ext>
            </a:extLst>
          </p:cNvPr>
          <p:cNvSpPr txBox="1"/>
          <p:nvPr/>
        </p:nvSpPr>
        <p:spPr>
          <a:xfrm>
            <a:off x="1143000" y="4927600"/>
            <a:ext cx="9652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p(x)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对所有类别相同，因此分类时只比较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p(x|ωi)P(ωi)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分类器本质上是在概率意义下选择最可能的类别。</a:t>
            </a:r>
          </a:p>
        </p:txBody>
      </p:sp>
    </p:spTree>
    <p:extLst>
      <p:ext uri="{BB962C8B-B14F-4D97-AF65-F5344CB8AC3E}">
        <p14:creationId xmlns:p14="http://schemas.microsoft.com/office/powerpoint/2010/main" val="194245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76635A4-86CF-AD49-CB1C-31066165C8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7658EA-2A25-0631-E175-A2D6830E9443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67EA48-1DA0-67CE-53EE-2CA4E3CD3C63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4786A3-EA7E-1EC0-0ACC-FF3F8FB0C5FD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7BF8DF-A8F3-5E8D-0716-C745FF457F55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正态分布假设与参数估计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63411D3-AAB5-9D4B-9036-ADCC5F4A8636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089F9EA-3C93-88BF-B11B-85BE446B7970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2C0898-49E9-5830-4495-7E63633F4B4E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3AB22B7-66B1-C249-76FB-5855F8929787}"/>
              </a:ext>
            </a:extLst>
          </p:cNvPr>
          <p:cNvSpPr/>
          <p:nvPr/>
        </p:nvSpPr>
        <p:spPr>
          <a:xfrm>
            <a:off x="736600" y="1397000"/>
            <a:ext cx="33020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BF23BB-3428-F311-A5E1-3235381B48A3}"/>
              </a:ext>
            </a:extLst>
          </p:cNvPr>
          <p:cNvSpPr/>
          <p:nvPr/>
        </p:nvSpPr>
        <p:spPr>
          <a:xfrm>
            <a:off x="736600" y="1397000"/>
            <a:ext cx="76200" cy="1270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6D2DBB-3B8F-1D30-6475-0B4F769539AC}"/>
              </a:ext>
            </a:extLst>
          </p:cNvPr>
          <p:cNvSpPr txBox="1"/>
          <p:nvPr/>
        </p:nvSpPr>
        <p:spPr>
          <a:xfrm>
            <a:off x="927100" y="15240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一维特征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23E85AA-78C4-8970-C9C6-29AAB74F6117}"/>
              </a:ext>
            </a:extLst>
          </p:cNvPr>
          <p:cNvSpPr txBox="1"/>
          <p:nvPr/>
        </p:nvSpPr>
        <p:spPr>
          <a:xfrm>
            <a:off x="927100" y="18288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只使用身高或体重时，假设每类服从一维正态分布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N(μi, σi²)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AEC8336-37BB-611D-7753-7C73DE796CE8}"/>
              </a:ext>
            </a:extLst>
          </p:cNvPr>
          <p:cNvSpPr/>
          <p:nvPr/>
        </p:nvSpPr>
        <p:spPr>
          <a:xfrm>
            <a:off x="4445000" y="1397000"/>
            <a:ext cx="33020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14700C-FC95-6203-3E23-1C7599C35234}"/>
              </a:ext>
            </a:extLst>
          </p:cNvPr>
          <p:cNvSpPr/>
          <p:nvPr/>
        </p:nvSpPr>
        <p:spPr>
          <a:xfrm>
            <a:off x="4445000" y="1397000"/>
            <a:ext cx="76200" cy="1270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477AD8-DAB8-B4E4-7AFC-BD083B03F25A}"/>
              </a:ext>
            </a:extLst>
          </p:cNvPr>
          <p:cNvSpPr txBox="1"/>
          <p:nvPr/>
        </p:nvSpPr>
        <p:spPr>
          <a:xfrm>
            <a:off x="4635500" y="15240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二维特征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3A0F8F-AB65-CE71-D3F7-24787B913132}"/>
              </a:ext>
            </a:extLst>
          </p:cNvPr>
          <p:cNvSpPr txBox="1"/>
          <p:nvPr/>
        </p:nvSpPr>
        <p:spPr>
          <a:xfrm>
            <a:off x="4635500" y="18288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同时使用身高和体重时，假设每类服从二维高斯分布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N(μi, Σi)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6578F34-2BFA-F502-C328-AD2802D2DE4B}"/>
              </a:ext>
            </a:extLst>
          </p:cNvPr>
          <p:cNvSpPr/>
          <p:nvPr/>
        </p:nvSpPr>
        <p:spPr>
          <a:xfrm>
            <a:off x="8153400" y="1397000"/>
            <a:ext cx="29210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2B26F5-883D-69F8-BE60-5A350D179861}"/>
              </a:ext>
            </a:extLst>
          </p:cNvPr>
          <p:cNvSpPr/>
          <p:nvPr/>
        </p:nvSpPr>
        <p:spPr>
          <a:xfrm>
            <a:off x="8153400" y="1397000"/>
            <a:ext cx="76200" cy="1270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25D8139-6F5F-7E46-8EFC-C031F878415C}"/>
              </a:ext>
            </a:extLst>
          </p:cNvPr>
          <p:cNvSpPr txBox="1"/>
          <p:nvPr/>
        </p:nvSpPr>
        <p:spPr>
          <a:xfrm>
            <a:off x="8343900" y="15240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最大似然估计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4F1915-F852-5B5F-5694-7361C3A7E8F4}"/>
              </a:ext>
            </a:extLst>
          </p:cNvPr>
          <p:cNvSpPr txBox="1"/>
          <p:nvPr/>
        </p:nvSpPr>
        <p:spPr>
          <a:xfrm>
            <a:off x="8343900" y="18288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用训练样本估计每个类别的均值、方差或协方差矩阵。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CDF596D-7539-D058-E5B6-C02D25E42026}"/>
              </a:ext>
            </a:extLst>
          </p:cNvPr>
          <p:cNvSpPr/>
          <p:nvPr/>
        </p:nvSpPr>
        <p:spPr>
          <a:xfrm>
            <a:off x="889000" y="3556000"/>
            <a:ext cx="5016500" cy="11430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649A668-7DCB-8EA4-7164-654361FCCB90}"/>
              </a:ext>
            </a:extLst>
          </p:cNvPr>
          <p:cNvSpPr txBox="1"/>
          <p:nvPr/>
        </p:nvSpPr>
        <p:spPr>
          <a:xfrm>
            <a:off x="1206500" y="3873500"/>
            <a:ext cx="444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l-GR" altLang="zh-CN" sz="1500" b="1">
                <a:solidFill>
                  <a:srgbClr val="1D4ED8"/>
                </a:solidFill>
                <a:latin typeface="Microsoft YaHei" panose="020B0503020204020204" pitchFamily="34" charset="-122"/>
              </a:rPr>
              <a:t>μi = (1/Ni) Σ xk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102AA2-5AC2-A14B-2D87-6E28BEBB7B91}"/>
              </a:ext>
            </a:extLst>
          </p:cNvPr>
          <p:cNvSpPr txBox="1"/>
          <p:nvPr/>
        </p:nvSpPr>
        <p:spPr>
          <a:xfrm>
            <a:off x="1206500" y="4254500"/>
            <a:ext cx="444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altLang="zh-CN" sz="1500" b="1">
                <a:solidFill>
                  <a:srgbClr val="1D4ED8"/>
                </a:solidFill>
                <a:latin typeface="Microsoft YaHei" panose="020B0503020204020204" pitchFamily="34" charset="-122"/>
              </a:rPr>
              <a:t>Σi = (1/Ni) Σ (xk-μi)(xk-μi)^T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EC80C10-1E3A-4724-88D5-B0F05F076172}"/>
              </a:ext>
            </a:extLst>
          </p:cNvPr>
          <p:cNvSpPr/>
          <p:nvPr/>
        </p:nvSpPr>
        <p:spPr>
          <a:xfrm>
            <a:off x="6350000" y="3556000"/>
            <a:ext cx="4445000" cy="1143000"/>
          </a:xfrm>
          <a:prstGeom prst="roundRect">
            <a:avLst/>
          </a:prstGeom>
          <a:solidFill>
            <a:srgbClr val="FFFBEB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8549625-ECE0-F642-3467-83980E646E33}"/>
              </a:ext>
            </a:extLst>
          </p:cNvPr>
          <p:cNvSpPr txBox="1"/>
          <p:nvPr/>
        </p:nvSpPr>
        <p:spPr>
          <a:xfrm>
            <a:off x="6667500" y="3937000"/>
            <a:ext cx="3810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100" b="1">
                <a:solidFill>
                  <a:srgbClr val="92400E"/>
                </a:solidFill>
                <a:latin typeface="Microsoft YaHei" panose="020B0503020204020204" pitchFamily="34" charset="-122"/>
              </a:rPr>
              <a:t>本实验估计的是女生和男生各自的分布参数，然后构造分类边界。</a:t>
            </a:r>
          </a:p>
        </p:txBody>
      </p:sp>
    </p:spTree>
    <p:extLst>
      <p:ext uri="{BB962C8B-B14F-4D97-AF65-F5344CB8AC3E}">
        <p14:creationId xmlns:p14="http://schemas.microsoft.com/office/powerpoint/2010/main" val="298336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75624D-28C2-D6DB-185C-F2C10AE365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D60D6D-C9FB-9959-F631-1CA0F70F7888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45B40A-B784-331A-FC15-47E4A7FC8926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00FFA8-0DD8-B073-D81B-0CCD5E03650E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B127DE-BB12-A1D2-870E-618F7C3155F1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二维高斯 </a:t>
            </a:r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判别函数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C1B3A9D-9A71-30A1-5F77-5BE132A16050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A6A67A7-32F4-F698-45C4-C5BBBEA4E1BD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42EF8F-6131-3587-3332-7A04C993425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707F713-603F-92F8-75B7-7FEA5663A60A}"/>
              </a:ext>
            </a:extLst>
          </p:cNvPr>
          <p:cNvSpPr/>
          <p:nvPr/>
        </p:nvSpPr>
        <p:spPr>
          <a:xfrm>
            <a:off x="889000" y="1460500"/>
            <a:ext cx="10414000" cy="1333500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E5BAD3-7E41-76F1-1738-D085F9636D0C}"/>
              </a:ext>
            </a:extLst>
          </p:cNvPr>
          <p:cNvSpPr txBox="1"/>
          <p:nvPr/>
        </p:nvSpPr>
        <p:spPr>
          <a:xfrm>
            <a:off x="1206500" y="1905000"/>
            <a:ext cx="9779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gi(x) = -1/2 ln|</a:t>
            </a:r>
            <a:r>
              <a:rPr lang="el-GR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i| - 1/2(x-</a:t>
            </a:r>
            <a:r>
              <a:rPr lang="el-GR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i)^T</a:t>
            </a:r>
            <a:r>
              <a:rPr lang="el-GR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i⁻¹(x-</a:t>
            </a:r>
            <a:r>
              <a:rPr lang="el-GR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i) + ln P(</a:t>
            </a:r>
            <a:r>
              <a:rPr lang="el-GR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500" b="1">
                <a:solidFill>
                  <a:srgbClr val="0F766E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5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D535AB3-4417-6BA5-C278-B40CB67056D0}"/>
              </a:ext>
            </a:extLst>
          </p:cNvPr>
          <p:cNvSpPr/>
          <p:nvPr/>
        </p:nvSpPr>
        <p:spPr>
          <a:xfrm>
            <a:off x="1143000" y="3492500"/>
            <a:ext cx="2984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FA613B-C35F-E209-7FF6-05E84D3006B2}"/>
              </a:ext>
            </a:extLst>
          </p:cNvPr>
          <p:cNvSpPr/>
          <p:nvPr/>
        </p:nvSpPr>
        <p:spPr>
          <a:xfrm>
            <a:off x="1143000" y="34925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1D03927-97B3-0322-6B41-B6DB929DD337}"/>
              </a:ext>
            </a:extLst>
          </p:cNvPr>
          <p:cNvSpPr txBox="1"/>
          <p:nvPr/>
        </p:nvSpPr>
        <p:spPr>
          <a:xfrm>
            <a:off x="1333500" y="3619500"/>
            <a:ext cx="2679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均值项 </a:t>
            </a:r>
            <a:r>
              <a:rPr lang="el-GR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μ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i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9EB6E9-3464-258E-18E0-D567FCE0AC68}"/>
              </a:ext>
            </a:extLst>
          </p:cNvPr>
          <p:cNvSpPr txBox="1"/>
          <p:nvPr/>
        </p:nvSpPr>
        <p:spPr>
          <a:xfrm>
            <a:off x="1333500" y="3924300"/>
            <a:ext cx="2679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决定类别中心位置。男生均值整体高于女生均值。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DD61352-3F20-0EE3-C1EF-C0253EEAA056}"/>
              </a:ext>
            </a:extLst>
          </p:cNvPr>
          <p:cNvSpPr/>
          <p:nvPr/>
        </p:nvSpPr>
        <p:spPr>
          <a:xfrm>
            <a:off x="4635500" y="3492500"/>
            <a:ext cx="2984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15271C-5381-D0E1-EEB0-24A497C5C26B}"/>
              </a:ext>
            </a:extLst>
          </p:cNvPr>
          <p:cNvSpPr/>
          <p:nvPr/>
        </p:nvSpPr>
        <p:spPr>
          <a:xfrm>
            <a:off x="4635500" y="34925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7BB24D-BE02-B504-FAED-B9D9CE27FDE4}"/>
              </a:ext>
            </a:extLst>
          </p:cNvPr>
          <p:cNvSpPr txBox="1"/>
          <p:nvPr/>
        </p:nvSpPr>
        <p:spPr>
          <a:xfrm>
            <a:off x="4826000" y="3619500"/>
            <a:ext cx="2679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协方差 </a:t>
            </a:r>
            <a:r>
              <a:rPr lang="el-GR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i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029DF23-C39C-0801-5AFD-76E653C69510}"/>
              </a:ext>
            </a:extLst>
          </p:cNvPr>
          <p:cNvSpPr txBox="1"/>
          <p:nvPr/>
        </p:nvSpPr>
        <p:spPr>
          <a:xfrm>
            <a:off x="4826000" y="3924300"/>
            <a:ext cx="2679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决定类别分布形状和身高体重是否相关。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1225B42-6B4C-A84B-1DC2-89BA6FF495ED}"/>
              </a:ext>
            </a:extLst>
          </p:cNvPr>
          <p:cNvSpPr/>
          <p:nvPr/>
        </p:nvSpPr>
        <p:spPr>
          <a:xfrm>
            <a:off x="8128000" y="3492500"/>
            <a:ext cx="2730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428212-3777-AFAE-2FEC-05DA644962AB}"/>
              </a:ext>
            </a:extLst>
          </p:cNvPr>
          <p:cNvSpPr/>
          <p:nvPr/>
        </p:nvSpPr>
        <p:spPr>
          <a:xfrm>
            <a:off x="8128000" y="3492500"/>
            <a:ext cx="76200" cy="1143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B9A87B-94A7-5640-5A45-77CA5149AA63}"/>
              </a:ext>
            </a:extLst>
          </p:cNvPr>
          <p:cNvSpPr txBox="1"/>
          <p:nvPr/>
        </p:nvSpPr>
        <p:spPr>
          <a:xfrm>
            <a:off x="8318500" y="3619500"/>
            <a:ext cx="24257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先验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P(</a:t>
            </a:r>
            <a:r>
              <a:rPr lang="el-GR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i)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24606A-3884-08C2-1740-B984EAA3D409}"/>
              </a:ext>
            </a:extLst>
          </p:cNvPr>
          <p:cNvSpPr txBox="1"/>
          <p:nvPr/>
        </p:nvSpPr>
        <p:spPr>
          <a:xfrm>
            <a:off x="8318500" y="3924300"/>
            <a:ext cx="2425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决定分类边界向哪个类别偏移。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065763-D628-F6B8-EF28-0B835ED2AF3C}"/>
              </a:ext>
            </a:extLst>
          </p:cNvPr>
          <p:cNvSpPr txBox="1"/>
          <p:nvPr/>
        </p:nvSpPr>
        <p:spPr>
          <a:xfrm>
            <a:off x="1524000" y="5334000"/>
            <a:ext cx="914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0B1220"/>
                </a:solidFill>
                <a:latin typeface="Microsoft YaHei" panose="020B0503020204020204" pitchFamily="34" charset="-122"/>
              </a:rPr>
              <a:t>决策规则：若 </a:t>
            </a:r>
            <a:r>
              <a:rPr lang="en-US" altLang="zh-CN" sz="1300" b="1">
                <a:solidFill>
                  <a:srgbClr val="0B1220"/>
                </a:solidFill>
                <a:latin typeface="Microsoft YaHei" panose="020B0503020204020204" pitchFamily="34" charset="-122"/>
              </a:rPr>
              <a:t>gF(x) ≥ gM(x)</a:t>
            </a:r>
            <a:r>
              <a:rPr lang="zh-CN" altLang="en-US" sz="1300" b="1">
                <a:solidFill>
                  <a:srgbClr val="0B1220"/>
                </a:solidFill>
                <a:latin typeface="Microsoft YaHei" panose="020B0503020204020204" pitchFamily="34" charset="-122"/>
              </a:rPr>
              <a:t>，判为女生；否则判为男生。</a:t>
            </a:r>
          </a:p>
        </p:txBody>
      </p:sp>
    </p:spTree>
    <p:extLst>
      <p:ext uri="{BB962C8B-B14F-4D97-AF65-F5344CB8AC3E}">
        <p14:creationId xmlns:p14="http://schemas.microsoft.com/office/powerpoint/2010/main" val="70131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2F4261-D083-BCD7-2AFC-D4717077AC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91FFE4-42A8-8243-7C42-3D7446323FB4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53D759-CB57-40AB-1631-0C74262F5173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1E719B-876C-D0E7-FAC6-CBD2EDBFF502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3E82CD-2585-77E8-4B74-B42BD1071AF7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完整协方差与对角协方差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1A532CE-789B-E78C-A0C5-5DAE889DEC64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BDAE817-13AE-00E8-500D-8AE1E052D103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F54FF7-515E-AB10-6EE9-B28203FE80A9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FF45DB6-3AE9-F3C4-84C2-83B0B5815259}"/>
              </a:ext>
            </a:extLst>
          </p:cNvPr>
          <p:cNvSpPr/>
          <p:nvPr/>
        </p:nvSpPr>
        <p:spPr>
          <a:xfrm>
            <a:off x="889000" y="1422400"/>
            <a:ext cx="4572000" cy="1460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0451D-7A32-C868-DE7C-6D89F7C74DAA}"/>
              </a:ext>
            </a:extLst>
          </p:cNvPr>
          <p:cNvSpPr/>
          <p:nvPr/>
        </p:nvSpPr>
        <p:spPr>
          <a:xfrm>
            <a:off x="889000" y="1422400"/>
            <a:ext cx="76200" cy="1460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C97D68-9231-D35C-3F4F-5D3226346525}"/>
              </a:ext>
            </a:extLst>
          </p:cNvPr>
          <p:cNvSpPr txBox="1"/>
          <p:nvPr/>
        </p:nvSpPr>
        <p:spPr>
          <a:xfrm>
            <a:off x="1079500" y="15494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完整协方差假设：相关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1F4BFA-F285-7BE6-D0AB-431CF727E4A3}"/>
              </a:ext>
            </a:extLst>
          </p:cNvPr>
          <p:cNvSpPr txBox="1"/>
          <p:nvPr/>
        </p:nvSpPr>
        <p:spPr>
          <a:xfrm>
            <a:off x="1079500" y="18542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保留协方差矩阵中的非对角元素，表示身高和体重之间可能有关联。判别边界通常更灵活。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5B88D48-3788-71FD-AB53-BF0C0E206BE8}"/>
              </a:ext>
            </a:extLst>
          </p:cNvPr>
          <p:cNvSpPr/>
          <p:nvPr/>
        </p:nvSpPr>
        <p:spPr>
          <a:xfrm>
            <a:off x="6731000" y="1422400"/>
            <a:ext cx="4191000" cy="1460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41D3D0-8439-A9C5-111F-0414AD857E07}"/>
              </a:ext>
            </a:extLst>
          </p:cNvPr>
          <p:cNvSpPr/>
          <p:nvPr/>
        </p:nvSpPr>
        <p:spPr>
          <a:xfrm>
            <a:off x="6731000" y="1422400"/>
            <a:ext cx="76200" cy="1460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74B5A3-0B71-AFEA-4D5C-8B49B1A9FB5E}"/>
              </a:ext>
            </a:extLst>
          </p:cNvPr>
          <p:cNvSpPr txBox="1"/>
          <p:nvPr/>
        </p:nvSpPr>
        <p:spPr>
          <a:xfrm>
            <a:off x="6921500" y="1549400"/>
            <a:ext cx="388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对角协方差假设：不相关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D67B40-90E4-90F6-2CF7-37D1FB24B384}"/>
              </a:ext>
            </a:extLst>
          </p:cNvPr>
          <p:cNvSpPr txBox="1"/>
          <p:nvPr/>
        </p:nvSpPr>
        <p:spPr>
          <a:xfrm>
            <a:off x="6921500" y="1854200"/>
            <a:ext cx="388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只保留方差项，忽略身高和体重之间的相关性。参数更少，估计更稳定。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5D3F01D-BCC6-31F7-DF95-976EC156A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252762"/>
              </p:ext>
            </p:extLst>
          </p:nvPr>
        </p:nvGraphicFramePr>
        <p:xfrm>
          <a:off x="1625600" y="3619500"/>
          <a:ext cx="894080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0267">
                  <a:extLst>
                    <a:ext uri="{9D8B030D-6E8A-4147-A177-3AD203B41FA5}">
                      <a16:colId xmlns:a16="http://schemas.microsoft.com/office/drawing/2014/main" val="3777288306"/>
                    </a:ext>
                  </a:extLst>
                </a:gridCol>
                <a:gridCol w="2980267">
                  <a:extLst>
                    <a:ext uri="{9D8B030D-6E8A-4147-A177-3AD203B41FA5}">
                      <a16:colId xmlns:a16="http://schemas.microsoft.com/office/drawing/2014/main" val="2151923269"/>
                    </a:ext>
                  </a:extLst>
                </a:gridCol>
                <a:gridCol w="2980267">
                  <a:extLst>
                    <a:ext uri="{9D8B030D-6E8A-4147-A177-3AD203B41FA5}">
                      <a16:colId xmlns:a16="http://schemas.microsoft.com/office/drawing/2014/main" val="129656009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比较项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969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参数数量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更多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更少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29046224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表达能力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更强，可表达相关性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较弱，假设特征独立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7108103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小样本稳定性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可能受估计方差影响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通常更稳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75658842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608D4F70-6C2A-2679-43B4-035FABDDB230}"/>
              </a:ext>
            </a:extLst>
          </p:cNvPr>
          <p:cNvSpPr txBox="1"/>
          <p:nvPr/>
        </p:nvSpPr>
        <p:spPr>
          <a:xfrm>
            <a:off x="1778000" y="5689600"/>
            <a:ext cx="8636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实验中两种假设都要比较，不能只凭理论复杂度判断好坏。</a:t>
            </a:r>
          </a:p>
        </p:txBody>
      </p:sp>
    </p:spTree>
    <p:extLst>
      <p:ext uri="{BB962C8B-B14F-4D97-AF65-F5344CB8AC3E}">
        <p14:creationId xmlns:p14="http://schemas.microsoft.com/office/powerpoint/2010/main" val="3543784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2A9601-2713-35C8-0718-8349E36648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0C0BE7-89E6-FADF-E8E5-D0CC056AC04D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B084B4-35BD-4A20-6116-62030F29DF76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15D289-B441-D151-7BC1-F1C9F8C0843E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8EE058-2C3D-0046-29D6-3A8FFAD4CE2B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先验概率与决策边界偏移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DFB6219-E568-C3DB-FF68-4DF961334429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F61DFFA-EBE9-2074-E63B-ADCA1FADCF5C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F75A92-3B11-A3FC-885D-668067E8332F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D1880C3-266D-C306-2CC1-E2BC60B253E2}"/>
              </a:ext>
            </a:extLst>
          </p:cNvPr>
          <p:cNvSpPr/>
          <p:nvPr/>
        </p:nvSpPr>
        <p:spPr>
          <a:xfrm>
            <a:off x="889000" y="1422400"/>
            <a:ext cx="31750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2EC902-F130-9A9F-A94A-3F1AFFA0DE89}"/>
              </a:ext>
            </a:extLst>
          </p:cNvPr>
          <p:cNvSpPr/>
          <p:nvPr/>
        </p:nvSpPr>
        <p:spPr>
          <a:xfrm>
            <a:off x="889000" y="1422400"/>
            <a:ext cx="76200" cy="1270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AD0306-E14C-DCE5-19D7-644217D053C4}"/>
              </a:ext>
            </a:extLst>
          </p:cNvPr>
          <p:cNvSpPr txBox="1"/>
          <p:nvPr/>
        </p:nvSpPr>
        <p:spPr>
          <a:xfrm>
            <a:off x="1079500" y="15494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等先验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F66338-CE3B-32C9-9355-9AC19252616C}"/>
              </a:ext>
            </a:extLst>
          </p:cNvPr>
          <p:cNvSpPr txBox="1"/>
          <p:nvPr/>
        </p:nvSpPr>
        <p:spPr>
          <a:xfrm>
            <a:off x="1079500" y="18542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P(F)=0.5, P(M)=0.5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，认为男女出现概率相同。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6B8087-9C3E-6EEF-B4DF-CF4677CF4227}"/>
              </a:ext>
            </a:extLst>
          </p:cNvPr>
          <p:cNvSpPr/>
          <p:nvPr/>
        </p:nvSpPr>
        <p:spPr>
          <a:xfrm>
            <a:off x="4508500" y="1422400"/>
            <a:ext cx="31750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2D2CE2-529D-1DE3-CB99-89252B56925A}"/>
              </a:ext>
            </a:extLst>
          </p:cNvPr>
          <p:cNvSpPr/>
          <p:nvPr/>
        </p:nvSpPr>
        <p:spPr>
          <a:xfrm>
            <a:off x="4508500" y="1422400"/>
            <a:ext cx="76200" cy="1270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27AAD1-A4E0-337A-BE38-78357DFD52F1}"/>
              </a:ext>
            </a:extLst>
          </p:cNvPr>
          <p:cNvSpPr txBox="1"/>
          <p:nvPr/>
        </p:nvSpPr>
        <p:spPr>
          <a:xfrm>
            <a:off x="4699000" y="15494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女生先验较大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8C791D-BE51-2919-B92D-5A013BD13E65}"/>
              </a:ext>
            </a:extLst>
          </p:cNvPr>
          <p:cNvSpPr txBox="1"/>
          <p:nvPr/>
        </p:nvSpPr>
        <p:spPr>
          <a:xfrm>
            <a:off x="4699000" y="18542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P(F)=0.75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或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0.9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时，分类器更容易把样本判为女生。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E69F4B0-E90E-B80B-0710-4B647BE56D37}"/>
              </a:ext>
            </a:extLst>
          </p:cNvPr>
          <p:cNvSpPr/>
          <p:nvPr/>
        </p:nvSpPr>
        <p:spPr>
          <a:xfrm>
            <a:off x="8128000" y="1422400"/>
            <a:ext cx="31750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6A119A-6BFD-7B4D-DB4C-A53224A55809}"/>
              </a:ext>
            </a:extLst>
          </p:cNvPr>
          <p:cNvSpPr/>
          <p:nvPr/>
        </p:nvSpPr>
        <p:spPr>
          <a:xfrm>
            <a:off x="8128000" y="1422400"/>
            <a:ext cx="76200" cy="1270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4F2A4B-CF1B-9BDF-963B-A83293BB2026}"/>
              </a:ext>
            </a:extLst>
          </p:cNvPr>
          <p:cNvSpPr txBox="1"/>
          <p:nvPr/>
        </p:nvSpPr>
        <p:spPr>
          <a:xfrm>
            <a:off x="8318500" y="15494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与测试分布有关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A32449-A1B1-4047-FF4C-F00EE626FB0B}"/>
              </a:ext>
            </a:extLst>
          </p:cNvPr>
          <p:cNvSpPr txBox="1"/>
          <p:nvPr/>
        </p:nvSpPr>
        <p:spPr>
          <a:xfrm>
            <a:off x="8318500" y="18542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如果测试集中男生占多数，过高女生先验会造成大量男生误判。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790886E-DB31-88A5-D9CC-342A48D16A40}"/>
              </a:ext>
            </a:extLst>
          </p:cNvPr>
          <p:cNvSpPr/>
          <p:nvPr/>
        </p:nvSpPr>
        <p:spPr>
          <a:xfrm>
            <a:off x="1270000" y="3708400"/>
            <a:ext cx="9652000" cy="990600"/>
          </a:xfrm>
          <a:prstGeom prst="roundRect">
            <a:avLst/>
          </a:prstGeom>
          <a:solidFill>
            <a:srgbClr val="FFFBEB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1C7F01-50F3-3009-0C0B-84701A2CFE56}"/>
              </a:ext>
            </a:extLst>
          </p:cNvPr>
          <p:cNvSpPr txBox="1"/>
          <p:nvPr/>
        </p:nvSpPr>
        <p:spPr>
          <a:xfrm>
            <a:off x="1651000" y="4064000"/>
            <a:ext cx="889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92400E"/>
                </a:solidFill>
                <a:latin typeface="Microsoft YaHei" panose="020B0503020204020204" pitchFamily="34" charset="-122"/>
              </a:rPr>
              <a:t>先验不是随意调参，它应来自真实类别比例、任务背景或已有知识。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DCDF994-FA65-3DC2-A90A-1922F589ACA0}"/>
              </a:ext>
            </a:extLst>
          </p:cNvPr>
          <p:cNvSpPr txBox="1"/>
          <p:nvPr/>
        </p:nvSpPr>
        <p:spPr>
          <a:xfrm>
            <a:off x="1524000" y="5232400"/>
            <a:ext cx="9144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中男生样本远多于女生。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当人为提高女生先验时，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总体准确率明显下降。</a:t>
            </a:r>
          </a:p>
        </p:txBody>
      </p:sp>
    </p:spTree>
    <p:extLst>
      <p:ext uri="{BB962C8B-B14F-4D97-AF65-F5344CB8AC3E}">
        <p14:creationId xmlns:p14="http://schemas.microsoft.com/office/powerpoint/2010/main" val="72336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237E78-8BF8-9C05-5637-D4BDA3C9F4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369B02-23F8-DFE1-43F6-D0550FBF3498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BA659D-EE47-54BC-140D-A720AA13AF45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F0E559-6F77-2FE0-DFBD-95A73A24C724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B82C3E-FD95-B158-3461-E6DF9A597EC7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最小风险 </a:t>
            </a:r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决策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74CE4B7-C4DE-F938-7584-E557644D9ADF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D255972-F242-87F5-003E-F4A6118A6A1C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EBC6A03-0F5A-D40B-6B60-46652E2DA081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999ED30-AF3A-C1AA-8FA8-8D7046153733}"/>
              </a:ext>
            </a:extLst>
          </p:cNvPr>
          <p:cNvSpPr/>
          <p:nvPr/>
        </p:nvSpPr>
        <p:spPr>
          <a:xfrm>
            <a:off x="1016000" y="1422400"/>
            <a:ext cx="99060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9E5543-660D-49C5-35B3-A84CBB262DD1}"/>
              </a:ext>
            </a:extLst>
          </p:cNvPr>
          <p:cNvSpPr txBox="1"/>
          <p:nvPr/>
        </p:nvSpPr>
        <p:spPr>
          <a:xfrm>
            <a:off x="1524000" y="17526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700" b="1">
                <a:solidFill>
                  <a:srgbClr val="1D4ED8"/>
                </a:solidFill>
                <a:latin typeface="Microsoft YaHei" panose="020B0503020204020204" pitchFamily="34" charset="-122"/>
              </a:rPr>
              <a:t>R(</a:t>
            </a:r>
            <a:r>
              <a:rPr lang="el-GR" altLang="zh-CN" sz="1700" b="1">
                <a:solidFill>
                  <a:srgbClr val="1D4ED8"/>
                </a:solidFill>
                <a:latin typeface="Microsoft YaHei" panose="020B0503020204020204" pitchFamily="34" charset="-122"/>
              </a:rPr>
              <a:t>α</a:t>
            </a:r>
            <a:r>
              <a:rPr lang="en-US" altLang="zh-CN" sz="1700" b="1">
                <a:solidFill>
                  <a:srgbClr val="1D4ED8"/>
                </a:solidFill>
                <a:latin typeface="Microsoft YaHei" panose="020B0503020204020204" pitchFamily="34" charset="-122"/>
              </a:rPr>
              <a:t>i|x) = </a:t>
            </a:r>
            <a:r>
              <a:rPr lang="el-GR" altLang="zh-CN" sz="1700" b="1">
                <a:solidFill>
                  <a:srgbClr val="1D4ED8"/>
                </a:solidFill>
                <a:latin typeface="Microsoft YaHei" panose="020B0503020204020204" pitchFamily="34" charset="-122"/>
              </a:rPr>
              <a:t>Σ λ(α</a:t>
            </a:r>
            <a:r>
              <a:rPr lang="en-US" altLang="zh-CN" sz="1700" b="1">
                <a:solidFill>
                  <a:srgbClr val="1D4ED8"/>
                </a:solidFill>
                <a:latin typeface="Microsoft YaHei" panose="020B0503020204020204" pitchFamily="34" charset="-122"/>
              </a:rPr>
              <a:t>i|</a:t>
            </a:r>
            <a:r>
              <a:rPr lang="el-GR" altLang="zh-CN" sz="1700" b="1">
                <a:solidFill>
                  <a:srgbClr val="1D4ED8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700" b="1">
                <a:solidFill>
                  <a:srgbClr val="1D4ED8"/>
                </a:solidFill>
                <a:latin typeface="Microsoft YaHei" panose="020B0503020204020204" pitchFamily="34" charset="-122"/>
              </a:rPr>
              <a:t>j) P(</a:t>
            </a:r>
            <a:r>
              <a:rPr lang="el-GR" altLang="zh-CN" sz="1700" b="1">
                <a:solidFill>
                  <a:srgbClr val="1D4ED8"/>
                </a:solidFill>
                <a:latin typeface="Microsoft YaHei" panose="020B0503020204020204" pitchFamily="34" charset="-122"/>
              </a:rPr>
              <a:t>ω</a:t>
            </a:r>
            <a:r>
              <a:rPr lang="en-US" altLang="zh-CN" sz="1700" b="1">
                <a:solidFill>
                  <a:srgbClr val="1D4ED8"/>
                </a:solidFill>
                <a:latin typeface="Microsoft YaHei" panose="020B0503020204020204" pitchFamily="34" charset="-122"/>
              </a:rPr>
              <a:t>j|x)</a:t>
            </a:r>
            <a:endParaRPr lang="zh-CN" altLang="en-US" sz="17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9AF3DE6-EA40-4225-B8B7-D2CC11007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964191"/>
              </p:ext>
            </p:extLst>
          </p:nvPr>
        </p:nvGraphicFramePr>
        <p:xfrm>
          <a:off x="1397000" y="2921000"/>
          <a:ext cx="9398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667">
                  <a:extLst>
                    <a:ext uri="{9D8B030D-6E8A-4147-A177-3AD203B41FA5}">
                      <a16:colId xmlns:a16="http://schemas.microsoft.com/office/drawing/2014/main" val="2436314972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413454044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386204786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损失项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含义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取值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73382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F|F)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女生判为女生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08487377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M|M)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男生判为男生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462644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F|M)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男生误判为女生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72836336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l-GR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λ(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M|F)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女生误判为男生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75869863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231868EE-3AE6-DF27-397F-DE5C1F08DF5F}"/>
              </a:ext>
            </a:extLst>
          </p:cNvPr>
          <p:cNvSpPr txBox="1"/>
          <p:nvPr/>
        </p:nvSpPr>
        <p:spPr>
          <a:xfrm>
            <a:off x="1397000" y="5334000"/>
            <a:ext cx="9398000" cy="39241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最小错误率只统计错几个；最小风险还考虑错的代价。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本实验中女生误判为男生的代价更高，因此分类器会更谨慎地判为男生。</a:t>
            </a:r>
          </a:p>
        </p:txBody>
      </p:sp>
    </p:spTree>
    <p:extLst>
      <p:ext uri="{BB962C8B-B14F-4D97-AF65-F5344CB8AC3E}">
        <p14:creationId xmlns:p14="http://schemas.microsoft.com/office/powerpoint/2010/main" val="3304125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56F726-8611-199E-677E-6A5FE58A40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A217B8-DCF2-BB1D-ED1D-8A5E5A14895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CF2CE3-325D-38FA-5C7D-F3CBCF6CC568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54C7FB-935B-AA7D-12C5-A26DEC14162A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THEORY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D880FA-0672-4DA9-963B-435C9A5D10FF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非参数估计：</a:t>
            </a:r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窗与 </a:t>
            </a:r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kNN</a:t>
            </a:r>
            <a:endParaRPr lang="zh-CN" altLang="en-US" sz="23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AFD8353-294F-EF74-E0AB-ED117754BD2A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A35A3D4-6F79-4D4E-1CFF-0D63F537340F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0E7BD9-3678-486C-8E84-5AAADA924917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8FBF9E-6136-2143-57DA-CE2F8F8EBA32}"/>
              </a:ext>
            </a:extLst>
          </p:cNvPr>
          <p:cNvSpPr/>
          <p:nvPr/>
        </p:nvSpPr>
        <p:spPr>
          <a:xfrm>
            <a:off x="889000" y="1422400"/>
            <a:ext cx="4572000" cy="1460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67EB7D-FE9E-C66A-467A-35D50E14589D}"/>
              </a:ext>
            </a:extLst>
          </p:cNvPr>
          <p:cNvSpPr/>
          <p:nvPr/>
        </p:nvSpPr>
        <p:spPr>
          <a:xfrm>
            <a:off x="889000" y="1422400"/>
            <a:ext cx="76200" cy="1460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BEA184-F907-4636-4B83-C7F9CD4A4EE9}"/>
              </a:ext>
            </a:extLst>
          </p:cNvPr>
          <p:cNvSpPr txBox="1"/>
          <p:nvPr/>
        </p:nvSpPr>
        <p:spPr>
          <a:xfrm>
            <a:off x="1079500" y="1549400"/>
            <a:ext cx="426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窗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Bayes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715CDA-038D-3215-61B4-9B7DCDF8D062}"/>
              </a:ext>
            </a:extLst>
          </p:cNvPr>
          <p:cNvSpPr txBox="1"/>
          <p:nvPr/>
        </p:nvSpPr>
        <p:spPr>
          <a:xfrm>
            <a:off x="1079500" y="1854200"/>
            <a:ext cx="426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不假设正态分布，用训练样本周围的高斯核叠加估计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p(x|ωi)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。本实验取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h=5.0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2A2F01E-47AD-0BFD-3B90-0EB64ACE29B8}"/>
              </a:ext>
            </a:extLst>
          </p:cNvPr>
          <p:cNvSpPr/>
          <p:nvPr/>
        </p:nvSpPr>
        <p:spPr>
          <a:xfrm>
            <a:off x="6731000" y="1422400"/>
            <a:ext cx="4191000" cy="1460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6D8D96-29D8-A3BA-688A-106A3650D1A0}"/>
              </a:ext>
            </a:extLst>
          </p:cNvPr>
          <p:cNvSpPr/>
          <p:nvPr/>
        </p:nvSpPr>
        <p:spPr>
          <a:xfrm>
            <a:off x="6731000" y="1422400"/>
            <a:ext cx="76200" cy="1460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92B81B-527B-F31E-4B63-32FBD280C18E}"/>
              </a:ext>
            </a:extLst>
          </p:cNvPr>
          <p:cNvSpPr txBox="1"/>
          <p:nvPr/>
        </p:nvSpPr>
        <p:spPr>
          <a:xfrm>
            <a:off x="6921500" y="1549400"/>
            <a:ext cx="388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近邻分类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7288D13-068E-164D-2894-1684139EBE53}"/>
              </a:ext>
            </a:extLst>
          </p:cNvPr>
          <p:cNvSpPr txBox="1"/>
          <p:nvPr/>
        </p:nvSpPr>
        <p:spPr>
          <a:xfrm>
            <a:off x="6921500" y="1854200"/>
            <a:ext cx="388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不显式估计概率密度，直接找距离最近的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k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个训练样本投票。本实验取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k=5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A6DC349F-CC18-0E12-84C8-17B14ACAA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964913"/>
              </p:ext>
            </p:extLst>
          </p:nvPr>
        </p:nvGraphicFramePr>
        <p:xfrm>
          <a:off x="1397000" y="3683000"/>
          <a:ext cx="9398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667">
                  <a:extLst>
                    <a:ext uri="{9D8B030D-6E8A-4147-A177-3AD203B41FA5}">
                      <a16:colId xmlns:a16="http://schemas.microsoft.com/office/drawing/2014/main" val="691095396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633964078"/>
                    </a:ext>
                  </a:extLst>
                </a:gridCol>
                <a:gridCol w="3132667">
                  <a:extLst>
                    <a:ext uri="{9D8B030D-6E8A-4147-A177-3AD203B41FA5}">
                      <a16:colId xmlns:a16="http://schemas.microsoft.com/office/drawing/2014/main" val="8721001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优点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局限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59563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参数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形式清晰、样本效率高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依赖分布假设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90776587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密度形式灵活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依赖窗口宽度和样本量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6608809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实现直观、利用局部结构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预测时计算量较大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39239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376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95DD3-57D7-81F5-E1D6-5E5397F233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05871E-5D25-E69D-2787-803B5F7F7AEF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4CB475-32E5-5F4B-4E90-4B995CCA6FED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7CACBD-2791-A76E-36A6-3F61D8E9D335}"/>
              </a:ext>
            </a:extLst>
          </p:cNvPr>
          <p:cNvSpPr txBox="1"/>
          <p:nvPr/>
        </p:nvSpPr>
        <p:spPr>
          <a:xfrm>
            <a:off x="736600" y="1041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59E0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2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36BF54-5DA1-61EE-7357-ABA4B3A55935}"/>
              </a:ext>
            </a:extLst>
          </p:cNvPr>
          <p:cNvSpPr txBox="1"/>
          <p:nvPr/>
        </p:nvSpPr>
        <p:spPr>
          <a:xfrm>
            <a:off x="736600" y="1905000"/>
            <a:ext cx="9652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1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实验设计与软件实现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B818EF-6405-E83B-AD84-5D82B657DA1C}"/>
              </a:ext>
            </a:extLst>
          </p:cNvPr>
          <p:cNvSpPr txBox="1"/>
          <p:nvPr/>
        </p:nvSpPr>
        <p:spPr>
          <a:xfrm>
            <a:off x="787400" y="28575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数据集、实验分组、代码流程与评价指标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7A6391C-48EA-D636-699B-8C599F02511B}"/>
              </a:ext>
            </a:extLst>
          </p:cNvPr>
          <p:cNvCxnSpPr/>
          <p:nvPr/>
        </p:nvCxnSpPr>
        <p:spPr>
          <a:xfrm>
            <a:off x="787400" y="3708400"/>
            <a:ext cx="25146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47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27ED64-D2B2-29A8-7EB7-8D865A4029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1C6796-1C9B-4DCC-C6A5-22EBEC209281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C65EFB-3AC7-2659-EB6D-5E04E8F2DECC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1BDC17-B217-9A2E-0447-1B15A7F6AFBE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C645AC-4CC4-40F7-E835-FDAE7074DA46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数据集与样本划分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F5F5734-B1C5-0655-F28A-3368AE58CA0B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C5B159C-6322-094E-E301-7E4BC8899B7B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F82D66-FC29-0A34-EBFD-A2BC86E181EB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20CF45D-E003-5152-B476-6FBE64AE2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039884"/>
              </p:ext>
            </p:extLst>
          </p:nvPr>
        </p:nvGraphicFramePr>
        <p:xfrm>
          <a:off x="1168400" y="1422400"/>
          <a:ext cx="985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67">
                  <a:extLst>
                    <a:ext uri="{9D8B030D-6E8A-4147-A177-3AD203B41FA5}">
                      <a16:colId xmlns:a16="http://schemas.microsoft.com/office/drawing/2014/main" val="977381109"/>
                    </a:ext>
                  </a:extLst>
                </a:gridCol>
                <a:gridCol w="3285067">
                  <a:extLst>
                    <a:ext uri="{9D8B030D-6E8A-4147-A177-3AD203B41FA5}">
                      <a16:colId xmlns:a16="http://schemas.microsoft.com/office/drawing/2014/main" val="3710574994"/>
                    </a:ext>
                  </a:extLst>
                </a:gridCol>
                <a:gridCol w="3285067">
                  <a:extLst>
                    <a:ext uri="{9D8B030D-6E8A-4147-A177-3AD203B41FA5}">
                      <a16:colId xmlns:a16="http://schemas.microsoft.com/office/drawing/2014/main" val="191779322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文件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用途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样本说明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8859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FEMALE.TXT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个女生的身高、体重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761270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MALE.TXT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个男生的身高、体重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53192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test1.txt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35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15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3909089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test2.txt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测试集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300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个样本，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250 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</a:t>
                      </a: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409130911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50B2962-276C-6B66-9579-CF4C3FB49CE4}"/>
              </a:ext>
            </a:extLst>
          </p:cNvPr>
          <p:cNvSpPr/>
          <p:nvPr/>
        </p:nvSpPr>
        <p:spPr>
          <a:xfrm>
            <a:off x="1397000" y="4254500"/>
            <a:ext cx="2032000" cy="7366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923761-F033-FA17-7F81-39403D6F61A8}"/>
              </a:ext>
            </a:extLst>
          </p:cNvPr>
          <p:cNvSpPr txBox="1"/>
          <p:nvPr/>
        </p:nvSpPr>
        <p:spPr>
          <a:xfrm>
            <a:off x="1549400" y="4356100"/>
            <a:ext cx="1752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0F766E"/>
                </a:solidFill>
                <a:latin typeface="Microsoft YaHei" panose="020B0503020204020204" pitchFamily="34" charset="-122"/>
              </a:rPr>
              <a:t>100</a:t>
            </a:r>
            <a:endParaRPr lang="zh-CN" altLang="en-US" sz="19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90AA77-D18C-56D5-DD19-E040800FEB46}"/>
              </a:ext>
            </a:extLst>
          </p:cNvPr>
          <p:cNvSpPr txBox="1"/>
          <p:nvPr/>
        </p:nvSpPr>
        <p:spPr>
          <a:xfrm>
            <a:off x="1549400" y="47752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训练样本总数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6758916-5D6D-89B1-C830-3BF8F4FF8120}"/>
              </a:ext>
            </a:extLst>
          </p:cNvPr>
          <p:cNvSpPr/>
          <p:nvPr/>
        </p:nvSpPr>
        <p:spPr>
          <a:xfrm>
            <a:off x="3937000" y="4254500"/>
            <a:ext cx="2032000" cy="7366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8F0218-6B9C-EDBD-9A39-4D1793DE85BE}"/>
              </a:ext>
            </a:extLst>
          </p:cNvPr>
          <p:cNvSpPr txBox="1"/>
          <p:nvPr/>
        </p:nvSpPr>
        <p:spPr>
          <a:xfrm>
            <a:off x="4089400" y="4356100"/>
            <a:ext cx="1752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1D4ED8"/>
                </a:solidFill>
                <a:latin typeface="Microsoft YaHei" panose="020B0503020204020204" pitchFamily="34" charset="-122"/>
              </a:rPr>
              <a:t>35</a:t>
            </a:r>
            <a:endParaRPr lang="zh-CN" altLang="en-US" sz="19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58FD63-0748-31C8-7A19-7342A4B761F7}"/>
              </a:ext>
            </a:extLst>
          </p:cNvPr>
          <p:cNvSpPr txBox="1"/>
          <p:nvPr/>
        </p:nvSpPr>
        <p:spPr>
          <a:xfrm>
            <a:off x="4089400" y="47752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样本数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B267BDA-E46B-A7B6-7360-404A78F698A6}"/>
              </a:ext>
            </a:extLst>
          </p:cNvPr>
          <p:cNvSpPr/>
          <p:nvPr/>
        </p:nvSpPr>
        <p:spPr>
          <a:xfrm>
            <a:off x="6477000" y="4254500"/>
            <a:ext cx="2032000" cy="7366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82D2355-60F2-5E4D-9B81-1DC3FEE07179}"/>
              </a:ext>
            </a:extLst>
          </p:cNvPr>
          <p:cNvSpPr txBox="1"/>
          <p:nvPr/>
        </p:nvSpPr>
        <p:spPr>
          <a:xfrm>
            <a:off x="6629400" y="4356100"/>
            <a:ext cx="1752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F59E0B"/>
                </a:solidFill>
                <a:latin typeface="Microsoft YaHei" panose="020B0503020204020204" pitchFamily="34" charset="-122"/>
              </a:rPr>
              <a:t>300</a:t>
            </a:r>
            <a:endParaRPr lang="zh-CN" altLang="en-US" sz="19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6F61F9C-F5B2-BEA8-37D4-B814600DE67E}"/>
              </a:ext>
            </a:extLst>
          </p:cNvPr>
          <p:cNvSpPr txBox="1"/>
          <p:nvPr/>
        </p:nvSpPr>
        <p:spPr>
          <a:xfrm>
            <a:off x="6629400" y="47752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样本数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79695FD-82A1-010E-3F88-673B0BE093BF}"/>
              </a:ext>
            </a:extLst>
          </p:cNvPr>
          <p:cNvSpPr/>
          <p:nvPr/>
        </p:nvSpPr>
        <p:spPr>
          <a:xfrm>
            <a:off x="9017000" y="4254500"/>
            <a:ext cx="2032000" cy="7366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FC4C54-3F98-E880-97CD-0A4D584CDCA6}"/>
              </a:ext>
            </a:extLst>
          </p:cNvPr>
          <p:cNvSpPr txBox="1"/>
          <p:nvPr/>
        </p:nvSpPr>
        <p:spPr>
          <a:xfrm>
            <a:off x="9169400" y="4356100"/>
            <a:ext cx="1752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EA580C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900" b="1">
              <a:solidFill>
                <a:srgbClr val="EA580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151119-9BF6-254D-F27D-3782BD75D694}"/>
              </a:ext>
            </a:extLst>
          </p:cNvPr>
          <p:cNvSpPr txBox="1"/>
          <p:nvPr/>
        </p:nvSpPr>
        <p:spPr>
          <a:xfrm>
            <a:off x="9169400" y="4775200"/>
            <a:ext cx="1752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类别数量</a:t>
            </a:r>
          </a:p>
        </p:txBody>
      </p:sp>
    </p:spTree>
    <p:extLst>
      <p:ext uri="{BB962C8B-B14F-4D97-AF65-F5344CB8AC3E}">
        <p14:creationId xmlns:p14="http://schemas.microsoft.com/office/powerpoint/2010/main" val="1729722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7264E5-A2C2-5666-6057-C6B15D3EDA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CD0F58-5303-7562-2490-EE0B0B5050F6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3A7D96-160C-182F-A06C-F5AFDB575459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52C330-444D-6435-4FC6-C5C656F353E3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59CC8D-7459-D44A-2C48-BBFCEDC33417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实验分组设计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17C6E0D-F5C2-DB7C-D586-A9FBFBAFC066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457CF5F-7F51-AEF0-CA3F-2BEF20561303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B08312-710B-3F28-2264-EEFB6E6FAF05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415347-FAF4-B083-FD94-7C2A35EEDEE5}"/>
              </a:ext>
            </a:extLst>
          </p:cNvPr>
          <p:cNvSpPr/>
          <p:nvPr/>
        </p:nvSpPr>
        <p:spPr>
          <a:xfrm>
            <a:off x="889000" y="1397000"/>
            <a:ext cx="3175000" cy="1117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F048F5-3A8F-F492-23EA-4F88B9B67F59}"/>
              </a:ext>
            </a:extLst>
          </p:cNvPr>
          <p:cNvSpPr/>
          <p:nvPr/>
        </p:nvSpPr>
        <p:spPr>
          <a:xfrm>
            <a:off x="889000" y="1397000"/>
            <a:ext cx="76200" cy="11176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714B36-A579-F822-F939-3D960A82829A}"/>
              </a:ext>
            </a:extLst>
          </p:cNvPr>
          <p:cNvSpPr txBox="1"/>
          <p:nvPr/>
        </p:nvSpPr>
        <p:spPr>
          <a:xfrm>
            <a:off x="1079500" y="15240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单特征实验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19B7B5-7D40-1C83-EBC7-A8A9FCB4465F}"/>
              </a:ext>
            </a:extLst>
          </p:cNvPr>
          <p:cNvSpPr txBox="1"/>
          <p:nvPr/>
        </p:nvSpPr>
        <p:spPr>
          <a:xfrm>
            <a:off x="1079500" y="18288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分别只用身高或体重，建立一维高斯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分类器。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8402B45-EA0C-E6B6-CDE0-00B539C99CF1}"/>
              </a:ext>
            </a:extLst>
          </p:cNvPr>
          <p:cNvSpPr/>
          <p:nvPr/>
        </p:nvSpPr>
        <p:spPr>
          <a:xfrm>
            <a:off x="4508500" y="1397000"/>
            <a:ext cx="3175000" cy="1117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CF6206-BD83-9040-B0D1-849DECAD50E0}"/>
              </a:ext>
            </a:extLst>
          </p:cNvPr>
          <p:cNvSpPr/>
          <p:nvPr/>
        </p:nvSpPr>
        <p:spPr>
          <a:xfrm>
            <a:off x="4508500" y="1397000"/>
            <a:ext cx="76200" cy="1117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A61D6B-2CF1-7329-5A98-37149BCC25F0}"/>
              </a:ext>
            </a:extLst>
          </p:cNvPr>
          <p:cNvSpPr txBox="1"/>
          <p:nvPr/>
        </p:nvSpPr>
        <p:spPr>
          <a:xfrm>
            <a:off x="4699000" y="15240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双特征实验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4537122-B0C0-6540-D1AE-D8573E5CE6EA}"/>
              </a:ext>
            </a:extLst>
          </p:cNvPr>
          <p:cNvSpPr txBox="1"/>
          <p:nvPr/>
        </p:nvSpPr>
        <p:spPr>
          <a:xfrm>
            <a:off x="4699000" y="18288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同时用身高和体重，比较完整协方差和对角协方差。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789BC30-CAB3-79BF-907A-54F0121E3E85}"/>
              </a:ext>
            </a:extLst>
          </p:cNvPr>
          <p:cNvSpPr/>
          <p:nvPr/>
        </p:nvSpPr>
        <p:spPr>
          <a:xfrm>
            <a:off x="8128000" y="1397000"/>
            <a:ext cx="2921000" cy="1117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3FB95A-311A-AF25-94C9-A00C165A6E84}"/>
              </a:ext>
            </a:extLst>
          </p:cNvPr>
          <p:cNvSpPr/>
          <p:nvPr/>
        </p:nvSpPr>
        <p:spPr>
          <a:xfrm>
            <a:off x="8128000" y="1397000"/>
            <a:ext cx="76200" cy="1117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220B12-697B-F2D4-8A69-9D8A0A4E1A98}"/>
              </a:ext>
            </a:extLst>
          </p:cNvPr>
          <p:cNvSpPr txBox="1"/>
          <p:nvPr/>
        </p:nvSpPr>
        <p:spPr>
          <a:xfrm>
            <a:off x="8318500" y="15240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先验概率实验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A64029-F698-E5CA-8E15-592EF10E55FE}"/>
              </a:ext>
            </a:extLst>
          </p:cNvPr>
          <p:cNvSpPr txBox="1"/>
          <p:nvPr/>
        </p:nvSpPr>
        <p:spPr>
          <a:xfrm>
            <a:off x="8318500" y="18288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比较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0.5/0.5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0.75/0.25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0.9/0.1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三种先验。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E67EEA6-ADC9-4428-3502-27F93229DA7E}"/>
              </a:ext>
            </a:extLst>
          </p:cNvPr>
          <p:cNvSpPr/>
          <p:nvPr/>
        </p:nvSpPr>
        <p:spPr>
          <a:xfrm>
            <a:off x="889000" y="3238500"/>
            <a:ext cx="3175000" cy="1117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5042CB-EE7D-E0AB-06C8-3AC3A6258296}"/>
              </a:ext>
            </a:extLst>
          </p:cNvPr>
          <p:cNvSpPr/>
          <p:nvPr/>
        </p:nvSpPr>
        <p:spPr>
          <a:xfrm>
            <a:off x="889000" y="3238500"/>
            <a:ext cx="76200" cy="11176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D17A4D-8F80-0508-0947-14B7C1C67573}"/>
              </a:ext>
            </a:extLst>
          </p:cNvPr>
          <p:cNvSpPr txBox="1"/>
          <p:nvPr/>
        </p:nvSpPr>
        <p:spPr>
          <a:xfrm>
            <a:off x="1079500" y="33655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最小风险实验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BA8D628-4D4A-A313-F5BE-805D1EDB1B0D}"/>
              </a:ext>
            </a:extLst>
          </p:cNvPr>
          <p:cNvSpPr txBox="1"/>
          <p:nvPr/>
        </p:nvSpPr>
        <p:spPr>
          <a:xfrm>
            <a:off x="1079500" y="36703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给定损失表，按照条件风险最小原则分类。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96D6286-B413-52FE-36D3-A8C354F74EE0}"/>
              </a:ext>
            </a:extLst>
          </p:cNvPr>
          <p:cNvSpPr/>
          <p:nvPr/>
        </p:nvSpPr>
        <p:spPr>
          <a:xfrm>
            <a:off x="4508500" y="3238500"/>
            <a:ext cx="3175000" cy="1117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752D1F-FB93-4F9F-E14D-148F9327B17E}"/>
              </a:ext>
            </a:extLst>
          </p:cNvPr>
          <p:cNvSpPr/>
          <p:nvPr/>
        </p:nvSpPr>
        <p:spPr>
          <a:xfrm>
            <a:off x="4508500" y="3238500"/>
            <a:ext cx="76200" cy="11176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F7175C0-0470-21AB-3F66-8405B0052C74}"/>
              </a:ext>
            </a:extLst>
          </p:cNvPr>
          <p:cNvSpPr txBox="1"/>
          <p:nvPr/>
        </p:nvSpPr>
        <p:spPr>
          <a:xfrm>
            <a:off x="4699000" y="33655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参数估计实例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39901B8-FDD6-C003-7493-8152F7669C4E}"/>
              </a:ext>
            </a:extLst>
          </p:cNvPr>
          <p:cNvSpPr txBox="1"/>
          <p:nvPr/>
        </p:nvSpPr>
        <p:spPr>
          <a:xfrm>
            <a:off x="4699000" y="36703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使用最大似然估计计算均值和协方差。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7C4D7D4-88FF-1B5D-3A57-3672DB0D732A}"/>
              </a:ext>
            </a:extLst>
          </p:cNvPr>
          <p:cNvSpPr/>
          <p:nvPr/>
        </p:nvSpPr>
        <p:spPr>
          <a:xfrm>
            <a:off x="8128000" y="3238500"/>
            <a:ext cx="2921000" cy="1117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830785F-5626-A3CF-D6A0-59195D0F2C9C}"/>
              </a:ext>
            </a:extLst>
          </p:cNvPr>
          <p:cNvSpPr/>
          <p:nvPr/>
        </p:nvSpPr>
        <p:spPr>
          <a:xfrm>
            <a:off x="8128000" y="3238500"/>
            <a:ext cx="76200" cy="1117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A8151B8-624F-2FC4-C8AD-2AB929D78A6E}"/>
              </a:ext>
            </a:extLst>
          </p:cNvPr>
          <p:cNvSpPr txBox="1"/>
          <p:nvPr/>
        </p:nvSpPr>
        <p:spPr>
          <a:xfrm>
            <a:off x="8318500" y="33655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非参数估计实例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8889502-5668-7280-97D5-949F5CD72B09}"/>
              </a:ext>
            </a:extLst>
          </p:cNvPr>
          <p:cNvSpPr txBox="1"/>
          <p:nvPr/>
        </p:nvSpPr>
        <p:spPr>
          <a:xfrm>
            <a:off x="8318500" y="36703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实现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窗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kNN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进行对比。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538B163-008C-79B8-20ED-5F5E3BC92C7F}"/>
              </a:ext>
            </a:extLst>
          </p:cNvPr>
          <p:cNvSpPr txBox="1"/>
          <p:nvPr/>
        </p:nvSpPr>
        <p:spPr>
          <a:xfrm>
            <a:off x="1270000" y="5397500"/>
            <a:ext cx="965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B1220"/>
                </a:solidFill>
                <a:latin typeface="Microsoft YaHei" panose="020B0503020204020204" pitchFamily="34" charset="-122"/>
              </a:rPr>
              <a:t>实验设计覆盖了任务一要求中的特征选择、先验影响、风险决策、参数估计和非参数估计。</a:t>
            </a:r>
          </a:p>
        </p:txBody>
      </p:sp>
    </p:spTree>
    <p:extLst>
      <p:ext uri="{BB962C8B-B14F-4D97-AF65-F5344CB8AC3E}">
        <p14:creationId xmlns:p14="http://schemas.microsoft.com/office/powerpoint/2010/main" val="1621520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26DBBE-AA4E-71F6-3B29-475C4E7DD2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963D6-9D9A-E2FB-BEDC-37BD04E700D1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DEE98B-4390-E412-A571-E647780DD51A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09F126-E40E-52B3-E222-623ECC44CB17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SOFTWARE IMPLEMENTATION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35B470-12C6-591D-76B6-7523E66737E2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软件实现流程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4922D5F-2631-A8F1-6A4E-0FD262A7FC0A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5A75873-3A62-C018-370C-A89221269E45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088631-8C1A-B3CE-2788-E0388101E45D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C7AEC4A-D5CF-3958-B33E-ABF1AAB0164D}"/>
              </a:ext>
            </a:extLst>
          </p:cNvPr>
          <p:cNvSpPr/>
          <p:nvPr/>
        </p:nvSpPr>
        <p:spPr>
          <a:xfrm>
            <a:off x="1079500" y="1498600"/>
            <a:ext cx="381000" cy="3810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BFB051-19C7-27F7-77C9-0AB4D6FD7003}"/>
              </a:ext>
            </a:extLst>
          </p:cNvPr>
          <p:cNvSpPr txBox="1"/>
          <p:nvPr/>
        </p:nvSpPr>
        <p:spPr>
          <a:xfrm>
            <a:off x="1092200" y="1587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FBA629-7D0E-75B5-5650-100B5BF33522}"/>
              </a:ext>
            </a:extLst>
          </p:cNvPr>
          <p:cNvSpPr txBox="1"/>
          <p:nvPr/>
        </p:nvSpPr>
        <p:spPr>
          <a:xfrm>
            <a:off x="1612900" y="1485900"/>
            <a:ext cx="3492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读取数据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7588F21-DF35-77A3-38AE-D446BAEDE1A5}"/>
              </a:ext>
            </a:extLst>
          </p:cNvPr>
          <p:cNvSpPr txBox="1"/>
          <p:nvPr/>
        </p:nvSpPr>
        <p:spPr>
          <a:xfrm>
            <a:off x="1612900" y="1752600"/>
            <a:ext cx="3492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解析训练文件和测试文件，统一标签为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F/M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7073B2D-545F-F880-13E6-7B72BB58CEAA}"/>
              </a:ext>
            </a:extLst>
          </p:cNvPr>
          <p:cNvSpPr/>
          <p:nvPr/>
        </p:nvSpPr>
        <p:spPr>
          <a:xfrm>
            <a:off x="1079500" y="2514600"/>
            <a:ext cx="381000" cy="381000"/>
          </a:xfrm>
          <a:prstGeom prst="ellipse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A0B300-EC79-4EBB-76DD-7CC847104712}"/>
              </a:ext>
            </a:extLst>
          </p:cNvPr>
          <p:cNvSpPr txBox="1"/>
          <p:nvPr/>
        </p:nvSpPr>
        <p:spPr>
          <a:xfrm>
            <a:off x="1092200" y="2603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93E401-F8A8-067B-0CF2-64C88AFA4AB9}"/>
              </a:ext>
            </a:extLst>
          </p:cNvPr>
          <p:cNvSpPr txBox="1"/>
          <p:nvPr/>
        </p:nvSpPr>
        <p:spPr>
          <a:xfrm>
            <a:off x="1612900" y="2501900"/>
            <a:ext cx="3492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选择特征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4FB454-2B66-ACC1-7BC5-DA3C1FDF1797}"/>
              </a:ext>
            </a:extLst>
          </p:cNvPr>
          <p:cNvSpPr txBox="1"/>
          <p:nvPr/>
        </p:nvSpPr>
        <p:spPr>
          <a:xfrm>
            <a:off x="1612900" y="2768600"/>
            <a:ext cx="3492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按实验选择身高、体重或二维特征。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E6D491E-DE0A-9DBF-2428-2BC3ADCFAC58}"/>
              </a:ext>
            </a:extLst>
          </p:cNvPr>
          <p:cNvSpPr/>
          <p:nvPr/>
        </p:nvSpPr>
        <p:spPr>
          <a:xfrm>
            <a:off x="1079500" y="3530600"/>
            <a:ext cx="381000" cy="3810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CAC279-625C-18FE-BC76-86EF3F40B0EA}"/>
              </a:ext>
            </a:extLst>
          </p:cNvPr>
          <p:cNvSpPr txBox="1"/>
          <p:nvPr/>
        </p:nvSpPr>
        <p:spPr>
          <a:xfrm>
            <a:off x="1092200" y="3619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05C7A7-C727-245D-83A3-B87B2CC16DC3}"/>
              </a:ext>
            </a:extLst>
          </p:cNvPr>
          <p:cNvSpPr txBox="1"/>
          <p:nvPr/>
        </p:nvSpPr>
        <p:spPr>
          <a:xfrm>
            <a:off x="1612900" y="3517900"/>
            <a:ext cx="3492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训练模型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75BAAE-9B1F-1F54-E4E2-377CBB6BADCD}"/>
              </a:ext>
            </a:extLst>
          </p:cNvPr>
          <p:cNvSpPr txBox="1"/>
          <p:nvPr/>
        </p:nvSpPr>
        <p:spPr>
          <a:xfrm>
            <a:off x="1612900" y="3784600"/>
            <a:ext cx="3492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估计均值、方差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协方差，或保存非参数样本。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45AAC11C-14A9-ECD7-9BB7-DC594AC705BF}"/>
              </a:ext>
            </a:extLst>
          </p:cNvPr>
          <p:cNvSpPr/>
          <p:nvPr/>
        </p:nvSpPr>
        <p:spPr>
          <a:xfrm>
            <a:off x="6604000" y="1498600"/>
            <a:ext cx="381000" cy="381000"/>
          </a:xfrm>
          <a:prstGeom prst="ellipse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25CBEA-8B08-EB81-BC92-6CAC3296F395}"/>
              </a:ext>
            </a:extLst>
          </p:cNvPr>
          <p:cNvSpPr txBox="1"/>
          <p:nvPr/>
        </p:nvSpPr>
        <p:spPr>
          <a:xfrm>
            <a:off x="6616700" y="1587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32507C5-3976-A7DD-1996-2BFCB10ECDAF}"/>
              </a:ext>
            </a:extLst>
          </p:cNvPr>
          <p:cNvSpPr txBox="1"/>
          <p:nvPr/>
        </p:nvSpPr>
        <p:spPr>
          <a:xfrm>
            <a:off x="7137400" y="1485900"/>
            <a:ext cx="3492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进行预测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D3BF0C8-AF92-DEFB-95D3-B4BBD0C30CE0}"/>
              </a:ext>
            </a:extLst>
          </p:cNvPr>
          <p:cNvSpPr txBox="1"/>
          <p:nvPr/>
        </p:nvSpPr>
        <p:spPr>
          <a:xfrm>
            <a:off x="7137400" y="1752600"/>
            <a:ext cx="3492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计算判别函数、风险函数或近邻投票。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6563408-8E0E-A75B-8149-DDC8CA0481C5}"/>
              </a:ext>
            </a:extLst>
          </p:cNvPr>
          <p:cNvSpPr/>
          <p:nvPr/>
        </p:nvSpPr>
        <p:spPr>
          <a:xfrm>
            <a:off x="6604000" y="2514600"/>
            <a:ext cx="381000" cy="381000"/>
          </a:xfrm>
          <a:prstGeom prst="ellipse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6D7E2B-59D9-CFD9-84CD-A1BD992630D8}"/>
              </a:ext>
            </a:extLst>
          </p:cNvPr>
          <p:cNvSpPr txBox="1"/>
          <p:nvPr/>
        </p:nvSpPr>
        <p:spPr>
          <a:xfrm>
            <a:off x="6616700" y="2603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F778F9E-E486-27E7-E3E0-38632436AB3E}"/>
              </a:ext>
            </a:extLst>
          </p:cNvPr>
          <p:cNvSpPr txBox="1"/>
          <p:nvPr/>
        </p:nvSpPr>
        <p:spPr>
          <a:xfrm>
            <a:off x="7137400" y="2501900"/>
            <a:ext cx="3492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评价性能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8E19DF8-951E-AF0E-A286-3DC9A490CC0F}"/>
              </a:ext>
            </a:extLst>
          </p:cNvPr>
          <p:cNvSpPr txBox="1"/>
          <p:nvPr/>
        </p:nvSpPr>
        <p:spPr>
          <a:xfrm>
            <a:off x="7137400" y="2768600"/>
            <a:ext cx="3492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accuracy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recall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confusion matrix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6045329-5AFE-AA23-BDAB-E4AFFD7F4970}"/>
              </a:ext>
            </a:extLst>
          </p:cNvPr>
          <p:cNvSpPr/>
          <p:nvPr/>
        </p:nvSpPr>
        <p:spPr>
          <a:xfrm>
            <a:off x="6604000" y="3530600"/>
            <a:ext cx="381000" cy="381000"/>
          </a:xfrm>
          <a:prstGeom prst="ellipse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20B8FA-E979-0582-C839-416E043C87D2}"/>
              </a:ext>
            </a:extLst>
          </p:cNvPr>
          <p:cNvSpPr txBox="1"/>
          <p:nvPr/>
        </p:nvSpPr>
        <p:spPr>
          <a:xfrm>
            <a:off x="6616700" y="36195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6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BDB5FC0-3764-556F-2F28-702B73024C15}"/>
              </a:ext>
            </a:extLst>
          </p:cNvPr>
          <p:cNvSpPr txBox="1"/>
          <p:nvPr/>
        </p:nvSpPr>
        <p:spPr>
          <a:xfrm>
            <a:off x="7137400" y="3517900"/>
            <a:ext cx="3492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生成图表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2A1BAE-FAA9-2744-9419-35D7EEFD54E2}"/>
              </a:ext>
            </a:extLst>
          </p:cNvPr>
          <p:cNvSpPr txBox="1"/>
          <p:nvPr/>
        </p:nvSpPr>
        <p:spPr>
          <a:xfrm>
            <a:off x="7137400" y="3784600"/>
            <a:ext cx="3492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绘制散点图、决策边界和混淆矩阵。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7036AD2-6D87-F83F-B573-5388558C4EED}"/>
              </a:ext>
            </a:extLst>
          </p:cNvPr>
          <p:cNvSpPr/>
          <p:nvPr/>
        </p:nvSpPr>
        <p:spPr>
          <a:xfrm>
            <a:off x="2286000" y="4978400"/>
            <a:ext cx="7620000" cy="787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AFC6C6F-C6CD-4B1C-D83B-2BA6100676E7}"/>
              </a:ext>
            </a:extLst>
          </p:cNvPr>
          <p:cNvSpPr/>
          <p:nvPr/>
        </p:nvSpPr>
        <p:spPr>
          <a:xfrm>
            <a:off x="2286000" y="4978400"/>
            <a:ext cx="76200" cy="7874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0BAE983-551D-5B60-C95E-C85EE17E4699}"/>
              </a:ext>
            </a:extLst>
          </p:cNvPr>
          <p:cNvSpPr txBox="1"/>
          <p:nvPr/>
        </p:nvSpPr>
        <p:spPr>
          <a:xfrm>
            <a:off x="2476500" y="5105400"/>
            <a:ext cx="731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对应脚本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0470DAF-F57D-4088-EEBE-CA3F1A61AFE2}"/>
              </a:ext>
            </a:extLst>
          </p:cNvPr>
          <p:cNvSpPr txBox="1"/>
          <p:nvPr/>
        </p:nvSpPr>
        <p:spPr>
          <a:xfrm>
            <a:off x="2476500" y="5410200"/>
            <a:ext cx="731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scripts/experiment1_bayes.py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：包含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fit_gaussian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predict_gaussian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predict_min_risk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predict_parzen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predict_knn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等核心函数。</a:t>
            </a:r>
          </a:p>
        </p:txBody>
      </p:sp>
    </p:spTree>
    <p:extLst>
      <p:ext uri="{BB962C8B-B14F-4D97-AF65-F5344CB8AC3E}">
        <p14:creationId xmlns:p14="http://schemas.microsoft.com/office/powerpoint/2010/main" val="3834714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171B603-ED25-ABB2-2DF1-3265FFF2B9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742435-938C-4E99-88D6-0F0743256401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8D1868-78B5-4416-7DA5-0CE708B43AD5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EDA0DD-D7FB-A0B1-E173-38625F7E53D0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EVALUATION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0CDEF9-F0DA-4295-D3AD-AE74CEBFA07C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评价指标说明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B5F0358-632C-B2E7-47A5-3CB595E3D24B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A6F3BA0-BF61-65FD-58AA-7B742A42997D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C24AEA-9E35-1419-2DA0-E6BDB6D728E0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F6D8E92-187F-D5E1-261E-C87BB16B9C48}"/>
              </a:ext>
            </a:extLst>
          </p:cNvPr>
          <p:cNvSpPr/>
          <p:nvPr/>
        </p:nvSpPr>
        <p:spPr>
          <a:xfrm>
            <a:off x="889000" y="1422400"/>
            <a:ext cx="317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E5A07-5ACB-3482-C328-9A671BEC2CAC}"/>
              </a:ext>
            </a:extLst>
          </p:cNvPr>
          <p:cNvSpPr/>
          <p:nvPr/>
        </p:nvSpPr>
        <p:spPr>
          <a:xfrm>
            <a:off x="889000" y="14224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C2845F-35C7-3F5D-E1AA-6F4F07F6EC14}"/>
              </a:ext>
            </a:extLst>
          </p:cNvPr>
          <p:cNvSpPr txBox="1"/>
          <p:nvPr/>
        </p:nvSpPr>
        <p:spPr>
          <a:xfrm>
            <a:off x="1079500" y="15494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准确率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Accuracy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031596-1F3C-FB6D-C609-5E1C63B7C4E2}"/>
              </a:ext>
            </a:extLst>
          </p:cNvPr>
          <p:cNvSpPr txBox="1"/>
          <p:nvPr/>
        </p:nvSpPr>
        <p:spPr>
          <a:xfrm>
            <a:off x="1079500" y="18542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预测正确样本数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总样本数，用于整体性能比较。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CC3F25-EBBA-E874-9714-2B485552481F}"/>
              </a:ext>
            </a:extLst>
          </p:cNvPr>
          <p:cNvSpPr/>
          <p:nvPr/>
        </p:nvSpPr>
        <p:spPr>
          <a:xfrm>
            <a:off x="4508500" y="1422400"/>
            <a:ext cx="317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FEA37E-663D-CF00-225F-8813EDDF4E76}"/>
              </a:ext>
            </a:extLst>
          </p:cNvPr>
          <p:cNvSpPr/>
          <p:nvPr/>
        </p:nvSpPr>
        <p:spPr>
          <a:xfrm>
            <a:off x="4508500" y="14224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529DF38-D83D-6E09-86C3-D23E470FF060}"/>
              </a:ext>
            </a:extLst>
          </p:cNvPr>
          <p:cNvSpPr txBox="1"/>
          <p:nvPr/>
        </p:nvSpPr>
        <p:spPr>
          <a:xfrm>
            <a:off x="4699000" y="15494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精确率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Precision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6D9C62-6A3A-46B2-6F0B-1CFF7C53583B}"/>
              </a:ext>
            </a:extLst>
          </p:cNvPr>
          <p:cNvSpPr txBox="1"/>
          <p:nvPr/>
        </p:nvSpPr>
        <p:spPr>
          <a:xfrm>
            <a:off x="4699000" y="18542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预测为某类的样本中，真正属于该类的比例。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6DBF18-800E-3D4E-1F6B-2C94630FE78A}"/>
              </a:ext>
            </a:extLst>
          </p:cNvPr>
          <p:cNvSpPr/>
          <p:nvPr/>
        </p:nvSpPr>
        <p:spPr>
          <a:xfrm>
            <a:off x="8128000" y="14224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8A7F70-DE67-0CF8-1487-452BFE480B54}"/>
              </a:ext>
            </a:extLst>
          </p:cNvPr>
          <p:cNvSpPr/>
          <p:nvPr/>
        </p:nvSpPr>
        <p:spPr>
          <a:xfrm>
            <a:off x="8128000" y="1422400"/>
            <a:ext cx="76200" cy="1143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E54CCC0-A3A9-43AC-A641-106DC9D421F1}"/>
              </a:ext>
            </a:extLst>
          </p:cNvPr>
          <p:cNvSpPr txBox="1"/>
          <p:nvPr/>
        </p:nvSpPr>
        <p:spPr>
          <a:xfrm>
            <a:off x="8318500" y="15494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召回率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5F6F57-B84B-9B24-AC0F-A15BC8716D62}"/>
              </a:ext>
            </a:extLst>
          </p:cNvPr>
          <p:cNvSpPr txBox="1"/>
          <p:nvPr/>
        </p:nvSpPr>
        <p:spPr>
          <a:xfrm>
            <a:off x="8318500" y="18542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真实属于某类的样本中，被正确找出的比例。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E9ED24C-E466-A5BA-8A49-E6729A7702B6}"/>
              </a:ext>
            </a:extLst>
          </p:cNvPr>
          <p:cNvSpPr/>
          <p:nvPr/>
        </p:nvSpPr>
        <p:spPr>
          <a:xfrm>
            <a:off x="1460500" y="3429000"/>
            <a:ext cx="9271000" cy="1651000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EE571A-B729-6273-D3C8-450FDC4A3F16}"/>
              </a:ext>
            </a:extLst>
          </p:cNvPr>
          <p:cNvSpPr txBox="1"/>
          <p:nvPr/>
        </p:nvSpPr>
        <p:spPr>
          <a:xfrm>
            <a:off x="1714500" y="3708400"/>
            <a:ext cx="863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F766E"/>
                </a:solidFill>
                <a:latin typeface="Microsoft YaHei" panose="020B0503020204020204" pitchFamily="34" charset="-122"/>
              </a:rPr>
              <a:t>混淆矩阵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7518781-F571-D939-9439-14A82286C8D5}"/>
              </a:ext>
            </a:extLst>
          </p:cNvPr>
          <p:cNvSpPr txBox="1"/>
          <p:nvPr/>
        </p:nvSpPr>
        <p:spPr>
          <a:xfrm>
            <a:off x="1968500" y="41910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F766E"/>
                </a:solidFill>
                <a:latin typeface="Microsoft YaHei" panose="020B0503020204020204" pitchFamily="34" charset="-122"/>
              </a:rPr>
              <a:t>用于观察女生判错为男生、男生判错为女生的具体数量；比单一准确率更能解释分类器错误类型。</a:t>
            </a:r>
          </a:p>
        </p:txBody>
      </p:sp>
    </p:spTree>
    <p:extLst>
      <p:ext uri="{BB962C8B-B14F-4D97-AF65-F5344CB8AC3E}">
        <p14:creationId xmlns:p14="http://schemas.microsoft.com/office/powerpoint/2010/main" val="3467698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ADA7EA-2D55-6644-CF0F-EF98B54D0E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FB097-FFD9-ED6F-092E-88111DBADD89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3F621F-CDE7-631B-7F7D-AEAC9390E5F9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48D7BC-9B89-7C47-2029-D9239F83C85B}"/>
              </a:ext>
            </a:extLst>
          </p:cNvPr>
          <p:cNvSpPr txBox="1"/>
          <p:nvPr/>
        </p:nvSpPr>
        <p:spPr>
          <a:xfrm>
            <a:off x="736600" y="1041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59E0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2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89F78C-987B-B4F7-C3F4-509ED851945C}"/>
              </a:ext>
            </a:extLst>
          </p:cNvPr>
          <p:cNvSpPr txBox="1"/>
          <p:nvPr/>
        </p:nvSpPr>
        <p:spPr>
          <a:xfrm>
            <a:off x="736600" y="1905000"/>
            <a:ext cx="9652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1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412797-F0C1-AC4D-2476-03D559EA3ABD}"/>
              </a:ext>
            </a:extLst>
          </p:cNvPr>
          <p:cNvSpPr txBox="1"/>
          <p:nvPr/>
        </p:nvSpPr>
        <p:spPr>
          <a:xfrm>
            <a:off x="787400" y="28575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参数、图像、表格与不同设置下的性能比较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F60491C-D4D6-AF4F-9CD9-D008E78E151F}"/>
              </a:ext>
            </a:extLst>
          </p:cNvPr>
          <p:cNvCxnSpPr/>
          <p:nvPr/>
        </p:nvCxnSpPr>
        <p:spPr>
          <a:xfrm>
            <a:off x="787400" y="3708400"/>
            <a:ext cx="25146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728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B505F2-401B-0EAD-C655-7D18761E76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09AF7C-3C52-C8F4-1C07-352FC0ADE0E5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573133-4D70-A6D6-9E39-F2DD57734F8C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4EAD06-63BE-2DD3-23B7-0720C62258A6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PARAMETER ESTIMATION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02F9E1-EFFC-C608-96C4-6293C9108328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训练集估计参数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F4056AD-2F30-F51A-4064-50574D1DF6E3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5A390DF-F393-0169-864C-CD78DA003E42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B64265-7B46-B65C-B160-486B680AF30E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1CC8051-5A19-F6C4-1C48-DCA61DEC1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833467"/>
              </p:ext>
            </p:extLst>
          </p:nvPr>
        </p:nvGraphicFramePr>
        <p:xfrm>
          <a:off x="889000" y="1498600"/>
          <a:ext cx="104140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333">
                  <a:extLst>
                    <a:ext uri="{9D8B030D-6E8A-4147-A177-3AD203B41FA5}">
                      <a16:colId xmlns:a16="http://schemas.microsoft.com/office/drawing/2014/main" val="3231334522"/>
                    </a:ext>
                  </a:extLst>
                </a:gridCol>
                <a:gridCol w="3471333">
                  <a:extLst>
                    <a:ext uri="{9D8B030D-6E8A-4147-A177-3AD203B41FA5}">
                      <a16:colId xmlns:a16="http://schemas.microsoft.com/office/drawing/2014/main" val="3975987353"/>
                    </a:ext>
                  </a:extLst>
                </a:gridCol>
                <a:gridCol w="3471333">
                  <a:extLst>
                    <a:ext uri="{9D8B030D-6E8A-4147-A177-3AD203B41FA5}">
                      <a16:colId xmlns:a16="http://schemas.microsoft.com/office/drawing/2014/main" val="2729736473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类别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均值向量 </a:t>
                      </a:r>
                      <a:r>
                        <a:rPr lang="el-GR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μ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协方差矩阵 </a:t>
                      </a:r>
                      <a:r>
                        <a:rPr lang="el-GR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Σ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825412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女生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F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[162.84, 52.596]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[[43.934, 15.525], [15.525, 31.129]]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26208460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男生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M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[173.92, 65.502]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[[20.754, 23.058], [23.058, 59.898]]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63916855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E1ADBBE-8087-1759-86B6-0F42ED634BBC}"/>
              </a:ext>
            </a:extLst>
          </p:cNvPr>
          <p:cNvSpPr txBox="1"/>
          <p:nvPr/>
        </p:nvSpPr>
        <p:spPr>
          <a:xfrm>
            <a:off x="1168400" y="4000500"/>
            <a:ext cx="9652000" cy="5950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男生平均身高和平均体重均高于女生，这是分类的主要依据。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协方差矩阵非对角元素不为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0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，说明身高和体重之间存在一定相关性。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协方差估计是否可靠，会影响完整协方差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的测试表现。</a:t>
            </a:r>
          </a:p>
        </p:txBody>
      </p:sp>
    </p:spTree>
    <p:extLst>
      <p:ext uri="{BB962C8B-B14F-4D97-AF65-F5344CB8AC3E}">
        <p14:creationId xmlns:p14="http://schemas.microsoft.com/office/powerpoint/2010/main" val="3057844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5D8ABB-5D12-6247-183D-0D262B24EF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F5701D-E7FF-B78B-33E1-58187EED30F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C44A41-967A-2298-4EAB-B3506C356871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7B63CD-A0AD-1B4B-B6EF-9CBDB5556456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FIGURE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FEFFBB-365B-3E8B-ECF1-4E7125F3F234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样本分布图：身高与体重的可分性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171697E-1AF7-E936-1F24-E12C207B8123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700BB4C-C227-F531-3F1E-D1F9B2B116BF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AAC0B7-9725-4338-9A1D-A4B9BEFBBB8A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68ADFCA-3F5F-E7C8-09D1-0E499E5ADD28}"/>
              </a:ext>
            </a:extLst>
          </p:cNvPr>
          <p:cNvSpPr/>
          <p:nvPr/>
        </p:nvSpPr>
        <p:spPr>
          <a:xfrm>
            <a:off x="990600" y="1397000"/>
            <a:ext cx="6604000" cy="4318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A3AE4E0-DB8E-F7D5-FBB5-D1EA41C6C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915" y="1611940"/>
            <a:ext cx="5443370" cy="3888121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06FB272-33BA-2E75-D5D1-51222C2E91E4}"/>
              </a:ext>
            </a:extLst>
          </p:cNvPr>
          <p:cNvSpPr/>
          <p:nvPr/>
        </p:nvSpPr>
        <p:spPr>
          <a:xfrm>
            <a:off x="8128000" y="1651000"/>
            <a:ext cx="2921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6AE652-6B58-C536-48BF-394346387F5E}"/>
              </a:ext>
            </a:extLst>
          </p:cNvPr>
          <p:cNvSpPr/>
          <p:nvPr/>
        </p:nvSpPr>
        <p:spPr>
          <a:xfrm>
            <a:off x="8128000" y="1651000"/>
            <a:ext cx="76200" cy="1016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4A62CB-0088-B23F-256B-BFBF2F0AD7C9}"/>
              </a:ext>
            </a:extLst>
          </p:cNvPr>
          <p:cNvSpPr txBox="1"/>
          <p:nvPr/>
        </p:nvSpPr>
        <p:spPr>
          <a:xfrm>
            <a:off x="8318500" y="17780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57C1D45-B17D-682F-5031-C1DDAB958264}"/>
              </a:ext>
            </a:extLst>
          </p:cNvPr>
          <p:cNvSpPr txBox="1"/>
          <p:nvPr/>
        </p:nvSpPr>
        <p:spPr>
          <a:xfrm>
            <a:off x="8318500" y="20828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男生样本整体位于更高身高、更高体重区域。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8B1F8CA-C78F-470D-09E8-9D18C9D7B9A7}"/>
              </a:ext>
            </a:extLst>
          </p:cNvPr>
          <p:cNvSpPr/>
          <p:nvPr/>
        </p:nvSpPr>
        <p:spPr>
          <a:xfrm>
            <a:off x="8128000" y="3111500"/>
            <a:ext cx="2921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6C177C-312F-EFCF-B309-50DEC4F3E5E1}"/>
              </a:ext>
            </a:extLst>
          </p:cNvPr>
          <p:cNvSpPr/>
          <p:nvPr/>
        </p:nvSpPr>
        <p:spPr>
          <a:xfrm>
            <a:off x="8128000" y="3111500"/>
            <a:ext cx="76200" cy="1016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3FBEAE9-3477-9EC0-EDC4-D26B5E1A3BFD}"/>
              </a:ext>
            </a:extLst>
          </p:cNvPr>
          <p:cNvSpPr txBox="1"/>
          <p:nvPr/>
        </p:nvSpPr>
        <p:spPr>
          <a:xfrm>
            <a:off x="8318500" y="32385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383F6FE-ACEF-4D6D-4DE2-E45D2480896C}"/>
              </a:ext>
            </a:extLst>
          </p:cNvPr>
          <p:cNvSpPr txBox="1"/>
          <p:nvPr/>
        </p:nvSpPr>
        <p:spPr>
          <a:xfrm>
            <a:off x="8318500" y="35433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两类样本在边界区域存在重叠，因此无法完全无误分类。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F9BB023-8238-C24A-B7F5-637820B44C20}"/>
              </a:ext>
            </a:extLst>
          </p:cNvPr>
          <p:cNvSpPr/>
          <p:nvPr/>
        </p:nvSpPr>
        <p:spPr>
          <a:xfrm>
            <a:off x="8128000" y="4572000"/>
            <a:ext cx="2921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4C07A9-2B44-06E2-0819-AFEFEF637102}"/>
              </a:ext>
            </a:extLst>
          </p:cNvPr>
          <p:cNvSpPr/>
          <p:nvPr/>
        </p:nvSpPr>
        <p:spPr>
          <a:xfrm>
            <a:off x="8128000" y="4572000"/>
            <a:ext cx="76200" cy="1016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A3B583-DA8D-F522-AE66-362B6C4F50B4}"/>
              </a:ext>
            </a:extLst>
          </p:cNvPr>
          <p:cNvSpPr txBox="1"/>
          <p:nvPr/>
        </p:nvSpPr>
        <p:spPr>
          <a:xfrm>
            <a:off x="8318500" y="46990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观察 </a:t>
            </a:r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B9C1B0-5D40-8322-FAE4-0E66E7D91602}"/>
              </a:ext>
            </a:extLst>
          </p:cNvPr>
          <p:cNvSpPr txBox="1"/>
          <p:nvPr/>
        </p:nvSpPr>
        <p:spPr>
          <a:xfrm>
            <a:off x="8318500" y="50038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test1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样本基本落在训练集分布附近，测试准确率较高。</a:t>
            </a:r>
          </a:p>
        </p:txBody>
      </p:sp>
    </p:spTree>
    <p:extLst>
      <p:ext uri="{BB962C8B-B14F-4D97-AF65-F5344CB8AC3E}">
        <p14:creationId xmlns:p14="http://schemas.microsoft.com/office/powerpoint/2010/main" val="3997995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2D7694-2D42-D336-0D7C-F89E9BF74C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0E5378-B6DB-5B83-1663-79FF2C1E25FC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2D1288-5765-7D1D-3D6D-938A5628370B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1916CE-DCE2-971F-2EEE-16D02861614A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FIGURE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125FCB-0241-AF48-62EA-477C077328D6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二维 </a:t>
            </a:r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决策边界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D59A2C1-2F82-D7B2-BC02-5AA95F3C4A09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1972D0E-8381-0FD1-4F66-646690EF7678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F55BAF-AE0C-2E78-043F-6EE8F872C212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44BD94C-229B-469C-2B4A-ACE89167D5FF}"/>
              </a:ext>
            </a:extLst>
          </p:cNvPr>
          <p:cNvSpPr/>
          <p:nvPr/>
        </p:nvSpPr>
        <p:spPr>
          <a:xfrm>
            <a:off x="952500" y="1371600"/>
            <a:ext cx="6794500" cy="444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784C97F-79E0-BFC7-B711-4CE50521E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638" y="1531164"/>
            <a:ext cx="5776223" cy="4125873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1C2EDF0-ECD2-887E-9011-36AE13524DF9}"/>
              </a:ext>
            </a:extLst>
          </p:cNvPr>
          <p:cNvSpPr/>
          <p:nvPr/>
        </p:nvSpPr>
        <p:spPr>
          <a:xfrm>
            <a:off x="8255000" y="15240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A482A2-42BA-2E9E-A492-8534968F7966}"/>
              </a:ext>
            </a:extLst>
          </p:cNvPr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F78B35-5F0C-467D-CEB0-08F765FBE5DE}"/>
              </a:ext>
            </a:extLst>
          </p:cNvPr>
          <p:cNvSpPr txBox="1"/>
          <p:nvPr/>
        </p:nvSpPr>
        <p:spPr>
          <a:xfrm>
            <a:off x="8445500" y="16510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边界含义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44DA04-057A-3D46-402F-F2AB8184F337}"/>
              </a:ext>
            </a:extLst>
          </p:cNvPr>
          <p:cNvSpPr txBox="1"/>
          <p:nvPr/>
        </p:nvSpPr>
        <p:spPr>
          <a:xfrm>
            <a:off x="8445500" y="1955800"/>
            <a:ext cx="2616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黑色曲线是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gF(x)=gM(x)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的位置，两侧分别判为女生或男生。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F7F63E6-A950-3728-26ED-232D98CD56A4}"/>
              </a:ext>
            </a:extLst>
          </p:cNvPr>
          <p:cNvSpPr/>
          <p:nvPr/>
        </p:nvSpPr>
        <p:spPr>
          <a:xfrm>
            <a:off x="8255000" y="31115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8578BA-5914-35B3-A8AD-8B1F32BD3A1D}"/>
              </a:ext>
            </a:extLst>
          </p:cNvPr>
          <p:cNvSpPr/>
          <p:nvPr/>
        </p:nvSpPr>
        <p:spPr>
          <a:xfrm>
            <a:off x="8255000" y="31115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7BCCE8-593A-619F-C317-E77DC53AC605}"/>
              </a:ext>
            </a:extLst>
          </p:cNvPr>
          <p:cNvSpPr txBox="1"/>
          <p:nvPr/>
        </p:nvSpPr>
        <p:spPr>
          <a:xfrm>
            <a:off x="8445500" y="32385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为何非线性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649D09-AD52-F9B4-7352-9BEC516835CD}"/>
              </a:ext>
            </a:extLst>
          </p:cNvPr>
          <p:cNvSpPr txBox="1"/>
          <p:nvPr/>
        </p:nvSpPr>
        <p:spPr>
          <a:xfrm>
            <a:off x="8445500" y="35433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两类协方差不同，因此高斯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形成二次判别边界。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85CCBA5-E067-D9FE-49E9-9C61EB51ABEF}"/>
              </a:ext>
            </a:extLst>
          </p:cNvPr>
          <p:cNvSpPr/>
          <p:nvPr/>
        </p:nvSpPr>
        <p:spPr>
          <a:xfrm>
            <a:off x="8255000" y="4699000"/>
            <a:ext cx="2921000" cy="889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E24906-464C-E756-0568-A778C2E773BB}"/>
              </a:ext>
            </a:extLst>
          </p:cNvPr>
          <p:cNvSpPr/>
          <p:nvPr/>
        </p:nvSpPr>
        <p:spPr>
          <a:xfrm>
            <a:off x="8255000" y="4699000"/>
            <a:ext cx="76200" cy="889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B877A3-734D-6479-D9A0-33C873A2C903}"/>
              </a:ext>
            </a:extLst>
          </p:cNvPr>
          <p:cNvSpPr txBox="1"/>
          <p:nvPr/>
        </p:nvSpPr>
        <p:spPr>
          <a:xfrm>
            <a:off x="8445500" y="48260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分类错误来源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80BC9CC-76B9-839F-23D4-C3483F6AB12A}"/>
              </a:ext>
            </a:extLst>
          </p:cNvPr>
          <p:cNvSpPr txBox="1"/>
          <p:nvPr/>
        </p:nvSpPr>
        <p:spPr>
          <a:xfrm>
            <a:off x="8445500" y="5130800"/>
            <a:ext cx="2616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边界附近样本重叠，是主要错误来源。</a:t>
            </a:r>
          </a:p>
        </p:txBody>
      </p:sp>
    </p:spTree>
    <p:extLst>
      <p:ext uri="{BB962C8B-B14F-4D97-AF65-F5344CB8AC3E}">
        <p14:creationId xmlns:p14="http://schemas.microsoft.com/office/powerpoint/2010/main" val="1608976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3BB874-5E64-7334-217F-09F878F735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F1D0A0-22BC-0CAF-0036-23A8E85F24F6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35A003-94D2-D2E0-8AA3-9BA386026A56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80609E-7D24-624B-1402-09A866410076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TABLE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644CF5-A2F1-02F1-3624-C73BC7959B99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主要分类结果总表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7B1F2C0-D079-02EE-84F6-4E3A01C638B1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7B63045-B084-5E22-F86E-045D9281D0E8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8E2F20-11CF-11C6-ACD4-9256F58F30CC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88DEBD9-C197-A56C-52E0-CCF50B6E9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294869"/>
              </p:ext>
            </p:extLst>
          </p:nvPr>
        </p:nvGraphicFramePr>
        <p:xfrm>
          <a:off x="482600" y="1333500"/>
          <a:ext cx="11239500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1113262537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913836099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1274213625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3103613987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826829455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设置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2843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单特征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只用身高，等先验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91.00%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574015257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单特征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只用体重，等先验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82.00%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96026072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二维相关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完整协方差，等先验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5404557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二维不相关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对角协方差，等先验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6291066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自定义损失表</a:t>
                      </a: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7444387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h=5.0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85200777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k=5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0846379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5FD2008-791E-9D06-D95E-C0FF8B7BA7BE}"/>
              </a:ext>
            </a:extLst>
          </p:cNvPr>
          <p:cNvSpPr txBox="1"/>
          <p:nvPr/>
        </p:nvSpPr>
        <p:spPr>
          <a:xfrm>
            <a:off x="889000" y="57404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B1220"/>
                </a:solidFill>
                <a:latin typeface="Microsoft YaHei" panose="020B0503020204020204" pitchFamily="34" charset="-122"/>
              </a:rPr>
              <a:t>表中结果说明：二维特征整体更稳定，非参数方法与参数 </a:t>
            </a:r>
            <a:r>
              <a:rPr lang="en-US" altLang="zh-CN" sz="1200" b="1">
                <a:solidFill>
                  <a:srgbClr val="0B122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 b="1">
                <a:solidFill>
                  <a:srgbClr val="0B1220"/>
                </a:solidFill>
                <a:latin typeface="Microsoft YaHei" panose="020B0503020204020204" pitchFamily="34" charset="-122"/>
              </a:rPr>
              <a:t>表现接近。</a:t>
            </a:r>
          </a:p>
        </p:txBody>
      </p:sp>
    </p:spTree>
    <p:extLst>
      <p:ext uri="{BB962C8B-B14F-4D97-AF65-F5344CB8AC3E}">
        <p14:creationId xmlns:p14="http://schemas.microsoft.com/office/powerpoint/2010/main" val="2041654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B713535-EA5E-698B-E234-8C9CF20ED3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8C12EF-F594-C9D5-E932-D3AF34183BD0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F595DD-F4B9-AE05-6A3D-BABD2B27A207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1B9596-F0B9-501E-AB67-B01AB7F65FAC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30D711-1BA8-D090-15F3-62827FC79233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单特征对比：身高优于体重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73E8ED4-91AF-458F-5858-6491D7CCCD36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47BB52-0521-0A13-BD64-8B40F35AEE32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3C327D-6F3E-33CA-75CE-298CEC27982F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FED103-A6FF-2C8D-71A7-3EBA628C3FF2}"/>
              </a:ext>
            </a:extLst>
          </p:cNvPr>
          <p:cNvSpPr/>
          <p:nvPr/>
        </p:nvSpPr>
        <p:spPr>
          <a:xfrm>
            <a:off x="1206500" y="1587500"/>
            <a:ext cx="2286000" cy="8890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5E4DA0-0E72-3F85-1B7E-EB2DB20A19BC}"/>
              </a:ext>
            </a:extLst>
          </p:cNvPr>
          <p:cNvSpPr txBox="1"/>
          <p:nvPr/>
        </p:nvSpPr>
        <p:spPr>
          <a:xfrm>
            <a:off x="1358900" y="1689100"/>
            <a:ext cx="2006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0F766E"/>
                </a:solidFill>
                <a:latin typeface="Microsoft YaHei" panose="020B0503020204020204" pitchFamily="34" charset="-122"/>
              </a:rPr>
              <a:t>91.00%</a:t>
            </a:r>
            <a:endParaRPr lang="zh-CN" altLang="en-US" sz="19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0762B7-81AC-97FE-CD7F-91A1B36BB94E}"/>
              </a:ext>
            </a:extLst>
          </p:cNvPr>
          <p:cNvSpPr txBox="1"/>
          <p:nvPr/>
        </p:nvSpPr>
        <p:spPr>
          <a:xfrm>
            <a:off x="1358900" y="2108200"/>
            <a:ext cx="2006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只用身高 </a:t>
            </a:r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7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E5EA349-E71A-69CE-8C1B-02A9D91A33DF}"/>
              </a:ext>
            </a:extLst>
          </p:cNvPr>
          <p:cNvSpPr/>
          <p:nvPr/>
        </p:nvSpPr>
        <p:spPr>
          <a:xfrm>
            <a:off x="4064000" y="1587500"/>
            <a:ext cx="2286000" cy="8890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FD735C-55DD-92B8-61BB-5F8726038021}"/>
              </a:ext>
            </a:extLst>
          </p:cNvPr>
          <p:cNvSpPr txBox="1"/>
          <p:nvPr/>
        </p:nvSpPr>
        <p:spPr>
          <a:xfrm>
            <a:off x="4216400" y="1689100"/>
            <a:ext cx="2006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1D4ED8"/>
                </a:solidFill>
                <a:latin typeface="Microsoft YaHei" panose="020B0503020204020204" pitchFamily="34" charset="-122"/>
              </a:rPr>
              <a:t>85.33%</a:t>
            </a:r>
            <a:endParaRPr lang="zh-CN" altLang="en-US" sz="1900" b="1">
              <a:solidFill>
                <a:srgbClr val="1D4ED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50995E-80B1-0DA1-4EBC-FF8CF56391B6}"/>
              </a:ext>
            </a:extLst>
          </p:cNvPr>
          <p:cNvSpPr txBox="1"/>
          <p:nvPr/>
        </p:nvSpPr>
        <p:spPr>
          <a:xfrm>
            <a:off x="4216400" y="2108200"/>
            <a:ext cx="2006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只用体重 </a:t>
            </a:r>
            <a:r>
              <a:rPr lang="en-US" altLang="zh-CN" sz="700">
                <a:solidFill>
                  <a:srgbClr val="64748B"/>
                </a:solidFill>
                <a:latin typeface="Microsoft YaHei" panose="020B0503020204020204" pitchFamily="34" charset="-122"/>
              </a:rPr>
              <a:t>test2</a:t>
            </a:r>
            <a:endParaRPr lang="zh-CN" altLang="en-US" sz="7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3F45252-F5A8-0BE4-0992-E79C021D7626}"/>
              </a:ext>
            </a:extLst>
          </p:cNvPr>
          <p:cNvSpPr/>
          <p:nvPr/>
        </p:nvSpPr>
        <p:spPr>
          <a:xfrm>
            <a:off x="6921500" y="1587500"/>
            <a:ext cx="2286000" cy="889000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669E18-EFD2-183E-5F89-CBF79B62FF59}"/>
              </a:ext>
            </a:extLst>
          </p:cNvPr>
          <p:cNvSpPr txBox="1"/>
          <p:nvPr/>
        </p:nvSpPr>
        <p:spPr>
          <a:xfrm>
            <a:off x="7073900" y="1689100"/>
            <a:ext cx="2006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F59E0B"/>
                </a:solidFill>
                <a:latin typeface="Microsoft YaHei" panose="020B0503020204020204" pitchFamily="34" charset="-122"/>
              </a:rPr>
              <a:t>+5.67%</a:t>
            </a:r>
            <a:endParaRPr lang="zh-CN" altLang="en-US" sz="19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AD8F74-1DA0-1667-8C6A-3357A9CCD304}"/>
              </a:ext>
            </a:extLst>
          </p:cNvPr>
          <p:cNvSpPr txBox="1"/>
          <p:nvPr/>
        </p:nvSpPr>
        <p:spPr>
          <a:xfrm>
            <a:off x="7073900" y="2108200"/>
            <a:ext cx="2006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64748B"/>
                </a:solidFill>
                <a:latin typeface="Microsoft YaHei" panose="020B0503020204020204" pitchFamily="34" charset="-122"/>
              </a:rPr>
              <a:t>身高相对提升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5D43BEB-9054-803E-5BD6-4BE20A5EE8A9}"/>
              </a:ext>
            </a:extLst>
          </p:cNvPr>
          <p:cNvSpPr/>
          <p:nvPr/>
        </p:nvSpPr>
        <p:spPr>
          <a:xfrm>
            <a:off x="1270000" y="3302000"/>
            <a:ext cx="9525000" cy="1206500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EFA560-5C4B-1FC1-7D82-C48016943DBD}"/>
              </a:ext>
            </a:extLst>
          </p:cNvPr>
          <p:cNvSpPr txBox="1"/>
          <p:nvPr/>
        </p:nvSpPr>
        <p:spPr>
          <a:xfrm>
            <a:off x="1651000" y="3708400"/>
            <a:ext cx="8763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F766E"/>
                </a:solidFill>
                <a:latin typeface="Microsoft YaHei" panose="020B0503020204020204" pitchFamily="34" charset="-122"/>
              </a:rPr>
              <a:t>解释：在该数据集中，男女性别差异在身高上更明显；体重受个体差异影响更大，因此单独使用体重分类效果较弱。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B40D36-C3F7-D97F-5751-90D23401B806}"/>
              </a:ext>
            </a:extLst>
          </p:cNvPr>
          <p:cNvSpPr txBox="1"/>
          <p:nvPr/>
        </p:nvSpPr>
        <p:spPr>
          <a:xfrm>
            <a:off x="1270000" y="5080000"/>
            <a:ext cx="9652000" cy="5950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身高一维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上达到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91.00%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体重一维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上为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85.33%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这说明特征选择会显著影响模式分类性能。</a:t>
            </a:r>
          </a:p>
        </p:txBody>
      </p:sp>
    </p:spTree>
    <p:extLst>
      <p:ext uri="{BB962C8B-B14F-4D97-AF65-F5344CB8AC3E}">
        <p14:creationId xmlns:p14="http://schemas.microsoft.com/office/powerpoint/2010/main" val="784748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D281A0-E97C-11A2-D681-7143D21C77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856799-BFB8-6E29-023F-5DFE5C1315B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121906-757D-271D-3CA3-E7BBBEA59710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991B90-7D09-5C2D-D476-CC706B671E80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316E15-3DCD-F892-C265-9716C8FA65F9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二维特征与协方差假设对比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2C2A126-3D39-5104-7716-3B1084895A50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95E458A-A29B-2306-83B0-DE441FE73804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D247CF-FA09-5AFA-E02C-FB502AACE76B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18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537FCEF-6F8E-DB0E-A2FA-9278EC1D0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511522"/>
              </p:ext>
            </p:extLst>
          </p:nvPr>
        </p:nvGraphicFramePr>
        <p:xfrm>
          <a:off x="1397000" y="1524000"/>
          <a:ext cx="9398000" cy="146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3246199220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371023041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942325222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481456587"/>
                    </a:ext>
                  </a:extLst>
                </a:gridCol>
              </a:tblGrid>
              <a:tr h="486833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模型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966071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完整协方差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379214795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对角协方差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4053981891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C704873-DAE8-98B6-CA69-1059904C3AEE}"/>
              </a:ext>
            </a:extLst>
          </p:cNvPr>
          <p:cNvSpPr/>
          <p:nvPr/>
        </p:nvSpPr>
        <p:spPr>
          <a:xfrm>
            <a:off x="1524000" y="3619500"/>
            <a:ext cx="38100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865836-EEB7-8879-99D5-FDFFA087AEDA}"/>
              </a:ext>
            </a:extLst>
          </p:cNvPr>
          <p:cNvSpPr/>
          <p:nvPr/>
        </p:nvSpPr>
        <p:spPr>
          <a:xfrm>
            <a:off x="1524000" y="3619500"/>
            <a:ext cx="76200" cy="1206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763FEB-6095-7788-AB75-D16C6C2742F7}"/>
              </a:ext>
            </a:extLst>
          </p:cNvPr>
          <p:cNvSpPr txBox="1"/>
          <p:nvPr/>
        </p:nvSpPr>
        <p:spPr>
          <a:xfrm>
            <a:off x="1714500" y="3746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完整协方差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1CEC6B-F662-A57C-4AF4-27F5FEB9B602}"/>
              </a:ext>
            </a:extLst>
          </p:cNvPr>
          <p:cNvSpPr txBox="1"/>
          <p:nvPr/>
        </p:nvSpPr>
        <p:spPr>
          <a:xfrm>
            <a:off x="1714500" y="40513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能表达身高和体重相关性，模型更灵活，但参数估计方差较大。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2E0FFCC-6385-B01A-6E8A-DF3D7D5B4F5A}"/>
              </a:ext>
            </a:extLst>
          </p:cNvPr>
          <p:cNvSpPr/>
          <p:nvPr/>
        </p:nvSpPr>
        <p:spPr>
          <a:xfrm>
            <a:off x="6858000" y="3619500"/>
            <a:ext cx="38100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18502D-F547-BA5F-9704-7FB8A05D89D2}"/>
              </a:ext>
            </a:extLst>
          </p:cNvPr>
          <p:cNvSpPr/>
          <p:nvPr/>
        </p:nvSpPr>
        <p:spPr>
          <a:xfrm>
            <a:off x="6858000" y="3619500"/>
            <a:ext cx="76200" cy="1206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45AE00-D1BD-79DB-7DBD-C5B5D75B5458}"/>
              </a:ext>
            </a:extLst>
          </p:cNvPr>
          <p:cNvSpPr txBox="1"/>
          <p:nvPr/>
        </p:nvSpPr>
        <p:spPr>
          <a:xfrm>
            <a:off x="7048500" y="3746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对角协方差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2A7F38-D343-5E54-830F-158013282339}"/>
              </a:ext>
            </a:extLst>
          </p:cNvPr>
          <p:cNvSpPr txBox="1"/>
          <p:nvPr/>
        </p:nvSpPr>
        <p:spPr>
          <a:xfrm>
            <a:off x="7048500" y="40513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忽略相关性，参数更少，在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上反而略好，说明小样本下更稳定。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36FE34-EDC5-FC9F-5E0F-8944D69F12CA}"/>
              </a:ext>
            </a:extLst>
          </p:cNvPr>
          <p:cNvSpPr txBox="1"/>
          <p:nvPr/>
        </p:nvSpPr>
        <p:spPr>
          <a:xfrm>
            <a:off x="1651000" y="5461000"/>
            <a:ext cx="8890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B1220"/>
                </a:solidFill>
                <a:latin typeface="Microsoft YaHei" panose="020B0503020204020204" pitchFamily="34" charset="-122"/>
              </a:rPr>
              <a:t>结论：模型复杂度并非越高越好，需要结合样本规模和测试表现判断。</a:t>
            </a:r>
          </a:p>
        </p:txBody>
      </p:sp>
    </p:spTree>
    <p:extLst>
      <p:ext uri="{BB962C8B-B14F-4D97-AF65-F5344CB8AC3E}">
        <p14:creationId xmlns:p14="http://schemas.microsoft.com/office/powerpoint/2010/main" val="3376302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ED1052A-7B4C-0F6F-8A61-E1EDFDEF6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32AE41-D395-A861-E5A7-5E47A1E03602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7E53A6-34AC-49E8-66B8-03FC31E2F971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B70CED-4CD8-F990-6C45-F72D1FABB7DD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931492-369C-BD9B-27CA-3B4014BB167D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先验概率影响实验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6C0F3C7-1FDC-25E6-B5D0-237BFD6CB093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E950ED-1743-4A8C-CDA4-AED456C4C6F4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831810-C1A3-42F7-AC77-EF9BA33C48AF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19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370CD76-505D-B919-6FBE-3789CB327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500971"/>
              </p:ext>
            </p:extLst>
          </p:nvPr>
        </p:nvGraphicFramePr>
        <p:xfrm>
          <a:off x="1244600" y="1498600"/>
          <a:ext cx="9652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3754396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503725256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29176328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470993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先验设置</a:t>
                      </a:r>
                    </a:p>
                  </a:txBody>
                  <a:tcPr marL="38100" marR="38100" marT="25400" marB="25400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marL="38100" marR="38100" marT="25400" marB="25400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6759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P(F)=0.50, P(M)=0.50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11837914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P(F)=0.75, P(M)=0.25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86.00%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85.71%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53265845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P(F)=0.90, P(M)=0.10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79.00%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67.33%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62051651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E5C2FCFB-9606-B5BA-4EA1-9BB45FE542F0}"/>
              </a:ext>
            </a:extLst>
          </p:cNvPr>
          <p:cNvSpPr txBox="1"/>
          <p:nvPr/>
        </p:nvSpPr>
        <p:spPr>
          <a:xfrm>
            <a:off x="1714500" y="3937000"/>
            <a:ext cx="2006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475569"/>
                </a:solidFill>
                <a:latin typeface="Microsoft YaHei" panose="020B0503020204020204" pitchFamily="34" charset="-122"/>
              </a:rPr>
              <a:t>等先验 </a:t>
            </a:r>
            <a:r>
              <a:rPr lang="en-US" altLang="zh-CN" sz="700">
                <a:solidFill>
                  <a:srgbClr val="475569"/>
                </a:solidFill>
                <a:latin typeface="Microsoft YaHei" panose="020B0503020204020204" pitchFamily="34" charset="-122"/>
              </a:rPr>
              <a:t>test2 acc.</a:t>
            </a:r>
            <a:endParaRPr lang="zh-CN" altLang="en-US" sz="700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B2B9A8-059B-FFBD-750F-F704FFD076CD}"/>
              </a:ext>
            </a:extLst>
          </p:cNvPr>
          <p:cNvSpPr/>
          <p:nvPr/>
        </p:nvSpPr>
        <p:spPr>
          <a:xfrm>
            <a:off x="3848100" y="3987800"/>
            <a:ext cx="2286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4548BE-6E34-C15B-409B-B5DCE3C6C10D}"/>
              </a:ext>
            </a:extLst>
          </p:cNvPr>
          <p:cNvSpPr/>
          <p:nvPr/>
        </p:nvSpPr>
        <p:spPr>
          <a:xfrm>
            <a:off x="3848100" y="3987800"/>
            <a:ext cx="2042084" cy="889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E5B12C-0EF5-8680-C9B7-47C60992F4BC}"/>
              </a:ext>
            </a:extLst>
          </p:cNvPr>
          <p:cNvSpPr txBox="1"/>
          <p:nvPr/>
        </p:nvSpPr>
        <p:spPr>
          <a:xfrm>
            <a:off x="6235700" y="3924300"/>
            <a:ext cx="6858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B1220"/>
                </a:solidFill>
                <a:latin typeface="Microsoft YaHei" panose="020B0503020204020204" pitchFamily="34" charset="-122"/>
              </a:rPr>
              <a:t>89.33%</a:t>
            </a:r>
            <a:endParaRPr lang="zh-CN" altLang="en-US" sz="7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923A62-D7F7-73A2-7524-1674D020D27A}"/>
              </a:ext>
            </a:extLst>
          </p:cNvPr>
          <p:cNvSpPr txBox="1"/>
          <p:nvPr/>
        </p:nvSpPr>
        <p:spPr>
          <a:xfrm>
            <a:off x="1714500" y="4445000"/>
            <a:ext cx="2006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475569"/>
                </a:solidFill>
                <a:latin typeface="Microsoft YaHei" panose="020B0503020204020204" pitchFamily="34" charset="-122"/>
              </a:rPr>
              <a:t>女生先验 </a:t>
            </a:r>
            <a:r>
              <a:rPr lang="en-US" altLang="zh-CN" sz="700">
                <a:solidFill>
                  <a:srgbClr val="475569"/>
                </a:solidFill>
                <a:latin typeface="Microsoft YaHei" panose="020B0503020204020204" pitchFamily="34" charset="-122"/>
              </a:rPr>
              <a:t>0.75 test2 acc.</a:t>
            </a:r>
            <a:endParaRPr lang="zh-CN" altLang="en-US" sz="700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8CE756-9653-4697-1331-3A81DD514A71}"/>
              </a:ext>
            </a:extLst>
          </p:cNvPr>
          <p:cNvSpPr/>
          <p:nvPr/>
        </p:nvSpPr>
        <p:spPr>
          <a:xfrm>
            <a:off x="3848100" y="4495800"/>
            <a:ext cx="2286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B44DDF-A4BA-341B-134D-7B3362FBD3FF}"/>
              </a:ext>
            </a:extLst>
          </p:cNvPr>
          <p:cNvSpPr/>
          <p:nvPr/>
        </p:nvSpPr>
        <p:spPr>
          <a:xfrm>
            <a:off x="3848100" y="4495800"/>
            <a:ext cx="1828800" cy="889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8C0DA4-1028-3B61-9503-E5E9A0E588A3}"/>
              </a:ext>
            </a:extLst>
          </p:cNvPr>
          <p:cNvSpPr txBox="1"/>
          <p:nvPr/>
        </p:nvSpPr>
        <p:spPr>
          <a:xfrm>
            <a:off x="6235700" y="4432300"/>
            <a:ext cx="6858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B1220"/>
                </a:solidFill>
                <a:latin typeface="Microsoft YaHei" panose="020B0503020204020204" pitchFamily="34" charset="-122"/>
              </a:rPr>
              <a:t>80.00%</a:t>
            </a:r>
            <a:endParaRPr lang="zh-CN" altLang="en-US" sz="7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025DE09-E2E9-4C92-55BB-E6D0AB0640F4}"/>
              </a:ext>
            </a:extLst>
          </p:cNvPr>
          <p:cNvSpPr txBox="1"/>
          <p:nvPr/>
        </p:nvSpPr>
        <p:spPr>
          <a:xfrm>
            <a:off x="1714500" y="4953000"/>
            <a:ext cx="2006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475569"/>
                </a:solidFill>
                <a:latin typeface="Microsoft YaHei" panose="020B0503020204020204" pitchFamily="34" charset="-122"/>
              </a:rPr>
              <a:t>女生先验 </a:t>
            </a:r>
            <a:r>
              <a:rPr lang="en-US" altLang="zh-CN" sz="700">
                <a:solidFill>
                  <a:srgbClr val="475569"/>
                </a:solidFill>
                <a:latin typeface="Microsoft YaHei" panose="020B0503020204020204" pitchFamily="34" charset="-122"/>
              </a:rPr>
              <a:t>0.90 test2 acc.</a:t>
            </a:r>
            <a:endParaRPr lang="zh-CN" altLang="en-US" sz="700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D75BC4-1D76-96BB-AA70-5D0DB54244F8}"/>
              </a:ext>
            </a:extLst>
          </p:cNvPr>
          <p:cNvSpPr/>
          <p:nvPr/>
        </p:nvSpPr>
        <p:spPr>
          <a:xfrm>
            <a:off x="3848100" y="5003800"/>
            <a:ext cx="2286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4F822FA-4CF2-7EA9-BABC-3E38F29FF779}"/>
              </a:ext>
            </a:extLst>
          </p:cNvPr>
          <p:cNvSpPr/>
          <p:nvPr/>
        </p:nvSpPr>
        <p:spPr>
          <a:xfrm>
            <a:off x="3848100" y="5003800"/>
            <a:ext cx="1539164" cy="889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CE5BA5-2F5B-5E17-65E4-0B9ADA6A68CE}"/>
              </a:ext>
            </a:extLst>
          </p:cNvPr>
          <p:cNvSpPr txBox="1"/>
          <p:nvPr/>
        </p:nvSpPr>
        <p:spPr>
          <a:xfrm>
            <a:off x="6235700" y="4940300"/>
            <a:ext cx="6858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B1220"/>
                </a:solidFill>
                <a:latin typeface="Microsoft YaHei" panose="020B0503020204020204" pitchFamily="34" charset="-122"/>
              </a:rPr>
              <a:t>67.33%</a:t>
            </a:r>
            <a:endParaRPr lang="zh-CN" altLang="en-US" sz="7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0C591A6-15CC-3EB6-4103-541F2DE65E5C}"/>
              </a:ext>
            </a:extLst>
          </p:cNvPr>
          <p:cNvSpPr/>
          <p:nvPr/>
        </p:nvSpPr>
        <p:spPr>
          <a:xfrm>
            <a:off x="7239000" y="4000500"/>
            <a:ext cx="3302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3A5B3F9-0B77-DD79-09D1-650564E62A91}"/>
              </a:ext>
            </a:extLst>
          </p:cNvPr>
          <p:cNvSpPr/>
          <p:nvPr/>
        </p:nvSpPr>
        <p:spPr>
          <a:xfrm>
            <a:off x="7239000" y="4000500"/>
            <a:ext cx="76200" cy="1016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2441F8-1A90-7B04-04F0-1BD60B8D1CED}"/>
              </a:ext>
            </a:extLst>
          </p:cNvPr>
          <p:cNvSpPr txBox="1"/>
          <p:nvPr/>
        </p:nvSpPr>
        <p:spPr>
          <a:xfrm>
            <a:off x="7429500" y="4127500"/>
            <a:ext cx="2997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原因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2637404-FD17-3492-CD8E-2F808636469C}"/>
              </a:ext>
            </a:extLst>
          </p:cNvPr>
          <p:cNvSpPr txBox="1"/>
          <p:nvPr/>
        </p:nvSpPr>
        <p:spPr>
          <a:xfrm>
            <a:off x="7429500" y="4432300"/>
            <a:ext cx="2997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中男生占多数，女生先验过高会导致男生被大量误判为女生。</a:t>
            </a:r>
          </a:p>
        </p:txBody>
      </p:sp>
    </p:spTree>
    <p:extLst>
      <p:ext uri="{BB962C8B-B14F-4D97-AF65-F5344CB8AC3E}">
        <p14:creationId xmlns:p14="http://schemas.microsoft.com/office/powerpoint/2010/main" val="4294674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BA6B8E-A3ED-10D9-3747-4BBBAD0031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E8A2C0-2E18-12DC-D750-2C1E24A4E86D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126F64-EA08-FBCA-0F83-4B652E847EE4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EFA085-9869-E0B7-F124-FD70FA809C1C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0B3CF5-69E0-AEB0-C9C0-AED91AC3763C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最小风险 </a:t>
            </a:r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Bayes</a:t>
            </a:r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：准确率不是唯一目标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51C0CE6-043D-398C-9417-E03E92C3AFFB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5C2E990-A98F-DA4F-4786-63BBAA9935DF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873ECD-C3F5-3B06-48EC-7BC8A708FEC3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20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532278B-1025-4915-B5F2-132905254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05376"/>
              </p:ext>
            </p:extLst>
          </p:nvPr>
        </p:nvGraphicFramePr>
        <p:xfrm>
          <a:off x="1460500" y="1460500"/>
          <a:ext cx="92710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750">
                  <a:extLst>
                    <a:ext uri="{9D8B030D-6E8A-4147-A177-3AD203B41FA5}">
                      <a16:colId xmlns:a16="http://schemas.microsoft.com/office/drawing/2014/main" val="125633506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250467901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2480527454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428218521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</a:t>
                      </a: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endParaRPr lang="zh-CN" altLang="en-US" sz="800" b="1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864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最小错误率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9837716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最小风险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94.29%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84.33%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569550307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6592947-EBF1-DFE9-BE22-1B279779E7EC}"/>
              </a:ext>
            </a:extLst>
          </p:cNvPr>
          <p:cNvSpPr/>
          <p:nvPr/>
        </p:nvSpPr>
        <p:spPr>
          <a:xfrm>
            <a:off x="1422400" y="3492500"/>
            <a:ext cx="9347200" cy="1016000"/>
          </a:xfrm>
          <a:prstGeom prst="roundRect">
            <a:avLst/>
          </a:prstGeom>
          <a:solidFill>
            <a:srgbClr val="FFFBEB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92C69F-4E7E-9379-FB1E-D29997BB9864}"/>
              </a:ext>
            </a:extLst>
          </p:cNvPr>
          <p:cNvSpPr txBox="1"/>
          <p:nvPr/>
        </p:nvSpPr>
        <p:spPr>
          <a:xfrm>
            <a:off x="1803400" y="3886200"/>
            <a:ext cx="8636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92400E"/>
                </a:solidFill>
                <a:latin typeface="Microsoft YaHei" panose="020B0503020204020204" pitchFamily="34" charset="-122"/>
              </a:rPr>
              <a:t>最小风险 </a:t>
            </a:r>
            <a:r>
              <a:rPr lang="en-US" altLang="zh-CN" sz="1500" b="1">
                <a:solidFill>
                  <a:srgbClr val="92400E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500" b="1">
                <a:solidFill>
                  <a:srgbClr val="92400E"/>
                </a:solidFill>
                <a:latin typeface="Microsoft YaHei" panose="020B0503020204020204" pitchFamily="34" charset="-122"/>
              </a:rPr>
              <a:t>的目标不是最高准确率，而是降低加权错误代价。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652971-CD4D-3505-548B-8AF1251DCBF6}"/>
              </a:ext>
            </a:extLst>
          </p:cNvPr>
          <p:cNvSpPr txBox="1"/>
          <p:nvPr/>
        </p:nvSpPr>
        <p:spPr>
          <a:xfrm>
            <a:off x="1422400" y="5080000"/>
            <a:ext cx="9347200" cy="5950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当 </a:t>
            </a:r>
            <a:r>
              <a:rPr lang="en-US" altLang="zh-CN" sz="900">
                <a:solidFill>
                  <a:srgbClr val="475569"/>
                </a:solidFill>
                <a:latin typeface="Microsoft YaHei" panose="020B0503020204020204" pitchFamily="34" charset="-122"/>
              </a:rPr>
              <a:t>λ(M|F)=2 </a:t>
            </a: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时，女生误判为男生的代价更高。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分类器会更保守地判为男生，因此总体准确率可能下降。</a:t>
            </a:r>
          </a:p>
          <a:p>
            <a:pPr marL="228600" indent="-2286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900">
                <a:solidFill>
                  <a:srgbClr val="475569"/>
                </a:solidFill>
                <a:latin typeface="Microsoft YaHei" panose="020B0503020204020204" pitchFamily="34" charset="-122"/>
              </a:rPr>
              <a:t>这体现了实际任务中根据错误代价设计分类器的思想。</a:t>
            </a:r>
          </a:p>
        </p:txBody>
      </p:sp>
    </p:spTree>
    <p:extLst>
      <p:ext uri="{BB962C8B-B14F-4D97-AF65-F5344CB8AC3E}">
        <p14:creationId xmlns:p14="http://schemas.microsoft.com/office/powerpoint/2010/main" val="2378932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475CAD-5C44-98B2-381A-3377066A3F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E3071B-EF13-E833-C726-4F03A3B41243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095D90-C439-ED98-B4F7-B3E7117CF268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D45A2A-9972-567D-3F86-E55F891EB925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ANALYSIS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F8A4E0-67A7-E743-5EA2-3FB9ECF92FFC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非参数方法结果：</a:t>
            </a:r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kNN</a:t>
            </a:r>
            <a:endParaRPr lang="zh-CN" altLang="en-US" sz="23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7538138-06CA-7260-3011-9E9CFE69CEEB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595D99F-DC08-EB02-F39A-8234F65E69A3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364600-7E5B-F12F-834B-DEFC04822DA9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21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FA1938C-6C2F-0F41-6BF7-FD245F00A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412003"/>
              </p:ext>
            </p:extLst>
          </p:nvPr>
        </p:nvGraphicFramePr>
        <p:xfrm>
          <a:off x="1333500" y="1498600"/>
          <a:ext cx="9525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49553466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435318547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936515204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3536002057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训练准确率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test1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test2</a:t>
                      </a:r>
                      <a:r>
                        <a:rPr lang="zh-CN" altLang="en-US" sz="800" b="1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准确率</a:t>
                      </a:r>
                    </a:p>
                  </a:txBody>
                  <a:tcPr marL="38100" marR="38100" marT="25400" marB="254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188759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Parzen Bayes, h=5.0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87.00%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23824846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kNN, k=5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89.00%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100.00%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94216021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二维对角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Bayes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88.00%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97.14%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</a:rPr>
                        <a:t>90.33%</a:t>
                      </a:r>
                      <a:endParaRPr lang="zh-CN" altLang="en-US" sz="700" b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605604146"/>
                  </a:ext>
                </a:extLst>
              </a:tr>
            </a:tbl>
          </a:graphicData>
        </a:graphic>
      </p:graphicFrame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DD5BE9E-F475-891B-2F00-3533965DAF40}"/>
              </a:ext>
            </a:extLst>
          </p:cNvPr>
          <p:cNvSpPr/>
          <p:nvPr/>
        </p:nvSpPr>
        <p:spPr>
          <a:xfrm>
            <a:off x="1460500" y="38735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CCF657-EDEE-BE4C-01F5-5C543337D7EA}"/>
              </a:ext>
            </a:extLst>
          </p:cNvPr>
          <p:cNvSpPr/>
          <p:nvPr/>
        </p:nvSpPr>
        <p:spPr>
          <a:xfrm>
            <a:off x="1460500" y="38735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EC341E-5EBD-B565-0639-AE6A25C9E77D}"/>
              </a:ext>
            </a:extLst>
          </p:cNvPr>
          <p:cNvSpPr txBox="1"/>
          <p:nvPr/>
        </p:nvSpPr>
        <p:spPr>
          <a:xfrm>
            <a:off x="1651000" y="4000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Parzen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DE7850B-F672-8A69-7D75-0C9362D3508E}"/>
              </a:ext>
            </a:extLst>
          </p:cNvPr>
          <p:cNvSpPr txBox="1"/>
          <p:nvPr/>
        </p:nvSpPr>
        <p:spPr>
          <a:xfrm>
            <a:off x="1651000" y="43053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不依赖正态分布假设，可利用样本局部密度，但受窗口宽度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h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影响。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41B0D6E-42DA-F2BA-8CF7-F49227C16DF2}"/>
              </a:ext>
            </a:extLst>
          </p:cNvPr>
          <p:cNvSpPr/>
          <p:nvPr/>
        </p:nvSpPr>
        <p:spPr>
          <a:xfrm>
            <a:off x="6921500" y="38735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A6DE1E-3D77-62D6-F166-79D22009411B}"/>
              </a:ext>
            </a:extLst>
          </p:cNvPr>
          <p:cNvSpPr/>
          <p:nvPr/>
        </p:nvSpPr>
        <p:spPr>
          <a:xfrm>
            <a:off x="6921500" y="38735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8EF3FA-35E5-3B9A-6A29-517CEC51ADFD}"/>
              </a:ext>
            </a:extLst>
          </p:cNvPr>
          <p:cNvSpPr txBox="1"/>
          <p:nvPr/>
        </p:nvSpPr>
        <p:spPr>
          <a:xfrm>
            <a:off x="7112000" y="4000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kNN</a:t>
            </a:r>
            <a:endParaRPr lang="zh-CN" altLang="en-US" sz="1000" b="1">
              <a:solidFill>
                <a:srgbClr val="0B122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EC9B88-6111-0A4B-76A7-70624BD9B273}"/>
              </a:ext>
            </a:extLst>
          </p:cNvPr>
          <p:cNvSpPr txBox="1"/>
          <p:nvPr/>
        </p:nvSpPr>
        <p:spPr>
          <a:xfrm>
            <a:off x="7112000" y="43053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直接利用最近邻投票，直观有效，但预测时需要计算与训练样本的距离。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BDC9612-34E9-162E-BB07-D235E070CA69}"/>
              </a:ext>
            </a:extLst>
          </p:cNvPr>
          <p:cNvSpPr txBox="1"/>
          <p:nvPr/>
        </p:nvSpPr>
        <p:spPr>
          <a:xfrm>
            <a:off x="1714500" y="5651500"/>
            <a:ext cx="876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0B1220"/>
                </a:solidFill>
                <a:latin typeface="Microsoft YaHei" panose="020B0503020204020204" pitchFamily="34" charset="-122"/>
              </a:rPr>
              <a:t>结论：在该二维数据集上，非参数方法能达到与参数 </a:t>
            </a:r>
            <a:r>
              <a:rPr lang="en-US" altLang="zh-CN" sz="1200" b="1">
                <a:solidFill>
                  <a:srgbClr val="0B122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200" b="1">
                <a:solidFill>
                  <a:srgbClr val="0B1220"/>
                </a:solidFill>
                <a:latin typeface="Microsoft YaHei" panose="020B0503020204020204" pitchFamily="34" charset="-122"/>
              </a:rPr>
              <a:t>接近的性能。</a:t>
            </a:r>
          </a:p>
        </p:txBody>
      </p:sp>
    </p:spTree>
    <p:extLst>
      <p:ext uri="{BB962C8B-B14F-4D97-AF65-F5344CB8AC3E}">
        <p14:creationId xmlns:p14="http://schemas.microsoft.com/office/powerpoint/2010/main" val="1203667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360F82-6723-81F7-9444-063CFB047E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303D07-C450-8CCF-DF0B-38299836316E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C224B9-2346-4CB0-13DE-AB1CF65EC920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99DC98-DB55-00B9-F075-DC828FD9AC24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RESULT FIGURE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B27CEE-A7A1-4C6C-4AD9-92C788A7F3E8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混淆矩阵：错误类型观察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567DCF9-C917-1190-BB6E-CA98848F4C3C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FFE47A7-8AD4-9CCD-F178-062673756A37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763B5B-119C-4140-A396-5F17F742E139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22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BF0002-9945-1FED-88E5-1FB66B0D103F}"/>
              </a:ext>
            </a:extLst>
          </p:cNvPr>
          <p:cNvSpPr/>
          <p:nvPr/>
        </p:nvSpPr>
        <p:spPr>
          <a:xfrm>
            <a:off x="1168400" y="1397000"/>
            <a:ext cx="4445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00D45D7-8F3F-36AA-774B-4E971EE43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35" y="1213345"/>
            <a:ext cx="4873530" cy="4177311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B011657-78A7-FF38-DBDF-ED41EE1EE393}"/>
              </a:ext>
            </a:extLst>
          </p:cNvPr>
          <p:cNvSpPr/>
          <p:nvPr/>
        </p:nvSpPr>
        <p:spPr>
          <a:xfrm>
            <a:off x="6604000" y="1587500"/>
            <a:ext cx="3810000" cy="1079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74FF13-3DE2-E65E-E030-1D4BA6484026}"/>
              </a:ext>
            </a:extLst>
          </p:cNvPr>
          <p:cNvSpPr/>
          <p:nvPr/>
        </p:nvSpPr>
        <p:spPr>
          <a:xfrm>
            <a:off x="6604000" y="1587500"/>
            <a:ext cx="76200" cy="10795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95F9A5-2833-838B-500C-30AEF8A0A760}"/>
              </a:ext>
            </a:extLst>
          </p:cNvPr>
          <p:cNvSpPr txBox="1"/>
          <p:nvPr/>
        </p:nvSpPr>
        <p:spPr>
          <a:xfrm>
            <a:off x="6794500" y="1714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结果解读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288E8E-1CE7-50DB-7177-A2EDECA0F868}"/>
              </a:ext>
            </a:extLst>
          </p:cNvPr>
          <p:cNvSpPr txBox="1"/>
          <p:nvPr/>
        </p:nvSpPr>
        <p:spPr>
          <a:xfrm>
            <a:off x="6794500" y="20193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二维完整协方差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上正确识别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49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个女生和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219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个男生。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E9D34A1-0056-C81A-348A-C5B948322F4F}"/>
              </a:ext>
            </a:extLst>
          </p:cNvPr>
          <p:cNvSpPr/>
          <p:nvPr/>
        </p:nvSpPr>
        <p:spPr>
          <a:xfrm>
            <a:off x="6604000" y="3111500"/>
            <a:ext cx="3810000" cy="1079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A5F77A-CC1F-86D9-EEE2-EB23D84C7B78}"/>
              </a:ext>
            </a:extLst>
          </p:cNvPr>
          <p:cNvSpPr/>
          <p:nvPr/>
        </p:nvSpPr>
        <p:spPr>
          <a:xfrm>
            <a:off x="6604000" y="3111500"/>
            <a:ext cx="76200" cy="10795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C1D0AA-B69D-E65B-D844-AE4EC914BF75}"/>
              </a:ext>
            </a:extLst>
          </p:cNvPr>
          <p:cNvSpPr txBox="1"/>
          <p:nvPr/>
        </p:nvSpPr>
        <p:spPr>
          <a:xfrm>
            <a:off x="6794500" y="3238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错误类型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16C49D-19C5-DA0B-9F21-71AC122CB9B8}"/>
              </a:ext>
            </a:extLst>
          </p:cNvPr>
          <p:cNvSpPr txBox="1"/>
          <p:nvPr/>
        </p:nvSpPr>
        <p:spPr>
          <a:xfrm>
            <a:off x="6794500" y="35433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女生误判为男生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个，男生误判为女生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31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个。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682F34F-CB8B-ED7F-5A52-2A765B02112C}"/>
              </a:ext>
            </a:extLst>
          </p:cNvPr>
          <p:cNvSpPr/>
          <p:nvPr/>
        </p:nvSpPr>
        <p:spPr>
          <a:xfrm>
            <a:off x="6604000" y="4635500"/>
            <a:ext cx="3810000" cy="1079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2F99CFE-BA96-4AFF-94FA-6BD721821E4E}"/>
              </a:ext>
            </a:extLst>
          </p:cNvPr>
          <p:cNvSpPr/>
          <p:nvPr/>
        </p:nvSpPr>
        <p:spPr>
          <a:xfrm>
            <a:off x="6604000" y="4635500"/>
            <a:ext cx="76200" cy="10795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BFFEC0-2F23-CD3B-1DEC-3F8C01C049E2}"/>
              </a:ext>
            </a:extLst>
          </p:cNvPr>
          <p:cNvSpPr txBox="1"/>
          <p:nvPr/>
        </p:nvSpPr>
        <p:spPr>
          <a:xfrm>
            <a:off x="6794500" y="4762500"/>
            <a:ext cx="3505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原因分析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6B1EB96-B98E-7010-E4C3-47705EA4ED12}"/>
              </a:ext>
            </a:extLst>
          </p:cNvPr>
          <p:cNvSpPr txBox="1"/>
          <p:nvPr/>
        </p:nvSpPr>
        <p:spPr>
          <a:xfrm>
            <a:off x="6794500" y="5067300"/>
            <a:ext cx="3505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男生样本更多，边界附近男生更容易被判入女生区域。</a:t>
            </a:r>
          </a:p>
        </p:txBody>
      </p:sp>
    </p:spTree>
    <p:extLst>
      <p:ext uri="{BB962C8B-B14F-4D97-AF65-F5344CB8AC3E}">
        <p14:creationId xmlns:p14="http://schemas.microsoft.com/office/powerpoint/2010/main" val="1373548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BDDBE9-E924-8733-A29F-BCDA82EF96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BAC826-FAD5-4654-1DE6-50EA3A535651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9D6DCA-D138-C0A6-D182-00820A723155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E1D185-8CD0-7167-C59B-2340A3F61CCD}"/>
              </a:ext>
            </a:extLst>
          </p:cNvPr>
          <p:cNvSpPr txBox="1"/>
          <p:nvPr/>
        </p:nvSpPr>
        <p:spPr>
          <a:xfrm>
            <a:off x="736600" y="10414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F59E0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200" b="1">
              <a:solidFill>
                <a:srgbClr val="F59E0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117B9F-B2FF-9371-B991-091F5667FC59}"/>
              </a:ext>
            </a:extLst>
          </p:cNvPr>
          <p:cNvSpPr txBox="1"/>
          <p:nvPr/>
        </p:nvSpPr>
        <p:spPr>
          <a:xfrm>
            <a:off x="736600" y="1905000"/>
            <a:ext cx="9652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1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实验总结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362C29-B9BD-52BF-062A-1CA642C0A92F}"/>
              </a:ext>
            </a:extLst>
          </p:cNvPr>
          <p:cNvSpPr txBox="1"/>
          <p:nvPr/>
        </p:nvSpPr>
        <p:spPr>
          <a:xfrm>
            <a:off x="787400" y="28575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</a:rPr>
              <a:t>从结果回到模式识别理论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52AE89F-8FB5-B685-9C1C-126B560FABEB}"/>
              </a:ext>
            </a:extLst>
          </p:cNvPr>
          <p:cNvCxnSpPr/>
          <p:nvPr/>
        </p:nvCxnSpPr>
        <p:spPr>
          <a:xfrm>
            <a:off x="787400" y="3708400"/>
            <a:ext cx="25146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014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5E74789-ED40-C920-BAAE-1F3B82843C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94A8D6-0AE2-1740-3544-0A62F88C54AB}"/>
              </a:ext>
            </a:extLst>
          </p:cNvPr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36B120-4BE1-C270-0379-18C31100142A}"/>
              </a:ext>
            </a:extLst>
          </p:cNvPr>
          <p:cNvSpPr/>
          <p:nvPr/>
        </p:nvSpPr>
        <p:spPr>
          <a:xfrm>
            <a:off x="114300" y="0"/>
            <a:ext cx="381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4DE3AB-CD74-4645-2BF9-C3D560E389B9}"/>
              </a:ext>
            </a:extLst>
          </p:cNvPr>
          <p:cNvSpPr txBox="1"/>
          <p:nvPr/>
        </p:nvSpPr>
        <p:spPr>
          <a:xfrm>
            <a:off x="5334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0F766E"/>
                </a:solidFill>
                <a:latin typeface="Microsoft YaHei" panose="020B0503020204020204" pitchFamily="34" charset="-122"/>
              </a:rPr>
              <a:t>SUMMARY</a:t>
            </a:r>
            <a:endParaRPr lang="zh-CN" altLang="en-US" sz="7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0FF08B-0583-A636-5CEC-7081A6AB73E7}"/>
              </a:ext>
            </a:extLst>
          </p:cNvPr>
          <p:cNvSpPr txBox="1"/>
          <p:nvPr/>
        </p:nvSpPr>
        <p:spPr>
          <a:xfrm>
            <a:off x="533400" y="533400"/>
            <a:ext cx="914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>
                <a:solidFill>
                  <a:srgbClr val="0B1220"/>
                </a:solidFill>
                <a:latin typeface="Microsoft YaHei" panose="020B0503020204020204" pitchFamily="34" charset="-122"/>
              </a:rPr>
              <a:t>任务一核心结论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E1E6614-219B-C1A3-FD77-E85ED470845D}"/>
              </a:ext>
            </a:extLst>
          </p:cNvPr>
          <p:cNvCxnSpPr/>
          <p:nvPr/>
        </p:nvCxnSpPr>
        <p:spPr>
          <a:xfrm>
            <a:off x="533400" y="1066800"/>
            <a:ext cx="1016000" cy="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74C2ED3-761E-53E9-7DB3-94E048EA259C}"/>
              </a:ext>
            </a:extLst>
          </p:cNvPr>
          <p:cNvSpPr txBox="1"/>
          <p:nvPr/>
        </p:nvSpPr>
        <p:spPr>
          <a:xfrm>
            <a:off x="533400" y="6527800"/>
            <a:ext cx="3302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实验一：</a:t>
            </a:r>
            <a:r>
              <a:rPr lang="en-US" altLang="zh-CN" sz="700">
                <a:solidFill>
                  <a:srgbClr val="94A3B8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700">
                <a:solidFill>
                  <a:srgbClr val="94A3B8"/>
                </a:solidFill>
                <a:latin typeface="Microsoft YaHei" panose="020B0503020204020204" pitchFamily="34" charset="-122"/>
              </a:rPr>
              <a:t>性别分类器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27068F-A51B-B85A-AB68-45E73AEA5352}"/>
              </a:ext>
            </a:extLst>
          </p:cNvPr>
          <p:cNvSpPr txBox="1"/>
          <p:nvPr/>
        </p:nvSpPr>
        <p:spPr>
          <a:xfrm>
            <a:off x="11366500" y="64770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800" b="1">
                <a:solidFill>
                  <a:srgbClr val="0F766E"/>
                </a:solidFill>
                <a:latin typeface="Microsoft YaHei" panose="020B0503020204020204" pitchFamily="34" charset="-122"/>
              </a:rPr>
              <a:t>23</a:t>
            </a:r>
            <a:endParaRPr lang="zh-CN" altLang="en-US" sz="8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D58C1F-CA21-CF1C-99E3-318F3C811970}"/>
              </a:ext>
            </a:extLst>
          </p:cNvPr>
          <p:cNvSpPr/>
          <p:nvPr/>
        </p:nvSpPr>
        <p:spPr>
          <a:xfrm>
            <a:off x="889000" y="1460500"/>
            <a:ext cx="317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D1DB43-7F8F-2F9A-26D1-9C9AE9C881AD}"/>
              </a:ext>
            </a:extLst>
          </p:cNvPr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D77620-F44B-57A7-47E7-25B36DF51654}"/>
              </a:ext>
            </a:extLst>
          </p:cNvPr>
          <p:cNvSpPr txBox="1"/>
          <p:nvPr/>
        </p:nvSpPr>
        <p:spPr>
          <a:xfrm>
            <a:off x="1079500" y="15875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特征选择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1FCBD1-E31B-B2B9-EA45-C3BBD47CB0BC}"/>
              </a:ext>
            </a:extLst>
          </p:cNvPr>
          <p:cNvSpPr txBox="1"/>
          <p:nvPr/>
        </p:nvSpPr>
        <p:spPr>
          <a:xfrm>
            <a:off x="1079500" y="18923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身高单特征优于体重；身高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体重整体更稳定。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61274A3-45AF-6A4E-93CC-40518F31CA62}"/>
              </a:ext>
            </a:extLst>
          </p:cNvPr>
          <p:cNvSpPr/>
          <p:nvPr/>
        </p:nvSpPr>
        <p:spPr>
          <a:xfrm>
            <a:off x="4508500" y="1460500"/>
            <a:ext cx="317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9A2C93-FAC4-96BE-9321-9A1F227D617E}"/>
              </a:ext>
            </a:extLst>
          </p:cNvPr>
          <p:cNvSpPr/>
          <p:nvPr/>
        </p:nvSpPr>
        <p:spPr>
          <a:xfrm>
            <a:off x="4508500" y="1460500"/>
            <a:ext cx="76200" cy="1143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993F37-9421-D01E-F260-255A3A1DC76F}"/>
              </a:ext>
            </a:extLst>
          </p:cNvPr>
          <p:cNvSpPr txBox="1"/>
          <p:nvPr/>
        </p:nvSpPr>
        <p:spPr>
          <a:xfrm>
            <a:off x="4699000" y="15875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模型假设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41833F8-F5C5-653E-6068-606274621820}"/>
              </a:ext>
            </a:extLst>
          </p:cNvPr>
          <p:cNvSpPr txBox="1"/>
          <p:nvPr/>
        </p:nvSpPr>
        <p:spPr>
          <a:xfrm>
            <a:off x="4699000" y="1892300"/>
            <a:ext cx="2870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完整协方差表达力强，但对角协方差在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test2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上略好，说明小样本估计稳定性重要。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E2F8928-F97D-7F34-021D-3CB05ED0CDF0}"/>
              </a:ext>
            </a:extLst>
          </p:cNvPr>
          <p:cNvSpPr/>
          <p:nvPr/>
        </p:nvSpPr>
        <p:spPr>
          <a:xfrm>
            <a:off x="8128000" y="14605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D1EE83-DDD7-45B7-2E00-3733184F2ED1}"/>
              </a:ext>
            </a:extLst>
          </p:cNvPr>
          <p:cNvSpPr/>
          <p:nvPr/>
        </p:nvSpPr>
        <p:spPr>
          <a:xfrm>
            <a:off x="8128000" y="1460500"/>
            <a:ext cx="76200" cy="1143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40F7DF-4834-0478-F567-97CE87D3826B}"/>
              </a:ext>
            </a:extLst>
          </p:cNvPr>
          <p:cNvSpPr txBox="1"/>
          <p:nvPr/>
        </p:nvSpPr>
        <p:spPr>
          <a:xfrm>
            <a:off x="8318500" y="1587500"/>
            <a:ext cx="2616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先验概率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312522-014D-3CCA-8A5D-4CA024A01066}"/>
              </a:ext>
            </a:extLst>
          </p:cNvPr>
          <p:cNvSpPr txBox="1"/>
          <p:nvPr/>
        </p:nvSpPr>
        <p:spPr>
          <a:xfrm>
            <a:off x="8318500" y="1892300"/>
            <a:ext cx="2616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先验应符合真实分布或任务背景，设置不当会明显降低性能。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79F3CF6-2896-A284-61A2-7E53CD07871E}"/>
              </a:ext>
            </a:extLst>
          </p:cNvPr>
          <p:cNvSpPr/>
          <p:nvPr/>
        </p:nvSpPr>
        <p:spPr>
          <a:xfrm>
            <a:off x="2286000" y="3556000"/>
            <a:ext cx="317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75E8E9-3A4B-BA98-2D5E-B1E03F6AA0DF}"/>
              </a:ext>
            </a:extLst>
          </p:cNvPr>
          <p:cNvSpPr/>
          <p:nvPr/>
        </p:nvSpPr>
        <p:spPr>
          <a:xfrm>
            <a:off x="2286000" y="3556000"/>
            <a:ext cx="76200" cy="1143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076E854-39FF-4F59-5D80-73386ACA21A4}"/>
              </a:ext>
            </a:extLst>
          </p:cNvPr>
          <p:cNvSpPr txBox="1"/>
          <p:nvPr/>
        </p:nvSpPr>
        <p:spPr>
          <a:xfrm>
            <a:off x="2476500" y="36830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风险决策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E16B87A-0D2D-C3C6-4027-30E086370E96}"/>
              </a:ext>
            </a:extLst>
          </p:cNvPr>
          <p:cNvSpPr txBox="1"/>
          <p:nvPr/>
        </p:nvSpPr>
        <p:spPr>
          <a:xfrm>
            <a:off x="2476500" y="39878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最小风险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体现不同错误代价下的分类器设计思想。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703E02C-93E4-4C7D-4174-D95CCBB9E9DF}"/>
              </a:ext>
            </a:extLst>
          </p:cNvPr>
          <p:cNvSpPr/>
          <p:nvPr/>
        </p:nvSpPr>
        <p:spPr>
          <a:xfrm>
            <a:off x="6667500" y="3556000"/>
            <a:ext cx="317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8F3614-E7B2-9FB3-8C84-790D50A805DC}"/>
              </a:ext>
            </a:extLst>
          </p:cNvPr>
          <p:cNvSpPr/>
          <p:nvPr/>
        </p:nvSpPr>
        <p:spPr>
          <a:xfrm>
            <a:off x="6667500" y="3556000"/>
            <a:ext cx="76200" cy="1143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492EBD-E087-7193-13C3-0BDF6E89EF49}"/>
              </a:ext>
            </a:extLst>
          </p:cNvPr>
          <p:cNvSpPr txBox="1"/>
          <p:nvPr/>
        </p:nvSpPr>
        <p:spPr>
          <a:xfrm>
            <a:off x="6858000" y="3683000"/>
            <a:ext cx="2870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0B1220"/>
                </a:solidFill>
                <a:latin typeface="Microsoft YaHei" panose="020B0503020204020204" pitchFamily="34" charset="-122"/>
              </a:rPr>
              <a:t>非参数估计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CA1D99-6F71-2CC4-5DDB-6545DBEEF779}"/>
              </a:ext>
            </a:extLst>
          </p:cNvPr>
          <p:cNvSpPr txBox="1"/>
          <p:nvPr/>
        </p:nvSpPr>
        <p:spPr>
          <a:xfrm>
            <a:off x="6858000" y="3987800"/>
            <a:ext cx="2870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Parzen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800">
                <a:solidFill>
                  <a:srgbClr val="475569"/>
                </a:solidFill>
                <a:latin typeface="Microsoft YaHei" panose="020B0503020204020204" pitchFamily="34" charset="-122"/>
              </a:rPr>
              <a:t>kNN </a:t>
            </a:r>
            <a:r>
              <a:rPr lang="zh-CN" altLang="en-US" sz="800">
                <a:solidFill>
                  <a:srgbClr val="475569"/>
                </a:solidFill>
                <a:latin typeface="Microsoft YaHei" panose="020B0503020204020204" pitchFamily="34" charset="-122"/>
              </a:rPr>
              <a:t>可作为参数模型的重要补充。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DB784BD-B9F1-A6B4-2ABD-B988066CEFDE}"/>
              </a:ext>
            </a:extLst>
          </p:cNvPr>
          <p:cNvSpPr txBox="1"/>
          <p:nvPr/>
        </p:nvSpPr>
        <p:spPr>
          <a:xfrm>
            <a:off x="1206500" y="5588000"/>
            <a:ext cx="977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0B1220"/>
                </a:solidFill>
                <a:latin typeface="Microsoft YaHei" panose="020B0503020204020204" pitchFamily="34" charset="-122"/>
              </a:rPr>
              <a:t>总体体会：</a:t>
            </a:r>
            <a:r>
              <a:rPr lang="en-US" altLang="zh-CN" sz="1300" b="1">
                <a:solidFill>
                  <a:srgbClr val="0B1220"/>
                </a:solidFill>
                <a:latin typeface="Microsoft YaHei" panose="020B0503020204020204" pitchFamily="34" charset="-122"/>
              </a:rPr>
              <a:t>Bayes </a:t>
            </a:r>
            <a:r>
              <a:rPr lang="zh-CN" altLang="en-US" sz="1300" b="1">
                <a:solidFill>
                  <a:srgbClr val="0B1220"/>
                </a:solidFill>
                <a:latin typeface="Microsoft YaHei" panose="020B0503020204020204" pitchFamily="34" charset="-122"/>
              </a:rPr>
              <a:t>分类器把概率密度估计、先验知识和决策代价统一到一个清晰的理论框架中。</a:t>
            </a:r>
          </a:p>
        </p:txBody>
      </p:sp>
    </p:spTree>
    <p:extLst>
      <p:ext uri="{BB962C8B-B14F-4D97-AF65-F5344CB8AC3E}">
        <p14:creationId xmlns:p14="http://schemas.microsoft.com/office/powerpoint/2010/main" val="1688055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0C992C-DDD3-1E2A-3599-1048E30DF2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A8376B-B3A4-87E2-3F40-83CCE98CF0DE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3ECDD0-93D6-E9B3-7891-4A582D22B921}"/>
              </a:ext>
            </a:extLst>
          </p:cNvPr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8B32FD-C6A4-4130-F9F7-084D765E5574}"/>
              </a:ext>
            </a:extLst>
          </p:cNvPr>
          <p:cNvSpPr txBox="1"/>
          <p:nvPr/>
        </p:nvSpPr>
        <p:spPr>
          <a:xfrm>
            <a:off x="889000" y="2413000"/>
            <a:ext cx="6604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4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实验一学习完成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DF8B7-D396-88BA-738A-F739C7A803D3}"/>
              </a:ext>
            </a:extLst>
          </p:cNvPr>
          <p:cNvSpPr txBox="1"/>
          <p:nvPr/>
        </p:nvSpPr>
        <p:spPr>
          <a:xfrm>
            <a:off x="939800" y="3429000"/>
            <a:ext cx="825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CBD5E1"/>
                </a:solidFill>
                <a:latin typeface="Microsoft YaHei" panose="020B0503020204020204" pitchFamily="34" charset="-122"/>
              </a:rPr>
              <a:t>下一步可以继续完善实验二：非参数估计、</a:t>
            </a:r>
            <a:r>
              <a:rPr lang="en-US" altLang="zh-CN" sz="1500">
                <a:solidFill>
                  <a:srgbClr val="CBD5E1"/>
                </a:solidFill>
                <a:latin typeface="Microsoft YaHei" panose="020B0503020204020204" pitchFamily="34" charset="-122"/>
              </a:rPr>
              <a:t>Fisher </a:t>
            </a:r>
            <a:r>
              <a:rPr lang="zh-CN" altLang="en-US" sz="1500">
                <a:solidFill>
                  <a:srgbClr val="CBD5E1"/>
                </a:solidFill>
                <a:latin typeface="Microsoft YaHei" panose="020B0503020204020204" pitchFamily="34" charset="-122"/>
              </a:rPr>
              <a:t>线性判别与留一法。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DAE55F5-2FEE-146A-5A11-F208BC866BCC}"/>
              </a:ext>
            </a:extLst>
          </p:cNvPr>
          <p:cNvCxnSpPr/>
          <p:nvPr/>
        </p:nvCxnSpPr>
        <p:spPr>
          <a:xfrm>
            <a:off x="939800" y="4140200"/>
            <a:ext cx="2870200" cy="0"/>
          </a:xfrm>
          <a:prstGeom prst="line">
            <a:avLst/>
          </a:prstGeom>
          <a:ln w="50800">
            <a:solidFill>
              <a:srgbClr val="F59E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0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2544</Words>
  <Application>Microsoft Office PowerPoint</Application>
  <PresentationFormat>自定义</PresentationFormat>
  <Paragraphs>444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军 曹</cp:lastModifiedBy>
  <cp:revision>1</cp:revision>
  <dcterms:created xsi:type="dcterms:W3CDTF">2026-06-16T19:14:16Z</dcterms:created>
  <dcterms:modified xsi:type="dcterms:W3CDTF">2026-06-16T19:14:43Z</dcterms:modified>
</cp:coreProperties>
</file>