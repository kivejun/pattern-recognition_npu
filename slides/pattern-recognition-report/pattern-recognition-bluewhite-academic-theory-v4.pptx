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B418-E66B-40BE-8F7A-D6762D9581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1CBE-7F83-4D5E-925A-4FDF815ECB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B418-E66B-40BE-8F7A-D6762D9581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1CBE-7F83-4D5E-925A-4FDF815ECB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B418-E66B-40BE-8F7A-D6762D9581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1CBE-7F83-4D5E-925A-4FDF815ECB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B418-E66B-40BE-8F7A-D6762D9581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1CBE-7F83-4D5E-925A-4FDF815ECB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B418-E66B-40BE-8F7A-D6762D9581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1CBE-7F83-4D5E-925A-4FDF815ECB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B418-E66B-40BE-8F7A-D6762D9581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1CBE-7F83-4D5E-925A-4FDF815ECB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B418-E66B-40BE-8F7A-D6762D9581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1CBE-7F83-4D5E-925A-4FDF815ECB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B418-E66B-40BE-8F7A-D6762D9581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1CBE-7F83-4D5E-925A-4FDF815ECB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B418-E66B-40BE-8F7A-D6762D9581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1CBE-7F83-4D5E-925A-4FDF815ECB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B418-E66B-40BE-8F7A-D6762D9581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1CBE-7F83-4D5E-925A-4FDF815ECB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B418-E66B-40BE-8F7A-D6762D9581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F1CBE-7F83-4D5E-925A-4FDF815ECB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AB418-E66B-40BE-8F7A-D6762D9581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F1CBE-7F83-4D5E-925A-4FDF815ECBF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/>
          <p:cNvSpPr/>
          <p:nvPr/>
        </p:nvSpPr>
        <p:spPr>
          <a:xfrm>
            <a:off x="-1016000" y="4381500"/>
            <a:ext cx="6794500" cy="28575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064500" y="-254000"/>
            <a:ext cx="5334000" cy="1968500"/>
          </a:xfrm>
          <a:prstGeom prst="parallelogram">
            <a:avLst>
              <a:gd name="adj" fmla="val 18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4400" y="1422400"/>
            <a:ext cx="406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BFE8FF"/>
                </a:solidFill>
                <a:latin typeface="微软雅黑" panose="020B0503020204020204" pitchFamily="34" charset="-122"/>
              </a:rPr>
              <a:t>PATTERN RECOGNITION</a:t>
            </a:r>
            <a:endParaRPr lang="zh-CN" altLang="en-US" sz="1000" b="1">
              <a:solidFill>
                <a:srgbClr val="BFE8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400" y="2006600"/>
            <a:ext cx="7874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4400" b="1">
                <a:solidFill>
                  <a:srgbClr val="FFFFFF"/>
                </a:solidFill>
                <a:latin typeface="微软雅黑" panose="020B0503020204020204" pitchFamily="34" charset="-122"/>
              </a:rPr>
              <a:t>模式识别课程实验汇报</a:t>
            </a:r>
            <a:endParaRPr lang="zh-CN" altLang="en-US" sz="4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914400" y="3420110"/>
            <a:ext cx="76200" cy="6985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990600" y="3566160"/>
            <a:ext cx="209359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汇报人：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+mn-ea"/>
              </a:rPr>
              <a:t>曹军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/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微软雅黑" panose="020B0503020204020204" pitchFamily="34" charset="-122"/>
              </a:rPr>
              <a:t>01</a:t>
            </a:r>
            <a:endParaRPr lang="zh-CN" altLang="en-US" sz="27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实验一：</a:t>
            </a:r>
            <a:r>
              <a:rPr lang="en-US" altLang="zh-CN" sz="3900" b="1">
                <a:solidFill>
                  <a:srgbClr val="FFFFF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性别分类器</a:t>
            </a:r>
            <a:endParaRPr lang="zh-CN" altLang="en-US" sz="3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用身高</a:t>
            </a:r>
            <a:r>
              <a:rPr lang="en-US" altLang="zh-CN" sz="1700">
                <a:solidFill>
                  <a:srgbClr val="D9ECFF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体重数据进行最小错误率与最小风险决策</a:t>
            </a:r>
            <a:endParaRPr lang="zh-CN" altLang="en-US" sz="1700">
              <a:solidFill>
                <a:srgbClr val="D9EC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实验一理论：概率决策框架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03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6600" y="1371600"/>
            <a:ext cx="762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后验概率决策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选择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P(ωi|x)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最大的类别，本质是把观测特征映射到类别后验。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4450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445000" y="1371600"/>
            <a:ext cx="76200" cy="1092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高斯参数估计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在正态假设下估计均值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μ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与协方差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Σ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，得到二次判别函数。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153400" y="1371600"/>
            <a:ext cx="2921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153400" y="1371600"/>
            <a:ext cx="76200" cy="1092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风险敏感决策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用损失表刻画不同错误代价，选择条件风险最小的动作。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990600" y="3302000"/>
            <a:ext cx="10210800" cy="8890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270000" y="3632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nn-NO" altLang="zh-CN" sz="2000" b="1">
                <a:solidFill>
                  <a:srgbClr val="006BB7"/>
                </a:solidFill>
                <a:latin typeface="微软雅黑" panose="020B0503020204020204" pitchFamily="34" charset="-122"/>
              </a:rPr>
              <a:t>g_i(x) = -1/2 ln|Σ_i| - 1/2(x-μ_i)^TΣ_i^{-1}(x-μ_i) + ln P(ω_i)</a:t>
            </a:r>
            <a:endParaRPr lang="zh-CN" altLang="en-US" sz="20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课程相关：参数估计、先验概率、贝叶斯判别函数、最小风险决策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实验目的：观察特征、先验、协方差假设和风险表对分类性能的影响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BAYES INTUITION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实验一理论展开：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分类器到底在算什么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04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71600"/>
            <a:ext cx="3175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6600" y="1371600"/>
            <a:ext cx="76200" cy="13208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1.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先看样本像谁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身高、体重是观测到的特征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x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。分类器先比较这个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在女生分布和男生分布中出现的可能性。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08500" y="1371600"/>
            <a:ext cx="3175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08500" y="1371600"/>
            <a:ext cx="76200" cy="13208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2.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再考虑先验比例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如果测试集中男生更多，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P(M)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更大；同样的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可能更容易被判为男生。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80400" y="1371600"/>
            <a:ext cx="2921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80400" y="1371600"/>
            <a:ext cx="76200" cy="132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3.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最后选择后验最大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后验概率综合了类条件密度和先验概率，是做类别决策的直接依据。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041400" y="3327400"/>
            <a:ext cx="10109200" cy="863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422400" y="3606800"/>
            <a:ext cx="9398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100" b="1">
                <a:solidFill>
                  <a:srgbClr val="006BB7"/>
                </a:solidFill>
                <a:latin typeface="微软雅黑" panose="020B0503020204020204" pitchFamily="34" charset="-122"/>
              </a:rPr>
              <a:t>P(</a:t>
            </a:r>
            <a:r>
              <a:rPr lang="el-GR" altLang="zh-CN" sz="2100" b="1">
                <a:solidFill>
                  <a:srgbClr val="006BB7"/>
                </a:solidFill>
                <a:latin typeface="微软雅黑" panose="020B0503020204020204" pitchFamily="34" charset="-122"/>
              </a:rPr>
              <a:t>ω_</a:t>
            </a:r>
            <a:r>
              <a:rPr lang="en-US" altLang="zh-CN" sz="2100" b="1">
                <a:solidFill>
                  <a:srgbClr val="006BB7"/>
                </a:solidFill>
                <a:latin typeface="微软雅黑" panose="020B0503020204020204" pitchFamily="34" charset="-122"/>
              </a:rPr>
              <a:t>i|x) = p(x|</a:t>
            </a:r>
            <a:r>
              <a:rPr lang="el-GR" altLang="zh-CN" sz="2100" b="1">
                <a:solidFill>
                  <a:srgbClr val="006BB7"/>
                </a:solidFill>
                <a:latin typeface="微软雅黑" panose="020B0503020204020204" pitchFamily="34" charset="-122"/>
              </a:rPr>
              <a:t>ω_</a:t>
            </a:r>
            <a:r>
              <a:rPr lang="en-US" altLang="zh-CN" sz="2100" b="1">
                <a:solidFill>
                  <a:srgbClr val="006BB7"/>
                </a:solidFill>
                <a:latin typeface="微软雅黑" panose="020B0503020204020204" pitchFamily="34" charset="-122"/>
              </a:rPr>
              <a:t>i) P(</a:t>
            </a:r>
            <a:r>
              <a:rPr lang="el-GR" altLang="zh-CN" sz="2100" b="1">
                <a:solidFill>
                  <a:srgbClr val="006BB7"/>
                </a:solidFill>
                <a:latin typeface="微软雅黑" panose="020B0503020204020204" pitchFamily="34" charset="-122"/>
              </a:rPr>
              <a:t>ω_</a:t>
            </a:r>
            <a:r>
              <a:rPr lang="en-US" altLang="zh-CN" sz="2100" b="1">
                <a:solidFill>
                  <a:srgbClr val="006BB7"/>
                </a:solidFill>
                <a:latin typeface="微软雅黑" panose="020B0503020204020204" pitchFamily="34" charset="-122"/>
              </a:rPr>
              <a:t>i) / p(x)</a:t>
            </a:r>
            <a:endParaRPr lang="zh-CN" altLang="en-US" sz="21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43000" y="48260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p(x|ω_i)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：某一类别内部的特征分布，例如女生身高体重大多集中在哪里。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P(ω_i)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：类别先验，表示在看到特征之前，某一类本来出现的概率。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p(x)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：所有类别共同贡献的归一化项；两类比较时常被抵消，所以实际比较分子即可。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DISCRIMINANT FUNCTION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实验一理论展开：为什么会出现曲线决策边界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05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63600" y="1498600"/>
            <a:ext cx="31750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63600" y="1498600"/>
            <a:ext cx="76200" cy="12446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54100" y="1625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一维特征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54100" y="1981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只用身高或体重时，每个类别是一条正态曲线。两条曲线加上先验后，交点就是阈值。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08500" y="1498600"/>
            <a:ext cx="31750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08500" y="1498600"/>
            <a:ext cx="76200" cy="12446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99000" y="1625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二维特征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99000" y="1981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同时使用身高和体重时，每个类别是二维高斯分布，等概率位置形成决策边界。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153400" y="1498600"/>
            <a:ext cx="30226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153400" y="1498600"/>
            <a:ext cx="76200" cy="12446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43900" y="1625600"/>
            <a:ext cx="2717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协方差的作用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343900" y="1981200"/>
            <a:ext cx="27178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完整协方差会描述身高和体重的相关性，因此边界可以弯曲；对角协方差会更简化。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016000" y="3479800"/>
            <a:ext cx="10160000" cy="889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422400" y="3784600"/>
            <a:ext cx="9347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b="1">
                <a:solidFill>
                  <a:srgbClr val="0A7FCC"/>
                </a:solidFill>
                <a:latin typeface="微软雅黑" panose="020B0503020204020204" pitchFamily="34" charset="-122"/>
              </a:rPr>
              <a:t>决策规则：若 </a:t>
            </a:r>
            <a:r>
              <a:rPr lang="en-US" altLang="zh-CN" b="1">
                <a:solidFill>
                  <a:srgbClr val="0A7FCC"/>
                </a:solidFill>
                <a:latin typeface="微软雅黑" panose="020B0503020204020204" pitchFamily="34" charset="-122"/>
              </a:rPr>
              <a:t>g_F(x) &gt; g_M(x)</a:t>
            </a:r>
            <a:r>
              <a:rPr lang="zh-CN" altLang="en-US" b="1">
                <a:solidFill>
                  <a:srgbClr val="0A7FCC"/>
                </a:solidFill>
                <a:latin typeface="微软雅黑" panose="020B0503020204020204" pitchFamily="34" charset="-122"/>
              </a:rPr>
              <a:t>，判为女生；否则判为男生。</a:t>
            </a:r>
            <a:endParaRPr lang="zh-CN" altLang="en-US" b="1">
              <a:solidFill>
                <a:srgbClr val="0A7FC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17600" y="49022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决策边界本质上是两类判别函数相等的位置。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边界附近的样本最容易被错分，因为它们同时像两个类别。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本实验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中男生样本更多，先验设置会明显影响边界向哪一侧移动。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实验一设置：数据、特征与实现流程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06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889000" y="14986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01700" y="1574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22400" y="1460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读取数据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22400" y="1778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FEMALE/MALE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作为训练集；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test1/test2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作为测试集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889000" y="25146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01700" y="2590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22400" y="2476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选择特征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22400" y="2794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身高、体重、身高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体重三组对比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889000" y="35306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01700" y="3606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422400" y="3492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估计分布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422400" y="3810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最大似然估计 </a:t>
            </a:r>
            <a:r>
              <a:rPr lang="el-GR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μ</a:t>
            </a:r>
            <a:r>
              <a:rPr lang="zh-CN" altLang="el-GR" sz="1200">
                <a:solidFill>
                  <a:srgbClr val="38566F"/>
                </a:solidFill>
                <a:latin typeface="微软雅黑" panose="020B0503020204020204" pitchFamily="34" charset="-122"/>
              </a:rPr>
              <a:t>、</a:t>
            </a:r>
            <a:r>
              <a:rPr lang="el-GR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σ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或 </a:t>
            </a:r>
            <a:r>
              <a:rPr lang="el-GR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Σ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889000" y="45466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01700" y="4622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22400" y="4508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分类评估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422400" y="4826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准确率、召回率、混淆矩阵、错误分析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5943600" y="1524000"/>
          <a:ext cx="4953000" cy="234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/>
                <a:gridCol w="2476500"/>
              </a:tblGrid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设置项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取值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先验概率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0.5/0.5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0.75/0.25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0.9/0.1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协方差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完整协方差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对角协方差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风险表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M|F)=2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，</a:t>
                      </a:r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F|M)=1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非参数补充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Parzen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窗、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kNN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  <p:sp>
        <p:nvSpPr>
          <p:cNvPr id="28" name="矩形: 圆角 27"/>
          <p:cNvSpPr/>
          <p:nvPr/>
        </p:nvSpPr>
        <p:spPr>
          <a:xfrm>
            <a:off x="6197600" y="4521200"/>
            <a:ext cx="44450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197600" y="45212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388100" y="46482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实现要点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388100" y="5003800"/>
            <a:ext cx="414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所有分类器统一输出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train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test1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上的性能，便于横向比较。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RESULT VISUALS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实验一结果：数据分布与 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决策边界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07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847782"/>
            <a:ext cx="4071811" cy="2908436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微软雅黑" panose="020B0503020204020204" pitchFamily="34" charset="-122"/>
              </a:rPr>
              <a:t>88.00%</a:t>
            </a:r>
            <a:endParaRPr lang="zh-CN" altLang="en-US" sz="24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二维 </a:t>
            </a:r>
            <a:r>
              <a:rPr lang="en-US" altLang="zh-CN" sz="1200">
                <a:solidFill>
                  <a:srgbClr val="6B7F90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训练准确率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微软雅黑" panose="020B0503020204020204" pitchFamily="34" charset="-122"/>
              </a:rPr>
              <a:t>97.14%</a:t>
            </a:r>
            <a:endParaRPr lang="zh-CN" altLang="en-US" sz="2400" b="1">
              <a:solidFill>
                <a:srgbClr val="0A7FC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微软雅黑" panose="020B0503020204020204" pitchFamily="34" charset="-122"/>
              </a:rPr>
              <a:t>test1 </a:t>
            </a:r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准确率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微软雅黑" panose="020B0503020204020204" pitchFamily="34" charset="-122"/>
              </a:rPr>
              <a:t>89.33%</a:t>
            </a:r>
            <a:endParaRPr lang="zh-CN" altLang="en-US" sz="24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微软雅黑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准确率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微软雅黑" panose="020B0503020204020204" pitchFamily="34" charset="-122"/>
              </a:rPr>
              <a:t>90.33%</a:t>
            </a:r>
            <a:endParaRPr lang="zh-CN" altLang="en-US" sz="2400" b="1">
              <a:solidFill>
                <a:srgbClr val="2F80C9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对角协方差 </a:t>
            </a:r>
            <a:r>
              <a:rPr lang="en-US" altLang="zh-CN" sz="1200">
                <a:solidFill>
                  <a:srgbClr val="6B7F90"/>
                </a:solidFill>
                <a:latin typeface="微软雅黑" panose="020B0503020204020204" pitchFamily="34" charset="-122"/>
              </a:rPr>
              <a:t>test2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实验一分析：先验与风险改变决策偏向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08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762000" y="1333500"/>
          <a:ext cx="6350000" cy="2413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/>
                <a:gridCol w="1587500"/>
                <a:gridCol w="1587500"/>
                <a:gridCol w="1587500"/>
              </a:tblGrid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方法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完整协方差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对角协方差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最小风险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94.29%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84.33%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87.00%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kNN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k=5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89.00%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  <p:sp>
        <p:nvSpPr>
          <p:cNvPr id="12" name="矩形: 圆角 11"/>
          <p:cNvSpPr/>
          <p:nvPr/>
        </p:nvSpPr>
        <p:spPr>
          <a:xfrm>
            <a:off x="7848600" y="1333500"/>
            <a:ext cx="2794000" cy="241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17" y="1731129"/>
            <a:ext cx="1887366" cy="1617742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14400" y="4445000"/>
            <a:ext cx="9906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身高和体重组合能利用互补信息，整体比单特征更稳定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中男生比例更高，若人为设置女生先验过大，会显著降低整体准确率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最小风险决策体现错误代价不同时的分类器设计思想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/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微软雅黑" panose="020B0503020204020204" pitchFamily="34" charset="-122"/>
              </a:rPr>
              <a:t>02</a:t>
            </a:r>
            <a:endParaRPr lang="zh-CN" altLang="en-US" sz="27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实验二：非参数估计与 </a:t>
            </a:r>
            <a:r>
              <a:rPr lang="en-US" altLang="zh-CN" sz="3900" b="1">
                <a:solidFill>
                  <a:srgbClr val="FFFFF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判别</a:t>
            </a:r>
            <a:endParaRPr lang="zh-CN" altLang="en-US" sz="3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比较概率密度估计方法与直接设计线性分类器的方法</a:t>
            </a:r>
            <a:endParaRPr lang="zh-CN" altLang="en-US" sz="1700">
              <a:solidFill>
                <a:srgbClr val="D9EC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NONPARAMETRIC &amp; LINEAR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实验二理论：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Parzen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与留一法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09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6600" y="13716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Parzen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窗估计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不预设概率密度形式，用高斯核叠加估计类别条件密度。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4450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445000" y="13716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线性判别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最大化类间离散度与类内离散度之比，得到线性投影方向。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153400" y="13716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153400" y="13716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留一法估计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每次留出一个样本验证，适合小样本泛化误差估计。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143000" y="3302000"/>
            <a:ext cx="9906000" cy="787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397000" y="3581400"/>
            <a:ext cx="9398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l-PL" altLang="zh-CN" sz="2000" b="1">
                <a:solidFill>
                  <a:srgbClr val="0A7FCC"/>
                </a:solidFill>
                <a:latin typeface="微软雅黑" panose="020B0503020204020204" pitchFamily="34" charset="-122"/>
              </a:rPr>
              <a:t>J(w)=wᵀS_b w / wᵀS_w w,    w=S_w⁻¹(μ₁-μ₂)</a:t>
            </a:r>
            <a:endParaRPr lang="zh-CN" altLang="en-US" sz="2000" b="1">
              <a:solidFill>
                <a:srgbClr val="0A7FC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课程重点：参数估计与非参数估计的差别；概率模型与判别模型的差别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实验问题：非参数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是否能达到高斯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的性能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METHOD COMPARISON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实验二理论展开：密度估计和直接判别的区别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10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参数估计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先假设数据服从某种分布，例如正态分布，再估计少量参数。优点是稳定，缺点是假设可能不准。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非参数估计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990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不强行指定密度形状，而是让训练样本本身决定分布外形。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Parzen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窗可以看作给每个样本放一个小核。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直接判别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70900" y="1854200"/>
            <a:ext cx="2616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不估计概率密度，而是直接找一条投影轴，让两类均值尽量远、类内尽量集中。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168400" y="3429000"/>
            <a:ext cx="4521200" cy="1168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473200" y="3708400"/>
            <a:ext cx="393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06BB7"/>
                </a:solidFill>
                <a:latin typeface="微软雅黑" panose="020B0503020204020204" pitchFamily="34" charset="-122"/>
              </a:rPr>
              <a:t>Parzen</a:t>
            </a:r>
            <a:r>
              <a:rPr lang="zh-CN" altLang="en-US" sz="1600" b="1">
                <a:solidFill>
                  <a:srgbClr val="006BB7"/>
                </a:solidFill>
                <a:latin typeface="微软雅黑" panose="020B0503020204020204" pitchFamily="34" charset="-122"/>
              </a:rPr>
              <a:t>：用样本堆出 </a:t>
            </a:r>
            <a:r>
              <a:rPr lang="en-US" altLang="zh-CN" sz="1600" b="1">
                <a:solidFill>
                  <a:srgbClr val="006BB7"/>
                </a:solidFill>
                <a:latin typeface="微软雅黑" panose="020B0503020204020204" pitchFamily="34" charset="-122"/>
              </a:rPr>
              <a:t>p(x|</a:t>
            </a:r>
            <a:r>
              <a:rPr lang="el-GR" altLang="zh-CN" sz="1600" b="1">
                <a:solidFill>
                  <a:srgbClr val="006BB7"/>
                </a:solidFill>
                <a:latin typeface="微软雅黑" panose="020B0503020204020204" pitchFamily="34" charset="-122"/>
              </a:rPr>
              <a:t>ω)</a:t>
            </a:r>
            <a:endParaRPr lang="zh-CN" altLang="en-US" sz="16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73200" y="4089400"/>
            <a:ext cx="381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窗口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小：密度起伏大，容易过拟合；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大：密度过平滑，细节会丢失。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6502400" y="3429000"/>
            <a:ext cx="4521200" cy="1168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807200" y="3708400"/>
            <a:ext cx="393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A7FCC"/>
                </a:solidFill>
                <a:latin typeface="微软雅黑" panose="020B0503020204020204" pitchFamily="34" charset="-122"/>
              </a:rPr>
              <a:t>Fisher</a:t>
            </a:r>
            <a:r>
              <a:rPr lang="zh-CN" altLang="en-US" sz="1600" b="1">
                <a:solidFill>
                  <a:srgbClr val="0A7FCC"/>
                </a:solidFill>
                <a:latin typeface="微软雅黑" panose="020B0503020204020204" pitchFamily="34" charset="-122"/>
              </a:rPr>
              <a:t>：用投影方向分开类别</a:t>
            </a:r>
            <a:endParaRPr lang="zh-CN" altLang="en-US" sz="1600" b="1">
              <a:solidFill>
                <a:srgbClr val="0A7FC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07200" y="4089400"/>
            <a:ext cx="381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它关心的不是密度形状，而是投影后一维空间里两类是否容易用阈值分开。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17600" y="50546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本实验用同一组身高体重特征比较三类思想：高斯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Bayes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Parzen Bayes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Fisher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如果三者性能接近，说明这个数据集的类别结构比较简单，线性边界已经足够有效。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VISUAL COMPARISON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实验二结果：线性边界与投影分布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11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4" y="2195178"/>
            <a:ext cx="4071812" cy="2213644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1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给出简单线性边界，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边界受密度估计影响。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2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投影后男女样本主体分离，但边界区域仍有重叠。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实验二结果：错误率对比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12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889000" y="1549400"/>
          <a:ext cx="1041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/>
                <a:gridCol w="2082800"/>
                <a:gridCol w="2082800"/>
                <a:gridCol w="2082800"/>
                <a:gridCol w="20828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方法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训练错误率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test1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错误率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test2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错误率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留一法错误率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143000" y="4191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微软雅黑" panose="020B0503020204020204" pitchFamily="34" charset="-122"/>
              </a:rPr>
              <a:t>Gaussian Bayes test2 acc.</a:t>
            </a:r>
            <a:endParaRPr lang="zh-CN" altLang="en-US" sz="7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175000" y="4241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175000" y="4241800"/>
            <a:ext cx="1928635" cy="889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435600" y="4178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微软雅黑" panose="020B0503020204020204" pitchFamily="34" charset="-122"/>
              </a:rPr>
              <a:t>89.33%</a:t>
            </a:r>
            <a:endParaRPr lang="zh-CN" altLang="en-US" sz="7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43000" y="46355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微软雅黑" panose="020B0503020204020204" pitchFamily="34" charset="-122"/>
              </a:rPr>
              <a:t>Parzen Bayes test2 acc.</a:t>
            </a:r>
            <a:endParaRPr lang="zh-CN" altLang="en-US" sz="7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175000" y="46863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175000" y="4686300"/>
            <a:ext cx="1950225" cy="889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435600" y="46228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微软雅黑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43000" y="5080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微软雅黑" panose="020B0503020204020204" pitchFamily="34" charset="-122"/>
              </a:rPr>
              <a:t>Fisher test2 acc.</a:t>
            </a:r>
            <a:endParaRPr lang="zh-CN" altLang="en-US" sz="7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175000" y="5130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175000" y="5130800"/>
            <a:ext cx="1950225" cy="889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435600" y="5067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微软雅黑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7048500" y="4064000"/>
            <a:ext cx="3810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048500" y="406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7239000" y="419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结论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239000" y="454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三种方法表现接近。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用更简单的线性边界取得与非参数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相当的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准确率。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实验二分析：模型复杂度与泛化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13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89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9000" y="1587500"/>
            <a:ext cx="76200" cy="1270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79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参数 </a:t>
            </a:r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Bayes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9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形式清晰、样本效率高，但依赖正态分布假设。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72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72000" y="1587500"/>
            <a:ext cx="76200" cy="1270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762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Parzen Bayes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62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密度形式灵活，但窗口宽度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和样本规模影响明显。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55000" y="1587500"/>
            <a:ext cx="2857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55000" y="1587500"/>
            <a:ext cx="76200" cy="1270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45500" y="17145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45500" y="20701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不估计密度，直接寻找判别方向，解释性强。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143000" y="4000500"/>
            <a:ext cx="9906000" cy="8890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498600" y="43180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92400E"/>
                </a:solidFill>
                <a:latin typeface="微软雅黑" panose="020B0503020204020204" pitchFamily="34" charset="-122"/>
              </a:rPr>
              <a:t>留一法结果与 </a:t>
            </a:r>
            <a:r>
              <a:rPr lang="en-US" altLang="zh-CN" sz="1600" b="1">
                <a:solidFill>
                  <a:srgbClr val="92400E"/>
                </a:solidFill>
                <a:latin typeface="微软雅黑" panose="020B0503020204020204" pitchFamily="34" charset="-122"/>
              </a:rPr>
              <a:t>test2 </a:t>
            </a:r>
            <a:r>
              <a:rPr lang="zh-CN" altLang="en-US" sz="1600" b="1">
                <a:solidFill>
                  <a:srgbClr val="92400E"/>
                </a:solidFill>
                <a:latin typeface="微软雅黑" panose="020B0503020204020204" pitchFamily="34" charset="-122"/>
              </a:rPr>
              <a:t>错误率接近，说明它能在训练样本有限时给出较稳健的泛化误差估计。</a:t>
            </a:r>
            <a:endParaRPr lang="zh-CN" altLang="en-US" sz="1600" b="1">
              <a:solidFill>
                <a:srgbClr val="92400E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/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微软雅黑" panose="020B0503020204020204" pitchFamily="34" charset="-122"/>
              </a:rPr>
              <a:t>03</a:t>
            </a:r>
            <a:endParaRPr lang="zh-CN" altLang="en-US" sz="27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实验三：</a:t>
            </a:r>
            <a:r>
              <a:rPr lang="en-US" altLang="zh-CN" sz="3900" b="1">
                <a:solidFill>
                  <a:srgbClr val="FFFFFF"/>
                </a:solidFill>
                <a:latin typeface="微软雅黑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变换进行特征提取</a:t>
            </a:r>
            <a:endParaRPr lang="zh-CN" altLang="en-US" sz="3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从无监督主成分方向理解身高体重样本的主要变化</a:t>
            </a:r>
            <a:endParaRPr lang="zh-CN" altLang="en-US" sz="1700">
              <a:solidFill>
                <a:srgbClr val="D9EC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FEATURE EXTRACTION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实验三理论：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K-L/PCA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与 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的差别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14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K-L / PCA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对协方差矩阵做特征分解，保留总体方差最大的方向。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利用类别标签，寻找最有利于分类的投影方向。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1270000" y="3365500"/>
            <a:ext cx="9652000" cy="787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524000" y="3632200"/>
            <a:ext cx="914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l-GR" altLang="zh-CN" sz="2200" b="1">
                <a:solidFill>
                  <a:srgbClr val="006BB7"/>
                </a:solidFill>
                <a:latin typeface="微软雅黑" panose="020B0503020204020204" pitchFamily="34" charset="-122"/>
              </a:rPr>
              <a:t>Σ</a:t>
            </a:r>
            <a:r>
              <a:rPr lang="en-US" altLang="zh-CN" sz="2200" b="1">
                <a:solidFill>
                  <a:srgbClr val="006BB7"/>
                </a:solidFill>
                <a:latin typeface="微软雅黑" panose="020B0503020204020204" pitchFamily="34" charset="-122"/>
              </a:rPr>
              <a:t>uᵢ = </a:t>
            </a:r>
            <a:r>
              <a:rPr lang="el-GR" altLang="zh-CN" sz="2200" b="1">
                <a:solidFill>
                  <a:srgbClr val="006BB7"/>
                </a:solidFill>
                <a:latin typeface="微软雅黑" panose="020B0503020204020204" pitchFamily="34" charset="-122"/>
              </a:rPr>
              <a:t>λ</a:t>
            </a:r>
            <a:r>
              <a:rPr lang="en-US" altLang="zh-CN" sz="2200" b="1">
                <a:solidFill>
                  <a:srgbClr val="006BB7"/>
                </a:solidFill>
                <a:latin typeface="微软雅黑" panose="020B0503020204020204" pitchFamily="34" charset="-122"/>
              </a:rPr>
              <a:t>ᵢuᵢ,      zᵢ = uᵢᵀ(x-</a:t>
            </a:r>
            <a:r>
              <a:rPr lang="el-GR" altLang="zh-CN" sz="2200" b="1">
                <a:solidFill>
                  <a:srgbClr val="006BB7"/>
                </a:solidFill>
                <a:latin typeface="微软雅黑" panose="020B0503020204020204" pitchFamily="34" charset="-122"/>
              </a:rPr>
              <a:t>μ)</a:t>
            </a:r>
            <a:endParaRPr lang="zh-CN" altLang="en-US" sz="22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的目标是表示数据，不是直接优化分类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当最大方差方向与类别差异方向一致时，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也能得到较好分类效果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PCA INTUITION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实验三理论展开：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K-L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变换怎样提取新特征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15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71600"/>
            <a:ext cx="3175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6600" y="1371600"/>
            <a:ext cx="76200" cy="1295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1.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找数据中心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71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先计算所有样本的平均向量，把样本平移到以均值为中心，关注相对变化。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08500" y="1371600"/>
            <a:ext cx="3175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08500" y="1371600"/>
            <a:ext cx="76200" cy="1295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2.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找变化方向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990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协方差矩阵描述两个特征如何共同变化。特征向量给出新坐标轴，特征值表示该方向上变化有多大。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80400" y="1371600"/>
            <a:ext cx="2921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80400" y="1371600"/>
            <a:ext cx="76200" cy="1295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3.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投影降维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把样本投影到最大特征值对应的方向，就得到保留主要变化的一维新特征。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016000" y="3276600"/>
            <a:ext cx="10160000" cy="914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422400" y="3581400"/>
            <a:ext cx="9347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0A7FCC"/>
                </a:solidFill>
                <a:latin typeface="微软雅黑" panose="020B0503020204020204" pitchFamily="34" charset="-122"/>
              </a:rPr>
              <a:t>通俗理解：</a:t>
            </a:r>
            <a:r>
              <a:rPr lang="en-US" altLang="zh-CN" sz="1700" b="1">
                <a:solidFill>
                  <a:srgbClr val="0A7FCC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700" b="1">
                <a:solidFill>
                  <a:srgbClr val="0A7FCC"/>
                </a:solidFill>
                <a:latin typeface="微软雅黑" panose="020B0503020204020204" pitchFamily="34" charset="-122"/>
              </a:rPr>
              <a:t>像是在散点图上找一根尺子，让样本沿这根尺子的展开范围最大。</a:t>
            </a:r>
            <a:endParaRPr lang="zh-CN" altLang="en-US" sz="1700" b="1">
              <a:solidFill>
                <a:srgbClr val="0A7FC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43000" y="48260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如果男女样本主要沿这根尺子分开，那么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第一主成分就能用于分类。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如果最大变化来自身高体重以外的因素，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可能保留了方差，却没有保留判别信息。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所以实验三要把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PCA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、类均值方向、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放在一起比较。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实验三设置：二维特征的主方向分析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16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825500" y="1397000"/>
          <a:ext cx="4445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/>
                <a:gridCol w="2222500"/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项目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数值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说明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数据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个训练样本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特征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身高、体重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第一主成分解释率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87.52%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PC1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(0.6269, 0.7791)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类均值方向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(0.6514, 0.7587)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  <p:sp>
        <p:nvSpPr>
          <p:cNvPr id="12" name="矩形: 圆角 11"/>
          <p:cNvSpPr/>
          <p:nvPr/>
        </p:nvSpPr>
        <p:spPr>
          <a:xfrm>
            <a:off x="5778500" y="1333500"/>
            <a:ext cx="52705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86" y="1811382"/>
            <a:ext cx="4173729" cy="2981235"/>
          </a:xfrm>
          <a:prstGeom prst="rect">
            <a:avLst/>
          </a:prstGeom>
        </p:spPr>
      </p:pic>
      <p:sp>
        <p:nvSpPr>
          <p:cNvPr id="15" name="矩形: 圆角 14"/>
          <p:cNvSpPr/>
          <p:nvPr/>
        </p:nvSpPr>
        <p:spPr>
          <a:xfrm>
            <a:off x="1016000" y="4927600"/>
            <a:ext cx="40005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16000" y="49276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206500" y="5054600"/>
            <a:ext cx="3695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设置说明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06500" y="5410200"/>
            <a:ext cx="3695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分别使用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第一主成分、类均值差方向、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和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进行分类比较。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RESULTS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实验三结果：投影分布与分类性能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17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25500" y="1397000"/>
            <a:ext cx="5207000" cy="3302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094" y="1941178"/>
            <a:ext cx="4071812" cy="2213644"/>
          </a:xfrm>
          <a:prstGeom prst="rect">
            <a:avLst/>
          </a:prstGeom>
        </p:spPr>
      </p:pic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540500" y="1549400"/>
          <a:ext cx="482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/>
                <a:gridCol w="1206500"/>
                <a:gridCol w="1206500"/>
                <a:gridCol w="12065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方法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K-L 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第一主成分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类均值方向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6667500" y="4318000"/>
            <a:ext cx="457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第一主成分已经能较好区分男女样本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在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上略优，体现监督判别方向的优势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实验三分析：最大方差不等于最佳分类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18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89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9000" y="152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有效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本数据中身高和体重的主要变化方向与性别差异方向接近。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72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72000" y="15240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略优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直接利用类别标签，目标就是提高类别分离度。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55000" y="1524000"/>
            <a:ext cx="2857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55000" y="15240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一般规律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无监督降维需要和监督分类器共同评价。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2032000" y="3429000"/>
            <a:ext cx="812800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79" y="3886445"/>
            <a:ext cx="2522041" cy="13711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/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微软雅黑" panose="020B0503020204020204" pitchFamily="34" charset="-122"/>
              </a:rPr>
              <a:t>04</a:t>
            </a:r>
            <a:endParaRPr lang="zh-CN" altLang="en-US" sz="27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实验四：</a:t>
            </a:r>
            <a:r>
              <a:rPr lang="en-US" altLang="zh-CN" sz="3900" b="1">
                <a:solidFill>
                  <a:srgbClr val="FFFFFF"/>
                </a:solidFill>
                <a:latin typeface="微软雅黑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变换的图像识别应用</a:t>
            </a:r>
            <a:endParaRPr lang="zh-CN" altLang="en-US" sz="3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把 </a:t>
            </a:r>
            <a:r>
              <a:rPr lang="en-US" altLang="zh-CN" sz="1700">
                <a:solidFill>
                  <a:srgbClr val="D9ECFF"/>
                </a:solidFill>
                <a:latin typeface="微软雅黑" panose="020B0503020204020204" pitchFamily="34" charset="-122"/>
              </a:rPr>
              <a:t>K-L/PCA </a:t>
            </a:r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从二维样本扩展到高维飞机图像</a:t>
            </a:r>
            <a:endParaRPr lang="zh-CN" altLang="en-US" sz="1700">
              <a:solidFill>
                <a:srgbClr val="D9EC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IMAGE RECOGNITION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实验四理论：高维图像的低维表示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19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0160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287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494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图像预处理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494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灰度化、缩放到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32×32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0160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0287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5494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向量化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494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每张图像展开为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维向量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0160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0287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494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K-L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降维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5494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提取前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k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个主成分作为图像特征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10160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0287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494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低维分类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5494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NearestCentroid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与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1NN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对比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6540500" y="1625600"/>
            <a:ext cx="4000500" cy="8636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6858000" y="1905000"/>
            <a:ext cx="3365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0A7FCC"/>
                </a:solidFill>
                <a:latin typeface="微软雅黑" panose="020B0503020204020204" pitchFamily="34" charset="-122"/>
              </a:rPr>
              <a:t>z = U_kᵀ(x-</a:t>
            </a:r>
            <a:r>
              <a:rPr lang="el-GR" altLang="zh-CN" sz="2200" b="1">
                <a:solidFill>
                  <a:srgbClr val="0A7FCC"/>
                </a:solidFill>
                <a:latin typeface="微软雅黑" panose="020B0503020204020204" pitchFamily="34" charset="-122"/>
              </a:rPr>
              <a:t>μ)</a:t>
            </a:r>
            <a:endParaRPr lang="zh-CN" altLang="en-US" sz="2200" b="1">
              <a:solidFill>
                <a:srgbClr val="0A7FCC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6540500" y="3048000"/>
          <a:ext cx="4000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/>
                <a:gridCol w="200025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项目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设置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类别数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类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张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测试集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张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主成分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 / 16 / 32 / 64 / 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HIGH-DIMENSIONAL FEATURES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实验四理论展开：为什么图像识别需要降维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20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维数高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32×32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灰度图展开后就是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维。维数越高，距离计算越容易受噪声和无关背景影响。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样本有限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虽然有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2530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张训练图，但相对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维特征仍不算充分，直接分类容易过拟合。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的作用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用较少主成分表示图像，把共同轮廓、明暗结构等主要变化保留下来。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092200" y="3429000"/>
            <a:ext cx="10033000" cy="9652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422400" y="3759200"/>
            <a:ext cx="9347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006BB7"/>
                </a:solidFill>
                <a:latin typeface="微软雅黑" panose="020B0503020204020204" pitchFamily="34" charset="-122"/>
              </a:rPr>
              <a:t>从二维身高体重到 </a:t>
            </a:r>
            <a:r>
              <a:rPr lang="en-US" altLang="zh-CN" sz="1700" b="1">
                <a:solidFill>
                  <a:srgbClr val="006BB7"/>
                </a:solidFill>
                <a:latin typeface="微软雅黑" panose="020B0503020204020204" pitchFamily="34" charset="-122"/>
              </a:rPr>
              <a:t>1024 </a:t>
            </a:r>
            <a:r>
              <a:rPr lang="zh-CN" altLang="en-US" sz="1700" b="1">
                <a:solidFill>
                  <a:srgbClr val="006BB7"/>
                </a:solidFill>
                <a:latin typeface="微软雅黑" panose="020B0503020204020204" pitchFamily="34" charset="-122"/>
              </a:rPr>
              <a:t>维图像，本质仍是寻找更适合分类的特征表示。</a:t>
            </a:r>
            <a:endParaRPr lang="zh-CN" altLang="en-US" sz="1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43000" y="49022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主成分可以看作一组基础图像模式，原图像由这些模式加权组合得到。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保留太少主成分会丢失类别细节；保留太多主成分又可能引入背景和噪声。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因此实验四考察不同主成分数下的识别准确率。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VISUAL RESULTS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实验四结果：样本图像与 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主成分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21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83" y="2454590"/>
            <a:ext cx="3562835" cy="1694821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482" y="2500362"/>
            <a:ext cx="3562836" cy="1603276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微软雅黑" panose="020B0503020204020204" pitchFamily="34" charset="-122"/>
              </a:rPr>
              <a:t>1024→64</a:t>
            </a:r>
            <a:endParaRPr lang="zh-CN" altLang="en-US" sz="2400" b="1">
              <a:solidFill>
                <a:srgbClr val="0A7FC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维度压缩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微软雅黑" panose="020B0503020204020204" pitchFamily="34" charset="-122"/>
              </a:rPr>
              <a:t>89.88%</a:t>
            </a:r>
            <a:endParaRPr lang="zh-CN" altLang="en-US" sz="24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微软雅黑" panose="020B0503020204020204" pitchFamily="34" charset="-122"/>
              </a:rPr>
              <a:t>64 </a:t>
            </a:r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维解释方差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微软雅黑" panose="020B0503020204020204" pitchFamily="34" charset="-122"/>
              </a:rPr>
              <a:t>16</a:t>
            </a:r>
            <a:endParaRPr lang="zh-CN" altLang="en-US" sz="24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飞机类别数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微软雅黑" panose="020B0503020204020204" pitchFamily="34" charset="-122"/>
              </a:rPr>
              <a:t>636</a:t>
            </a:r>
            <a:endParaRPr lang="zh-CN" altLang="en-US" sz="2400" b="1">
              <a:solidFill>
                <a:srgbClr val="2F80C9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测试图像数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实验四结果：主成分数与识别准确率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22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25500" y="1397000"/>
            <a:ext cx="5334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46" y="1927279"/>
            <a:ext cx="4276908" cy="2749441"/>
          </a:xfrm>
          <a:prstGeom prst="rect">
            <a:avLst/>
          </a:prstGeom>
        </p:spPr>
      </p:pic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667500" y="1587500"/>
          <a:ext cx="4445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50"/>
                <a:gridCol w="1111250"/>
                <a:gridCol w="1111250"/>
                <a:gridCol w="111125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方法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主成分数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测试集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PCA+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质心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20.47%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19.97%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54.09%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53.93%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52.99%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6794500" y="4318000"/>
            <a:ext cx="4318000" cy="9156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1NN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明显优于最近质心，说明飞机类别内部变化复杂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主成分数增加到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32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后收益变小，后续成分可能包含背景和噪声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实验四分析：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能压缩，但不是完整识别方案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23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952500" y="1397000"/>
            <a:ext cx="53340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22" y="2248418"/>
            <a:ext cx="2637555" cy="2234164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7048500" y="1524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048500" y="1524000"/>
            <a:ext cx="76200" cy="10160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239000" y="165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混淆原因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39000" y="200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低分辨率灰度图中，部分飞机外形相近，姿态和背景也会干扰。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7048500" y="29845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048500" y="2984500"/>
            <a:ext cx="76200" cy="1016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39000" y="31115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方法局限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39000" y="34671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是无监督降维，优先保留总体方差，不保证保留最强判别信息。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7048500" y="4445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048500" y="4445000"/>
            <a:ext cx="762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239000" y="4572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改进方向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239000" y="4927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可结合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HOG/SIFT/ORB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、数据增强或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CNN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提升识别性能。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/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微软雅黑" panose="020B0503020204020204" pitchFamily="34" charset="-122"/>
              </a:rPr>
              <a:t>05</a:t>
            </a:r>
            <a:endParaRPr lang="zh-CN" altLang="en-US" sz="27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实验五：</a:t>
            </a:r>
            <a:r>
              <a:rPr lang="en-US" altLang="zh-CN" sz="3900" b="1">
                <a:solidFill>
                  <a:srgbClr val="FFFFFF"/>
                </a:solidFill>
                <a:latin typeface="微软雅黑" panose="020B0503020204020204" pitchFamily="34" charset="-122"/>
              </a:rPr>
              <a:t>C </a:t>
            </a:r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均值与分级聚类分析</a:t>
            </a:r>
            <a:endParaRPr lang="zh-CN" altLang="en-US" sz="3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不使用类别标签，观察身高体重样本的自然结构</a:t>
            </a:r>
            <a:endParaRPr lang="zh-CN" altLang="en-US" sz="1700">
              <a:solidFill>
                <a:srgbClr val="D9EC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CLUSTERING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实验五理论：从监督分类到无监督聚类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24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均值聚类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独立编程实现，通过样本分配和中心更新最小化类内平方误差。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分级聚类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使用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方法形成层次结构，用树状图观察样本合并过程。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1270000" y="3365500"/>
            <a:ext cx="9652000" cy="787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524000" y="3632200"/>
            <a:ext cx="914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006BB7"/>
                </a:solidFill>
                <a:latin typeface="微软雅黑" panose="020B0503020204020204" pitchFamily="34" charset="-122"/>
              </a:rPr>
              <a:t>J = </a:t>
            </a:r>
            <a:r>
              <a:rPr lang="el-GR" altLang="zh-CN" sz="2200" b="1">
                <a:solidFill>
                  <a:srgbClr val="006BB7"/>
                </a:solidFill>
                <a:latin typeface="微软雅黑" panose="020B0503020204020204" pitchFamily="34" charset="-122"/>
              </a:rPr>
              <a:t>Σ</a:t>
            </a:r>
            <a:r>
              <a:rPr lang="en-US" altLang="zh-CN" sz="2200" b="1">
                <a:solidFill>
                  <a:srgbClr val="006BB7"/>
                </a:solidFill>
                <a:latin typeface="微软雅黑" panose="020B0503020204020204" pitchFamily="34" charset="-122"/>
              </a:rPr>
              <a:t>ⱼ </a:t>
            </a:r>
            <a:r>
              <a:rPr lang="el-GR" altLang="zh-CN" sz="2200" b="1">
                <a:solidFill>
                  <a:srgbClr val="006BB7"/>
                </a:solidFill>
                <a:latin typeface="微软雅黑" panose="020B0503020204020204" pitchFamily="34" charset="-122"/>
              </a:rPr>
              <a:t>Σ</a:t>
            </a:r>
            <a:r>
              <a:rPr lang="en-US" altLang="zh-CN" sz="2200" b="1">
                <a:solidFill>
                  <a:srgbClr val="006BB7"/>
                </a:solidFill>
                <a:latin typeface="微软雅黑" panose="020B0503020204020204" pitchFamily="34" charset="-122"/>
              </a:rPr>
              <a:t>ₓ∈</a:t>
            </a:r>
            <a:r>
              <a:rPr lang="el-GR" altLang="zh-CN" sz="2200" b="1">
                <a:solidFill>
                  <a:srgbClr val="006BB7"/>
                </a:solidFill>
                <a:latin typeface="微软雅黑" panose="020B0503020204020204" pitchFamily="34" charset="-122"/>
              </a:rPr>
              <a:t>ω</a:t>
            </a:r>
            <a:r>
              <a:rPr lang="en-US" altLang="zh-CN" sz="2200" b="1">
                <a:solidFill>
                  <a:srgbClr val="006BB7"/>
                </a:solidFill>
                <a:latin typeface="微软雅黑" panose="020B0503020204020204" pitchFamily="34" charset="-122"/>
              </a:rPr>
              <a:t>ⱼ ||x - </a:t>
            </a:r>
            <a:r>
              <a:rPr lang="el-GR" altLang="zh-CN" sz="2200" b="1">
                <a:solidFill>
                  <a:srgbClr val="006BB7"/>
                </a:solidFill>
                <a:latin typeface="微软雅黑" panose="020B0503020204020204" pitchFamily="34" charset="-122"/>
              </a:rPr>
              <a:t>μ</a:t>
            </a:r>
            <a:r>
              <a:rPr lang="en-US" altLang="zh-CN" sz="2200" b="1">
                <a:solidFill>
                  <a:srgbClr val="006BB7"/>
                </a:solidFill>
                <a:latin typeface="微软雅黑" panose="020B0503020204020204" pitchFamily="34" charset="-122"/>
              </a:rPr>
              <a:t>ⱼ||²</a:t>
            </a:r>
            <a:endParaRPr lang="zh-CN" altLang="en-US" sz="22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聚类不使用性别标签，评价时再与真实标签比较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特征标准化很重要，否则体重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身高尺度会影响距离计算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UNSUPERVISED LEARNING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实验五理论展开：聚类如何判断样本自然结构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25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没有标签参与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71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聚类阶段不知道样本是男生还是女生，只根据身高体重距离把相似样本放到一起。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均值思想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反复执行两步：先按最近中心分组，再用每组均值更新中心，直到中心基本不变。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分级聚类思想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从单个样本或小簇开始逐步合并，形成树状结构，可以观察样本相似性的层次。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965200" y="3429000"/>
            <a:ext cx="4826000" cy="1168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270000" y="3708400"/>
            <a:ext cx="419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A7FCC"/>
                </a:solidFill>
                <a:latin typeface="微软雅黑" panose="020B0503020204020204" pitchFamily="34" charset="-122"/>
              </a:rPr>
              <a:t>SSE</a:t>
            </a:r>
            <a:r>
              <a:rPr lang="zh-CN" altLang="en-US" sz="1600" b="1">
                <a:solidFill>
                  <a:srgbClr val="0A7FCC"/>
                </a:solidFill>
                <a:latin typeface="微软雅黑" panose="020B0503020204020204" pitchFamily="34" charset="-122"/>
              </a:rPr>
              <a:t>：簇内越紧凑，数值越小</a:t>
            </a:r>
            <a:endParaRPr lang="zh-CN" altLang="en-US" sz="1600" b="1">
              <a:solidFill>
                <a:srgbClr val="0A7FC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70000" y="4089400"/>
            <a:ext cx="406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但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越大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通常越小，所以不能只看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，还要结合轮廓系数。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6426200" y="3429000"/>
            <a:ext cx="4826000" cy="1168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731000" y="3708400"/>
            <a:ext cx="419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006BB7"/>
                </a:solidFill>
                <a:latin typeface="微软雅黑" panose="020B0503020204020204" pitchFamily="34" charset="-122"/>
              </a:rPr>
              <a:t>轮廓系数：簇内近、簇间远更好</a:t>
            </a:r>
            <a:endParaRPr lang="zh-CN" altLang="en-US" sz="16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731000" y="4089400"/>
            <a:ext cx="406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ARI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和匹配率用于把聚类结果与真实性别标签作事后比较，评价自然结构是否对应类别。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17600" y="50546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本实验重点不是训练分类器，而是观察数据本身是否天然形成两团。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如果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C=2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的轮廓系数较高且匹配率较好，说明性别差异确实反映在身高体重结构中。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实验五设置：两组数据与多种聚类数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26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889000" y="1397000"/>
          <a:ext cx="5080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设置项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说明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数据一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个训练样本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数据二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+ test2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个样本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特征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身高、体重，先标准化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均值类别数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初始值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多个随机种子比较稳定性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  <p:sp>
        <p:nvSpPr>
          <p:cNvPr id="12" name="椭圆 11"/>
          <p:cNvSpPr/>
          <p:nvPr/>
        </p:nvSpPr>
        <p:spPr>
          <a:xfrm>
            <a:off x="69215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342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4549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初始化中心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549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随机选择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个中心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69215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9342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549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样本分配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549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分配到最近中心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69215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9342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4549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中心更新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4549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计算各簇均值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9215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9342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4549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指标评估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4549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、轮廓系数、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ARI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、匹配率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C-MEANS RESULTS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实验五结果：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C=2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聚类与初始值影响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27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19" y="1817478"/>
            <a:ext cx="4067762" cy="2905544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961454"/>
            <a:ext cx="4071811" cy="2617593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1016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68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微软雅黑" panose="020B0503020204020204" pitchFamily="34" charset="-122"/>
              </a:rPr>
              <a:t>85.00%</a:t>
            </a:r>
            <a:endParaRPr lang="zh-CN" altLang="en-US" sz="24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68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训练集 </a:t>
            </a:r>
            <a:r>
              <a:rPr lang="en-US" altLang="zh-CN" sz="1200">
                <a:solidFill>
                  <a:srgbClr val="6B7F90"/>
                </a:solidFill>
                <a:latin typeface="微软雅黑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匹配率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3302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454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微软雅黑" panose="020B0503020204020204" pitchFamily="34" charset="-122"/>
              </a:rPr>
              <a:t>85-87%</a:t>
            </a:r>
            <a:endParaRPr lang="zh-CN" altLang="en-US" sz="2400" b="1">
              <a:solidFill>
                <a:srgbClr val="0A7FC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454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不同初始值波动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5588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740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微软雅黑" panose="020B0503020204020204" pitchFamily="34" charset="-122"/>
              </a:rPr>
              <a:t>0.5108</a:t>
            </a:r>
            <a:endParaRPr lang="zh-CN" altLang="en-US" sz="24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40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轮廓系数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7874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026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微软雅黑" panose="020B0503020204020204" pitchFamily="34" charset="-122"/>
              </a:rPr>
              <a:t>0.4850</a:t>
            </a:r>
            <a:endParaRPr lang="zh-CN" altLang="en-US" sz="2400" b="1">
              <a:solidFill>
                <a:srgbClr val="2F80C9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026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微软雅黑" panose="020B0503020204020204" pitchFamily="34" charset="-122"/>
              </a:rPr>
              <a:t>ARI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MODEL SELECTION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实验五结果：类别数选择与分级聚类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28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961454"/>
            <a:ext cx="4071811" cy="2617593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18" y="2424749"/>
            <a:ext cx="3166965" cy="1691003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类别数判断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随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增大下降，但轮廓系数在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最高，因此两类更合理。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分级聚类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方法匹配率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81.00%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，略低于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均值，但能展示层次结构。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COMBINED DATA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实验五分析：加入 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test2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后结构保持但边界更复杂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29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60" y="1860500"/>
            <a:ext cx="3520580" cy="2514700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6324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774" y="1841408"/>
            <a:ext cx="3971152" cy="2552884"/>
          </a:xfrm>
          <a:prstGeom prst="rect">
            <a:avLst/>
          </a:prstGeom>
        </p:spPr>
      </p:pic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889000" y="5207000"/>
          <a:ext cx="1041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/>
                <a:gridCol w="2082800"/>
                <a:gridCol w="2082800"/>
                <a:gridCol w="2082800"/>
                <a:gridCol w="2082800"/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数据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方法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轮廓系数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ARI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匹配率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均值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0.5108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85.00%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0.5049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0.3789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81.00%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均值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0.4693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84.50%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0.4739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0.4172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82.50%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SYNTHESIS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五个实验的横向总结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30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736600" y="1397000"/>
          <a:ext cx="10718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/>
                <a:gridCol w="2679700"/>
                <a:gridCol w="2679700"/>
                <a:gridCol w="2679700"/>
              </a:tblGrid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实验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课程知识点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监督信息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主要目标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分类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后验概率、参数估计、风险决策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使用标签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最小错误率或最小风险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Fisher / Parzen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非参数估计、线性判别、留一法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使用标签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比较概率模型与直接判别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特征提取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、协方差特征分解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可不使用标签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降维与主方向分析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图像应用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高维图像特征压缩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使用标签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验证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图像识别作用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聚类分析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均值、分级聚类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不使用标签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发现样本自然结构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  <p:sp>
        <p:nvSpPr>
          <p:cNvPr id="12" name="矩形: 圆角 11"/>
          <p:cNvSpPr/>
          <p:nvPr/>
        </p:nvSpPr>
        <p:spPr>
          <a:xfrm>
            <a:off x="1079500" y="5461000"/>
            <a:ext cx="100330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397000" y="5664200"/>
            <a:ext cx="939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微软雅黑" panose="020B0503020204020204" pitchFamily="34" charset="-122"/>
              </a:rPr>
              <a:t>主线：从概率决策到线性判别，从监督分类到无监督聚类，从低维特征到高维图像识别。</a:t>
            </a:r>
            <a:endParaRPr lang="zh-CN" altLang="en-US" sz="14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CONCLUSION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总体结论与汇报收束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31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89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9000" y="1524000"/>
            <a:ext cx="76200" cy="12065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特征选择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身高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体重比单特征更稳定；图像任务中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可压缩高维特征。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72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72000" y="1524000"/>
            <a:ext cx="76200" cy="1206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模型假设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正态假设、窗口宽度、线性边界都会影响最终性能。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55000" y="1524000"/>
            <a:ext cx="2857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55000" y="1524000"/>
            <a:ext cx="76200" cy="1206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评价指标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准确率、错误率、召回率、混淆矩阵和聚类指标需要综合分析。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270000" y="3810000"/>
            <a:ext cx="9652000" cy="9652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587500" y="4140200"/>
            <a:ext cx="9017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92400E"/>
                </a:solidFill>
                <a:latin typeface="微软雅黑" panose="020B0503020204020204" pitchFamily="34" charset="-122"/>
              </a:rPr>
              <a:t>核心体会：模式识别方法没有绝对最优，算法选择必须结合数据分布、任务目标和评价指标。</a:t>
            </a:r>
            <a:endParaRPr lang="zh-CN" altLang="en-US" sz="1700" b="1">
              <a:solidFill>
                <a:srgbClr val="92400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98600" y="5181600"/>
            <a:ext cx="9271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强调概率决策，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强调判别方向，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K-L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强调表示与降维，聚类强调自然结构。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同一数据集上，不同模型的差异主要来自特征表示、概率假设、判别边界和评价目标。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实验设计需要同时报告设置、指标和图形结果，才能解释模型为什么有效或失效。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9000" y="2514600"/>
            <a:ext cx="3810000" cy="7848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5100" b="1">
                <a:solidFill>
                  <a:srgbClr val="FFFFFF"/>
                </a:solidFill>
                <a:latin typeface="微软雅黑" panose="020B0503020204020204" pitchFamily="34" charset="-122"/>
              </a:rPr>
              <a:t>谢谢</a:t>
            </a:r>
            <a:endParaRPr lang="zh-CN" altLang="en-US" sz="51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9800" y="3492500"/>
            <a:ext cx="5588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CBD5E1"/>
                </a:solidFill>
                <a:latin typeface="微软雅黑" panose="020B0503020204020204" pitchFamily="34" charset="-122"/>
              </a:rPr>
              <a:t>欢迎老师和同学批评指正</a:t>
            </a:r>
            <a:endParaRPr lang="zh-CN" altLang="en-US" sz="2100">
              <a:solidFill>
                <a:srgbClr val="CBD5E1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939800" y="4140200"/>
            <a:ext cx="2362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5,&quot;left&quot;:72,&quot;top&quot;:328,&quot;width&quot;:67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7044</Words>
  <Application>WPS 演示</Application>
  <PresentationFormat>自定义</PresentationFormat>
  <Paragraphs>1034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OPPOSans 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军 曹</dc:creator>
  <cp:lastModifiedBy>kive军</cp:lastModifiedBy>
  <cp:revision>2</cp:revision>
  <dcterms:created xsi:type="dcterms:W3CDTF">2026-06-16T19:55:00Z</dcterms:created>
  <dcterms:modified xsi:type="dcterms:W3CDTF">2026-06-16T20:06:43Z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94485322009144A39527FF5C783DCCA0_12</vt:lpwstr>
  </property>
</Properties>
</file>