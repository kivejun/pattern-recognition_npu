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2" d="100"/>
          <a:sy n="112" d="100"/>
        </p:scale>
        <p:origin x="79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F69AF-D7C0-79AB-BD4F-2085A12D05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1A9E4C6-E399-C90D-CDB5-9BB7315E78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90FBEC7-B7CC-5F7B-39D7-9FA85659C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5D5CB-BBDF-4091-8839-388963BC08AF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876E054-C761-85B5-FAB1-4002BB2D1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381D1FB-EBA0-FEFF-64CF-236610F56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BCDEF-859C-45B5-A0EF-50591B1B12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85533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66A827-AC54-C1CA-2A6B-D698BE733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23F057-4291-F350-18AE-5A005D4DCB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DF751A9-C758-C474-6270-3D0D8A970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5D5CB-BBDF-4091-8839-388963BC08AF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812854D-1F27-98B4-B012-092AF6731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CA49FB7-C435-717D-6C81-F122F4A8E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BCDEF-859C-45B5-A0EF-50591B1B12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5996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AF57E7-50E1-4EC3-4388-9C5282FDC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8FFB456-01C8-3570-EF74-D0D3050E81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0B5E9C6-BAD3-0B53-20B0-BBBAEA3C4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5D5CB-BBDF-4091-8839-388963BC08AF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10B7D6A-DCD5-EA81-ACED-8AAD1DEA4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D52C8CE-200C-7341-5785-A3C1379B7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BCDEF-859C-45B5-A0EF-50591B1B12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8069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E86FFA-77A7-39D2-7575-CA0C7C5FA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44F5FBB-22A1-E2CC-4FA7-8CDC5A9075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2E340B4-F346-8146-F00B-D024C4A1D5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CB576AC-2074-0714-D612-788961957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5D5CB-BBDF-4091-8839-388963BC08AF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235F625-06D5-BB07-FFD8-4832D3572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4D88774-7C8F-FDC3-2A7A-14DB0C745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BCDEF-859C-45B5-A0EF-50591B1B12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81481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A608A5-86A6-D829-3B28-4C01C2FB5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FE2955C-22F9-CD17-687C-71F1F7EBE0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5DDC447-45AD-3FBC-DBCE-E4DE606853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A9E8EE2-F40D-7B4E-D4B7-56BDBA0F82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824C27E-AC56-CAB9-7AEE-83E0D6262B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5EB6732-54E6-279A-E0BF-7475EA52B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5D5CB-BBDF-4091-8839-388963BC08AF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C9FD1FD-4663-17C7-4B74-3D783B85D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88FDF29-6863-7C21-94CB-582C67999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BCDEF-859C-45B5-A0EF-50591B1B12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42943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EC89D1-0C2F-232A-300E-C3B8778D9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261F1C1-C149-7D76-12DA-877B63F78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5D5CB-BBDF-4091-8839-388963BC08AF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75AD6A9-2887-7310-17D4-0679A0699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DEFEFC0-EE35-451F-43B9-E6C3FD6DC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BCDEF-859C-45B5-A0EF-50591B1B12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58174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86E4D43-61E8-E037-0D0F-D9F7671D4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5D5CB-BBDF-4091-8839-388963BC08AF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F52A746-A804-B00C-C54D-7E260BB25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F29DAE7-708F-38E3-F588-B5AA49FD7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BCDEF-859C-45B5-A0EF-50591B1B12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3718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B1FDEF-7C29-D929-5B03-C3236D3A4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D0027E4-2595-1AB3-27D9-C320BE3E01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763A9C4-E740-4CBE-3543-9F930C8944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2B2393E-4807-1FA2-4D74-FB021A30D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5D5CB-BBDF-4091-8839-388963BC08AF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14EEEDF-E59D-13AD-32D9-77BA2B802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CBBD7B8-FF94-390D-EBEF-6EE1F6712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BCDEF-859C-45B5-A0EF-50591B1B12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87603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DDF651-1F22-FD53-12B8-AE88B35C5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90B1280-D29F-CEC9-E000-57B78A062F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F3A519D-6626-10CD-FE0F-DAABB86105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46D66F4-B4A6-1507-7C4C-BEB99FB47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5D5CB-BBDF-4091-8839-388963BC08AF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9DCAF57-9582-4A51-236F-95A80709C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54CFCB4-59C1-82A7-3525-5A98ADF9F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BCDEF-859C-45B5-A0EF-50591B1B12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3377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13246B-F37D-7BB5-7765-A3107DDFB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6846A1E-F05A-592E-F41D-975DE14DA1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84ABF45-9078-A710-E7A1-6D6C1C1D3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5D5CB-BBDF-4091-8839-388963BC08AF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26D41EF-E855-A482-8580-BB23DDF39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AEAB23A-6A0C-DEA5-9E72-BD4ED495E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BCDEF-859C-45B5-A0EF-50591B1B12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976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938B18C-504D-FD4B-9F5A-38E885FC46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5E59C98-406B-8417-DD90-5F4967C600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4935739-916B-2BA7-DAD1-AC47EC46D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5D5CB-BBDF-4091-8839-388963BC08AF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F9BBA81-F3E1-D4FB-7AE4-176C2D5FC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6BDBEA-E3A6-927A-9884-DAA0D3A59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BCDEF-859C-45B5-A0EF-50591B1B12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1386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CBEB818-B951-CB53-36DE-3E3A70296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513DFAC-91B8-2277-13D9-D3BBD45D9A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FC9D8EF-9173-7D0E-5BC0-2904D4D5CE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E5D5CB-BBDF-4091-8839-388963BC08AF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376FAC8-DEDD-2AF7-37B2-FD82174B82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1D84BE9-A32B-E9C0-1D2F-26CE161500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2BCDEF-859C-45B5-A0EF-50591B1B12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6945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2A6E2B4-FBD0-96BE-794D-FA7EE28A5A8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A8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平行四边形 2">
            <a:extLst>
              <a:ext uri="{FF2B5EF4-FFF2-40B4-BE49-F238E27FC236}">
                <a16:creationId xmlns:a16="http://schemas.microsoft.com/office/drawing/2014/main" id="{E261C283-87AA-2E01-C9CA-D27996BF4005}"/>
              </a:ext>
            </a:extLst>
          </p:cNvPr>
          <p:cNvSpPr/>
          <p:nvPr/>
        </p:nvSpPr>
        <p:spPr>
          <a:xfrm>
            <a:off x="-1016000" y="4381500"/>
            <a:ext cx="6604000" cy="2921000"/>
          </a:xfrm>
          <a:prstGeom prst="parallelogram">
            <a:avLst>
              <a:gd name="adj" fmla="val 20000"/>
            </a:avLst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E7D369C3-FC12-72D4-6B4D-6F561D4BF776}"/>
              </a:ext>
            </a:extLst>
          </p:cNvPr>
          <p:cNvSpPr/>
          <p:nvPr/>
        </p:nvSpPr>
        <p:spPr>
          <a:xfrm>
            <a:off x="8064500" y="-254000"/>
            <a:ext cx="5334000" cy="1968500"/>
          </a:xfrm>
          <a:prstGeom prst="parallelogram">
            <a:avLst>
              <a:gd name="adj" fmla="val 18000"/>
            </a:avLst>
          </a:prstGeom>
          <a:solidFill>
            <a:srgbClr val="3A9BD9">
              <a:alpha val="80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DBB516E-6A36-9AEC-C379-69F0694842F3}"/>
              </a:ext>
            </a:extLst>
          </p:cNvPr>
          <p:cNvSpPr txBox="1"/>
          <p:nvPr/>
        </p:nvSpPr>
        <p:spPr>
          <a:xfrm>
            <a:off x="914400" y="1219200"/>
            <a:ext cx="5334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00" b="1">
                <a:solidFill>
                  <a:srgbClr val="BFE8FF"/>
                </a:solidFill>
                <a:latin typeface="Microsoft YaHei" panose="020B0503020204020204" pitchFamily="34" charset="-122"/>
              </a:rPr>
              <a:t>PATTERN RECOGNITION · EXPERIMENT 1</a:t>
            </a:r>
            <a:endParaRPr lang="zh-CN" altLang="en-US" sz="800" b="1">
              <a:solidFill>
                <a:srgbClr val="BFE8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5F99E70-6FDD-8A2D-FB16-37A1E60DE786}"/>
              </a:ext>
            </a:extLst>
          </p:cNvPr>
          <p:cNvSpPr txBox="1"/>
          <p:nvPr/>
        </p:nvSpPr>
        <p:spPr>
          <a:xfrm>
            <a:off x="914400" y="1981200"/>
            <a:ext cx="7747000" cy="52322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3400" b="1">
                <a:solidFill>
                  <a:srgbClr val="FAFCFF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3400" b="1">
                <a:solidFill>
                  <a:srgbClr val="FAFCFF"/>
                </a:solidFill>
                <a:latin typeface="Microsoft YaHei" panose="020B0503020204020204" pitchFamily="34" charset="-122"/>
              </a:rPr>
              <a:t>性别分类器实验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C603A2B-4DB0-9D2B-8F3B-829A26DD4D50}"/>
              </a:ext>
            </a:extLst>
          </p:cNvPr>
          <p:cNvSpPr txBox="1"/>
          <p:nvPr/>
        </p:nvSpPr>
        <p:spPr>
          <a:xfrm>
            <a:off x="965200" y="2895600"/>
            <a:ext cx="8128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>
                <a:solidFill>
                  <a:srgbClr val="D9ECFF"/>
                </a:solidFill>
                <a:latin typeface="Microsoft YaHei" panose="020B0503020204020204" pitchFamily="34" charset="-122"/>
              </a:rPr>
              <a:t>理论原理 </a:t>
            </a:r>
            <a:r>
              <a:rPr lang="en-US" altLang="zh-CN" sz="1400">
                <a:solidFill>
                  <a:srgbClr val="D9ECFF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1400">
                <a:solidFill>
                  <a:srgbClr val="D9ECFF"/>
                </a:solidFill>
                <a:latin typeface="Microsoft YaHei" panose="020B0503020204020204" pitchFamily="34" charset="-122"/>
              </a:rPr>
              <a:t>实验设计 </a:t>
            </a:r>
            <a:r>
              <a:rPr lang="en-US" altLang="zh-CN" sz="1400">
                <a:solidFill>
                  <a:srgbClr val="D9ECFF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1400">
                <a:solidFill>
                  <a:srgbClr val="D9ECFF"/>
                </a:solidFill>
                <a:latin typeface="Microsoft YaHei" panose="020B0503020204020204" pitchFamily="34" charset="-122"/>
              </a:rPr>
              <a:t>软件实现 </a:t>
            </a:r>
            <a:r>
              <a:rPr lang="en-US" altLang="zh-CN" sz="1400">
                <a:solidFill>
                  <a:srgbClr val="D9ECFF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1400">
                <a:solidFill>
                  <a:srgbClr val="D9ECFF"/>
                </a:solidFill>
                <a:latin typeface="Microsoft YaHei" panose="020B0503020204020204" pitchFamily="34" charset="-122"/>
              </a:rPr>
              <a:t>实验结果分析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00A3DD90-7B4B-EA3A-CCE2-0E79E02F1C7F}"/>
              </a:ext>
            </a:extLst>
          </p:cNvPr>
          <p:cNvSpPr/>
          <p:nvPr/>
        </p:nvSpPr>
        <p:spPr>
          <a:xfrm>
            <a:off x="914400" y="4470400"/>
            <a:ext cx="2603500" cy="685800"/>
          </a:xfrm>
          <a:prstGeom prst="roundRect">
            <a:avLst/>
          </a:prstGeom>
          <a:solidFill>
            <a:srgbClr val="0E3556"/>
          </a:solidFill>
          <a:ln w="10160">
            <a:solidFill>
              <a:srgbClr val="75BD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028244D-EED7-92FD-A9F5-0158B9FD696E}"/>
              </a:ext>
            </a:extLst>
          </p:cNvPr>
          <p:cNvSpPr txBox="1"/>
          <p:nvPr/>
        </p:nvSpPr>
        <p:spPr>
          <a:xfrm>
            <a:off x="1143000" y="4610100"/>
            <a:ext cx="2032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 b="1">
                <a:solidFill>
                  <a:srgbClr val="D9ECFF"/>
                </a:solidFill>
                <a:latin typeface="Microsoft YaHei" panose="020B0503020204020204" pitchFamily="34" charset="-122"/>
              </a:rPr>
              <a:t>姓名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928AF31-A115-EF78-4239-4307E0E4F826}"/>
              </a:ext>
            </a:extLst>
          </p:cNvPr>
          <p:cNvSpPr txBox="1"/>
          <p:nvPr/>
        </p:nvSpPr>
        <p:spPr>
          <a:xfrm>
            <a:off x="1143000" y="4864100"/>
            <a:ext cx="2032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FAFCFF"/>
                </a:solidFill>
                <a:latin typeface="Microsoft YaHei" panose="020B0503020204020204" pitchFamily="34" charset="-122"/>
              </a:rPr>
              <a:t>请填写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A97C9FBB-9474-2DFB-D379-34AA663ED6BD}"/>
              </a:ext>
            </a:extLst>
          </p:cNvPr>
          <p:cNvSpPr/>
          <p:nvPr/>
        </p:nvSpPr>
        <p:spPr>
          <a:xfrm>
            <a:off x="4089400" y="4470400"/>
            <a:ext cx="2603500" cy="685800"/>
          </a:xfrm>
          <a:prstGeom prst="roundRect">
            <a:avLst/>
          </a:prstGeom>
          <a:solidFill>
            <a:srgbClr val="0E3556"/>
          </a:solidFill>
          <a:ln w="10160">
            <a:solidFill>
              <a:srgbClr val="75BD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D74ABCB-D3D8-DF58-B8BB-875C8DDCDE5C}"/>
              </a:ext>
            </a:extLst>
          </p:cNvPr>
          <p:cNvSpPr txBox="1"/>
          <p:nvPr/>
        </p:nvSpPr>
        <p:spPr>
          <a:xfrm>
            <a:off x="4318000" y="4610100"/>
            <a:ext cx="2032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 b="1">
                <a:solidFill>
                  <a:srgbClr val="D9ECFF"/>
                </a:solidFill>
                <a:latin typeface="Microsoft YaHei" panose="020B0503020204020204" pitchFamily="34" charset="-122"/>
              </a:rPr>
              <a:t>学号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E000427-07B5-DF62-7FCD-E1D62F0BCE9A}"/>
              </a:ext>
            </a:extLst>
          </p:cNvPr>
          <p:cNvSpPr txBox="1"/>
          <p:nvPr/>
        </p:nvSpPr>
        <p:spPr>
          <a:xfrm>
            <a:off x="4318000" y="4864100"/>
            <a:ext cx="2032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FAFCFF"/>
                </a:solidFill>
                <a:latin typeface="Microsoft YaHei" panose="020B0503020204020204" pitchFamily="34" charset="-122"/>
              </a:rPr>
              <a:t>请填写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5FAD334B-C0A2-0D7B-88E5-9628CDD12635}"/>
              </a:ext>
            </a:extLst>
          </p:cNvPr>
          <p:cNvSpPr/>
          <p:nvPr/>
        </p:nvSpPr>
        <p:spPr>
          <a:xfrm>
            <a:off x="7264400" y="4470400"/>
            <a:ext cx="2603500" cy="685800"/>
          </a:xfrm>
          <a:prstGeom prst="roundRect">
            <a:avLst/>
          </a:prstGeom>
          <a:solidFill>
            <a:srgbClr val="0E3556"/>
          </a:solidFill>
          <a:ln w="10160">
            <a:solidFill>
              <a:srgbClr val="75BD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1E8BF94-CF46-1A58-F8A9-316E979888E3}"/>
              </a:ext>
            </a:extLst>
          </p:cNvPr>
          <p:cNvSpPr txBox="1"/>
          <p:nvPr/>
        </p:nvSpPr>
        <p:spPr>
          <a:xfrm>
            <a:off x="7493000" y="4610100"/>
            <a:ext cx="2032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 b="1">
                <a:solidFill>
                  <a:srgbClr val="D9ECFF"/>
                </a:solidFill>
                <a:latin typeface="Microsoft YaHei" panose="020B0503020204020204" pitchFamily="34" charset="-122"/>
              </a:rPr>
              <a:t>班级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4E8B3DD-C4A2-6D8A-12F3-97BFFCDA0189}"/>
              </a:ext>
            </a:extLst>
          </p:cNvPr>
          <p:cNvSpPr txBox="1"/>
          <p:nvPr/>
        </p:nvSpPr>
        <p:spPr>
          <a:xfrm>
            <a:off x="7493000" y="4864100"/>
            <a:ext cx="2032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FAFCFF"/>
                </a:solidFill>
                <a:latin typeface="Microsoft YaHei" panose="020B0503020204020204" pitchFamily="34" charset="-122"/>
              </a:rPr>
              <a:t>请填写</a:t>
            </a:r>
          </a:p>
        </p:txBody>
      </p:sp>
    </p:spTree>
    <p:extLst>
      <p:ext uri="{BB962C8B-B14F-4D97-AF65-F5344CB8AC3E}">
        <p14:creationId xmlns:p14="http://schemas.microsoft.com/office/powerpoint/2010/main" val="40076107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5C56D8F-CF79-722A-DBBE-B9A9255A1C4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平行四边形 2">
            <a:extLst>
              <a:ext uri="{FF2B5EF4-FFF2-40B4-BE49-F238E27FC236}">
                <a16:creationId xmlns:a16="http://schemas.microsoft.com/office/drawing/2014/main" id="{22E550D9-233E-B3CB-E4F5-7EAF0DF8881B}"/>
              </a:ext>
            </a:extLst>
          </p:cNvPr>
          <p:cNvSpPr/>
          <p:nvPr/>
        </p:nvSpPr>
        <p:spPr>
          <a:xfrm>
            <a:off x="-317500" y="-279400"/>
            <a:ext cx="13208000" cy="1041400"/>
          </a:xfrm>
          <a:prstGeom prst="parallelogram">
            <a:avLst>
              <a:gd name="adj" fmla="val 16000"/>
            </a:avLst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EE84EE7B-0090-6A95-32A4-7B1F020A7294}"/>
              </a:ext>
            </a:extLst>
          </p:cNvPr>
          <p:cNvSpPr/>
          <p:nvPr/>
        </p:nvSpPr>
        <p:spPr>
          <a:xfrm>
            <a:off x="8953500" y="-101600"/>
            <a:ext cx="3937000" cy="939800"/>
          </a:xfrm>
          <a:prstGeom prst="parallelogram">
            <a:avLst/>
          </a:prstGeom>
          <a:solidFill>
            <a:srgbClr val="3A9BD9">
              <a:alpha val="80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45D1859-03EA-F59E-9FF6-A2EEE3B98FB7}"/>
              </a:ext>
            </a:extLst>
          </p:cNvPr>
          <p:cNvSpPr/>
          <p:nvPr/>
        </p:nvSpPr>
        <p:spPr>
          <a:xfrm>
            <a:off x="660400" y="939800"/>
            <a:ext cx="1168400" cy="508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平行四边形 5">
            <a:extLst>
              <a:ext uri="{FF2B5EF4-FFF2-40B4-BE49-F238E27FC236}">
                <a16:creationId xmlns:a16="http://schemas.microsoft.com/office/drawing/2014/main" id="{F5FBEB71-4EE7-07BB-7EBA-BF3AA82C61A8}"/>
              </a:ext>
            </a:extLst>
          </p:cNvPr>
          <p:cNvSpPr/>
          <p:nvPr/>
        </p:nvSpPr>
        <p:spPr>
          <a:xfrm>
            <a:off x="-1143000" y="6350000"/>
            <a:ext cx="6604000" cy="584200"/>
          </a:xfrm>
          <a:prstGeom prst="parallelogram">
            <a:avLst>
              <a:gd name="adj" fmla="val 28000"/>
            </a:avLst>
          </a:prstGeom>
          <a:solidFill>
            <a:srgbClr val="E3F2F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E638B44-3B40-8E93-774E-6FF7901EB954}"/>
              </a:ext>
            </a:extLst>
          </p:cNvPr>
          <p:cNvSpPr txBox="1"/>
          <p:nvPr/>
        </p:nvSpPr>
        <p:spPr>
          <a:xfrm>
            <a:off x="736600" y="228600"/>
            <a:ext cx="4572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FAFCFF"/>
                </a:solidFill>
                <a:latin typeface="Microsoft YaHei" panose="020B0503020204020204" pitchFamily="34" charset="-122"/>
              </a:rPr>
              <a:t>ROADMAP</a:t>
            </a:r>
            <a:endParaRPr lang="zh-CN" altLang="en-US" sz="700" b="1">
              <a:solidFill>
                <a:srgbClr val="FAFC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343F679-94E7-130D-24D3-5A75571E828D}"/>
              </a:ext>
            </a:extLst>
          </p:cNvPr>
          <p:cNvSpPr txBox="1"/>
          <p:nvPr/>
        </p:nvSpPr>
        <p:spPr>
          <a:xfrm>
            <a:off x="736600" y="482600"/>
            <a:ext cx="8890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000" b="1">
                <a:solidFill>
                  <a:srgbClr val="FAFCFF"/>
                </a:solidFill>
                <a:latin typeface="Microsoft YaHei" panose="020B0503020204020204" pitchFamily="34" charset="-122"/>
              </a:rPr>
              <a:t>汇报逻辑：从理论到结果分析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89D94E3-EF6C-2A74-2966-517168EC0A67}"/>
              </a:ext>
            </a:extLst>
          </p:cNvPr>
          <p:cNvSpPr txBox="1"/>
          <p:nvPr/>
        </p:nvSpPr>
        <p:spPr>
          <a:xfrm>
            <a:off x="685800" y="6489700"/>
            <a:ext cx="4572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6B7B8C"/>
                </a:solidFill>
                <a:latin typeface="Microsoft YaHei" panose="020B0503020204020204" pitchFamily="34" charset="-122"/>
              </a:rPr>
              <a:t>模式识别课程实验一 </a:t>
            </a:r>
            <a:r>
              <a:rPr lang="en-US" altLang="zh-CN" sz="700">
                <a:solidFill>
                  <a:srgbClr val="6B7B8C"/>
                </a:solidFill>
                <a:latin typeface="Microsoft YaHei" panose="020B0503020204020204" pitchFamily="34" charset="-122"/>
              </a:rPr>
              <a:t>· Bayes </a:t>
            </a:r>
            <a:r>
              <a:rPr lang="zh-CN" altLang="en-US" sz="700">
                <a:solidFill>
                  <a:srgbClr val="6B7B8C"/>
                </a:solidFill>
                <a:latin typeface="Microsoft YaHei" panose="020B0503020204020204" pitchFamily="34" charset="-122"/>
              </a:rPr>
              <a:t>性别分类器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7F0A739-E659-36E6-5EA0-AA9D28051B14}"/>
              </a:ext>
            </a:extLst>
          </p:cNvPr>
          <p:cNvSpPr txBox="1"/>
          <p:nvPr/>
        </p:nvSpPr>
        <p:spPr>
          <a:xfrm>
            <a:off x="11277600" y="6438900"/>
            <a:ext cx="4064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800" b="1">
                <a:solidFill>
                  <a:srgbClr val="006BB7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8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6BACAF76-7FB8-E29D-F73B-358B18CC4540}"/>
              </a:ext>
            </a:extLst>
          </p:cNvPr>
          <p:cNvSpPr/>
          <p:nvPr/>
        </p:nvSpPr>
        <p:spPr>
          <a:xfrm>
            <a:off x="889000" y="1651000"/>
            <a:ext cx="2413000" cy="1079500"/>
          </a:xfrm>
          <a:prstGeom prst="roundRect">
            <a:avLst/>
          </a:prstGeom>
          <a:solidFill>
            <a:srgbClr val="FAFCFF"/>
          </a:solidFill>
          <a:ln w="10160">
            <a:solidFill>
              <a:srgbClr val="C9DD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149689C-69E3-D83E-255E-6E1FD42C1F0C}"/>
              </a:ext>
            </a:extLst>
          </p:cNvPr>
          <p:cNvSpPr/>
          <p:nvPr/>
        </p:nvSpPr>
        <p:spPr>
          <a:xfrm>
            <a:off x="889000" y="1651000"/>
            <a:ext cx="63500" cy="10795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5E5E62D-9564-F79F-C6EE-3BF69352E501}"/>
              </a:ext>
            </a:extLst>
          </p:cNvPr>
          <p:cNvSpPr txBox="1"/>
          <p:nvPr/>
        </p:nvSpPr>
        <p:spPr>
          <a:xfrm>
            <a:off x="1092200" y="1778000"/>
            <a:ext cx="20828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1A2E44"/>
                </a:solidFill>
                <a:latin typeface="Microsoft YaHei" panose="020B0503020204020204" pitchFamily="34" charset="-122"/>
              </a:rPr>
              <a:t>1 </a:t>
            </a:r>
            <a:r>
              <a:rPr lang="zh-CN" altLang="en-US" sz="1000" b="1">
                <a:solidFill>
                  <a:srgbClr val="1A2E44"/>
                </a:solidFill>
                <a:latin typeface="Microsoft YaHei" panose="020B0503020204020204" pitchFamily="34" charset="-122"/>
              </a:rPr>
              <a:t>理论原理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29CA0CB-FF0E-A250-6C44-342604EEABF2}"/>
              </a:ext>
            </a:extLst>
          </p:cNvPr>
          <p:cNvSpPr txBox="1"/>
          <p:nvPr/>
        </p:nvSpPr>
        <p:spPr>
          <a:xfrm>
            <a:off x="1092200" y="2082800"/>
            <a:ext cx="20828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00">
                <a:solidFill>
                  <a:srgbClr val="333D4A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800">
                <a:solidFill>
                  <a:srgbClr val="333D4A"/>
                </a:solidFill>
                <a:latin typeface="Microsoft YaHei" panose="020B0503020204020204" pitchFamily="34" charset="-122"/>
              </a:rPr>
              <a:t>决策、正态假设、参数估计、最小风险与非参数估计。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E70B434B-D64C-BB08-B0EE-D2985AE9E825}"/>
              </a:ext>
            </a:extLst>
          </p:cNvPr>
          <p:cNvSpPr/>
          <p:nvPr/>
        </p:nvSpPr>
        <p:spPr>
          <a:xfrm>
            <a:off x="3683000" y="1651000"/>
            <a:ext cx="2413000" cy="1079500"/>
          </a:xfrm>
          <a:prstGeom prst="roundRect">
            <a:avLst/>
          </a:prstGeom>
          <a:solidFill>
            <a:srgbClr val="FAFCFF"/>
          </a:solidFill>
          <a:ln w="10160">
            <a:solidFill>
              <a:srgbClr val="C9DD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ABCDA55-2C14-4F7B-11E1-5BE5A3E67C05}"/>
              </a:ext>
            </a:extLst>
          </p:cNvPr>
          <p:cNvSpPr/>
          <p:nvPr/>
        </p:nvSpPr>
        <p:spPr>
          <a:xfrm>
            <a:off x="3683000" y="1651000"/>
            <a:ext cx="63500" cy="1079500"/>
          </a:xfrm>
          <a:prstGeom prst="rect">
            <a:avLst/>
          </a:prstGeom>
          <a:solidFill>
            <a:srgbClr val="3A9B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4392DA6-3CA9-C6F8-EE58-B1023BA924A4}"/>
              </a:ext>
            </a:extLst>
          </p:cNvPr>
          <p:cNvSpPr txBox="1"/>
          <p:nvPr/>
        </p:nvSpPr>
        <p:spPr>
          <a:xfrm>
            <a:off x="3886200" y="1778000"/>
            <a:ext cx="20828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1A2E44"/>
                </a:solidFill>
                <a:latin typeface="Microsoft YaHei" panose="020B0503020204020204" pitchFamily="34" charset="-122"/>
              </a:rPr>
              <a:t>2 </a:t>
            </a:r>
            <a:r>
              <a:rPr lang="zh-CN" altLang="en-US" sz="1000" b="1">
                <a:solidFill>
                  <a:srgbClr val="1A2E44"/>
                </a:solidFill>
                <a:latin typeface="Microsoft YaHei" panose="020B0503020204020204" pitchFamily="34" charset="-122"/>
              </a:rPr>
              <a:t>实验设计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48B237E-5BB8-4F77-5A06-B6E682CBB16C}"/>
              </a:ext>
            </a:extLst>
          </p:cNvPr>
          <p:cNvSpPr txBox="1"/>
          <p:nvPr/>
        </p:nvSpPr>
        <p:spPr>
          <a:xfrm>
            <a:off x="3886200" y="2082800"/>
            <a:ext cx="20828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333D4A"/>
                </a:solidFill>
                <a:latin typeface="Microsoft YaHei" panose="020B0503020204020204" pitchFamily="34" charset="-122"/>
              </a:rPr>
              <a:t>数据集、特征组合、先验设置、风险表和评价指标。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2FA46A69-E4D0-A99B-D1D1-384E8EEF0135}"/>
              </a:ext>
            </a:extLst>
          </p:cNvPr>
          <p:cNvSpPr/>
          <p:nvPr/>
        </p:nvSpPr>
        <p:spPr>
          <a:xfrm>
            <a:off x="6477000" y="1651000"/>
            <a:ext cx="2413000" cy="1079500"/>
          </a:xfrm>
          <a:prstGeom prst="roundRect">
            <a:avLst/>
          </a:prstGeom>
          <a:solidFill>
            <a:srgbClr val="FAFCFF"/>
          </a:solidFill>
          <a:ln w="10160">
            <a:solidFill>
              <a:srgbClr val="C9DD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8D6CE0B-71B9-EEDE-C599-3E8435D64CEB}"/>
              </a:ext>
            </a:extLst>
          </p:cNvPr>
          <p:cNvSpPr/>
          <p:nvPr/>
        </p:nvSpPr>
        <p:spPr>
          <a:xfrm>
            <a:off x="6477000" y="1651000"/>
            <a:ext cx="63500" cy="10795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AA5C49B-A0B6-EA26-B24F-2C68E3814F52}"/>
              </a:ext>
            </a:extLst>
          </p:cNvPr>
          <p:cNvSpPr txBox="1"/>
          <p:nvPr/>
        </p:nvSpPr>
        <p:spPr>
          <a:xfrm>
            <a:off x="6680200" y="1778000"/>
            <a:ext cx="20828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1A2E44"/>
                </a:solidFill>
                <a:latin typeface="Microsoft YaHei" panose="020B0503020204020204" pitchFamily="34" charset="-122"/>
              </a:rPr>
              <a:t>3 </a:t>
            </a:r>
            <a:r>
              <a:rPr lang="zh-CN" altLang="en-US" sz="1000" b="1">
                <a:solidFill>
                  <a:srgbClr val="1A2E44"/>
                </a:solidFill>
                <a:latin typeface="Microsoft YaHei" panose="020B0503020204020204" pitchFamily="34" charset="-122"/>
              </a:rPr>
              <a:t>软件实现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91F3D34-3C9A-8711-2663-EC8E8C44E2D3}"/>
              </a:ext>
            </a:extLst>
          </p:cNvPr>
          <p:cNvSpPr txBox="1"/>
          <p:nvPr/>
        </p:nvSpPr>
        <p:spPr>
          <a:xfrm>
            <a:off x="6680200" y="2082800"/>
            <a:ext cx="20828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333D4A"/>
                </a:solidFill>
                <a:latin typeface="Microsoft YaHei" panose="020B0503020204020204" pitchFamily="34" charset="-122"/>
              </a:rPr>
              <a:t>读取数据、训练模型、分类预测、绘图和结果保存。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FC641ABB-E6F2-CFDB-2F31-33CFB1FFEB77}"/>
              </a:ext>
            </a:extLst>
          </p:cNvPr>
          <p:cNvSpPr/>
          <p:nvPr/>
        </p:nvSpPr>
        <p:spPr>
          <a:xfrm>
            <a:off x="9271000" y="1651000"/>
            <a:ext cx="1905000" cy="1079500"/>
          </a:xfrm>
          <a:prstGeom prst="roundRect">
            <a:avLst/>
          </a:prstGeom>
          <a:solidFill>
            <a:srgbClr val="FAFCFF"/>
          </a:solidFill>
          <a:ln w="10160">
            <a:solidFill>
              <a:srgbClr val="C9DD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7593E48-DCB1-119D-5AE6-B0759120AAE3}"/>
              </a:ext>
            </a:extLst>
          </p:cNvPr>
          <p:cNvSpPr/>
          <p:nvPr/>
        </p:nvSpPr>
        <p:spPr>
          <a:xfrm>
            <a:off x="9271000" y="1651000"/>
            <a:ext cx="63500" cy="10795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7982C42-629A-07FC-D7A5-703DD27CB8FF}"/>
              </a:ext>
            </a:extLst>
          </p:cNvPr>
          <p:cNvSpPr txBox="1"/>
          <p:nvPr/>
        </p:nvSpPr>
        <p:spPr>
          <a:xfrm>
            <a:off x="9474200" y="1778000"/>
            <a:ext cx="15748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1A2E44"/>
                </a:solidFill>
                <a:latin typeface="Microsoft YaHei" panose="020B0503020204020204" pitchFamily="34" charset="-122"/>
              </a:rPr>
              <a:t>4 </a:t>
            </a:r>
            <a:r>
              <a:rPr lang="zh-CN" altLang="en-US" sz="1000" b="1">
                <a:solidFill>
                  <a:srgbClr val="1A2E44"/>
                </a:solidFill>
                <a:latin typeface="Microsoft YaHei" panose="020B0503020204020204" pitchFamily="34" charset="-122"/>
              </a:rPr>
              <a:t>结果分析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B9762741-EA58-D17F-8847-FDA3794941DA}"/>
              </a:ext>
            </a:extLst>
          </p:cNvPr>
          <p:cNvSpPr txBox="1"/>
          <p:nvPr/>
        </p:nvSpPr>
        <p:spPr>
          <a:xfrm>
            <a:off x="9474200" y="2082800"/>
            <a:ext cx="15748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333D4A"/>
                </a:solidFill>
                <a:latin typeface="Microsoft YaHei" panose="020B0503020204020204" pitchFamily="34" charset="-122"/>
              </a:rPr>
              <a:t>准确率、混淆矩阵、决策边界和误差来源。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B8C9ABE3-ADC7-314D-CC7A-3EE8F47A77F6}"/>
              </a:ext>
            </a:extLst>
          </p:cNvPr>
          <p:cNvSpPr/>
          <p:nvPr/>
        </p:nvSpPr>
        <p:spPr>
          <a:xfrm>
            <a:off x="1498600" y="3810000"/>
            <a:ext cx="9194800" cy="1168400"/>
          </a:xfrm>
          <a:prstGeom prst="roundRect">
            <a:avLst/>
          </a:prstGeom>
          <a:solidFill>
            <a:srgbClr val="E3F2FD"/>
          </a:solidFill>
          <a:ln w="10160">
            <a:solidFill>
              <a:srgbClr val="B6DD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88D6DEAE-568B-670B-DE78-F2397083DB9A}"/>
              </a:ext>
            </a:extLst>
          </p:cNvPr>
          <p:cNvSpPr txBox="1"/>
          <p:nvPr/>
        </p:nvSpPr>
        <p:spPr>
          <a:xfrm>
            <a:off x="1854200" y="4216400"/>
            <a:ext cx="8509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500" b="1">
                <a:solidFill>
                  <a:srgbClr val="004A82"/>
                </a:solidFill>
                <a:latin typeface="Microsoft YaHei" panose="020B0503020204020204" pitchFamily="34" charset="-122"/>
              </a:rPr>
              <a:t>核心问题：如何根据身高</a:t>
            </a:r>
            <a:r>
              <a:rPr lang="en-US" altLang="zh-CN" sz="1500" b="1">
                <a:solidFill>
                  <a:srgbClr val="004A82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500" b="1">
                <a:solidFill>
                  <a:srgbClr val="004A82"/>
                </a:solidFill>
                <a:latin typeface="Microsoft YaHei" panose="020B0503020204020204" pitchFamily="34" charset="-122"/>
              </a:rPr>
              <a:t>体重特征 </a:t>
            </a:r>
            <a:r>
              <a:rPr lang="en-US" altLang="zh-CN" sz="1500" b="1">
                <a:solidFill>
                  <a:srgbClr val="004A82"/>
                </a:solidFill>
                <a:latin typeface="Microsoft YaHei" panose="020B0503020204020204" pitchFamily="34" charset="-122"/>
              </a:rPr>
              <a:t>x</a:t>
            </a:r>
            <a:r>
              <a:rPr lang="zh-CN" altLang="en-US" sz="1500" b="1">
                <a:solidFill>
                  <a:srgbClr val="004A82"/>
                </a:solidFill>
                <a:latin typeface="Microsoft YaHei" panose="020B0503020204020204" pitchFamily="34" charset="-122"/>
              </a:rPr>
              <a:t>，判断样本属于女生 </a:t>
            </a:r>
            <a:r>
              <a:rPr lang="en-US" altLang="zh-CN" sz="1500" b="1">
                <a:solidFill>
                  <a:srgbClr val="004A82"/>
                </a:solidFill>
                <a:latin typeface="Microsoft YaHei" panose="020B0503020204020204" pitchFamily="34" charset="-122"/>
              </a:rPr>
              <a:t>F </a:t>
            </a:r>
            <a:r>
              <a:rPr lang="zh-CN" altLang="en-US" sz="1500" b="1">
                <a:solidFill>
                  <a:srgbClr val="004A82"/>
                </a:solidFill>
                <a:latin typeface="Microsoft YaHei" panose="020B0503020204020204" pitchFamily="34" charset="-122"/>
              </a:rPr>
              <a:t>还是男生 </a:t>
            </a:r>
            <a:r>
              <a:rPr lang="en-US" altLang="zh-CN" sz="1500" b="1">
                <a:solidFill>
                  <a:srgbClr val="004A82"/>
                </a:solidFill>
                <a:latin typeface="Microsoft YaHei" panose="020B0503020204020204" pitchFamily="34" charset="-122"/>
              </a:rPr>
              <a:t>M</a:t>
            </a:r>
            <a:r>
              <a:rPr lang="zh-CN" altLang="en-US" sz="1500" b="1">
                <a:solidFill>
                  <a:srgbClr val="004A82"/>
                </a:solidFill>
                <a:latin typeface="Microsoft YaHei" panose="020B0503020204020204" pitchFamily="34" charset="-122"/>
              </a:rPr>
              <a:t>？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B31C0D6B-8385-F3C3-28B3-44119F3E5517}"/>
              </a:ext>
            </a:extLst>
          </p:cNvPr>
          <p:cNvSpPr txBox="1"/>
          <p:nvPr/>
        </p:nvSpPr>
        <p:spPr>
          <a:xfrm>
            <a:off x="1422400" y="5359400"/>
            <a:ext cx="9271000" cy="392415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228600" indent="-2286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900">
                <a:solidFill>
                  <a:srgbClr val="333D4A"/>
                </a:solidFill>
                <a:latin typeface="Microsoft YaHei" panose="020B0503020204020204" pitchFamily="34" charset="-122"/>
              </a:rPr>
              <a:t>这是一个典型的两类模式分类问题。</a:t>
            </a:r>
          </a:p>
          <a:p>
            <a:pPr marL="228600" indent="-2286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900">
                <a:solidFill>
                  <a:srgbClr val="333D4A"/>
                </a:solidFill>
                <a:latin typeface="Microsoft YaHei" panose="020B0503020204020204" pitchFamily="34" charset="-122"/>
              </a:rPr>
              <a:t>任务一要求同时考察特征、先验、协方差假设、风险决策、参数估计和非参数估计。</a:t>
            </a:r>
          </a:p>
        </p:txBody>
      </p:sp>
    </p:spTree>
    <p:extLst>
      <p:ext uri="{BB962C8B-B14F-4D97-AF65-F5344CB8AC3E}">
        <p14:creationId xmlns:p14="http://schemas.microsoft.com/office/powerpoint/2010/main" val="13291173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77C84F7-A91F-60A9-7679-97FD00C4F67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A8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平行四边形 2">
            <a:extLst>
              <a:ext uri="{FF2B5EF4-FFF2-40B4-BE49-F238E27FC236}">
                <a16:creationId xmlns:a16="http://schemas.microsoft.com/office/drawing/2014/main" id="{F6E42116-7221-D432-CB38-0F3499D6E6D1}"/>
              </a:ext>
            </a:extLst>
          </p:cNvPr>
          <p:cNvSpPr/>
          <p:nvPr/>
        </p:nvSpPr>
        <p:spPr>
          <a:xfrm>
            <a:off x="7429500" y="-254000"/>
            <a:ext cx="5461000" cy="2032000"/>
          </a:xfrm>
          <a:prstGeom prst="parallelogram">
            <a:avLst>
              <a:gd name="adj" fmla="val 22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3D0F513-7AA8-9462-1FA2-1064B8711FF0}"/>
              </a:ext>
            </a:extLst>
          </p:cNvPr>
          <p:cNvSpPr txBox="1"/>
          <p:nvPr/>
        </p:nvSpPr>
        <p:spPr>
          <a:xfrm>
            <a:off x="889000" y="1206500"/>
            <a:ext cx="1651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200" b="1">
                <a:solidFill>
                  <a:srgbClr val="D4A84B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2200" b="1">
              <a:solidFill>
                <a:srgbClr val="D4A84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3788F2F-A70A-3339-F76F-7CE0B02848E2}"/>
              </a:ext>
            </a:extLst>
          </p:cNvPr>
          <p:cNvSpPr txBox="1"/>
          <p:nvPr/>
        </p:nvSpPr>
        <p:spPr>
          <a:xfrm>
            <a:off x="889000" y="2095500"/>
            <a:ext cx="8636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3000" b="1">
                <a:solidFill>
                  <a:srgbClr val="FAFCFF"/>
                </a:solidFill>
                <a:latin typeface="Microsoft YaHei" panose="020B0503020204020204" pitchFamily="34" charset="-122"/>
              </a:rPr>
              <a:t>理论原理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569AD4E-79EE-96DC-4A8A-5198E8DBC9F7}"/>
              </a:ext>
            </a:extLst>
          </p:cNvPr>
          <p:cNvSpPr txBox="1"/>
          <p:nvPr/>
        </p:nvSpPr>
        <p:spPr>
          <a:xfrm>
            <a:off x="939800" y="2997200"/>
            <a:ext cx="8636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300">
                <a:solidFill>
                  <a:srgbClr val="D9ECFF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1300">
                <a:solidFill>
                  <a:srgbClr val="D9ECFF"/>
                </a:solidFill>
                <a:latin typeface="Microsoft YaHei" panose="020B0503020204020204" pitchFamily="34" charset="-122"/>
              </a:rPr>
              <a:t>决策、参数估计、风险函数与非参数方法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ABE1397F-57D3-C4DE-29D4-ACA81DED8D2B}"/>
              </a:ext>
            </a:extLst>
          </p:cNvPr>
          <p:cNvCxnSpPr/>
          <p:nvPr/>
        </p:nvCxnSpPr>
        <p:spPr>
          <a:xfrm>
            <a:off x="939800" y="3810000"/>
            <a:ext cx="2235200" cy="0"/>
          </a:xfrm>
          <a:prstGeom prst="line">
            <a:avLst/>
          </a:prstGeom>
          <a:ln w="508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30404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7B9E29F-49F6-1407-C55D-9B57AF0E55B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平行四边形 2">
            <a:extLst>
              <a:ext uri="{FF2B5EF4-FFF2-40B4-BE49-F238E27FC236}">
                <a16:creationId xmlns:a16="http://schemas.microsoft.com/office/drawing/2014/main" id="{572B694D-57A5-90EF-3C72-5FAB2E47F2A6}"/>
              </a:ext>
            </a:extLst>
          </p:cNvPr>
          <p:cNvSpPr/>
          <p:nvPr/>
        </p:nvSpPr>
        <p:spPr>
          <a:xfrm>
            <a:off x="-317500" y="-279400"/>
            <a:ext cx="13208000" cy="1041400"/>
          </a:xfrm>
          <a:prstGeom prst="parallelogram">
            <a:avLst>
              <a:gd name="adj" fmla="val 16000"/>
            </a:avLst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BFB7FB94-57EF-6B70-6A8B-468B58386751}"/>
              </a:ext>
            </a:extLst>
          </p:cNvPr>
          <p:cNvSpPr/>
          <p:nvPr/>
        </p:nvSpPr>
        <p:spPr>
          <a:xfrm>
            <a:off x="8953500" y="-101600"/>
            <a:ext cx="3937000" cy="939800"/>
          </a:xfrm>
          <a:prstGeom prst="parallelogram">
            <a:avLst/>
          </a:prstGeom>
          <a:solidFill>
            <a:srgbClr val="3A9BD9">
              <a:alpha val="80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24B14D3-9A9D-B858-6E76-14CA6E39FEFC}"/>
              </a:ext>
            </a:extLst>
          </p:cNvPr>
          <p:cNvSpPr/>
          <p:nvPr/>
        </p:nvSpPr>
        <p:spPr>
          <a:xfrm>
            <a:off x="660400" y="939800"/>
            <a:ext cx="1168400" cy="508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平行四边形 5">
            <a:extLst>
              <a:ext uri="{FF2B5EF4-FFF2-40B4-BE49-F238E27FC236}">
                <a16:creationId xmlns:a16="http://schemas.microsoft.com/office/drawing/2014/main" id="{0C6521C3-A64F-B79A-6D0B-553384597749}"/>
              </a:ext>
            </a:extLst>
          </p:cNvPr>
          <p:cNvSpPr/>
          <p:nvPr/>
        </p:nvSpPr>
        <p:spPr>
          <a:xfrm>
            <a:off x="-1143000" y="6350000"/>
            <a:ext cx="6604000" cy="584200"/>
          </a:xfrm>
          <a:prstGeom prst="parallelogram">
            <a:avLst>
              <a:gd name="adj" fmla="val 28000"/>
            </a:avLst>
          </a:prstGeom>
          <a:solidFill>
            <a:srgbClr val="E3F2F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C973AAA-EACA-B769-0D76-587B1E392F90}"/>
              </a:ext>
            </a:extLst>
          </p:cNvPr>
          <p:cNvSpPr txBox="1"/>
          <p:nvPr/>
        </p:nvSpPr>
        <p:spPr>
          <a:xfrm>
            <a:off x="736600" y="228600"/>
            <a:ext cx="4572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FAFCFF"/>
                </a:solidFill>
                <a:latin typeface="Microsoft YaHei" panose="020B0503020204020204" pitchFamily="34" charset="-122"/>
              </a:rPr>
              <a:t>THEORY</a:t>
            </a:r>
            <a:endParaRPr lang="zh-CN" altLang="en-US" sz="700" b="1">
              <a:solidFill>
                <a:srgbClr val="FAFC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8721F45-E156-3D62-48A6-ADDEE513A86B}"/>
              </a:ext>
            </a:extLst>
          </p:cNvPr>
          <p:cNvSpPr txBox="1"/>
          <p:nvPr/>
        </p:nvSpPr>
        <p:spPr>
          <a:xfrm>
            <a:off x="736600" y="482600"/>
            <a:ext cx="8890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000" b="1">
                <a:solidFill>
                  <a:srgbClr val="FAFCFF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2000" b="1">
                <a:solidFill>
                  <a:srgbClr val="FAFCFF"/>
                </a:solidFill>
                <a:latin typeface="Microsoft YaHei" panose="020B0503020204020204" pitchFamily="34" charset="-122"/>
              </a:rPr>
              <a:t>决策：从先验到后验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986C9CB-375A-855B-1D96-DFBB7EFA62B7}"/>
              </a:ext>
            </a:extLst>
          </p:cNvPr>
          <p:cNvSpPr txBox="1"/>
          <p:nvPr/>
        </p:nvSpPr>
        <p:spPr>
          <a:xfrm>
            <a:off x="685800" y="6489700"/>
            <a:ext cx="4572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6B7B8C"/>
                </a:solidFill>
                <a:latin typeface="Microsoft YaHei" panose="020B0503020204020204" pitchFamily="34" charset="-122"/>
              </a:rPr>
              <a:t>模式识别课程实验一 </a:t>
            </a:r>
            <a:r>
              <a:rPr lang="en-US" altLang="zh-CN" sz="700">
                <a:solidFill>
                  <a:srgbClr val="6B7B8C"/>
                </a:solidFill>
                <a:latin typeface="Microsoft YaHei" panose="020B0503020204020204" pitchFamily="34" charset="-122"/>
              </a:rPr>
              <a:t>· Bayes </a:t>
            </a:r>
            <a:r>
              <a:rPr lang="zh-CN" altLang="en-US" sz="700">
                <a:solidFill>
                  <a:srgbClr val="6B7B8C"/>
                </a:solidFill>
                <a:latin typeface="Microsoft YaHei" panose="020B0503020204020204" pitchFamily="34" charset="-122"/>
              </a:rPr>
              <a:t>性别分类器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0B04ED1-0A2C-A897-DCFA-989FCEF983FD}"/>
              </a:ext>
            </a:extLst>
          </p:cNvPr>
          <p:cNvSpPr txBox="1"/>
          <p:nvPr/>
        </p:nvSpPr>
        <p:spPr>
          <a:xfrm>
            <a:off x="11277600" y="6438900"/>
            <a:ext cx="4064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800" b="1">
                <a:solidFill>
                  <a:srgbClr val="006BB7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8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CFF7F479-4FA5-B8B4-5A5F-D46E57E98B34}"/>
              </a:ext>
            </a:extLst>
          </p:cNvPr>
          <p:cNvSpPr/>
          <p:nvPr/>
        </p:nvSpPr>
        <p:spPr>
          <a:xfrm>
            <a:off x="889000" y="1549400"/>
            <a:ext cx="3175000" cy="1117600"/>
          </a:xfrm>
          <a:prstGeom prst="roundRect">
            <a:avLst/>
          </a:prstGeom>
          <a:solidFill>
            <a:srgbClr val="FAFCFF"/>
          </a:solidFill>
          <a:ln w="10160">
            <a:solidFill>
              <a:srgbClr val="C9DD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79F3B7C-7BA2-8849-6723-D5CD244120F8}"/>
              </a:ext>
            </a:extLst>
          </p:cNvPr>
          <p:cNvSpPr/>
          <p:nvPr/>
        </p:nvSpPr>
        <p:spPr>
          <a:xfrm>
            <a:off x="889000" y="1549400"/>
            <a:ext cx="63500" cy="11176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F6A8F86-9CD6-5B9B-908F-381691575A70}"/>
              </a:ext>
            </a:extLst>
          </p:cNvPr>
          <p:cNvSpPr txBox="1"/>
          <p:nvPr/>
        </p:nvSpPr>
        <p:spPr>
          <a:xfrm>
            <a:off x="1092200" y="1676400"/>
            <a:ext cx="28448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1A2E44"/>
                </a:solidFill>
                <a:latin typeface="Microsoft YaHei" panose="020B0503020204020204" pitchFamily="34" charset="-122"/>
              </a:rPr>
              <a:t>先验概率 </a:t>
            </a:r>
            <a:r>
              <a:rPr lang="en-US" altLang="zh-CN" sz="1000" b="1">
                <a:solidFill>
                  <a:srgbClr val="1A2E44"/>
                </a:solidFill>
                <a:latin typeface="Microsoft YaHei" panose="020B0503020204020204" pitchFamily="34" charset="-122"/>
              </a:rPr>
              <a:t>P(</a:t>
            </a:r>
            <a:r>
              <a:rPr lang="el-GR" altLang="zh-CN" sz="1000" b="1">
                <a:solidFill>
                  <a:srgbClr val="1A2E44"/>
                </a:solidFill>
                <a:latin typeface="Microsoft YaHei" panose="020B0503020204020204" pitchFamily="34" charset="-122"/>
              </a:rPr>
              <a:t>ω</a:t>
            </a:r>
            <a:r>
              <a:rPr lang="en-US" altLang="zh-CN" sz="1000" b="1">
                <a:solidFill>
                  <a:srgbClr val="1A2E44"/>
                </a:solidFill>
                <a:latin typeface="Microsoft YaHei" panose="020B0503020204020204" pitchFamily="34" charset="-122"/>
              </a:rPr>
              <a:t>i)</a:t>
            </a:r>
            <a:endParaRPr lang="zh-CN" altLang="en-US" sz="1000" b="1">
              <a:solidFill>
                <a:srgbClr val="1A2E4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70AFC56-24BE-14EA-57C6-FF11E471FB65}"/>
              </a:ext>
            </a:extLst>
          </p:cNvPr>
          <p:cNvSpPr txBox="1"/>
          <p:nvPr/>
        </p:nvSpPr>
        <p:spPr>
          <a:xfrm>
            <a:off x="1092200" y="1981200"/>
            <a:ext cx="28448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333D4A"/>
                </a:solidFill>
                <a:latin typeface="Microsoft YaHei" panose="020B0503020204020204" pitchFamily="34" charset="-122"/>
              </a:rPr>
              <a:t>观察样本前对类别出现概率的估计，例如男女先验相等。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B19EA17D-1B89-91EF-FFE6-BB9665FE626E}"/>
              </a:ext>
            </a:extLst>
          </p:cNvPr>
          <p:cNvSpPr/>
          <p:nvPr/>
        </p:nvSpPr>
        <p:spPr>
          <a:xfrm>
            <a:off x="4508500" y="1549400"/>
            <a:ext cx="3175000" cy="1117600"/>
          </a:xfrm>
          <a:prstGeom prst="roundRect">
            <a:avLst/>
          </a:prstGeom>
          <a:solidFill>
            <a:srgbClr val="FAFCFF"/>
          </a:solidFill>
          <a:ln w="10160">
            <a:solidFill>
              <a:srgbClr val="C9DD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7449079-C40B-9439-AA54-F0F92B541E7B}"/>
              </a:ext>
            </a:extLst>
          </p:cNvPr>
          <p:cNvSpPr/>
          <p:nvPr/>
        </p:nvSpPr>
        <p:spPr>
          <a:xfrm>
            <a:off x="4508500" y="1549400"/>
            <a:ext cx="63500" cy="1117600"/>
          </a:xfrm>
          <a:prstGeom prst="rect">
            <a:avLst/>
          </a:prstGeom>
          <a:solidFill>
            <a:srgbClr val="3A9B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15D5C53-E492-156D-446A-C18479F0E0C6}"/>
              </a:ext>
            </a:extLst>
          </p:cNvPr>
          <p:cNvSpPr txBox="1"/>
          <p:nvPr/>
        </p:nvSpPr>
        <p:spPr>
          <a:xfrm>
            <a:off x="4711700" y="1676400"/>
            <a:ext cx="28448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1A2E44"/>
                </a:solidFill>
                <a:latin typeface="Microsoft YaHei" panose="020B0503020204020204" pitchFamily="34" charset="-122"/>
              </a:rPr>
              <a:t>类条件密度 </a:t>
            </a:r>
            <a:r>
              <a:rPr lang="en-US" altLang="zh-CN" sz="1000" b="1">
                <a:solidFill>
                  <a:srgbClr val="1A2E44"/>
                </a:solidFill>
                <a:latin typeface="Microsoft YaHei" panose="020B0503020204020204" pitchFamily="34" charset="-122"/>
              </a:rPr>
              <a:t>p(x|</a:t>
            </a:r>
            <a:r>
              <a:rPr lang="el-GR" altLang="zh-CN" sz="1000" b="1">
                <a:solidFill>
                  <a:srgbClr val="1A2E44"/>
                </a:solidFill>
                <a:latin typeface="Microsoft YaHei" panose="020B0503020204020204" pitchFamily="34" charset="-122"/>
              </a:rPr>
              <a:t>ω</a:t>
            </a:r>
            <a:r>
              <a:rPr lang="en-US" altLang="zh-CN" sz="1000" b="1">
                <a:solidFill>
                  <a:srgbClr val="1A2E44"/>
                </a:solidFill>
                <a:latin typeface="Microsoft YaHei" panose="020B0503020204020204" pitchFamily="34" charset="-122"/>
              </a:rPr>
              <a:t>i)</a:t>
            </a:r>
            <a:endParaRPr lang="zh-CN" altLang="en-US" sz="1000" b="1">
              <a:solidFill>
                <a:srgbClr val="1A2E4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CED7A2E-2CE9-FEAE-E045-FE8FE715F0DE}"/>
              </a:ext>
            </a:extLst>
          </p:cNvPr>
          <p:cNvSpPr txBox="1"/>
          <p:nvPr/>
        </p:nvSpPr>
        <p:spPr>
          <a:xfrm>
            <a:off x="4711700" y="1981200"/>
            <a:ext cx="28448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333D4A"/>
                </a:solidFill>
                <a:latin typeface="Microsoft YaHei" panose="020B0503020204020204" pitchFamily="34" charset="-122"/>
              </a:rPr>
              <a:t>给定类别后，身高</a:t>
            </a:r>
            <a:r>
              <a:rPr lang="en-US" altLang="zh-CN" sz="800">
                <a:solidFill>
                  <a:srgbClr val="333D4A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800">
                <a:solidFill>
                  <a:srgbClr val="333D4A"/>
                </a:solidFill>
                <a:latin typeface="Microsoft YaHei" panose="020B0503020204020204" pitchFamily="34" charset="-122"/>
              </a:rPr>
              <a:t>体重特征出现的概率密度。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18B715BE-13A9-AB1F-D2CA-E5A63D452555}"/>
              </a:ext>
            </a:extLst>
          </p:cNvPr>
          <p:cNvSpPr/>
          <p:nvPr/>
        </p:nvSpPr>
        <p:spPr>
          <a:xfrm>
            <a:off x="8128000" y="1549400"/>
            <a:ext cx="2921000" cy="1117600"/>
          </a:xfrm>
          <a:prstGeom prst="roundRect">
            <a:avLst/>
          </a:prstGeom>
          <a:solidFill>
            <a:srgbClr val="FAFCFF"/>
          </a:solidFill>
          <a:ln w="10160">
            <a:solidFill>
              <a:srgbClr val="C9DD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98630C7-AFE9-66D1-5854-47806E5CBCB8}"/>
              </a:ext>
            </a:extLst>
          </p:cNvPr>
          <p:cNvSpPr/>
          <p:nvPr/>
        </p:nvSpPr>
        <p:spPr>
          <a:xfrm>
            <a:off x="8128000" y="1549400"/>
            <a:ext cx="63500" cy="11176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371FF53-E367-826B-8A77-C7683D124028}"/>
              </a:ext>
            </a:extLst>
          </p:cNvPr>
          <p:cNvSpPr txBox="1"/>
          <p:nvPr/>
        </p:nvSpPr>
        <p:spPr>
          <a:xfrm>
            <a:off x="8331200" y="1676400"/>
            <a:ext cx="25908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1A2E44"/>
                </a:solidFill>
                <a:latin typeface="Microsoft YaHei" panose="020B0503020204020204" pitchFamily="34" charset="-122"/>
              </a:rPr>
              <a:t>后验概率 </a:t>
            </a:r>
            <a:r>
              <a:rPr lang="en-US" altLang="zh-CN" sz="1000" b="1">
                <a:solidFill>
                  <a:srgbClr val="1A2E44"/>
                </a:solidFill>
                <a:latin typeface="Microsoft YaHei" panose="020B0503020204020204" pitchFamily="34" charset="-122"/>
              </a:rPr>
              <a:t>P(</a:t>
            </a:r>
            <a:r>
              <a:rPr lang="el-GR" altLang="zh-CN" sz="1000" b="1">
                <a:solidFill>
                  <a:srgbClr val="1A2E44"/>
                </a:solidFill>
                <a:latin typeface="Microsoft YaHei" panose="020B0503020204020204" pitchFamily="34" charset="-122"/>
              </a:rPr>
              <a:t>ω</a:t>
            </a:r>
            <a:r>
              <a:rPr lang="en-US" altLang="zh-CN" sz="1000" b="1">
                <a:solidFill>
                  <a:srgbClr val="1A2E44"/>
                </a:solidFill>
                <a:latin typeface="Microsoft YaHei" panose="020B0503020204020204" pitchFamily="34" charset="-122"/>
              </a:rPr>
              <a:t>i|x)</a:t>
            </a:r>
            <a:endParaRPr lang="zh-CN" altLang="en-US" sz="1000" b="1">
              <a:solidFill>
                <a:srgbClr val="1A2E4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DBC3513-B67B-E615-9E28-96683CC675E7}"/>
              </a:ext>
            </a:extLst>
          </p:cNvPr>
          <p:cNvSpPr txBox="1"/>
          <p:nvPr/>
        </p:nvSpPr>
        <p:spPr>
          <a:xfrm>
            <a:off x="8331200" y="1981200"/>
            <a:ext cx="25908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333D4A"/>
                </a:solidFill>
                <a:latin typeface="Microsoft YaHei" panose="020B0503020204020204" pitchFamily="34" charset="-122"/>
              </a:rPr>
              <a:t>观察到特征 </a:t>
            </a:r>
            <a:r>
              <a:rPr lang="en-US" altLang="zh-CN" sz="800">
                <a:solidFill>
                  <a:srgbClr val="333D4A"/>
                </a:solidFill>
                <a:latin typeface="Microsoft YaHei" panose="020B0503020204020204" pitchFamily="34" charset="-122"/>
              </a:rPr>
              <a:t>x </a:t>
            </a:r>
            <a:r>
              <a:rPr lang="zh-CN" altLang="en-US" sz="800">
                <a:solidFill>
                  <a:srgbClr val="333D4A"/>
                </a:solidFill>
                <a:latin typeface="Microsoft YaHei" panose="020B0503020204020204" pitchFamily="34" charset="-122"/>
              </a:rPr>
              <a:t>后，样本属于某类别的概率。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25B69934-22F5-4ED6-48E2-928A66489E04}"/>
              </a:ext>
            </a:extLst>
          </p:cNvPr>
          <p:cNvSpPr/>
          <p:nvPr/>
        </p:nvSpPr>
        <p:spPr>
          <a:xfrm>
            <a:off x="1270000" y="3492500"/>
            <a:ext cx="9652000" cy="939800"/>
          </a:xfrm>
          <a:prstGeom prst="roundRect">
            <a:avLst/>
          </a:prstGeom>
          <a:solidFill>
            <a:srgbClr val="E3F2FD"/>
          </a:solidFill>
          <a:ln w="10160">
            <a:solidFill>
              <a:srgbClr val="B6DD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68BA6DF-BE3F-AAA3-6320-7AED65A050FF}"/>
              </a:ext>
            </a:extLst>
          </p:cNvPr>
          <p:cNvSpPr txBox="1"/>
          <p:nvPr/>
        </p:nvSpPr>
        <p:spPr>
          <a:xfrm>
            <a:off x="1651000" y="3835400"/>
            <a:ext cx="8890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l-GR" altLang="zh-CN" sz="1700" b="1">
                <a:solidFill>
                  <a:srgbClr val="004A82"/>
                </a:solidFill>
                <a:latin typeface="Microsoft YaHei" panose="020B0503020204020204" pitchFamily="34" charset="-122"/>
              </a:rPr>
              <a:t>ω* = </a:t>
            </a:r>
            <a:r>
              <a:rPr lang="en-US" altLang="zh-CN" sz="1700" b="1">
                <a:solidFill>
                  <a:srgbClr val="004A82"/>
                </a:solidFill>
                <a:latin typeface="Microsoft YaHei" panose="020B0503020204020204" pitchFamily="34" charset="-122"/>
              </a:rPr>
              <a:t>argmax P(</a:t>
            </a:r>
            <a:r>
              <a:rPr lang="el-GR" altLang="zh-CN" sz="1700" b="1">
                <a:solidFill>
                  <a:srgbClr val="004A82"/>
                </a:solidFill>
                <a:latin typeface="Microsoft YaHei" panose="020B0503020204020204" pitchFamily="34" charset="-122"/>
              </a:rPr>
              <a:t>ω</a:t>
            </a:r>
            <a:r>
              <a:rPr lang="en-US" altLang="zh-CN" sz="1700" b="1">
                <a:solidFill>
                  <a:srgbClr val="004A82"/>
                </a:solidFill>
                <a:latin typeface="Microsoft YaHei" panose="020B0503020204020204" pitchFamily="34" charset="-122"/>
              </a:rPr>
              <a:t>i|x) = argmax p(x|</a:t>
            </a:r>
            <a:r>
              <a:rPr lang="el-GR" altLang="zh-CN" sz="1700" b="1">
                <a:solidFill>
                  <a:srgbClr val="004A82"/>
                </a:solidFill>
                <a:latin typeface="Microsoft YaHei" panose="020B0503020204020204" pitchFamily="34" charset="-122"/>
              </a:rPr>
              <a:t>ω</a:t>
            </a:r>
            <a:r>
              <a:rPr lang="en-US" altLang="zh-CN" sz="1700" b="1">
                <a:solidFill>
                  <a:srgbClr val="004A82"/>
                </a:solidFill>
                <a:latin typeface="Microsoft YaHei" panose="020B0503020204020204" pitchFamily="34" charset="-122"/>
              </a:rPr>
              <a:t>i)P(</a:t>
            </a:r>
            <a:r>
              <a:rPr lang="el-GR" altLang="zh-CN" sz="1700" b="1">
                <a:solidFill>
                  <a:srgbClr val="004A82"/>
                </a:solidFill>
                <a:latin typeface="Microsoft YaHei" panose="020B0503020204020204" pitchFamily="34" charset="-122"/>
              </a:rPr>
              <a:t>ω</a:t>
            </a:r>
            <a:r>
              <a:rPr lang="en-US" altLang="zh-CN" sz="1700" b="1">
                <a:solidFill>
                  <a:srgbClr val="004A82"/>
                </a:solidFill>
                <a:latin typeface="Microsoft YaHei" panose="020B0503020204020204" pitchFamily="34" charset="-122"/>
              </a:rPr>
              <a:t>i)</a:t>
            </a:r>
            <a:endParaRPr lang="zh-CN" altLang="en-US" sz="1700" b="1">
              <a:solidFill>
                <a:srgbClr val="004A82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212B8DDB-31DE-89E2-2551-C7909AB4AB83}"/>
              </a:ext>
            </a:extLst>
          </p:cNvPr>
          <p:cNvSpPr txBox="1"/>
          <p:nvPr/>
        </p:nvSpPr>
        <p:spPr>
          <a:xfrm>
            <a:off x="1371600" y="5054600"/>
            <a:ext cx="9398000" cy="392415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228600" indent="-228600">
              <a:spcAft>
                <a:spcPts val="500"/>
              </a:spcAft>
              <a:buFont typeface="+mj-lt"/>
              <a:buAutoNum type="arabicPeriod"/>
            </a:pPr>
            <a:r>
              <a:rPr lang="en-US" altLang="zh-CN" sz="900">
                <a:solidFill>
                  <a:srgbClr val="333D4A"/>
                </a:solidFill>
                <a:latin typeface="Microsoft YaHei" panose="020B0503020204020204" pitchFamily="34" charset="-122"/>
              </a:rPr>
              <a:t>p(x) </a:t>
            </a:r>
            <a:r>
              <a:rPr lang="zh-CN" altLang="en-US" sz="900">
                <a:solidFill>
                  <a:srgbClr val="333D4A"/>
                </a:solidFill>
                <a:latin typeface="Microsoft YaHei" panose="020B0503020204020204" pitchFamily="34" charset="-122"/>
              </a:rPr>
              <a:t>对所有类别相同，因此分类时只比较 </a:t>
            </a:r>
            <a:r>
              <a:rPr lang="en-US" altLang="zh-CN" sz="900">
                <a:solidFill>
                  <a:srgbClr val="333D4A"/>
                </a:solidFill>
                <a:latin typeface="Microsoft YaHei" panose="020B0503020204020204" pitchFamily="34" charset="-122"/>
              </a:rPr>
              <a:t>p(x|ωi)P(ωi)</a:t>
            </a:r>
            <a:r>
              <a:rPr lang="zh-CN" altLang="en-US" sz="900">
                <a:solidFill>
                  <a:srgbClr val="333D4A"/>
                </a:solidFill>
                <a:latin typeface="Microsoft YaHei" panose="020B0503020204020204" pitchFamily="34" charset="-122"/>
              </a:rPr>
              <a:t>。</a:t>
            </a:r>
          </a:p>
          <a:p>
            <a:pPr marL="228600" indent="-228600">
              <a:spcAft>
                <a:spcPts val="500"/>
              </a:spcAft>
              <a:buFont typeface="+mj-lt"/>
              <a:buAutoNum type="arabicPeriod"/>
            </a:pPr>
            <a:r>
              <a:rPr lang="en-US" altLang="zh-CN" sz="900">
                <a:solidFill>
                  <a:srgbClr val="333D4A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900">
                <a:solidFill>
                  <a:srgbClr val="333D4A"/>
                </a:solidFill>
                <a:latin typeface="Microsoft YaHei" panose="020B0503020204020204" pitchFamily="34" charset="-122"/>
              </a:rPr>
              <a:t>分类器是在概率意义下选择最可能的类别。</a:t>
            </a:r>
          </a:p>
        </p:txBody>
      </p:sp>
    </p:spTree>
    <p:extLst>
      <p:ext uri="{BB962C8B-B14F-4D97-AF65-F5344CB8AC3E}">
        <p14:creationId xmlns:p14="http://schemas.microsoft.com/office/powerpoint/2010/main" val="38571446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00F3A3E-B131-21FF-8B34-DA333F77C41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平行四边形 2">
            <a:extLst>
              <a:ext uri="{FF2B5EF4-FFF2-40B4-BE49-F238E27FC236}">
                <a16:creationId xmlns:a16="http://schemas.microsoft.com/office/drawing/2014/main" id="{752268A6-01FC-A6C9-8FFC-5D962F605DF8}"/>
              </a:ext>
            </a:extLst>
          </p:cNvPr>
          <p:cNvSpPr/>
          <p:nvPr/>
        </p:nvSpPr>
        <p:spPr>
          <a:xfrm>
            <a:off x="-317500" y="-279400"/>
            <a:ext cx="13208000" cy="1041400"/>
          </a:xfrm>
          <a:prstGeom prst="parallelogram">
            <a:avLst>
              <a:gd name="adj" fmla="val 16000"/>
            </a:avLst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44B8C19E-E7DF-89FA-E3FE-BF0C1A952D41}"/>
              </a:ext>
            </a:extLst>
          </p:cNvPr>
          <p:cNvSpPr/>
          <p:nvPr/>
        </p:nvSpPr>
        <p:spPr>
          <a:xfrm>
            <a:off x="8953500" y="-101600"/>
            <a:ext cx="3937000" cy="939800"/>
          </a:xfrm>
          <a:prstGeom prst="parallelogram">
            <a:avLst/>
          </a:prstGeom>
          <a:solidFill>
            <a:srgbClr val="3A9BD9">
              <a:alpha val="80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BE4D140-48CE-2D77-9DF9-98CF6FC2B3B4}"/>
              </a:ext>
            </a:extLst>
          </p:cNvPr>
          <p:cNvSpPr/>
          <p:nvPr/>
        </p:nvSpPr>
        <p:spPr>
          <a:xfrm>
            <a:off x="660400" y="939800"/>
            <a:ext cx="1168400" cy="508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平行四边形 5">
            <a:extLst>
              <a:ext uri="{FF2B5EF4-FFF2-40B4-BE49-F238E27FC236}">
                <a16:creationId xmlns:a16="http://schemas.microsoft.com/office/drawing/2014/main" id="{45E975C4-A508-1E10-560A-E6A9F77BC139}"/>
              </a:ext>
            </a:extLst>
          </p:cNvPr>
          <p:cNvSpPr/>
          <p:nvPr/>
        </p:nvSpPr>
        <p:spPr>
          <a:xfrm>
            <a:off x="-1143000" y="6350000"/>
            <a:ext cx="6604000" cy="584200"/>
          </a:xfrm>
          <a:prstGeom prst="parallelogram">
            <a:avLst>
              <a:gd name="adj" fmla="val 28000"/>
            </a:avLst>
          </a:prstGeom>
          <a:solidFill>
            <a:srgbClr val="E3F2F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B0B5991-783A-5432-BD23-2E6DFB674AA9}"/>
              </a:ext>
            </a:extLst>
          </p:cNvPr>
          <p:cNvSpPr txBox="1"/>
          <p:nvPr/>
        </p:nvSpPr>
        <p:spPr>
          <a:xfrm>
            <a:off x="736600" y="228600"/>
            <a:ext cx="4572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FAFCFF"/>
                </a:solidFill>
                <a:latin typeface="Microsoft YaHei" panose="020B0503020204020204" pitchFamily="34" charset="-122"/>
              </a:rPr>
              <a:t>THEORY</a:t>
            </a:r>
            <a:endParaRPr lang="zh-CN" altLang="en-US" sz="700" b="1">
              <a:solidFill>
                <a:srgbClr val="FAFC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76BDFC8-5D29-2B18-72B4-16187009E5AB}"/>
              </a:ext>
            </a:extLst>
          </p:cNvPr>
          <p:cNvSpPr txBox="1"/>
          <p:nvPr/>
        </p:nvSpPr>
        <p:spPr>
          <a:xfrm>
            <a:off x="736600" y="482600"/>
            <a:ext cx="8890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000" b="1">
                <a:solidFill>
                  <a:srgbClr val="FAFCFF"/>
                </a:solidFill>
                <a:latin typeface="Microsoft YaHei" panose="020B0503020204020204" pitchFamily="34" charset="-122"/>
              </a:rPr>
              <a:t>正态分布假设与最大似然估计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A9E5F66-11A2-B9A3-0E4B-EAF9EDFCA834}"/>
              </a:ext>
            </a:extLst>
          </p:cNvPr>
          <p:cNvSpPr txBox="1"/>
          <p:nvPr/>
        </p:nvSpPr>
        <p:spPr>
          <a:xfrm>
            <a:off x="685800" y="6489700"/>
            <a:ext cx="4572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6B7B8C"/>
                </a:solidFill>
                <a:latin typeface="Microsoft YaHei" panose="020B0503020204020204" pitchFamily="34" charset="-122"/>
              </a:rPr>
              <a:t>模式识别课程实验一 </a:t>
            </a:r>
            <a:r>
              <a:rPr lang="en-US" altLang="zh-CN" sz="700">
                <a:solidFill>
                  <a:srgbClr val="6B7B8C"/>
                </a:solidFill>
                <a:latin typeface="Microsoft YaHei" panose="020B0503020204020204" pitchFamily="34" charset="-122"/>
              </a:rPr>
              <a:t>· Bayes </a:t>
            </a:r>
            <a:r>
              <a:rPr lang="zh-CN" altLang="en-US" sz="700">
                <a:solidFill>
                  <a:srgbClr val="6B7B8C"/>
                </a:solidFill>
                <a:latin typeface="Microsoft YaHei" panose="020B0503020204020204" pitchFamily="34" charset="-122"/>
              </a:rPr>
              <a:t>性别分类器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812BA52-2A6A-C7DA-6A10-FD21A5D99C88}"/>
              </a:ext>
            </a:extLst>
          </p:cNvPr>
          <p:cNvSpPr txBox="1"/>
          <p:nvPr/>
        </p:nvSpPr>
        <p:spPr>
          <a:xfrm>
            <a:off x="11277600" y="6438900"/>
            <a:ext cx="4064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800" b="1">
                <a:solidFill>
                  <a:srgbClr val="006BB7"/>
                </a:solidFill>
                <a:latin typeface="Microsoft YaHei" panose="020B0503020204020204" pitchFamily="34" charset="-122"/>
              </a:rPr>
              <a:t>03</a:t>
            </a:r>
            <a:endParaRPr lang="zh-CN" altLang="en-US" sz="8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E48102E-257C-7BB5-ADAB-8CF7DC0EA56D}"/>
              </a:ext>
            </a:extLst>
          </p:cNvPr>
          <p:cNvSpPr/>
          <p:nvPr/>
        </p:nvSpPr>
        <p:spPr>
          <a:xfrm>
            <a:off x="787400" y="1524000"/>
            <a:ext cx="3175000" cy="1168400"/>
          </a:xfrm>
          <a:prstGeom prst="roundRect">
            <a:avLst/>
          </a:prstGeom>
          <a:solidFill>
            <a:srgbClr val="FAFCFF"/>
          </a:solidFill>
          <a:ln w="10160">
            <a:solidFill>
              <a:srgbClr val="C9DD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83D6586-7535-3580-DA8C-8E2D03E0F082}"/>
              </a:ext>
            </a:extLst>
          </p:cNvPr>
          <p:cNvSpPr/>
          <p:nvPr/>
        </p:nvSpPr>
        <p:spPr>
          <a:xfrm>
            <a:off x="787400" y="1524000"/>
            <a:ext cx="63500" cy="11684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AE596ED-F6FB-85C7-00A0-4B07E983875E}"/>
              </a:ext>
            </a:extLst>
          </p:cNvPr>
          <p:cNvSpPr txBox="1"/>
          <p:nvPr/>
        </p:nvSpPr>
        <p:spPr>
          <a:xfrm>
            <a:off x="990600" y="1651000"/>
            <a:ext cx="28448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1A2E44"/>
                </a:solidFill>
                <a:latin typeface="Microsoft YaHei" panose="020B0503020204020204" pitchFamily="34" charset="-122"/>
              </a:rPr>
              <a:t>一维特征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5663A6C-D51B-8F5E-A002-4721AB6380F5}"/>
              </a:ext>
            </a:extLst>
          </p:cNvPr>
          <p:cNvSpPr txBox="1"/>
          <p:nvPr/>
        </p:nvSpPr>
        <p:spPr>
          <a:xfrm>
            <a:off x="990600" y="1955800"/>
            <a:ext cx="28448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333D4A"/>
                </a:solidFill>
                <a:latin typeface="Microsoft YaHei" panose="020B0503020204020204" pitchFamily="34" charset="-122"/>
              </a:rPr>
              <a:t>只使用身高或体重时，假设每类服从一维正态分布 </a:t>
            </a:r>
            <a:r>
              <a:rPr lang="en-US" altLang="zh-CN" sz="800">
                <a:solidFill>
                  <a:srgbClr val="333D4A"/>
                </a:solidFill>
                <a:latin typeface="Microsoft YaHei" panose="020B0503020204020204" pitchFamily="34" charset="-122"/>
              </a:rPr>
              <a:t>N(μi, σi²)</a:t>
            </a:r>
            <a:r>
              <a:rPr lang="zh-CN" altLang="en-US" sz="800">
                <a:solidFill>
                  <a:srgbClr val="333D4A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A46AFC6B-53A7-CD90-4829-F21C4758A8C9}"/>
              </a:ext>
            </a:extLst>
          </p:cNvPr>
          <p:cNvSpPr/>
          <p:nvPr/>
        </p:nvSpPr>
        <p:spPr>
          <a:xfrm>
            <a:off x="4521200" y="1524000"/>
            <a:ext cx="3175000" cy="1168400"/>
          </a:xfrm>
          <a:prstGeom prst="roundRect">
            <a:avLst/>
          </a:prstGeom>
          <a:solidFill>
            <a:srgbClr val="FAFCFF"/>
          </a:solidFill>
          <a:ln w="10160">
            <a:solidFill>
              <a:srgbClr val="C9DD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5297882-80BD-ED9F-16B8-8CC5C78CB6AD}"/>
              </a:ext>
            </a:extLst>
          </p:cNvPr>
          <p:cNvSpPr/>
          <p:nvPr/>
        </p:nvSpPr>
        <p:spPr>
          <a:xfrm>
            <a:off x="4521200" y="1524000"/>
            <a:ext cx="63500" cy="1168400"/>
          </a:xfrm>
          <a:prstGeom prst="rect">
            <a:avLst/>
          </a:prstGeom>
          <a:solidFill>
            <a:srgbClr val="3A9B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DF67225-4EF3-C2F3-7F47-2E7B37CAA9F1}"/>
              </a:ext>
            </a:extLst>
          </p:cNvPr>
          <p:cNvSpPr txBox="1"/>
          <p:nvPr/>
        </p:nvSpPr>
        <p:spPr>
          <a:xfrm>
            <a:off x="4724400" y="1651000"/>
            <a:ext cx="28448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1A2E44"/>
                </a:solidFill>
                <a:latin typeface="Microsoft YaHei" panose="020B0503020204020204" pitchFamily="34" charset="-122"/>
              </a:rPr>
              <a:t>二维特征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79D4964-66C9-5D5F-040C-82C7FB2F1EF3}"/>
              </a:ext>
            </a:extLst>
          </p:cNvPr>
          <p:cNvSpPr txBox="1"/>
          <p:nvPr/>
        </p:nvSpPr>
        <p:spPr>
          <a:xfrm>
            <a:off x="4724400" y="1955800"/>
            <a:ext cx="28448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333D4A"/>
                </a:solidFill>
                <a:latin typeface="Microsoft YaHei" panose="020B0503020204020204" pitchFamily="34" charset="-122"/>
              </a:rPr>
              <a:t>同时使用身高和体重时，假设每类服从二维高斯分布 </a:t>
            </a:r>
            <a:r>
              <a:rPr lang="en-US" altLang="zh-CN" sz="800">
                <a:solidFill>
                  <a:srgbClr val="333D4A"/>
                </a:solidFill>
                <a:latin typeface="Microsoft YaHei" panose="020B0503020204020204" pitchFamily="34" charset="-122"/>
              </a:rPr>
              <a:t>N(μi, Σi)</a:t>
            </a:r>
            <a:r>
              <a:rPr lang="zh-CN" altLang="en-US" sz="800">
                <a:solidFill>
                  <a:srgbClr val="333D4A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0308EFCD-4207-F0D5-FE4A-89C48CF111EF}"/>
              </a:ext>
            </a:extLst>
          </p:cNvPr>
          <p:cNvSpPr/>
          <p:nvPr/>
        </p:nvSpPr>
        <p:spPr>
          <a:xfrm>
            <a:off x="8255000" y="1524000"/>
            <a:ext cx="2921000" cy="1168400"/>
          </a:xfrm>
          <a:prstGeom prst="roundRect">
            <a:avLst/>
          </a:prstGeom>
          <a:solidFill>
            <a:srgbClr val="FAFCFF"/>
          </a:solidFill>
          <a:ln w="10160">
            <a:solidFill>
              <a:srgbClr val="C9DD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B510702-0B31-FAC0-0590-5EF380092868}"/>
              </a:ext>
            </a:extLst>
          </p:cNvPr>
          <p:cNvSpPr/>
          <p:nvPr/>
        </p:nvSpPr>
        <p:spPr>
          <a:xfrm>
            <a:off x="8255000" y="1524000"/>
            <a:ext cx="63500" cy="11684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ED66497-6358-E395-71AA-BE5632D0E7C7}"/>
              </a:ext>
            </a:extLst>
          </p:cNvPr>
          <p:cNvSpPr txBox="1"/>
          <p:nvPr/>
        </p:nvSpPr>
        <p:spPr>
          <a:xfrm>
            <a:off x="8458200" y="1651000"/>
            <a:ext cx="25908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1A2E44"/>
                </a:solidFill>
                <a:latin typeface="Microsoft YaHei" panose="020B0503020204020204" pitchFamily="34" charset="-122"/>
              </a:rPr>
              <a:t>最大似然估计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3658C04-BC82-EC86-CB4C-4740DA5DD07E}"/>
              </a:ext>
            </a:extLst>
          </p:cNvPr>
          <p:cNvSpPr txBox="1"/>
          <p:nvPr/>
        </p:nvSpPr>
        <p:spPr>
          <a:xfrm>
            <a:off x="8458200" y="1955800"/>
            <a:ext cx="25908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333D4A"/>
                </a:solidFill>
                <a:latin typeface="Microsoft YaHei" panose="020B0503020204020204" pitchFamily="34" charset="-122"/>
              </a:rPr>
              <a:t>用训练样本估计每个类别的均值、方差或协方差矩阵。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284BCA9F-2244-6DBA-2C97-3E7901628153}"/>
              </a:ext>
            </a:extLst>
          </p:cNvPr>
          <p:cNvSpPr/>
          <p:nvPr/>
        </p:nvSpPr>
        <p:spPr>
          <a:xfrm>
            <a:off x="1206500" y="3657600"/>
            <a:ext cx="4572000" cy="1117600"/>
          </a:xfrm>
          <a:prstGeom prst="roundRect">
            <a:avLst/>
          </a:prstGeom>
          <a:solidFill>
            <a:srgbClr val="EEF7FF"/>
          </a:solidFill>
          <a:ln w="10160">
            <a:solidFill>
              <a:srgbClr val="B6DD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4CD618E-C99A-9455-354F-A1B66446E89A}"/>
              </a:ext>
            </a:extLst>
          </p:cNvPr>
          <p:cNvSpPr txBox="1"/>
          <p:nvPr/>
        </p:nvSpPr>
        <p:spPr>
          <a:xfrm>
            <a:off x="1460500" y="4000500"/>
            <a:ext cx="4064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l-GR" altLang="zh-CN" sz="1500" b="1">
                <a:solidFill>
                  <a:srgbClr val="006BB7"/>
                </a:solidFill>
                <a:latin typeface="Microsoft YaHei" panose="020B0503020204020204" pitchFamily="34" charset="-122"/>
              </a:rPr>
              <a:t>μi = (1/Ni) Σ xk</a:t>
            </a:r>
            <a:endParaRPr lang="zh-CN" altLang="en-US" sz="15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965A17BD-6A7B-05C3-ACC9-5FAE62BAFF8B}"/>
              </a:ext>
            </a:extLst>
          </p:cNvPr>
          <p:cNvSpPr txBox="1"/>
          <p:nvPr/>
        </p:nvSpPr>
        <p:spPr>
          <a:xfrm>
            <a:off x="1460500" y="4381500"/>
            <a:ext cx="4064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fr-FR" altLang="zh-CN" sz="1500" b="1">
                <a:solidFill>
                  <a:srgbClr val="006BB7"/>
                </a:solidFill>
                <a:latin typeface="Microsoft YaHei" panose="020B0503020204020204" pitchFamily="34" charset="-122"/>
              </a:rPr>
              <a:t>Σi = (1/Ni) Σ (xk-μi)(xk-μi)^T</a:t>
            </a:r>
            <a:endParaRPr lang="zh-CN" altLang="en-US" sz="15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9289D2D1-A45C-24A5-0A0D-53BE9989EFB1}"/>
              </a:ext>
            </a:extLst>
          </p:cNvPr>
          <p:cNvSpPr/>
          <p:nvPr/>
        </p:nvSpPr>
        <p:spPr>
          <a:xfrm>
            <a:off x="6477000" y="3657600"/>
            <a:ext cx="4191000" cy="1117600"/>
          </a:xfrm>
          <a:prstGeom prst="roundRect">
            <a:avLst/>
          </a:prstGeom>
          <a:solidFill>
            <a:srgbClr val="E3F2FD"/>
          </a:solidFill>
          <a:ln w="10160">
            <a:solidFill>
              <a:srgbClr val="B6DD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50C72ED-ED40-AB12-A816-0B0DBCE2981A}"/>
              </a:ext>
            </a:extLst>
          </p:cNvPr>
          <p:cNvSpPr txBox="1"/>
          <p:nvPr/>
        </p:nvSpPr>
        <p:spPr>
          <a:xfrm>
            <a:off x="6858000" y="4038600"/>
            <a:ext cx="3429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200" b="1">
                <a:solidFill>
                  <a:srgbClr val="004A82"/>
                </a:solidFill>
                <a:latin typeface="Microsoft YaHei" panose="020B0503020204020204" pitchFamily="34" charset="-122"/>
              </a:rPr>
              <a:t>估计女生和男生各自的分布参数，再构造分类边界。</a:t>
            </a:r>
          </a:p>
        </p:txBody>
      </p:sp>
    </p:spTree>
    <p:extLst>
      <p:ext uri="{BB962C8B-B14F-4D97-AF65-F5344CB8AC3E}">
        <p14:creationId xmlns:p14="http://schemas.microsoft.com/office/powerpoint/2010/main" val="6132845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0F3866C-3DE2-E161-1808-B3C4072257E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平行四边形 2">
            <a:extLst>
              <a:ext uri="{FF2B5EF4-FFF2-40B4-BE49-F238E27FC236}">
                <a16:creationId xmlns:a16="http://schemas.microsoft.com/office/drawing/2014/main" id="{99E8398A-3F70-0FC0-3355-8859D9B35E01}"/>
              </a:ext>
            </a:extLst>
          </p:cNvPr>
          <p:cNvSpPr/>
          <p:nvPr/>
        </p:nvSpPr>
        <p:spPr>
          <a:xfrm>
            <a:off x="-317500" y="-279400"/>
            <a:ext cx="13208000" cy="1041400"/>
          </a:xfrm>
          <a:prstGeom prst="parallelogram">
            <a:avLst>
              <a:gd name="adj" fmla="val 16000"/>
            </a:avLst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159CCEC2-A072-6B33-1445-5A688BB6FAA2}"/>
              </a:ext>
            </a:extLst>
          </p:cNvPr>
          <p:cNvSpPr/>
          <p:nvPr/>
        </p:nvSpPr>
        <p:spPr>
          <a:xfrm>
            <a:off x="8953500" y="-101600"/>
            <a:ext cx="3937000" cy="939800"/>
          </a:xfrm>
          <a:prstGeom prst="parallelogram">
            <a:avLst/>
          </a:prstGeom>
          <a:solidFill>
            <a:srgbClr val="3A9BD9">
              <a:alpha val="80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89B8013-C1D4-6F00-D0A9-50CF36501A04}"/>
              </a:ext>
            </a:extLst>
          </p:cNvPr>
          <p:cNvSpPr/>
          <p:nvPr/>
        </p:nvSpPr>
        <p:spPr>
          <a:xfrm>
            <a:off x="660400" y="939800"/>
            <a:ext cx="1168400" cy="508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平行四边形 5">
            <a:extLst>
              <a:ext uri="{FF2B5EF4-FFF2-40B4-BE49-F238E27FC236}">
                <a16:creationId xmlns:a16="http://schemas.microsoft.com/office/drawing/2014/main" id="{2E4DEDBB-9AB9-AEE1-FFE0-12227326BD87}"/>
              </a:ext>
            </a:extLst>
          </p:cNvPr>
          <p:cNvSpPr/>
          <p:nvPr/>
        </p:nvSpPr>
        <p:spPr>
          <a:xfrm>
            <a:off x="-1143000" y="6350000"/>
            <a:ext cx="6604000" cy="584200"/>
          </a:xfrm>
          <a:prstGeom prst="parallelogram">
            <a:avLst>
              <a:gd name="adj" fmla="val 28000"/>
            </a:avLst>
          </a:prstGeom>
          <a:solidFill>
            <a:srgbClr val="E3F2F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CD6F1CF-F704-36C5-F554-FCE6E0863911}"/>
              </a:ext>
            </a:extLst>
          </p:cNvPr>
          <p:cNvSpPr txBox="1"/>
          <p:nvPr/>
        </p:nvSpPr>
        <p:spPr>
          <a:xfrm>
            <a:off x="736600" y="228600"/>
            <a:ext cx="4572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FAFCFF"/>
                </a:solidFill>
                <a:latin typeface="Microsoft YaHei" panose="020B0503020204020204" pitchFamily="34" charset="-122"/>
              </a:rPr>
              <a:t>THEORY</a:t>
            </a:r>
            <a:endParaRPr lang="zh-CN" altLang="en-US" sz="700" b="1">
              <a:solidFill>
                <a:srgbClr val="FAFC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2DFA22A-75AF-14E5-21E6-FC369738B6A5}"/>
              </a:ext>
            </a:extLst>
          </p:cNvPr>
          <p:cNvSpPr txBox="1"/>
          <p:nvPr/>
        </p:nvSpPr>
        <p:spPr>
          <a:xfrm>
            <a:off x="736600" y="482600"/>
            <a:ext cx="8890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000" b="1">
                <a:solidFill>
                  <a:srgbClr val="FAFCFF"/>
                </a:solidFill>
                <a:latin typeface="Microsoft YaHei" panose="020B0503020204020204" pitchFamily="34" charset="-122"/>
              </a:rPr>
              <a:t>二维高斯 </a:t>
            </a:r>
            <a:r>
              <a:rPr lang="en-US" altLang="zh-CN" sz="2000" b="1">
                <a:solidFill>
                  <a:srgbClr val="FAFCFF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2000" b="1">
                <a:solidFill>
                  <a:srgbClr val="FAFCFF"/>
                </a:solidFill>
                <a:latin typeface="Microsoft YaHei" panose="020B0503020204020204" pitchFamily="34" charset="-122"/>
              </a:rPr>
              <a:t>判别函数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14EAB85-175B-4C73-0D99-95AE3589B4DE}"/>
              </a:ext>
            </a:extLst>
          </p:cNvPr>
          <p:cNvSpPr txBox="1"/>
          <p:nvPr/>
        </p:nvSpPr>
        <p:spPr>
          <a:xfrm>
            <a:off x="685800" y="6489700"/>
            <a:ext cx="4572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6B7B8C"/>
                </a:solidFill>
                <a:latin typeface="Microsoft YaHei" panose="020B0503020204020204" pitchFamily="34" charset="-122"/>
              </a:rPr>
              <a:t>模式识别课程实验一 </a:t>
            </a:r>
            <a:r>
              <a:rPr lang="en-US" altLang="zh-CN" sz="700">
                <a:solidFill>
                  <a:srgbClr val="6B7B8C"/>
                </a:solidFill>
                <a:latin typeface="Microsoft YaHei" panose="020B0503020204020204" pitchFamily="34" charset="-122"/>
              </a:rPr>
              <a:t>· Bayes </a:t>
            </a:r>
            <a:r>
              <a:rPr lang="zh-CN" altLang="en-US" sz="700">
                <a:solidFill>
                  <a:srgbClr val="6B7B8C"/>
                </a:solidFill>
                <a:latin typeface="Microsoft YaHei" panose="020B0503020204020204" pitchFamily="34" charset="-122"/>
              </a:rPr>
              <a:t>性别分类器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07D8783-D1BD-E46F-412B-8A3C117101D4}"/>
              </a:ext>
            </a:extLst>
          </p:cNvPr>
          <p:cNvSpPr txBox="1"/>
          <p:nvPr/>
        </p:nvSpPr>
        <p:spPr>
          <a:xfrm>
            <a:off x="11277600" y="6438900"/>
            <a:ext cx="4064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800" b="1">
                <a:solidFill>
                  <a:srgbClr val="006BB7"/>
                </a:solidFill>
                <a:latin typeface="Microsoft YaHei" panose="020B0503020204020204" pitchFamily="34" charset="-122"/>
              </a:rPr>
              <a:t>04</a:t>
            </a:r>
            <a:endParaRPr lang="zh-CN" altLang="en-US" sz="8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B74D07B-8DBA-C87D-E325-20CE0E271872}"/>
              </a:ext>
            </a:extLst>
          </p:cNvPr>
          <p:cNvSpPr/>
          <p:nvPr/>
        </p:nvSpPr>
        <p:spPr>
          <a:xfrm>
            <a:off x="914400" y="1524000"/>
            <a:ext cx="10350500" cy="1168400"/>
          </a:xfrm>
          <a:prstGeom prst="roundRect">
            <a:avLst/>
          </a:prstGeom>
          <a:solidFill>
            <a:srgbClr val="E3F2FD"/>
          </a:solidFill>
          <a:ln w="10160">
            <a:solidFill>
              <a:srgbClr val="B6DD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D5C7EF1-CAAE-9EBE-9C09-7BBBF09E2169}"/>
              </a:ext>
            </a:extLst>
          </p:cNvPr>
          <p:cNvSpPr txBox="1"/>
          <p:nvPr/>
        </p:nvSpPr>
        <p:spPr>
          <a:xfrm>
            <a:off x="1270000" y="1955800"/>
            <a:ext cx="9652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500" b="1">
                <a:solidFill>
                  <a:srgbClr val="004A82"/>
                </a:solidFill>
                <a:latin typeface="Microsoft YaHei" panose="020B0503020204020204" pitchFamily="34" charset="-122"/>
              </a:rPr>
              <a:t>gi(x) = -1/2 ln|</a:t>
            </a:r>
            <a:r>
              <a:rPr lang="el-GR" altLang="zh-CN" sz="1500" b="1">
                <a:solidFill>
                  <a:srgbClr val="004A82"/>
                </a:solidFill>
                <a:latin typeface="Microsoft YaHei" panose="020B0503020204020204" pitchFamily="34" charset="-122"/>
              </a:rPr>
              <a:t>Σ</a:t>
            </a:r>
            <a:r>
              <a:rPr lang="en-US" altLang="zh-CN" sz="1500" b="1">
                <a:solidFill>
                  <a:srgbClr val="004A82"/>
                </a:solidFill>
                <a:latin typeface="Microsoft YaHei" panose="020B0503020204020204" pitchFamily="34" charset="-122"/>
              </a:rPr>
              <a:t>i| - 1/2(x-</a:t>
            </a:r>
            <a:r>
              <a:rPr lang="el-GR" altLang="zh-CN" sz="1500" b="1">
                <a:solidFill>
                  <a:srgbClr val="004A82"/>
                </a:solidFill>
                <a:latin typeface="Microsoft YaHei" panose="020B0503020204020204" pitchFamily="34" charset="-122"/>
              </a:rPr>
              <a:t>μ</a:t>
            </a:r>
            <a:r>
              <a:rPr lang="en-US" altLang="zh-CN" sz="1500" b="1">
                <a:solidFill>
                  <a:srgbClr val="004A82"/>
                </a:solidFill>
                <a:latin typeface="Microsoft YaHei" panose="020B0503020204020204" pitchFamily="34" charset="-122"/>
              </a:rPr>
              <a:t>i)^T</a:t>
            </a:r>
            <a:r>
              <a:rPr lang="el-GR" altLang="zh-CN" sz="1500" b="1">
                <a:solidFill>
                  <a:srgbClr val="004A82"/>
                </a:solidFill>
                <a:latin typeface="Microsoft YaHei" panose="020B0503020204020204" pitchFamily="34" charset="-122"/>
              </a:rPr>
              <a:t>Σ</a:t>
            </a:r>
            <a:r>
              <a:rPr lang="en-US" altLang="zh-CN" sz="1500" b="1">
                <a:solidFill>
                  <a:srgbClr val="004A82"/>
                </a:solidFill>
                <a:latin typeface="Microsoft YaHei" panose="020B0503020204020204" pitchFamily="34" charset="-122"/>
              </a:rPr>
              <a:t>i⁻¹(x-</a:t>
            </a:r>
            <a:r>
              <a:rPr lang="el-GR" altLang="zh-CN" sz="1500" b="1">
                <a:solidFill>
                  <a:srgbClr val="004A82"/>
                </a:solidFill>
                <a:latin typeface="Microsoft YaHei" panose="020B0503020204020204" pitchFamily="34" charset="-122"/>
              </a:rPr>
              <a:t>μ</a:t>
            </a:r>
            <a:r>
              <a:rPr lang="en-US" altLang="zh-CN" sz="1500" b="1">
                <a:solidFill>
                  <a:srgbClr val="004A82"/>
                </a:solidFill>
                <a:latin typeface="Microsoft YaHei" panose="020B0503020204020204" pitchFamily="34" charset="-122"/>
              </a:rPr>
              <a:t>i) + ln P(</a:t>
            </a:r>
            <a:r>
              <a:rPr lang="el-GR" altLang="zh-CN" sz="1500" b="1">
                <a:solidFill>
                  <a:srgbClr val="004A82"/>
                </a:solidFill>
                <a:latin typeface="Microsoft YaHei" panose="020B0503020204020204" pitchFamily="34" charset="-122"/>
              </a:rPr>
              <a:t>ω</a:t>
            </a:r>
            <a:r>
              <a:rPr lang="en-US" altLang="zh-CN" sz="1500" b="1">
                <a:solidFill>
                  <a:srgbClr val="004A82"/>
                </a:solidFill>
                <a:latin typeface="Microsoft YaHei" panose="020B0503020204020204" pitchFamily="34" charset="-122"/>
              </a:rPr>
              <a:t>i)</a:t>
            </a:r>
            <a:endParaRPr lang="zh-CN" altLang="en-US" sz="1500" b="1">
              <a:solidFill>
                <a:srgbClr val="004A82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2F4ED85D-CDC0-4277-C823-600B3A9DBBF5}"/>
              </a:ext>
            </a:extLst>
          </p:cNvPr>
          <p:cNvSpPr/>
          <p:nvPr/>
        </p:nvSpPr>
        <p:spPr>
          <a:xfrm>
            <a:off x="1206500" y="3429000"/>
            <a:ext cx="2857500" cy="1066800"/>
          </a:xfrm>
          <a:prstGeom prst="roundRect">
            <a:avLst/>
          </a:prstGeom>
          <a:solidFill>
            <a:srgbClr val="FAFCFF"/>
          </a:solidFill>
          <a:ln w="10160">
            <a:solidFill>
              <a:srgbClr val="C9DD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29B0D3E-9A3B-F6F8-3A58-CCC9FD193FDC}"/>
              </a:ext>
            </a:extLst>
          </p:cNvPr>
          <p:cNvSpPr/>
          <p:nvPr/>
        </p:nvSpPr>
        <p:spPr>
          <a:xfrm>
            <a:off x="1206500" y="3429000"/>
            <a:ext cx="63500" cy="10668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5779843-E670-7E55-B0CA-D6C85CFAEEC1}"/>
              </a:ext>
            </a:extLst>
          </p:cNvPr>
          <p:cNvSpPr txBox="1"/>
          <p:nvPr/>
        </p:nvSpPr>
        <p:spPr>
          <a:xfrm>
            <a:off x="1409700" y="3556000"/>
            <a:ext cx="25273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1A2E44"/>
                </a:solidFill>
                <a:latin typeface="Microsoft YaHei" panose="020B0503020204020204" pitchFamily="34" charset="-122"/>
              </a:rPr>
              <a:t>均值 </a:t>
            </a:r>
            <a:r>
              <a:rPr lang="el-GR" altLang="zh-CN" sz="1000" b="1">
                <a:solidFill>
                  <a:srgbClr val="1A2E44"/>
                </a:solidFill>
                <a:latin typeface="Microsoft YaHei" panose="020B0503020204020204" pitchFamily="34" charset="-122"/>
              </a:rPr>
              <a:t>μ</a:t>
            </a:r>
            <a:r>
              <a:rPr lang="en-US" altLang="zh-CN" sz="1000" b="1">
                <a:solidFill>
                  <a:srgbClr val="1A2E44"/>
                </a:solidFill>
                <a:latin typeface="Microsoft YaHei" panose="020B0503020204020204" pitchFamily="34" charset="-122"/>
              </a:rPr>
              <a:t>i</a:t>
            </a:r>
            <a:endParaRPr lang="zh-CN" altLang="en-US" sz="1000" b="1">
              <a:solidFill>
                <a:srgbClr val="1A2E4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BF38AE0-3EA0-FF23-ABA5-5B8267D7A17F}"/>
              </a:ext>
            </a:extLst>
          </p:cNvPr>
          <p:cNvSpPr txBox="1"/>
          <p:nvPr/>
        </p:nvSpPr>
        <p:spPr>
          <a:xfrm>
            <a:off x="1409700" y="3860800"/>
            <a:ext cx="25273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333D4A"/>
                </a:solidFill>
                <a:latin typeface="Microsoft YaHei" panose="020B0503020204020204" pitchFamily="34" charset="-122"/>
              </a:rPr>
              <a:t>决定类别中心位置。男生均值整体高于女生均值。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3C301A00-79AE-1496-54AC-1C917900478C}"/>
              </a:ext>
            </a:extLst>
          </p:cNvPr>
          <p:cNvSpPr/>
          <p:nvPr/>
        </p:nvSpPr>
        <p:spPr>
          <a:xfrm>
            <a:off x="4673600" y="3429000"/>
            <a:ext cx="2857500" cy="1066800"/>
          </a:xfrm>
          <a:prstGeom prst="roundRect">
            <a:avLst/>
          </a:prstGeom>
          <a:solidFill>
            <a:srgbClr val="FAFCFF"/>
          </a:solidFill>
          <a:ln w="10160">
            <a:solidFill>
              <a:srgbClr val="C9DD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43FD3AD-50ED-E1B4-1CA7-70BD5BD10F15}"/>
              </a:ext>
            </a:extLst>
          </p:cNvPr>
          <p:cNvSpPr/>
          <p:nvPr/>
        </p:nvSpPr>
        <p:spPr>
          <a:xfrm>
            <a:off x="4673600" y="3429000"/>
            <a:ext cx="63500" cy="1066800"/>
          </a:xfrm>
          <a:prstGeom prst="rect">
            <a:avLst/>
          </a:prstGeom>
          <a:solidFill>
            <a:srgbClr val="3A9B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9FA0F7F-71ED-AB51-FC64-D2E2D30F8978}"/>
              </a:ext>
            </a:extLst>
          </p:cNvPr>
          <p:cNvSpPr txBox="1"/>
          <p:nvPr/>
        </p:nvSpPr>
        <p:spPr>
          <a:xfrm>
            <a:off x="4876800" y="3556000"/>
            <a:ext cx="25273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1A2E44"/>
                </a:solidFill>
                <a:latin typeface="Microsoft YaHei" panose="020B0503020204020204" pitchFamily="34" charset="-122"/>
              </a:rPr>
              <a:t>协方差 </a:t>
            </a:r>
            <a:r>
              <a:rPr lang="el-GR" altLang="zh-CN" sz="1000" b="1">
                <a:solidFill>
                  <a:srgbClr val="1A2E44"/>
                </a:solidFill>
                <a:latin typeface="Microsoft YaHei" panose="020B0503020204020204" pitchFamily="34" charset="-122"/>
              </a:rPr>
              <a:t>Σ</a:t>
            </a:r>
            <a:r>
              <a:rPr lang="en-US" altLang="zh-CN" sz="1000" b="1">
                <a:solidFill>
                  <a:srgbClr val="1A2E44"/>
                </a:solidFill>
                <a:latin typeface="Microsoft YaHei" panose="020B0503020204020204" pitchFamily="34" charset="-122"/>
              </a:rPr>
              <a:t>i</a:t>
            </a:r>
            <a:endParaRPr lang="zh-CN" altLang="en-US" sz="1000" b="1">
              <a:solidFill>
                <a:srgbClr val="1A2E4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82D6755-B840-A0CB-02F7-BBB8450BFFF1}"/>
              </a:ext>
            </a:extLst>
          </p:cNvPr>
          <p:cNvSpPr txBox="1"/>
          <p:nvPr/>
        </p:nvSpPr>
        <p:spPr>
          <a:xfrm>
            <a:off x="4876800" y="3860800"/>
            <a:ext cx="25273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333D4A"/>
                </a:solidFill>
                <a:latin typeface="Microsoft YaHei" panose="020B0503020204020204" pitchFamily="34" charset="-122"/>
              </a:rPr>
              <a:t>决定类别分布形状和身高体重是否相关。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5C6E2E90-F890-F28D-B853-86F957E88E18}"/>
              </a:ext>
            </a:extLst>
          </p:cNvPr>
          <p:cNvSpPr/>
          <p:nvPr/>
        </p:nvSpPr>
        <p:spPr>
          <a:xfrm>
            <a:off x="8128000" y="3429000"/>
            <a:ext cx="2794000" cy="1066800"/>
          </a:xfrm>
          <a:prstGeom prst="roundRect">
            <a:avLst/>
          </a:prstGeom>
          <a:solidFill>
            <a:srgbClr val="FAFCFF"/>
          </a:solidFill>
          <a:ln w="10160">
            <a:solidFill>
              <a:srgbClr val="C9DD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9DB0CF7-CBE4-49FF-153C-782D1E3CA825}"/>
              </a:ext>
            </a:extLst>
          </p:cNvPr>
          <p:cNvSpPr/>
          <p:nvPr/>
        </p:nvSpPr>
        <p:spPr>
          <a:xfrm>
            <a:off x="8128000" y="3429000"/>
            <a:ext cx="63500" cy="10668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54BBE27-266B-462F-1306-A118CD4373F8}"/>
              </a:ext>
            </a:extLst>
          </p:cNvPr>
          <p:cNvSpPr txBox="1"/>
          <p:nvPr/>
        </p:nvSpPr>
        <p:spPr>
          <a:xfrm>
            <a:off x="8331200" y="3556000"/>
            <a:ext cx="24638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1A2E44"/>
                </a:solidFill>
                <a:latin typeface="Microsoft YaHei" panose="020B0503020204020204" pitchFamily="34" charset="-122"/>
              </a:rPr>
              <a:t>先验 </a:t>
            </a:r>
            <a:r>
              <a:rPr lang="en-US" altLang="zh-CN" sz="1000" b="1">
                <a:solidFill>
                  <a:srgbClr val="1A2E44"/>
                </a:solidFill>
                <a:latin typeface="Microsoft YaHei" panose="020B0503020204020204" pitchFamily="34" charset="-122"/>
              </a:rPr>
              <a:t>P(</a:t>
            </a:r>
            <a:r>
              <a:rPr lang="el-GR" altLang="zh-CN" sz="1000" b="1">
                <a:solidFill>
                  <a:srgbClr val="1A2E44"/>
                </a:solidFill>
                <a:latin typeface="Microsoft YaHei" panose="020B0503020204020204" pitchFamily="34" charset="-122"/>
              </a:rPr>
              <a:t>ω</a:t>
            </a:r>
            <a:r>
              <a:rPr lang="en-US" altLang="zh-CN" sz="1000" b="1">
                <a:solidFill>
                  <a:srgbClr val="1A2E44"/>
                </a:solidFill>
                <a:latin typeface="Microsoft YaHei" panose="020B0503020204020204" pitchFamily="34" charset="-122"/>
              </a:rPr>
              <a:t>i)</a:t>
            </a:r>
            <a:endParaRPr lang="zh-CN" altLang="en-US" sz="1000" b="1">
              <a:solidFill>
                <a:srgbClr val="1A2E4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49B2F55-8904-2357-1706-30A9A8B09213}"/>
              </a:ext>
            </a:extLst>
          </p:cNvPr>
          <p:cNvSpPr txBox="1"/>
          <p:nvPr/>
        </p:nvSpPr>
        <p:spPr>
          <a:xfrm>
            <a:off x="8331200" y="3860800"/>
            <a:ext cx="24638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333D4A"/>
                </a:solidFill>
                <a:latin typeface="Microsoft YaHei" panose="020B0503020204020204" pitchFamily="34" charset="-122"/>
              </a:rPr>
              <a:t>决定分类边界向哪个类别偏移。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91819042-B4F5-FAC9-73ED-B4F321C1FD0E}"/>
              </a:ext>
            </a:extLst>
          </p:cNvPr>
          <p:cNvSpPr txBox="1"/>
          <p:nvPr/>
        </p:nvSpPr>
        <p:spPr>
          <a:xfrm>
            <a:off x="1651000" y="5334000"/>
            <a:ext cx="8890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200" b="1">
                <a:solidFill>
                  <a:srgbClr val="1A2E44"/>
                </a:solidFill>
                <a:latin typeface="Microsoft YaHei" panose="020B0503020204020204" pitchFamily="34" charset="-122"/>
              </a:rPr>
              <a:t>决策规则：若 </a:t>
            </a:r>
            <a:r>
              <a:rPr lang="en-US" altLang="zh-CN" sz="1200" b="1">
                <a:solidFill>
                  <a:srgbClr val="1A2E44"/>
                </a:solidFill>
                <a:latin typeface="Microsoft YaHei" panose="020B0503020204020204" pitchFamily="34" charset="-122"/>
              </a:rPr>
              <a:t>gF(x) ≥ gM(x)</a:t>
            </a:r>
            <a:r>
              <a:rPr lang="zh-CN" altLang="en-US" sz="1200" b="1">
                <a:solidFill>
                  <a:srgbClr val="1A2E44"/>
                </a:solidFill>
                <a:latin typeface="Microsoft YaHei" panose="020B0503020204020204" pitchFamily="34" charset="-122"/>
              </a:rPr>
              <a:t>，判为女生；否则判为男生。</a:t>
            </a:r>
          </a:p>
        </p:txBody>
      </p:sp>
    </p:spTree>
    <p:extLst>
      <p:ext uri="{BB962C8B-B14F-4D97-AF65-F5344CB8AC3E}">
        <p14:creationId xmlns:p14="http://schemas.microsoft.com/office/powerpoint/2010/main" val="7070942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91735C3-3526-A432-83F5-A234DFC6AD8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平行四边形 2">
            <a:extLst>
              <a:ext uri="{FF2B5EF4-FFF2-40B4-BE49-F238E27FC236}">
                <a16:creationId xmlns:a16="http://schemas.microsoft.com/office/drawing/2014/main" id="{E6D36C67-C149-6F62-1E87-DE50FE558BAE}"/>
              </a:ext>
            </a:extLst>
          </p:cNvPr>
          <p:cNvSpPr/>
          <p:nvPr/>
        </p:nvSpPr>
        <p:spPr>
          <a:xfrm>
            <a:off x="-317500" y="-279400"/>
            <a:ext cx="13208000" cy="1041400"/>
          </a:xfrm>
          <a:prstGeom prst="parallelogram">
            <a:avLst>
              <a:gd name="adj" fmla="val 16000"/>
            </a:avLst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E3D93813-8579-7050-A4B9-6677933AEBC1}"/>
              </a:ext>
            </a:extLst>
          </p:cNvPr>
          <p:cNvSpPr/>
          <p:nvPr/>
        </p:nvSpPr>
        <p:spPr>
          <a:xfrm>
            <a:off x="8953500" y="-101600"/>
            <a:ext cx="3937000" cy="939800"/>
          </a:xfrm>
          <a:prstGeom prst="parallelogram">
            <a:avLst/>
          </a:prstGeom>
          <a:solidFill>
            <a:srgbClr val="3A9BD9">
              <a:alpha val="80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72C5BEA-D3D4-CB00-BCB7-D92BC9B13716}"/>
              </a:ext>
            </a:extLst>
          </p:cNvPr>
          <p:cNvSpPr/>
          <p:nvPr/>
        </p:nvSpPr>
        <p:spPr>
          <a:xfrm>
            <a:off x="660400" y="939800"/>
            <a:ext cx="1168400" cy="508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平行四边形 5">
            <a:extLst>
              <a:ext uri="{FF2B5EF4-FFF2-40B4-BE49-F238E27FC236}">
                <a16:creationId xmlns:a16="http://schemas.microsoft.com/office/drawing/2014/main" id="{2EFBBEA6-CF12-F9A7-793A-3E00E646F84D}"/>
              </a:ext>
            </a:extLst>
          </p:cNvPr>
          <p:cNvSpPr/>
          <p:nvPr/>
        </p:nvSpPr>
        <p:spPr>
          <a:xfrm>
            <a:off x="-1143000" y="6350000"/>
            <a:ext cx="6604000" cy="584200"/>
          </a:xfrm>
          <a:prstGeom prst="parallelogram">
            <a:avLst>
              <a:gd name="adj" fmla="val 28000"/>
            </a:avLst>
          </a:prstGeom>
          <a:solidFill>
            <a:srgbClr val="E3F2F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E03846B-7997-205C-0EA3-FDAAF05322AA}"/>
              </a:ext>
            </a:extLst>
          </p:cNvPr>
          <p:cNvSpPr txBox="1"/>
          <p:nvPr/>
        </p:nvSpPr>
        <p:spPr>
          <a:xfrm>
            <a:off x="736600" y="228600"/>
            <a:ext cx="4572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FAFCFF"/>
                </a:solidFill>
                <a:latin typeface="Microsoft YaHei" panose="020B0503020204020204" pitchFamily="34" charset="-122"/>
              </a:rPr>
              <a:t>THEORY</a:t>
            </a:r>
            <a:endParaRPr lang="zh-CN" altLang="en-US" sz="700" b="1">
              <a:solidFill>
                <a:srgbClr val="FAFC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45E6B00-ED93-2E96-075D-9FA87FC48DAA}"/>
              </a:ext>
            </a:extLst>
          </p:cNvPr>
          <p:cNvSpPr txBox="1"/>
          <p:nvPr/>
        </p:nvSpPr>
        <p:spPr>
          <a:xfrm>
            <a:off x="736600" y="482600"/>
            <a:ext cx="8890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000" b="1">
                <a:solidFill>
                  <a:srgbClr val="FAFCFF"/>
                </a:solidFill>
                <a:latin typeface="Microsoft YaHei" panose="020B0503020204020204" pitchFamily="34" charset="-122"/>
              </a:rPr>
              <a:t>协方差假设与先验概率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EC04395-8999-5E84-57D8-395097BC4A57}"/>
              </a:ext>
            </a:extLst>
          </p:cNvPr>
          <p:cNvSpPr txBox="1"/>
          <p:nvPr/>
        </p:nvSpPr>
        <p:spPr>
          <a:xfrm>
            <a:off x="685800" y="6489700"/>
            <a:ext cx="4572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6B7B8C"/>
                </a:solidFill>
                <a:latin typeface="Microsoft YaHei" panose="020B0503020204020204" pitchFamily="34" charset="-122"/>
              </a:rPr>
              <a:t>模式识别课程实验一 </a:t>
            </a:r>
            <a:r>
              <a:rPr lang="en-US" altLang="zh-CN" sz="700">
                <a:solidFill>
                  <a:srgbClr val="6B7B8C"/>
                </a:solidFill>
                <a:latin typeface="Microsoft YaHei" panose="020B0503020204020204" pitchFamily="34" charset="-122"/>
              </a:rPr>
              <a:t>· Bayes </a:t>
            </a:r>
            <a:r>
              <a:rPr lang="zh-CN" altLang="en-US" sz="700">
                <a:solidFill>
                  <a:srgbClr val="6B7B8C"/>
                </a:solidFill>
                <a:latin typeface="Microsoft YaHei" panose="020B0503020204020204" pitchFamily="34" charset="-122"/>
              </a:rPr>
              <a:t>性别分类器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9391A26-AC11-166B-53BE-683B27AC276B}"/>
              </a:ext>
            </a:extLst>
          </p:cNvPr>
          <p:cNvSpPr txBox="1"/>
          <p:nvPr/>
        </p:nvSpPr>
        <p:spPr>
          <a:xfrm>
            <a:off x="11277600" y="6438900"/>
            <a:ext cx="4064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800" b="1">
                <a:solidFill>
                  <a:srgbClr val="006BB7"/>
                </a:solidFill>
                <a:latin typeface="Microsoft YaHei" panose="020B0503020204020204" pitchFamily="34" charset="-122"/>
              </a:rPr>
              <a:t>05</a:t>
            </a:r>
            <a:endParaRPr lang="zh-CN" altLang="en-US" sz="8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EC217BDC-BE2D-18A8-95F3-28652670E451}"/>
              </a:ext>
            </a:extLst>
          </p:cNvPr>
          <p:cNvSpPr/>
          <p:nvPr/>
        </p:nvSpPr>
        <p:spPr>
          <a:xfrm>
            <a:off x="889000" y="1473200"/>
            <a:ext cx="4572000" cy="1270000"/>
          </a:xfrm>
          <a:prstGeom prst="roundRect">
            <a:avLst/>
          </a:prstGeom>
          <a:solidFill>
            <a:srgbClr val="FAFCFF"/>
          </a:solidFill>
          <a:ln w="10160">
            <a:solidFill>
              <a:srgbClr val="C9DD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3E2B410-B67A-06A8-28FE-88838086BBEE}"/>
              </a:ext>
            </a:extLst>
          </p:cNvPr>
          <p:cNvSpPr/>
          <p:nvPr/>
        </p:nvSpPr>
        <p:spPr>
          <a:xfrm>
            <a:off x="889000" y="1473200"/>
            <a:ext cx="63500" cy="1270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796CC6F-774E-4CD3-487B-0851EC58A16D}"/>
              </a:ext>
            </a:extLst>
          </p:cNvPr>
          <p:cNvSpPr txBox="1"/>
          <p:nvPr/>
        </p:nvSpPr>
        <p:spPr>
          <a:xfrm>
            <a:off x="1092200" y="1600200"/>
            <a:ext cx="42418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1A2E44"/>
                </a:solidFill>
                <a:latin typeface="Microsoft YaHei" panose="020B0503020204020204" pitchFamily="34" charset="-122"/>
              </a:rPr>
              <a:t>完整协方差：考虑相关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7BEECF9-C71D-B591-A279-FD734AEA24F8}"/>
              </a:ext>
            </a:extLst>
          </p:cNvPr>
          <p:cNvSpPr txBox="1"/>
          <p:nvPr/>
        </p:nvSpPr>
        <p:spPr>
          <a:xfrm>
            <a:off x="1092200" y="1905000"/>
            <a:ext cx="42418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333D4A"/>
                </a:solidFill>
                <a:latin typeface="Microsoft YaHei" panose="020B0503020204020204" pitchFamily="34" charset="-122"/>
              </a:rPr>
              <a:t>保留协方差矩阵非对角元素，表示身高和体重之间可能有关联，判别边界更灵活。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471F8941-AB93-BDF0-4B39-A2D507E8F000}"/>
              </a:ext>
            </a:extLst>
          </p:cNvPr>
          <p:cNvSpPr/>
          <p:nvPr/>
        </p:nvSpPr>
        <p:spPr>
          <a:xfrm>
            <a:off x="6731000" y="1473200"/>
            <a:ext cx="4191000" cy="1270000"/>
          </a:xfrm>
          <a:prstGeom prst="roundRect">
            <a:avLst/>
          </a:prstGeom>
          <a:solidFill>
            <a:srgbClr val="FAFCFF"/>
          </a:solidFill>
          <a:ln w="10160">
            <a:solidFill>
              <a:srgbClr val="C9DD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2344B7C-8342-9386-A7B9-0D99D1958462}"/>
              </a:ext>
            </a:extLst>
          </p:cNvPr>
          <p:cNvSpPr/>
          <p:nvPr/>
        </p:nvSpPr>
        <p:spPr>
          <a:xfrm>
            <a:off x="6731000" y="1473200"/>
            <a:ext cx="63500" cy="1270000"/>
          </a:xfrm>
          <a:prstGeom prst="rect">
            <a:avLst/>
          </a:prstGeom>
          <a:solidFill>
            <a:srgbClr val="3A9B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0257190-530C-C5F2-372E-853971705658}"/>
              </a:ext>
            </a:extLst>
          </p:cNvPr>
          <p:cNvSpPr txBox="1"/>
          <p:nvPr/>
        </p:nvSpPr>
        <p:spPr>
          <a:xfrm>
            <a:off x="6934200" y="1600200"/>
            <a:ext cx="38608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1A2E44"/>
                </a:solidFill>
                <a:latin typeface="Microsoft YaHei" panose="020B0503020204020204" pitchFamily="34" charset="-122"/>
              </a:rPr>
              <a:t>对角协方差：忽略相关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10C1B68-A70F-CEFD-CE9D-51B694051C11}"/>
              </a:ext>
            </a:extLst>
          </p:cNvPr>
          <p:cNvSpPr txBox="1"/>
          <p:nvPr/>
        </p:nvSpPr>
        <p:spPr>
          <a:xfrm>
            <a:off x="6934200" y="1905000"/>
            <a:ext cx="38608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333D4A"/>
                </a:solidFill>
                <a:latin typeface="Microsoft YaHei" panose="020B0503020204020204" pitchFamily="34" charset="-122"/>
              </a:rPr>
              <a:t>只保留方差项，假设特征相互独立；参数更少，小样本估计更稳定。</a:t>
            </a:r>
          </a:p>
        </p:txBody>
      </p:sp>
      <p:graphicFrame>
        <p:nvGraphicFramePr>
          <p:cNvPr id="19" name="表格 18">
            <a:extLst>
              <a:ext uri="{FF2B5EF4-FFF2-40B4-BE49-F238E27FC236}">
                <a16:creationId xmlns:a16="http://schemas.microsoft.com/office/drawing/2014/main" id="{2E6B3926-48A2-8F89-14CD-62B674D985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116830"/>
              </p:ext>
            </p:extLst>
          </p:nvPr>
        </p:nvGraphicFramePr>
        <p:xfrm>
          <a:off x="1397000" y="3556000"/>
          <a:ext cx="9398000" cy="162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2667">
                  <a:extLst>
                    <a:ext uri="{9D8B030D-6E8A-4147-A177-3AD203B41FA5}">
                      <a16:colId xmlns:a16="http://schemas.microsoft.com/office/drawing/2014/main" val="2573520367"/>
                    </a:ext>
                  </a:extLst>
                </a:gridCol>
                <a:gridCol w="3132667">
                  <a:extLst>
                    <a:ext uri="{9D8B030D-6E8A-4147-A177-3AD203B41FA5}">
                      <a16:colId xmlns:a16="http://schemas.microsoft.com/office/drawing/2014/main" val="3182690887"/>
                    </a:ext>
                  </a:extLst>
                </a:gridCol>
                <a:gridCol w="3132667">
                  <a:extLst>
                    <a:ext uri="{9D8B030D-6E8A-4147-A177-3AD203B41FA5}">
                      <a16:colId xmlns:a16="http://schemas.microsoft.com/office/drawing/2014/main" val="3511386865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r>
                        <a:rPr lang="zh-CN" altLang="en-US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先验设置</a:t>
                      </a:r>
                    </a:p>
                  </a:txBody>
                  <a:tcPr marL="38100" marR="38100" marT="25400" marB="25400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含义</a:t>
                      </a:r>
                    </a:p>
                  </a:txBody>
                  <a:tcPr marL="38100" marR="38100" marT="25400" marB="25400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预期影响</a:t>
                      </a:r>
                    </a:p>
                  </a:txBody>
                  <a:tcPr marL="38100" marR="38100" marT="25400" marB="25400">
                    <a:solidFill>
                      <a:srgbClr val="006B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37217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0.5 / 0.5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男女先验相等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决策主要由似然决定</a:t>
                      </a: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197695566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0.75 / 0.25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女生先验较大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边界向男生侧偏移</a:t>
                      </a: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249597042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0.9 / 0.1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女生先验极大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更容易把样本判为女生</a:t>
                      </a: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2565824680"/>
                  </a:ext>
                </a:extLst>
              </a:tr>
            </a:tbl>
          </a:graphicData>
        </a:graphic>
      </p:graphicFrame>
      <p:sp>
        <p:nvSpPr>
          <p:cNvPr id="20" name="文本框 19">
            <a:extLst>
              <a:ext uri="{FF2B5EF4-FFF2-40B4-BE49-F238E27FC236}">
                <a16:creationId xmlns:a16="http://schemas.microsoft.com/office/drawing/2014/main" id="{B276C2BC-3D18-CB9C-D377-C08DFF416376}"/>
              </a:ext>
            </a:extLst>
          </p:cNvPr>
          <p:cNvSpPr txBox="1"/>
          <p:nvPr/>
        </p:nvSpPr>
        <p:spPr>
          <a:xfrm>
            <a:off x="1651000" y="5638800"/>
            <a:ext cx="8890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200" b="1">
                <a:solidFill>
                  <a:srgbClr val="004A82"/>
                </a:solidFill>
                <a:latin typeface="Microsoft YaHei" panose="020B0503020204020204" pitchFamily="34" charset="-122"/>
              </a:rPr>
              <a:t>先验概率应来自真实类别比例或任务背景，不能随意设置。</a:t>
            </a:r>
          </a:p>
        </p:txBody>
      </p:sp>
    </p:spTree>
    <p:extLst>
      <p:ext uri="{BB962C8B-B14F-4D97-AF65-F5344CB8AC3E}">
        <p14:creationId xmlns:p14="http://schemas.microsoft.com/office/powerpoint/2010/main" val="1858544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67EA995-F8B0-3757-B5C2-EBE1C3F83E6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平行四边形 2">
            <a:extLst>
              <a:ext uri="{FF2B5EF4-FFF2-40B4-BE49-F238E27FC236}">
                <a16:creationId xmlns:a16="http://schemas.microsoft.com/office/drawing/2014/main" id="{A34CD31A-FDD6-A9B0-81D0-4E12B9097B7F}"/>
              </a:ext>
            </a:extLst>
          </p:cNvPr>
          <p:cNvSpPr/>
          <p:nvPr/>
        </p:nvSpPr>
        <p:spPr>
          <a:xfrm>
            <a:off x="-317500" y="-279400"/>
            <a:ext cx="13208000" cy="1041400"/>
          </a:xfrm>
          <a:prstGeom prst="parallelogram">
            <a:avLst>
              <a:gd name="adj" fmla="val 16000"/>
            </a:avLst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1EDA8297-2814-BB45-C2F8-A3880782F0C6}"/>
              </a:ext>
            </a:extLst>
          </p:cNvPr>
          <p:cNvSpPr/>
          <p:nvPr/>
        </p:nvSpPr>
        <p:spPr>
          <a:xfrm>
            <a:off x="8953500" y="-101600"/>
            <a:ext cx="3937000" cy="939800"/>
          </a:xfrm>
          <a:prstGeom prst="parallelogram">
            <a:avLst/>
          </a:prstGeom>
          <a:solidFill>
            <a:srgbClr val="3A9BD9">
              <a:alpha val="80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B93706E-8D47-E31E-A2E4-6B9860FDD954}"/>
              </a:ext>
            </a:extLst>
          </p:cNvPr>
          <p:cNvSpPr/>
          <p:nvPr/>
        </p:nvSpPr>
        <p:spPr>
          <a:xfrm>
            <a:off x="660400" y="939800"/>
            <a:ext cx="1168400" cy="508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平行四边形 5">
            <a:extLst>
              <a:ext uri="{FF2B5EF4-FFF2-40B4-BE49-F238E27FC236}">
                <a16:creationId xmlns:a16="http://schemas.microsoft.com/office/drawing/2014/main" id="{C450E4EF-D0F3-E1A7-2B21-8022ADB71DC8}"/>
              </a:ext>
            </a:extLst>
          </p:cNvPr>
          <p:cNvSpPr/>
          <p:nvPr/>
        </p:nvSpPr>
        <p:spPr>
          <a:xfrm>
            <a:off x="-1143000" y="6350000"/>
            <a:ext cx="6604000" cy="584200"/>
          </a:xfrm>
          <a:prstGeom prst="parallelogram">
            <a:avLst>
              <a:gd name="adj" fmla="val 28000"/>
            </a:avLst>
          </a:prstGeom>
          <a:solidFill>
            <a:srgbClr val="E3F2F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BECB2DD-6FBD-E72A-2159-3B589BC839A0}"/>
              </a:ext>
            </a:extLst>
          </p:cNvPr>
          <p:cNvSpPr txBox="1"/>
          <p:nvPr/>
        </p:nvSpPr>
        <p:spPr>
          <a:xfrm>
            <a:off x="736600" y="228600"/>
            <a:ext cx="4572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FAFCFF"/>
                </a:solidFill>
                <a:latin typeface="Microsoft YaHei" panose="020B0503020204020204" pitchFamily="34" charset="-122"/>
              </a:rPr>
              <a:t>THEORY</a:t>
            </a:r>
            <a:endParaRPr lang="zh-CN" altLang="en-US" sz="700" b="1">
              <a:solidFill>
                <a:srgbClr val="FAFC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D0CD274-2724-FE23-B385-BA6D56B12399}"/>
              </a:ext>
            </a:extLst>
          </p:cNvPr>
          <p:cNvSpPr txBox="1"/>
          <p:nvPr/>
        </p:nvSpPr>
        <p:spPr>
          <a:xfrm>
            <a:off x="736600" y="482600"/>
            <a:ext cx="8890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000" b="1">
                <a:solidFill>
                  <a:srgbClr val="FAFCFF"/>
                </a:solidFill>
                <a:latin typeface="Microsoft YaHei" panose="020B0503020204020204" pitchFamily="34" charset="-122"/>
              </a:rPr>
              <a:t>最小风险 </a:t>
            </a:r>
            <a:r>
              <a:rPr lang="en-US" altLang="zh-CN" sz="2000" b="1">
                <a:solidFill>
                  <a:srgbClr val="FAFCFF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2000" b="1">
                <a:solidFill>
                  <a:srgbClr val="FAFCFF"/>
                </a:solidFill>
                <a:latin typeface="Microsoft YaHei" panose="020B0503020204020204" pitchFamily="34" charset="-122"/>
              </a:rPr>
              <a:t>与非参数估计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EF44111-FC91-FD55-371A-3984C6CEE686}"/>
              </a:ext>
            </a:extLst>
          </p:cNvPr>
          <p:cNvSpPr txBox="1"/>
          <p:nvPr/>
        </p:nvSpPr>
        <p:spPr>
          <a:xfrm>
            <a:off x="685800" y="6489700"/>
            <a:ext cx="4572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6B7B8C"/>
                </a:solidFill>
                <a:latin typeface="Microsoft YaHei" panose="020B0503020204020204" pitchFamily="34" charset="-122"/>
              </a:rPr>
              <a:t>模式识别课程实验一 </a:t>
            </a:r>
            <a:r>
              <a:rPr lang="en-US" altLang="zh-CN" sz="700">
                <a:solidFill>
                  <a:srgbClr val="6B7B8C"/>
                </a:solidFill>
                <a:latin typeface="Microsoft YaHei" panose="020B0503020204020204" pitchFamily="34" charset="-122"/>
              </a:rPr>
              <a:t>· Bayes </a:t>
            </a:r>
            <a:r>
              <a:rPr lang="zh-CN" altLang="en-US" sz="700">
                <a:solidFill>
                  <a:srgbClr val="6B7B8C"/>
                </a:solidFill>
                <a:latin typeface="Microsoft YaHei" panose="020B0503020204020204" pitchFamily="34" charset="-122"/>
              </a:rPr>
              <a:t>性别分类器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4464E90-E473-5E89-A9ED-D30A9402D9E6}"/>
              </a:ext>
            </a:extLst>
          </p:cNvPr>
          <p:cNvSpPr txBox="1"/>
          <p:nvPr/>
        </p:nvSpPr>
        <p:spPr>
          <a:xfrm>
            <a:off x="11277600" y="6438900"/>
            <a:ext cx="4064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800" b="1">
                <a:solidFill>
                  <a:srgbClr val="006BB7"/>
                </a:solidFill>
                <a:latin typeface="Microsoft YaHei" panose="020B0503020204020204" pitchFamily="34" charset="-122"/>
              </a:rPr>
              <a:t>06</a:t>
            </a:r>
            <a:endParaRPr lang="zh-CN" altLang="en-US" sz="8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7F1E7DE5-7AD1-6C46-3084-1785A2A3A932}"/>
              </a:ext>
            </a:extLst>
          </p:cNvPr>
          <p:cNvSpPr/>
          <p:nvPr/>
        </p:nvSpPr>
        <p:spPr>
          <a:xfrm>
            <a:off x="1016000" y="1473200"/>
            <a:ext cx="9906000" cy="762000"/>
          </a:xfrm>
          <a:prstGeom prst="roundRect">
            <a:avLst/>
          </a:prstGeom>
          <a:solidFill>
            <a:srgbClr val="EEF7FF"/>
          </a:solidFill>
          <a:ln w="10160">
            <a:solidFill>
              <a:srgbClr val="B6DD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89DBFCD-CCAA-EEE1-91DA-69F5D172FC7F}"/>
              </a:ext>
            </a:extLst>
          </p:cNvPr>
          <p:cNvSpPr txBox="1"/>
          <p:nvPr/>
        </p:nvSpPr>
        <p:spPr>
          <a:xfrm>
            <a:off x="1524000" y="1752600"/>
            <a:ext cx="8890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600" b="1">
                <a:solidFill>
                  <a:srgbClr val="006BB7"/>
                </a:solidFill>
                <a:latin typeface="Microsoft YaHei" panose="020B0503020204020204" pitchFamily="34" charset="-122"/>
              </a:rPr>
              <a:t>R(</a:t>
            </a:r>
            <a:r>
              <a:rPr lang="el-GR" altLang="zh-CN" sz="1600" b="1">
                <a:solidFill>
                  <a:srgbClr val="006BB7"/>
                </a:solidFill>
                <a:latin typeface="Microsoft YaHei" panose="020B0503020204020204" pitchFamily="34" charset="-122"/>
              </a:rPr>
              <a:t>α</a:t>
            </a:r>
            <a:r>
              <a:rPr lang="en-US" altLang="zh-CN" sz="1600" b="1">
                <a:solidFill>
                  <a:srgbClr val="006BB7"/>
                </a:solidFill>
                <a:latin typeface="Microsoft YaHei" panose="020B0503020204020204" pitchFamily="34" charset="-122"/>
              </a:rPr>
              <a:t>i|x) = </a:t>
            </a:r>
            <a:r>
              <a:rPr lang="el-GR" altLang="zh-CN" sz="1600" b="1">
                <a:solidFill>
                  <a:srgbClr val="006BB7"/>
                </a:solidFill>
                <a:latin typeface="Microsoft YaHei" panose="020B0503020204020204" pitchFamily="34" charset="-122"/>
              </a:rPr>
              <a:t>Σ λ(α</a:t>
            </a:r>
            <a:r>
              <a:rPr lang="en-US" altLang="zh-CN" sz="1600" b="1">
                <a:solidFill>
                  <a:srgbClr val="006BB7"/>
                </a:solidFill>
                <a:latin typeface="Microsoft YaHei" panose="020B0503020204020204" pitchFamily="34" charset="-122"/>
              </a:rPr>
              <a:t>i|</a:t>
            </a:r>
            <a:r>
              <a:rPr lang="el-GR" altLang="zh-CN" sz="1600" b="1">
                <a:solidFill>
                  <a:srgbClr val="006BB7"/>
                </a:solidFill>
                <a:latin typeface="Microsoft YaHei" panose="020B0503020204020204" pitchFamily="34" charset="-122"/>
              </a:rPr>
              <a:t>ω</a:t>
            </a:r>
            <a:r>
              <a:rPr lang="en-US" altLang="zh-CN" sz="1600" b="1">
                <a:solidFill>
                  <a:srgbClr val="006BB7"/>
                </a:solidFill>
                <a:latin typeface="Microsoft YaHei" panose="020B0503020204020204" pitchFamily="34" charset="-122"/>
              </a:rPr>
              <a:t>j) P(</a:t>
            </a:r>
            <a:r>
              <a:rPr lang="el-GR" altLang="zh-CN" sz="1600" b="1">
                <a:solidFill>
                  <a:srgbClr val="006BB7"/>
                </a:solidFill>
                <a:latin typeface="Microsoft YaHei" panose="020B0503020204020204" pitchFamily="34" charset="-122"/>
              </a:rPr>
              <a:t>ω</a:t>
            </a:r>
            <a:r>
              <a:rPr lang="en-US" altLang="zh-CN" sz="1600" b="1">
                <a:solidFill>
                  <a:srgbClr val="006BB7"/>
                </a:solidFill>
                <a:latin typeface="Microsoft YaHei" panose="020B0503020204020204" pitchFamily="34" charset="-122"/>
              </a:rPr>
              <a:t>j|x)</a:t>
            </a:r>
            <a:endParaRPr lang="zh-CN" altLang="en-US" sz="16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FEED509E-9E85-80CD-594C-0A0295980B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7930184"/>
              </p:ext>
            </p:extLst>
          </p:nvPr>
        </p:nvGraphicFramePr>
        <p:xfrm>
          <a:off x="1270000" y="2921000"/>
          <a:ext cx="9652000" cy="1587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17333">
                  <a:extLst>
                    <a:ext uri="{9D8B030D-6E8A-4147-A177-3AD203B41FA5}">
                      <a16:colId xmlns:a16="http://schemas.microsoft.com/office/drawing/2014/main" val="3041867417"/>
                    </a:ext>
                  </a:extLst>
                </a:gridCol>
                <a:gridCol w="3217333">
                  <a:extLst>
                    <a:ext uri="{9D8B030D-6E8A-4147-A177-3AD203B41FA5}">
                      <a16:colId xmlns:a16="http://schemas.microsoft.com/office/drawing/2014/main" val="980327687"/>
                    </a:ext>
                  </a:extLst>
                </a:gridCol>
                <a:gridCol w="3217333">
                  <a:extLst>
                    <a:ext uri="{9D8B030D-6E8A-4147-A177-3AD203B41FA5}">
                      <a16:colId xmlns:a16="http://schemas.microsoft.com/office/drawing/2014/main" val="3984337889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r>
                        <a:rPr lang="zh-CN" altLang="en-US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内容</a:t>
                      </a:r>
                    </a:p>
                  </a:txBody>
                  <a:tcPr marL="38100" marR="38100" marT="25400" marB="25400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本实验设置</a:t>
                      </a:r>
                    </a:p>
                  </a:txBody>
                  <a:tcPr marL="38100" marR="38100" marT="25400" marB="25400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意义</a:t>
                      </a:r>
                    </a:p>
                  </a:txBody>
                  <a:tcPr marL="38100" marR="38100" marT="25400" marB="25400">
                    <a:solidFill>
                      <a:srgbClr val="006B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6841105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损失表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l-GR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λ(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M|F)=2, </a:t>
                      </a:r>
                      <a:r>
                        <a:rPr lang="el-GR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λ(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F|M)=1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女生误判为男生代价更高</a:t>
                      </a: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1489618585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Parzen 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窗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Gaussian kernel, h=5.0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不预设正态分布，用核密度估计</a:t>
                      </a: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2666672248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kNN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k=5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根据最近邻样本投票</a:t>
                      </a: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2287124948"/>
                  </a:ext>
                </a:extLst>
              </a:tr>
            </a:tbl>
          </a:graphicData>
        </a:graphic>
      </p:graphicFrame>
      <p:sp>
        <p:nvSpPr>
          <p:cNvPr id="14" name="文本框 13">
            <a:extLst>
              <a:ext uri="{FF2B5EF4-FFF2-40B4-BE49-F238E27FC236}">
                <a16:creationId xmlns:a16="http://schemas.microsoft.com/office/drawing/2014/main" id="{FD6FB769-A185-2357-3480-ED10D2026DE3}"/>
              </a:ext>
            </a:extLst>
          </p:cNvPr>
          <p:cNvSpPr txBox="1"/>
          <p:nvPr/>
        </p:nvSpPr>
        <p:spPr>
          <a:xfrm>
            <a:off x="1333500" y="5143500"/>
            <a:ext cx="9398000" cy="392415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228600" indent="-2286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900">
                <a:solidFill>
                  <a:srgbClr val="333D4A"/>
                </a:solidFill>
                <a:latin typeface="Microsoft YaHei" panose="020B0503020204020204" pitchFamily="34" charset="-122"/>
              </a:rPr>
              <a:t>最小风险 </a:t>
            </a:r>
            <a:r>
              <a:rPr lang="en-US" altLang="zh-CN" sz="900">
                <a:solidFill>
                  <a:srgbClr val="333D4A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900">
                <a:solidFill>
                  <a:srgbClr val="333D4A"/>
                </a:solidFill>
                <a:latin typeface="Microsoft YaHei" panose="020B0503020204020204" pitchFamily="34" charset="-122"/>
              </a:rPr>
              <a:t>的目标是降低总代价，不一定追求最高准确率。</a:t>
            </a:r>
          </a:p>
          <a:p>
            <a:pPr marL="228600" indent="-2286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900">
                <a:solidFill>
                  <a:srgbClr val="333D4A"/>
                </a:solidFill>
                <a:latin typeface="Microsoft YaHei" panose="020B0503020204020204" pitchFamily="34" charset="-122"/>
              </a:rPr>
              <a:t>非参数方法不依赖固定分布假设，可作为参数 </a:t>
            </a:r>
            <a:r>
              <a:rPr lang="en-US" altLang="zh-CN" sz="900">
                <a:solidFill>
                  <a:srgbClr val="333D4A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900">
                <a:solidFill>
                  <a:srgbClr val="333D4A"/>
                </a:solidFill>
                <a:latin typeface="Microsoft YaHei" panose="020B0503020204020204" pitchFamily="34" charset="-122"/>
              </a:rPr>
              <a:t>的补充。</a:t>
            </a:r>
          </a:p>
        </p:txBody>
      </p:sp>
    </p:spTree>
    <p:extLst>
      <p:ext uri="{BB962C8B-B14F-4D97-AF65-F5344CB8AC3E}">
        <p14:creationId xmlns:p14="http://schemas.microsoft.com/office/powerpoint/2010/main" val="14966496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CAF04AC-6B71-4EBF-E6A1-E31AD305816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A8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平行四边形 2">
            <a:extLst>
              <a:ext uri="{FF2B5EF4-FFF2-40B4-BE49-F238E27FC236}">
                <a16:creationId xmlns:a16="http://schemas.microsoft.com/office/drawing/2014/main" id="{C1F34325-66A2-EB97-4B89-C55BA8EACE29}"/>
              </a:ext>
            </a:extLst>
          </p:cNvPr>
          <p:cNvSpPr/>
          <p:nvPr/>
        </p:nvSpPr>
        <p:spPr>
          <a:xfrm>
            <a:off x="7429500" y="-254000"/>
            <a:ext cx="5461000" cy="2032000"/>
          </a:xfrm>
          <a:prstGeom prst="parallelogram">
            <a:avLst>
              <a:gd name="adj" fmla="val 22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C3BCC55-F843-B6AE-4FB4-06D8066155E9}"/>
              </a:ext>
            </a:extLst>
          </p:cNvPr>
          <p:cNvSpPr txBox="1"/>
          <p:nvPr/>
        </p:nvSpPr>
        <p:spPr>
          <a:xfrm>
            <a:off x="889000" y="1206500"/>
            <a:ext cx="1651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200" b="1">
                <a:solidFill>
                  <a:srgbClr val="D4A84B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2200" b="1">
              <a:solidFill>
                <a:srgbClr val="D4A84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DFF484A-66C8-A0F8-0E03-93065C9574E5}"/>
              </a:ext>
            </a:extLst>
          </p:cNvPr>
          <p:cNvSpPr txBox="1"/>
          <p:nvPr/>
        </p:nvSpPr>
        <p:spPr>
          <a:xfrm>
            <a:off x="889000" y="2095500"/>
            <a:ext cx="8636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3000" b="1">
                <a:solidFill>
                  <a:srgbClr val="FAFCFF"/>
                </a:solidFill>
                <a:latin typeface="Microsoft YaHei" panose="020B0503020204020204" pitchFamily="34" charset="-122"/>
              </a:rPr>
              <a:t>实验设计与软件实现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10D8E53-C841-78AF-2E8E-0D80E5EC3D5D}"/>
              </a:ext>
            </a:extLst>
          </p:cNvPr>
          <p:cNvSpPr txBox="1"/>
          <p:nvPr/>
        </p:nvSpPr>
        <p:spPr>
          <a:xfrm>
            <a:off x="939800" y="2997200"/>
            <a:ext cx="8636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300">
                <a:solidFill>
                  <a:srgbClr val="D9ECFF"/>
                </a:solidFill>
                <a:latin typeface="Microsoft YaHei" panose="020B0503020204020204" pitchFamily="34" charset="-122"/>
              </a:rPr>
              <a:t>数据、特征、流程和评价指标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8C3C8F20-8261-0E61-D143-BF15D78335E0}"/>
              </a:ext>
            </a:extLst>
          </p:cNvPr>
          <p:cNvCxnSpPr/>
          <p:nvPr/>
        </p:nvCxnSpPr>
        <p:spPr>
          <a:xfrm>
            <a:off x="939800" y="3810000"/>
            <a:ext cx="2235200" cy="0"/>
          </a:xfrm>
          <a:prstGeom prst="line">
            <a:avLst/>
          </a:prstGeom>
          <a:ln w="508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8521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E340A57-F9EC-A11E-28B0-75263172523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平行四边形 2">
            <a:extLst>
              <a:ext uri="{FF2B5EF4-FFF2-40B4-BE49-F238E27FC236}">
                <a16:creationId xmlns:a16="http://schemas.microsoft.com/office/drawing/2014/main" id="{41A80977-2190-DC70-59D4-DAB69421FAB4}"/>
              </a:ext>
            </a:extLst>
          </p:cNvPr>
          <p:cNvSpPr/>
          <p:nvPr/>
        </p:nvSpPr>
        <p:spPr>
          <a:xfrm>
            <a:off x="-317500" y="-279400"/>
            <a:ext cx="13208000" cy="1041400"/>
          </a:xfrm>
          <a:prstGeom prst="parallelogram">
            <a:avLst>
              <a:gd name="adj" fmla="val 16000"/>
            </a:avLst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0CAE090C-9926-7726-A898-08D19F664424}"/>
              </a:ext>
            </a:extLst>
          </p:cNvPr>
          <p:cNvSpPr/>
          <p:nvPr/>
        </p:nvSpPr>
        <p:spPr>
          <a:xfrm>
            <a:off x="8953500" y="-101600"/>
            <a:ext cx="3937000" cy="939800"/>
          </a:xfrm>
          <a:prstGeom prst="parallelogram">
            <a:avLst/>
          </a:prstGeom>
          <a:solidFill>
            <a:srgbClr val="3A9BD9">
              <a:alpha val="80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CCFE40F-D467-7AFB-2F22-503E969DF8D8}"/>
              </a:ext>
            </a:extLst>
          </p:cNvPr>
          <p:cNvSpPr/>
          <p:nvPr/>
        </p:nvSpPr>
        <p:spPr>
          <a:xfrm>
            <a:off x="660400" y="939800"/>
            <a:ext cx="1168400" cy="508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平行四边形 5">
            <a:extLst>
              <a:ext uri="{FF2B5EF4-FFF2-40B4-BE49-F238E27FC236}">
                <a16:creationId xmlns:a16="http://schemas.microsoft.com/office/drawing/2014/main" id="{B9B8F1CA-B1D7-D42B-3138-74B534ED6B9B}"/>
              </a:ext>
            </a:extLst>
          </p:cNvPr>
          <p:cNvSpPr/>
          <p:nvPr/>
        </p:nvSpPr>
        <p:spPr>
          <a:xfrm>
            <a:off x="-1143000" y="6350000"/>
            <a:ext cx="6604000" cy="584200"/>
          </a:xfrm>
          <a:prstGeom prst="parallelogram">
            <a:avLst>
              <a:gd name="adj" fmla="val 28000"/>
            </a:avLst>
          </a:prstGeom>
          <a:solidFill>
            <a:srgbClr val="E3F2F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0CE2D79-6F8A-61E1-DEA6-E3D5199262F7}"/>
              </a:ext>
            </a:extLst>
          </p:cNvPr>
          <p:cNvSpPr txBox="1"/>
          <p:nvPr/>
        </p:nvSpPr>
        <p:spPr>
          <a:xfrm>
            <a:off x="736600" y="228600"/>
            <a:ext cx="4572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FAFCFF"/>
                </a:solidFill>
                <a:latin typeface="Microsoft YaHei" panose="020B0503020204020204" pitchFamily="34" charset="-122"/>
              </a:rPr>
              <a:t>EXPERIMENT DESIGN</a:t>
            </a:r>
            <a:endParaRPr lang="zh-CN" altLang="en-US" sz="700" b="1">
              <a:solidFill>
                <a:srgbClr val="FAFC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7C64C52-964D-BCC0-A855-D0844D836858}"/>
              </a:ext>
            </a:extLst>
          </p:cNvPr>
          <p:cNvSpPr txBox="1"/>
          <p:nvPr/>
        </p:nvSpPr>
        <p:spPr>
          <a:xfrm>
            <a:off x="736600" y="482600"/>
            <a:ext cx="8890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000" b="1">
                <a:solidFill>
                  <a:srgbClr val="FAFCFF"/>
                </a:solidFill>
                <a:latin typeface="Microsoft YaHei" panose="020B0503020204020204" pitchFamily="34" charset="-122"/>
              </a:rPr>
              <a:t>数据集与样本划分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5F62F2E-2512-8486-D023-D1F303B5D198}"/>
              </a:ext>
            </a:extLst>
          </p:cNvPr>
          <p:cNvSpPr txBox="1"/>
          <p:nvPr/>
        </p:nvSpPr>
        <p:spPr>
          <a:xfrm>
            <a:off x="685800" y="6489700"/>
            <a:ext cx="4572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6B7B8C"/>
                </a:solidFill>
                <a:latin typeface="Microsoft YaHei" panose="020B0503020204020204" pitchFamily="34" charset="-122"/>
              </a:rPr>
              <a:t>模式识别课程实验一 </a:t>
            </a:r>
            <a:r>
              <a:rPr lang="en-US" altLang="zh-CN" sz="700">
                <a:solidFill>
                  <a:srgbClr val="6B7B8C"/>
                </a:solidFill>
                <a:latin typeface="Microsoft YaHei" panose="020B0503020204020204" pitchFamily="34" charset="-122"/>
              </a:rPr>
              <a:t>· Bayes </a:t>
            </a:r>
            <a:r>
              <a:rPr lang="zh-CN" altLang="en-US" sz="700">
                <a:solidFill>
                  <a:srgbClr val="6B7B8C"/>
                </a:solidFill>
                <a:latin typeface="Microsoft YaHei" panose="020B0503020204020204" pitchFamily="34" charset="-122"/>
              </a:rPr>
              <a:t>性别分类器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F93808D-368D-8791-64ED-E7698818F858}"/>
              </a:ext>
            </a:extLst>
          </p:cNvPr>
          <p:cNvSpPr txBox="1"/>
          <p:nvPr/>
        </p:nvSpPr>
        <p:spPr>
          <a:xfrm>
            <a:off x="11277600" y="6438900"/>
            <a:ext cx="4064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800" b="1">
                <a:solidFill>
                  <a:srgbClr val="006BB7"/>
                </a:solidFill>
                <a:latin typeface="Microsoft YaHei" panose="020B0503020204020204" pitchFamily="34" charset="-122"/>
              </a:rPr>
              <a:t>07</a:t>
            </a:r>
            <a:endParaRPr lang="zh-CN" altLang="en-US" sz="8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4F04CC74-D67D-99F3-6DB4-3717B99CF6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9062655"/>
              </p:ext>
            </p:extLst>
          </p:nvPr>
        </p:nvGraphicFramePr>
        <p:xfrm>
          <a:off x="1168400" y="1498600"/>
          <a:ext cx="98552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67">
                  <a:extLst>
                    <a:ext uri="{9D8B030D-6E8A-4147-A177-3AD203B41FA5}">
                      <a16:colId xmlns:a16="http://schemas.microsoft.com/office/drawing/2014/main" val="2010310143"/>
                    </a:ext>
                  </a:extLst>
                </a:gridCol>
                <a:gridCol w="3285067">
                  <a:extLst>
                    <a:ext uri="{9D8B030D-6E8A-4147-A177-3AD203B41FA5}">
                      <a16:colId xmlns:a16="http://schemas.microsoft.com/office/drawing/2014/main" val="543362376"/>
                    </a:ext>
                  </a:extLst>
                </a:gridCol>
                <a:gridCol w="3285067">
                  <a:extLst>
                    <a:ext uri="{9D8B030D-6E8A-4147-A177-3AD203B41FA5}">
                      <a16:colId xmlns:a16="http://schemas.microsoft.com/office/drawing/2014/main" val="365431777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lang="zh-CN" altLang="en-US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文件</a:t>
                      </a:r>
                    </a:p>
                  </a:txBody>
                  <a:tcPr marL="38100" marR="38100" marT="25400" marB="25400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用途</a:t>
                      </a:r>
                    </a:p>
                  </a:txBody>
                  <a:tcPr marL="38100" marR="38100" marT="25400" marB="25400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样本说明</a:t>
                      </a:r>
                    </a:p>
                  </a:txBody>
                  <a:tcPr marL="38100" marR="38100" marT="25400" marB="25400">
                    <a:solidFill>
                      <a:srgbClr val="006B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213665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FEMALE.TXT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训练集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50 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个女生的身高、体重</a:t>
                      </a: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115082816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MALE.TXT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训练集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50 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个男生的身高、体重</a:t>
                      </a: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115453668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test1.txt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测试集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35 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个样本，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15 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女 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20 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男</a:t>
                      </a: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108948198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test2.txt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测试集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300 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个样本，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50 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女 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250 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男</a:t>
                      </a: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1889970536"/>
                  </a:ext>
                </a:extLst>
              </a:tr>
            </a:tbl>
          </a:graphicData>
        </a:graphic>
      </p:graphicFrame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EE873A41-AE0B-48DE-6A08-50947E551F58}"/>
              </a:ext>
            </a:extLst>
          </p:cNvPr>
          <p:cNvSpPr/>
          <p:nvPr/>
        </p:nvSpPr>
        <p:spPr>
          <a:xfrm>
            <a:off x="1422400" y="4292600"/>
            <a:ext cx="1968500" cy="698500"/>
          </a:xfrm>
          <a:prstGeom prst="roundRect">
            <a:avLst/>
          </a:prstGeom>
          <a:solidFill>
            <a:srgbClr val="F4FAFF"/>
          </a:solidFill>
          <a:ln w="10160">
            <a:solidFill>
              <a:srgbClr val="C9DD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4D8B0EB-F7F0-C0A9-24EC-3982E7400527}"/>
              </a:ext>
            </a:extLst>
          </p:cNvPr>
          <p:cNvSpPr txBox="1"/>
          <p:nvPr/>
        </p:nvSpPr>
        <p:spPr>
          <a:xfrm>
            <a:off x="1574800" y="4394200"/>
            <a:ext cx="17145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006BB7"/>
                </a:solidFill>
                <a:latin typeface="Microsoft YaHei" panose="020B0503020204020204" pitchFamily="34" charset="-122"/>
              </a:rPr>
              <a:t>100</a:t>
            </a:r>
            <a:endParaRPr lang="zh-CN" altLang="en-US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7AB2E9E-E51A-ADA4-20FB-B5285AC7237B}"/>
              </a:ext>
            </a:extLst>
          </p:cNvPr>
          <p:cNvSpPr txBox="1"/>
          <p:nvPr/>
        </p:nvSpPr>
        <p:spPr>
          <a:xfrm>
            <a:off x="1574800" y="4787900"/>
            <a:ext cx="17145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6B7B8C"/>
                </a:solidFill>
                <a:latin typeface="Microsoft YaHei" panose="020B0503020204020204" pitchFamily="34" charset="-122"/>
              </a:rPr>
              <a:t>训练样本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926071DE-3BC0-932C-184A-02294288368A}"/>
              </a:ext>
            </a:extLst>
          </p:cNvPr>
          <p:cNvSpPr/>
          <p:nvPr/>
        </p:nvSpPr>
        <p:spPr>
          <a:xfrm>
            <a:off x="4038600" y="4292600"/>
            <a:ext cx="1968500" cy="698500"/>
          </a:xfrm>
          <a:prstGeom prst="roundRect">
            <a:avLst/>
          </a:prstGeom>
          <a:solidFill>
            <a:srgbClr val="F4FAFF"/>
          </a:solidFill>
          <a:ln w="10160">
            <a:solidFill>
              <a:srgbClr val="C9DD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6FF6DBE-1789-3009-32CF-59291FB96D9A}"/>
              </a:ext>
            </a:extLst>
          </p:cNvPr>
          <p:cNvSpPr txBox="1"/>
          <p:nvPr/>
        </p:nvSpPr>
        <p:spPr>
          <a:xfrm>
            <a:off x="4191000" y="4394200"/>
            <a:ext cx="17145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3A9BD9"/>
                </a:solidFill>
                <a:latin typeface="Microsoft YaHei" panose="020B0503020204020204" pitchFamily="34" charset="-122"/>
              </a:rPr>
              <a:t>35</a:t>
            </a:r>
            <a:endParaRPr lang="zh-CN" altLang="en-US" b="1">
              <a:solidFill>
                <a:srgbClr val="3A9BD9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89D5A87-695D-74C6-3341-77C7BF4B5146}"/>
              </a:ext>
            </a:extLst>
          </p:cNvPr>
          <p:cNvSpPr txBox="1"/>
          <p:nvPr/>
        </p:nvSpPr>
        <p:spPr>
          <a:xfrm>
            <a:off x="4191000" y="4787900"/>
            <a:ext cx="17145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>
                <a:solidFill>
                  <a:srgbClr val="6B7B8C"/>
                </a:solidFill>
                <a:latin typeface="Microsoft YaHei" panose="020B0503020204020204" pitchFamily="34" charset="-122"/>
              </a:rPr>
              <a:t>test1 </a:t>
            </a:r>
            <a:r>
              <a:rPr lang="zh-CN" altLang="en-US" sz="700">
                <a:solidFill>
                  <a:srgbClr val="6B7B8C"/>
                </a:solidFill>
                <a:latin typeface="Microsoft YaHei" panose="020B0503020204020204" pitchFamily="34" charset="-122"/>
              </a:rPr>
              <a:t>样本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33426224-44C8-53A1-E21F-FE2447C60140}"/>
              </a:ext>
            </a:extLst>
          </p:cNvPr>
          <p:cNvSpPr/>
          <p:nvPr/>
        </p:nvSpPr>
        <p:spPr>
          <a:xfrm>
            <a:off x="6654800" y="4292600"/>
            <a:ext cx="1968500" cy="698500"/>
          </a:xfrm>
          <a:prstGeom prst="roundRect">
            <a:avLst/>
          </a:prstGeom>
          <a:solidFill>
            <a:srgbClr val="F4FAFF"/>
          </a:solidFill>
          <a:ln w="10160">
            <a:solidFill>
              <a:srgbClr val="C9DD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5AF407B-581A-B53F-5722-9B5D714E9436}"/>
              </a:ext>
            </a:extLst>
          </p:cNvPr>
          <p:cNvSpPr txBox="1"/>
          <p:nvPr/>
        </p:nvSpPr>
        <p:spPr>
          <a:xfrm>
            <a:off x="6807200" y="4394200"/>
            <a:ext cx="17145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D4A84B"/>
                </a:solidFill>
                <a:latin typeface="Microsoft YaHei" panose="020B0503020204020204" pitchFamily="34" charset="-122"/>
              </a:rPr>
              <a:t>300</a:t>
            </a:r>
            <a:endParaRPr lang="zh-CN" altLang="en-US" b="1">
              <a:solidFill>
                <a:srgbClr val="D4A84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DA9F0BF-DAF9-3DB4-18F2-D7D0CAD41562}"/>
              </a:ext>
            </a:extLst>
          </p:cNvPr>
          <p:cNvSpPr txBox="1"/>
          <p:nvPr/>
        </p:nvSpPr>
        <p:spPr>
          <a:xfrm>
            <a:off x="6807200" y="4787900"/>
            <a:ext cx="17145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>
                <a:solidFill>
                  <a:srgbClr val="6B7B8C"/>
                </a:solidFill>
                <a:latin typeface="Microsoft YaHei" panose="020B0503020204020204" pitchFamily="34" charset="-122"/>
              </a:rPr>
              <a:t>test2 </a:t>
            </a:r>
            <a:r>
              <a:rPr lang="zh-CN" altLang="en-US" sz="700">
                <a:solidFill>
                  <a:srgbClr val="6B7B8C"/>
                </a:solidFill>
                <a:latin typeface="Microsoft YaHei" panose="020B0503020204020204" pitchFamily="34" charset="-122"/>
              </a:rPr>
              <a:t>样本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A7222D2E-83AA-40B3-7638-DC43D56ED341}"/>
              </a:ext>
            </a:extLst>
          </p:cNvPr>
          <p:cNvSpPr/>
          <p:nvPr/>
        </p:nvSpPr>
        <p:spPr>
          <a:xfrm>
            <a:off x="9271000" y="4292600"/>
            <a:ext cx="1968500" cy="698500"/>
          </a:xfrm>
          <a:prstGeom prst="roundRect">
            <a:avLst/>
          </a:prstGeom>
          <a:solidFill>
            <a:srgbClr val="F4FAFF"/>
          </a:solidFill>
          <a:ln w="10160">
            <a:solidFill>
              <a:srgbClr val="C9DD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A09D523-5B73-8E2C-3A10-FF34946C6C4D}"/>
              </a:ext>
            </a:extLst>
          </p:cNvPr>
          <p:cNvSpPr txBox="1"/>
          <p:nvPr/>
        </p:nvSpPr>
        <p:spPr>
          <a:xfrm>
            <a:off x="9423400" y="4394200"/>
            <a:ext cx="17145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0F766E"/>
                </a:solidFill>
                <a:latin typeface="Microsoft YaHei" panose="020B0503020204020204" pitchFamily="34" charset="-122"/>
              </a:rPr>
              <a:t>2</a:t>
            </a:r>
            <a:endParaRPr lang="zh-CN" altLang="en-US" b="1">
              <a:solidFill>
                <a:srgbClr val="0F766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11811DF-1E5B-4DBB-4E7A-6E4C4A36CA63}"/>
              </a:ext>
            </a:extLst>
          </p:cNvPr>
          <p:cNvSpPr txBox="1"/>
          <p:nvPr/>
        </p:nvSpPr>
        <p:spPr>
          <a:xfrm>
            <a:off x="9423400" y="4787900"/>
            <a:ext cx="17145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6B7B8C"/>
                </a:solidFill>
                <a:latin typeface="Microsoft YaHei" panose="020B0503020204020204" pitchFamily="34" charset="-122"/>
              </a:rPr>
              <a:t>类别数量</a:t>
            </a:r>
          </a:p>
        </p:txBody>
      </p:sp>
    </p:spTree>
    <p:extLst>
      <p:ext uri="{BB962C8B-B14F-4D97-AF65-F5344CB8AC3E}">
        <p14:creationId xmlns:p14="http://schemas.microsoft.com/office/powerpoint/2010/main" val="10605259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B851AF4-8F02-CA8D-8BFB-F285877BA91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平行四边形 2">
            <a:extLst>
              <a:ext uri="{FF2B5EF4-FFF2-40B4-BE49-F238E27FC236}">
                <a16:creationId xmlns:a16="http://schemas.microsoft.com/office/drawing/2014/main" id="{30FC7A0C-3540-0698-8349-17D873A4838D}"/>
              </a:ext>
            </a:extLst>
          </p:cNvPr>
          <p:cNvSpPr/>
          <p:nvPr/>
        </p:nvSpPr>
        <p:spPr>
          <a:xfrm>
            <a:off x="-317500" y="-279400"/>
            <a:ext cx="13208000" cy="1041400"/>
          </a:xfrm>
          <a:prstGeom prst="parallelogram">
            <a:avLst>
              <a:gd name="adj" fmla="val 16000"/>
            </a:avLst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03612C35-0977-9B07-1B68-6D57B7A4F5EC}"/>
              </a:ext>
            </a:extLst>
          </p:cNvPr>
          <p:cNvSpPr/>
          <p:nvPr/>
        </p:nvSpPr>
        <p:spPr>
          <a:xfrm>
            <a:off x="8953500" y="-101600"/>
            <a:ext cx="3937000" cy="939800"/>
          </a:xfrm>
          <a:prstGeom prst="parallelogram">
            <a:avLst/>
          </a:prstGeom>
          <a:solidFill>
            <a:srgbClr val="3A9BD9">
              <a:alpha val="80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B586F93-8505-4CFD-691A-7E9032BB8C14}"/>
              </a:ext>
            </a:extLst>
          </p:cNvPr>
          <p:cNvSpPr/>
          <p:nvPr/>
        </p:nvSpPr>
        <p:spPr>
          <a:xfrm>
            <a:off x="660400" y="939800"/>
            <a:ext cx="1168400" cy="508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平行四边形 5">
            <a:extLst>
              <a:ext uri="{FF2B5EF4-FFF2-40B4-BE49-F238E27FC236}">
                <a16:creationId xmlns:a16="http://schemas.microsoft.com/office/drawing/2014/main" id="{3BF4F933-2563-DF33-EA5B-F6BB9D63B673}"/>
              </a:ext>
            </a:extLst>
          </p:cNvPr>
          <p:cNvSpPr/>
          <p:nvPr/>
        </p:nvSpPr>
        <p:spPr>
          <a:xfrm>
            <a:off x="-1143000" y="6350000"/>
            <a:ext cx="6604000" cy="584200"/>
          </a:xfrm>
          <a:prstGeom prst="parallelogram">
            <a:avLst>
              <a:gd name="adj" fmla="val 28000"/>
            </a:avLst>
          </a:prstGeom>
          <a:solidFill>
            <a:srgbClr val="E3F2F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F09C346-D6AF-0D04-0710-68D959D71DBF}"/>
              </a:ext>
            </a:extLst>
          </p:cNvPr>
          <p:cNvSpPr txBox="1"/>
          <p:nvPr/>
        </p:nvSpPr>
        <p:spPr>
          <a:xfrm>
            <a:off x="736600" y="228600"/>
            <a:ext cx="4572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FAFCFF"/>
                </a:solidFill>
                <a:latin typeface="Microsoft YaHei" panose="020B0503020204020204" pitchFamily="34" charset="-122"/>
              </a:rPr>
              <a:t>EXPERIMENT DESIGN</a:t>
            </a:r>
            <a:endParaRPr lang="zh-CN" altLang="en-US" sz="700" b="1">
              <a:solidFill>
                <a:srgbClr val="FAFC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588F925-AA74-8144-80CB-620AC0BB3512}"/>
              </a:ext>
            </a:extLst>
          </p:cNvPr>
          <p:cNvSpPr txBox="1"/>
          <p:nvPr/>
        </p:nvSpPr>
        <p:spPr>
          <a:xfrm>
            <a:off x="736600" y="482600"/>
            <a:ext cx="8890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000" b="1">
                <a:solidFill>
                  <a:srgbClr val="FAFCFF"/>
                </a:solidFill>
                <a:latin typeface="Microsoft YaHei" panose="020B0503020204020204" pitchFamily="34" charset="-122"/>
              </a:rPr>
              <a:t>实验分组设计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D7095EE-B4C8-0D7B-5008-16128459F14D}"/>
              </a:ext>
            </a:extLst>
          </p:cNvPr>
          <p:cNvSpPr txBox="1"/>
          <p:nvPr/>
        </p:nvSpPr>
        <p:spPr>
          <a:xfrm>
            <a:off x="685800" y="6489700"/>
            <a:ext cx="4572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6B7B8C"/>
                </a:solidFill>
                <a:latin typeface="Microsoft YaHei" panose="020B0503020204020204" pitchFamily="34" charset="-122"/>
              </a:rPr>
              <a:t>模式识别课程实验一 </a:t>
            </a:r>
            <a:r>
              <a:rPr lang="en-US" altLang="zh-CN" sz="700">
                <a:solidFill>
                  <a:srgbClr val="6B7B8C"/>
                </a:solidFill>
                <a:latin typeface="Microsoft YaHei" panose="020B0503020204020204" pitchFamily="34" charset="-122"/>
              </a:rPr>
              <a:t>· Bayes </a:t>
            </a:r>
            <a:r>
              <a:rPr lang="zh-CN" altLang="en-US" sz="700">
                <a:solidFill>
                  <a:srgbClr val="6B7B8C"/>
                </a:solidFill>
                <a:latin typeface="Microsoft YaHei" panose="020B0503020204020204" pitchFamily="34" charset="-122"/>
              </a:rPr>
              <a:t>性别分类器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6BE991B-3E24-0EDB-56E9-611F1FC5BF72}"/>
              </a:ext>
            </a:extLst>
          </p:cNvPr>
          <p:cNvSpPr txBox="1"/>
          <p:nvPr/>
        </p:nvSpPr>
        <p:spPr>
          <a:xfrm>
            <a:off x="11277600" y="6438900"/>
            <a:ext cx="4064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800" b="1">
                <a:solidFill>
                  <a:srgbClr val="006BB7"/>
                </a:solidFill>
                <a:latin typeface="Microsoft YaHei" panose="020B0503020204020204" pitchFamily="34" charset="-122"/>
              </a:rPr>
              <a:t>08</a:t>
            </a:r>
            <a:endParaRPr lang="zh-CN" altLang="en-US" sz="8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BF1A39B8-7189-4201-2DF5-998CC7A6A989}"/>
              </a:ext>
            </a:extLst>
          </p:cNvPr>
          <p:cNvSpPr/>
          <p:nvPr/>
        </p:nvSpPr>
        <p:spPr>
          <a:xfrm>
            <a:off x="889000" y="1460500"/>
            <a:ext cx="3149600" cy="1092200"/>
          </a:xfrm>
          <a:prstGeom prst="roundRect">
            <a:avLst/>
          </a:prstGeom>
          <a:solidFill>
            <a:srgbClr val="FAFCFF"/>
          </a:solidFill>
          <a:ln w="10160">
            <a:solidFill>
              <a:srgbClr val="C9DD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D316899-328A-0837-9451-F16C5835DF6E}"/>
              </a:ext>
            </a:extLst>
          </p:cNvPr>
          <p:cNvSpPr/>
          <p:nvPr/>
        </p:nvSpPr>
        <p:spPr>
          <a:xfrm>
            <a:off x="889000" y="1460500"/>
            <a:ext cx="63500" cy="10922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191A550-EB7A-B4B6-D90C-9E9CF28FE175}"/>
              </a:ext>
            </a:extLst>
          </p:cNvPr>
          <p:cNvSpPr txBox="1"/>
          <p:nvPr/>
        </p:nvSpPr>
        <p:spPr>
          <a:xfrm>
            <a:off x="1092200" y="1587500"/>
            <a:ext cx="28194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1A2E44"/>
                </a:solidFill>
                <a:latin typeface="Microsoft YaHei" panose="020B0503020204020204" pitchFamily="34" charset="-122"/>
              </a:rPr>
              <a:t>单特征实验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240599F-68A1-B0F4-B7D0-947DA610E6FB}"/>
              </a:ext>
            </a:extLst>
          </p:cNvPr>
          <p:cNvSpPr txBox="1"/>
          <p:nvPr/>
        </p:nvSpPr>
        <p:spPr>
          <a:xfrm>
            <a:off x="1092200" y="1892300"/>
            <a:ext cx="28194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333D4A"/>
                </a:solidFill>
                <a:latin typeface="Microsoft YaHei" panose="020B0503020204020204" pitchFamily="34" charset="-122"/>
              </a:rPr>
              <a:t>分别只用身高或体重，建立一维高斯 </a:t>
            </a:r>
            <a:r>
              <a:rPr lang="en-US" altLang="zh-CN" sz="800">
                <a:solidFill>
                  <a:srgbClr val="333D4A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800">
                <a:solidFill>
                  <a:srgbClr val="333D4A"/>
                </a:solidFill>
                <a:latin typeface="Microsoft YaHei" panose="020B0503020204020204" pitchFamily="34" charset="-122"/>
              </a:rPr>
              <a:t>分类器。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450F3E65-833A-1B0B-79C6-93ABCBE713AB}"/>
              </a:ext>
            </a:extLst>
          </p:cNvPr>
          <p:cNvSpPr/>
          <p:nvPr/>
        </p:nvSpPr>
        <p:spPr>
          <a:xfrm>
            <a:off x="4521200" y="1460500"/>
            <a:ext cx="3149600" cy="1092200"/>
          </a:xfrm>
          <a:prstGeom prst="roundRect">
            <a:avLst/>
          </a:prstGeom>
          <a:solidFill>
            <a:srgbClr val="FAFCFF"/>
          </a:solidFill>
          <a:ln w="10160">
            <a:solidFill>
              <a:srgbClr val="C9DD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7EB9085-4381-6493-B8D9-BE5F3201B65B}"/>
              </a:ext>
            </a:extLst>
          </p:cNvPr>
          <p:cNvSpPr/>
          <p:nvPr/>
        </p:nvSpPr>
        <p:spPr>
          <a:xfrm>
            <a:off x="4521200" y="1460500"/>
            <a:ext cx="63500" cy="1092200"/>
          </a:xfrm>
          <a:prstGeom prst="rect">
            <a:avLst/>
          </a:prstGeom>
          <a:solidFill>
            <a:srgbClr val="3A9B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65D0593-AAA8-5731-A8C0-72D0BBC08091}"/>
              </a:ext>
            </a:extLst>
          </p:cNvPr>
          <p:cNvSpPr txBox="1"/>
          <p:nvPr/>
        </p:nvSpPr>
        <p:spPr>
          <a:xfrm>
            <a:off x="4724400" y="1587500"/>
            <a:ext cx="28194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1A2E44"/>
                </a:solidFill>
                <a:latin typeface="Microsoft YaHei" panose="020B0503020204020204" pitchFamily="34" charset="-122"/>
              </a:rPr>
              <a:t>双特征实验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2E47C29-094A-FDDA-2573-731FC8632794}"/>
              </a:ext>
            </a:extLst>
          </p:cNvPr>
          <p:cNvSpPr txBox="1"/>
          <p:nvPr/>
        </p:nvSpPr>
        <p:spPr>
          <a:xfrm>
            <a:off x="4724400" y="1892300"/>
            <a:ext cx="28194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333D4A"/>
                </a:solidFill>
                <a:latin typeface="Microsoft YaHei" panose="020B0503020204020204" pitchFamily="34" charset="-122"/>
              </a:rPr>
              <a:t>同时用身高和体重，比较完整协方差和对角协方差。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0776AB99-C533-EDB3-9B6D-FA0AC00A9250}"/>
              </a:ext>
            </a:extLst>
          </p:cNvPr>
          <p:cNvSpPr/>
          <p:nvPr/>
        </p:nvSpPr>
        <p:spPr>
          <a:xfrm>
            <a:off x="8153400" y="1460500"/>
            <a:ext cx="2895600" cy="1092200"/>
          </a:xfrm>
          <a:prstGeom prst="roundRect">
            <a:avLst/>
          </a:prstGeom>
          <a:solidFill>
            <a:srgbClr val="FAFCFF"/>
          </a:solidFill>
          <a:ln w="10160">
            <a:solidFill>
              <a:srgbClr val="C9DD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5019F1F-6FCB-2D2F-CACD-BAAC0284FEC5}"/>
              </a:ext>
            </a:extLst>
          </p:cNvPr>
          <p:cNvSpPr/>
          <p:nvPr/>
        </p:nvSpPr>
        <p:spPr>
          <a:xfrm>
            <a:off x="8153400" y="1460500"/>
            <a:ext cx="63500" cy="10922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CBAEE7E-DD1E-4613-BFF7-6A4FB195FDAD}"/>
              </a:ext>
            </a:extLst>
          </p:cNvPr>
          <p:cNvSpPr txBox="1"/>
          <p:nvPr/>
        </p:nvSpPr>
        <p:spPr>
          <a:xfrm>
            <a:off x="8356600" y="1587500"/>
            <a:ext cx="25654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1A2E44"/>
                </a:solidFill>
                <a:latin typeface="Microsoft YaHei" panose="020B0503020204020204" pitchFamily="34" charset="-122"/>
              </a:rPr>
              <a:t>先验概率实验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EF21BAD-84E7-953D-2624-81F4FAD116BB}"/>
              </a:ext>
            </a:extLst>
          </p:cNvPr>
          <p:cNvSpPr txBox="1"/>
          <p:nvPr/>
        </p:nvSpPr>
        <p:spPr>
          <a:xfrm>
            <a:off x="8356600" y="1892300"/>
            <a:ext cx="25654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333D4A"/>
                </a:solidFill>
                <a:latin typeface="Microsoft YaHei" panose="020B0503020204020204" pitchFamily="34" charset="-122"/>
              </a:rPr>
              <a:t>比较 </a:t>
            </a:r>
            <a:r>
              <a:rPr lang="en-US" altLang="zh-CN" sz="800">
                <a:solidFill>
                  <a:srgbClr val="333D4A"/>
                </a:solidFill>
                <a:latin typeface="Microsoft YaHei" panose="020B0503020204020204" pitchFamily="34" charset="-122"/>
              </a:rPr>
              <a:t>0.5/0.5</a:t>
            </a:r>
            <a:r>
              <a:rPr lang="zh-CN" altLang="en-US" sz="800">
                <a:solidFill>
                  <a:srgbClr val="333D4A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800">
                <a:solidFill>
                  <a:srgbClr val="333D4A"/>
                </a:solidFill>
                <a:latin typeface="Microsoft YaHei" panose="020B0503020204020204" pitchFamily="34" charset="-122"/>
              </a:rPr>
              <a:t>0.75/0.25</a:t>
            </a:r>
            <a:r>
              <a:rPr lang="zh-CN" altLang="en-US" sz="800">
                <a:solidFill>
                  <a:srgbClr val="333D4A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800">
                <a:solidFill>
                  <a:srgbClr val="333D4A"/>
                </a:solidFill>
                <a:latin typeface="Microsoft YaHei" panose="020B0503020204020204" pitchFamily="34" charset="-122"/>
              </a:rPr>
              <a:t>0.9/0.1</a:t>
            </a:r>
            <a:r>
              <a:rPr lang="zh-CN" altLang="en-US" sz="800">
                <a:solidFill>
                  <a:srgbClr val="333D4A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7FCF6027-FF4D-6209-52AE-A4BF6B423F13}"/>
              </a:ext>
            </a:extLst>
          </p:cNvPr>
          <p:cNvSpPr/>
          <p:nvPr/>
        </p:nvSpPr>
        <p:spPr>
          <a:xfrm>
            <a:off x="889000" y="3302000"/>
            <a:ext cx="3149600" cy="1092200"/>
          </a:xfrm>
          <a:prstGeom prst="roundRect">
            <a:avLst/>
          </a:prstGeom>
          <a:solidFill>
            <a:srgbClr val="FAFCFF"/>
          </a:solidFill>
          <a:ln w="10160">
            <a:solidFill>
              <a:srgbClr val="C9DD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E906D84-E1FB-D1B7-56AF-AF5465442F93}"/>
              </a:ext>
            </a:extLst>
          </p:cNvPr>
          <p:cNvSpPr/>
          <p:nvPr/>
        </p:nvSpPr>
        <p:spPr>
          <a:xfrm>
            <a:off x="889000" y="3302000"/>
            <a:ext cx="63500" cy="1092200"/>
          </a:xfrm>
          <a:prstGeom prst="rect">
            <a:avLst/>
          </a:prstGeom>
          <a:solidFill>
            <a:srgbClr val="EA580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E6D2695-3F1E-6290-1EFD-AE3DE0E8FB63}"/>
              </a:ext>
            </a:extLst>
          </p:cNvPr>
          <p:cNvSpPr txBox="1"/>
          <p:nvPr/>
        </p:nvSpPr>
        <p:spPr>
          <a:xfrm>
            <a:off x="1092200" y="3429000"/>
            <a:ext cx="28194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1A2E44"/>
                </a:solidFill>
                <a:latin typeface="Microsoft YaHei" panose="020B0503020204020204" pitchFamily="34" charset="-122"/>
              </a:rPr>
              <a:t>最小风险实验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2EC71CF2-EC04-4026-EAF5-3E628EAE24DF}"/>
              </a:ext>
            </a:extLst>
          </p:cNvPr>
          <p:cNvSpPr txBox="1"/>
          <p:nvPr/>
        </p:nvSpPr>
        <p:spPr>
          <a:xfrm>
            <a:off x="1092200" y="3733800"/>
            <a:ext cx="28194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333D4A"/>
                </a:solidFill>
                <a:latin typeface="Microsoft YaHei" panose="020B0503020204020204" pitchFamily="34" charset="-122"/>
              </a:rPr>
              <a:t>给定损失表，按照条件风险最小原则分类。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D7378D77-E7CE-0003-57F2-0163EDF68573}"/>
              </a:ext>
            </a:extLst>
          </p:cNvPr>
          <p:cNvSpPr/>
          <p:nvPr/>
        </p:nvSpPr>
        <p:spPr>
          <a:xfrm>
            <a:off x="4521200" y="3302000"/>
            <a:ext cx="3149600" cy="1092200"/>
          </a:xfrm>
          <a:prstGeom prst="roundRect">
            <a:avLst/>
          </a:prstGeom>
          <a:solidFill>
            <a:srgbClr val="FAFCFF"/>
          </a:solidFill>
          <a:ln w="10160">
            <a:solidFill>
              <a:srgbClr val="C9DD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2E87A420-A4E5-6FAB-3357-405D3BB6116F}"/>
              </a:ext>
            </a:extLst>
          </p:cNvPr>
          <p:cNvSpPr/>
          <p:nvPr/>
        </p:nvSpPr>
        <p:spPr>
          <a:xfrm>
            <a:off x="4521200" y="3302000"/>
            <a:ext cx="63500" cy="10922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627E6CAF-CEC3-A306-46CF-F9B592164C64}"/>
              </a:ext>
            </a:extLst>
          </p:cNvPr>
          <p:cNvSpPr txBox="1"/>
          <p:nvPr/>
        </p:nvSpPr>
        <p:spPr>
          <a:xfrm>
            <a:off x="4724400" y="3429000"/>
            <a:ext cx="28194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1A2E44"/>
                </a:solidFill>
                <a:latin typeface="Microsoft YaHei" panose="020B0503020204020204" pitchFamily="34" charset="-122"/>
              </a:rPr>
              <a:t>参数估计实例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2DFD0AAE-A9E0-0681-35AD-0A03605AD3DB}"/>
              </a:ext>
            </a:extLst>
          </p:cNvPr>
          <p:cNvSpPr txBox="1"/>
          <p:nvPr/>
        </p:nvSpPr>
        <p:spPr>
          <a:xfrm>
            <a:off x="4724400" y="3733800"/>
            <a:ext cx="28194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333D4A"/>
                </a:solidFill>
                <a:latin typeface="Microsoft YaHei" panose="020B0503020204020204" pitchFamily="34" charset="-122"/>
              </a:rPr>
              <a:t>使用最大似然估计计算均值和协方差。</a:t>
            </a: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B1773698-F700-0480-B26E-F9C9BB1E5D31}"/>
              </a:ext>
            </a:extLst>
          </p:cNvPr>
          <p:cNvSpPr/>
          <p:nvPr/>
        </p:nvSpPr>
        <p:spPr>
          <a:xfrm>
            <a:off x="8153400" y="3302000"/>
            <a:ext cx="2895600" cy="1092200"/>
          </a:xfrm>
          <a:prstGeom prst="roundRect">
            <a:avLst/>
          </a:prstGeom>
          <a:solidFill>
            <a:srgbClr val="FAFCFF"/>
          </a:solidFill>
          <a:ln w="10160">
            <a:solidFill>
              <a:srgbClr val="C9DD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F290C676-B383-F8F4-A6D0-A6B3B5EDDB5E}"/>
              </a:ext>
            </a:extLst>
          </p:cNvPr>
          <p:cNvSpPr/>
          <p:nvPr/>
        </p:nvSpPr>
        <p:spPr>
          <a:xfrm>
            <a:off x="8153400" y="3302000"/>
            <a:ext cx="63500" cy="10922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03DB3C03-29AE-D406-0E2E-54D1BBB53E1D}"/>
              </a:ext>
            </a:extLst>
          </p:cNvPr>
          <p:cNvSpPr txBox="1"/>
          <p:nvPr/>
        </p:nvSpPr>
        <p:spPr>
          <a:xfrm>
            <a:off x="8356600" y="3429000"/>
            <a:ext cx="25654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1A2E44"/>
                </a:solidFill>
                <a:latin typeface="Microsoft YaHei" panose="020B0503020204020204" pitchFamily="34" charset="-122"/>
              </a:rPr>
              <a:t>非参数估计实例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01050939-1C45-909E-6514-C6A6FC48FB94}"/>
              </a:ext>
            </a:extLst>
          </p:cNvPr>
          <p:cNvSpPr txBox="1"/>
          <p:nvPr/>
        </p:nvSpPr>
        <p:spPr>
          <a:xfrm>
            <a:off x="8356600" y="3733800"/>
            <a:ext cx="25654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333D4A"/>
                </a:solidFill>
                <a:latin typeface="Microsoft YaHei" panose="020B0503020204020204" pitchFamily="34" charset="-122"/>
              </a:rPr>
              <a:t>实现 </a:t>
            </a:r>
            <a:r>
              <a:rPr lang="en-US" altLang="zh-CN" sz="800">
                <a:solidFill>
                  <a:srgbClr val="333D4A"/>
                </a:solidFill>
                <a:latin typeface="Microsoft YaHei" panose="020B0503020204020204" pitchFamily="34" charset="-122"/>
              </a:rPr>
              <a:t>Parzen </a:t>
            </a:r>
            <a:r>
              <a:rPr lang="zh-CN" altLang="en-US" sz="800">
                <a:solidFill>
                  <a:srgbClr val="333D4A"/>
                </a:solidFill>
                <a:latin typeface="Microsoft YaHei" panose="020B0503020204020204" pitchFamily="34" charset="-122"/>
              </a:rPr>
              <a:t>窗 </a:t>
            </a:r>
            <a:r>
              <a:rPr lang="en-US" altLang="zh-CN" sz="800">
                <a:solidFill>
                  <a:srgbClr val="333D4A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800">
                <a:solidFill>
                  <a:srgbClr val="333D4A"/>
                </a:solidFill>
                <a:latin typeface="Microsoft YaHei" panose="020B0503020204020204" pitchFamily="34" charset="-122"/>
              </a:rPr>
              <a:t>和 </a:t>
            </a:r>
            <a:r>
              <a:rPr lang="en-US" altLang="zh-CN" sz="800">
                <a:solidFill>
                  <a:srgbClr val="333D4A"/>
                </a:solidFill>
                <a:latin typeface="Microsoft YaHei" panose="020B0503020204020204" pitchFamily="34" charset="-122"/>
              </a:rPr>
              <a:t>kNN </a:t>
            </a:r>
            <a:r>
              <a:rPr lang="zh-CN" altLang="en-US" sz="800">
                <a:solidFill>
                  <a:srgbClr val="333D4A"/>
                </a:solidFill>
                <a:latin typeface="Microsoft YaHei" panose="020B0503020204020204" pitchFamily="34" charset="-122"/>
              </a:rPr>
              <a:t>进行对比。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C211D3EA-E9DC-AA8B-8A84-AF86EF4F4F75}"/>
              </a:ext>
            </a:extLst>
          </p:cNvPr>
          <p:cNvSpPr txBox="1"/>
          <p:nvPr/>
        </p:nvSpPr>
        <p:spPr>
          <a:xfrm>
            <a:off x="1270000" y="5461000"/>
            <a:ext cx="9652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200" b="1">
                <a:solidFill>
                  <a:srgbClr val="004A82"/>
                </a:solidFill>
                <a:latin typeface="Microsoft YaHei" panose="020B0503020204020204" pitchFamily="34" charset="-122"/>
              </a:rPr>
              <a:t>实验设计覆盖任务一要求中的特征选择、先验影响、风险决策、参数估计和非参数估计。</a:t>
            </a:r>
          </a:p>
        </p:txBody>
      </p:sp>
    </p:spTree>
    <p:extLst>
      <p:ext uri="{BB962C8B-B14F-4D97-AF65-F5344CB8AC3E}">
        <p14:creationId xmlns:p14="http://schemas.microsoft.com/office/powerpoint/2010/main" val="11310961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EF1E6C8-7AE8-A116-C0CF-A2AD21CE6F1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平行四边形 2">
            <a:extLst>
              <a:ext uri="{FF2B5EF4-FFF2-40B4-BE49-F238E27FC236}">
                <a16:creationId xmlns:a16="http://schemas.microsoft.com/office/drawing/2014/main" id="{C697AF3C-EE05-5F75-862E-A37C925EF883}"/>
              </a:ext>
            </a:extLst>
          </p:cNvPr>
          <p:cNvSpPr/>
          <p:nvPr/>
        </p:nvSpPr>
        <p:spPr>
          <a:xfrm>
            <a:off x="-317500" y="-279400"/>
            <a:ext cx="13208000" cy="1041400"/>
          </a:xfrm>
          <a:prstGeom prst="parallelogram">
            <a:avLst>
              <a:gd name="adj" fmla="val 16000"/>
            </a:avLst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72C092A1-EA37-7D39-2BDE-2FB57DFA1217}"/>
              </a:ext>
            </a:extLst>
          </p:cNvPr>
          <p:cNvSpPr/>
          <p:nvPr/>
        </p:nvSpPr>
        <p:spPr>
          <a:xfrm>
            <a:off x="8953500" y="-101600"/>
            <a:ext cx="3937000" cy="939800"/>
          </a:xfrm>
          <a:prstGeom prst="parallelogram">
            <a:avLst/>
          </a:prstGeom>
          <a:solidFill>
            <a:srgbClr val="3A9BD9">
              <a:alpha val="80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F8D1CEA-5453-B560-3280-3F20A1E53B96}"/>
              </a:ext>
            </a:extLst>
          </p:cNvPr>
          <p:cNvSpPr/>
          <p:nvPr/>
        </p:nvSpPr>
        <p:spPr>
          <a:xfrm>
            <a:off x="660400" y="939800"/>
            <a:ext cx="1168400" cy="508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平行四边形 5">
            <a:extLst>
              <a:ext uri="{FF2B5EF4-FFF2-40B4-BE49-F238E27FC236}">
                <a16:creationId xmlns:a16="http://schemas.microsoft.com/office/drawing/2014/main" id="{A7E3CA76-D894-ECCE-4FA0-7EE3A41E56BA}"/>
              </a:ext>
            </a:extLst>
          </p:cNvPr>
          <p:cNvSpPr/>
          <p:nvPr/>
        </p:nvSpPr>
        <p:spPr>
          <a:xfrm>
            <a:off x="-1143000" y="6350000"/>
            <a:ext cx="6604000" cy="584200"/>
          </a:xfrm>
          <a:prstGeom prst="parallelogram">
            <a:avLst>
              <a:gd name="adj" fmla="val 28000"/>
            </a:avLst>
          </a:prstGeom>
          <a:solidFill>
            <a:srgbClr val="E3F2F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8F60F2D-5E98-935A-2E43-2DA0D511E868}"/>
              </a:ext>
            </a:extLst>
          </p:cNvPr>
          <p:cNvSpPr txBox="1"/>
          <p:nvPr/>
        </p:nvSpPr>
        <p:spPr>
          <a:xfrm>
            <a:off x="736600" y="228600"/>
            <a:ext cx="4572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FAFCFF"/>
                </a:solidFill>
                <a:latin typeface="Microsoft YaHei" panose="020B0503020204020204" pitchFamily="34" charset="-122"/>
              </a:rPr>
              <a:t>SOFTWARE IMPLEMENTATION</a:t>
            </a:r>
            <a:endParaRPr lang="zh-CN" altLang="en-US" sz="700" b="1">
              <a:solidFill>
                <a:srgbClr val="FAFC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430FBE2-9149-9E20-13B8-544545FBA8A3}"/>
              </a:ext>
            </a:extLst>
          </p:cNvPr>
          <p:cNvSpPr txBox="1"/>
          <p:nvPr/>
        </p:nvSpPr>
        <p:spPr>
          <a:xfrm>
            <a:off x="736600" y="482600"/>
            <a:ext cx="8890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000" b="1">
                <a:solidFill>
                  <a:srgbClr val="FAFCFF"/>
                </a:solidFill>
                <a:latin typeface="Microsoft YaHei" panose="020B0503020204020204" pitchFamily="34" charset="-122"/>
              </a:rPr>
              <a:t>软件实现流程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0B7B5E7-5086-F3B6-EEB2-902FD01AFFD1}"/>
              </a:ext>
            </a:extLst>
          </p:cNvPr>
          <p:cNvSpPr txBox="1"/>
          <p:nvPr/>
        </p:nvSpPr>
        <p:spPr>
          <a:xfrm>
            <a:off x="685800" y="6489700"/>
            <a:ext cx="4572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6B7B8C"/>
                </a:solidFill>
                <a:latin typeface="Microsoft YaHei" panose="020B0503020204020204" pitchFamily="34" charset="-122"/>
              </a:rPr>
              <a:t>模式识别课程实验一 </a:t>
            </a:r>
            <a:r>
              <a:rPr lang="en-US" altLang="zh-CN" sz="700">
                <a:solidFill>
                  <a:srgbClr val="6B7B8C"/>
                </a:solidFill>
                <a:latin typeface="Microsoft YaHei" panose="020B0503020204020204" pitchFamily="34" charset="-122"/>
              </a:rPr>
              <a:t>· Bayes </a:t>
            </a:r>
            <a:r>
              <a:rPr lang="zh-CN" altLang="en-US" sz="700">
                <a:solidFill>
                  <a:srgbClr val="6B7B8C"/>
                </a:solidFill>
                <a:latin typeface="Microsoft YaHei" panose="020B0503020204020204" pitchFamily="34" charset="-122"/>
              </a:rPr>
              <a:t>性别分类器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4C12019-8377-C96C-E0CA-DD17EB620D5C}"/>
              </a:ext>
            </a:extLst>
          </p:cNvPr>
          <p:cNvSpPr txBox="1"/>
          <p:nvPr/>
        </p:nvSpPr>
        <p:spPr>
          <a:xfrm>
            <a:off x="11277600" y="6438900"/>
            <a:ext cx="4064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800" b="1">
                <a:solidFill>
                  <a:srgbClr val="006BB7"/>
                </a:solidFill>
                <a:latin typeface="Microsoft YaHei" panose="020B0503020204020204" pitchFamily="34" charset="-122"/>
              </a:rPr>
              <a:t>09</a:t>
            </a:r>
            <a:endParaRPr lang="zh-CN" altLang="en-US" sz="8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0B0A8B44-0B9F-6737-7D47-6DE31B28148E}"/>
              </a:ext>
            </a:extLst>
          </p:cNvPr>
          <p:cNvSpPr/>
          <p:nvPr/>
        </p:nvSpPr>
        <p:spPr>
          <a:xfrm>
            <a:off x="1079500" y="1460500"/>
            <a:ext cx="381000" cy="381000"/>
          </a:xfrm>
          <a:prstGeom prst="ellipse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4F42CF4-40EE-FB0B-01D8-25D2C42843FC}"/>
              </a:ext>
            </a:extLst>
          </p:cNvPr>
          <p:cNvSpPr txBox="1"/>
          <p:nvPr/>
        </p:nvSpPr>
        <p:spPr>
          <a:xfrm>
            <a:off x="1092200" y="1549400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800" b="1">
                <a:solidFill>
                  <a:srgbClr val="FAFCFF"/>
                </a:solidFill>
                <a:latin typeface="Microsoft YaHei" panose="020B0503020204020204" pitchFamily="34" charset="-122"/>
              </a:rPr>
              <a:t>1</a:t>
            </a:r>
            <a:endParaRPr lang="zh-CN" altLang="en-US" sz="800" b="1">
              <a:solidFill>
                <a:srgbClr val="FAFC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8926133-D75A-2D99-BE02-2EE53DC8D518}"/>
              </a:ext>
            </a:extLst>
          </p:cNvPr>
          <p:cNvSpPr txBox="1"/>
          <p:nvPr/>
        </p:nvSpPr>
        <p:spPr>
          <a:xfrm>
            <a:off x="1612900" y="1447800"/>
            <a:ext cx="3556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1A2E44"/>
                </a:solidFill>
                <a:latin typeface="Microsoft YaHei" panose="020B0503020204020204" pitchFamily="34" charset="-122"/>
              </a:rPr>
              <a:t>读取数据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5C3A1A7-2511-38EE-C380-0D430525A15A}"/>
              </a:ext>
            </a:extLst>
          </p:cNvPr>
          <p:cNvSpPr txBox="1"/>
          <p:nvPr/>
        </p:nvSpPr>
        <p:spPr>
          <a:xfrm>
            <a:off x="1612900" y="1714500"/>
            <a:ext cx="3556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333D4A"/>
                </a:solidFill>
                <a:latin typeface="Microsoft YaHei" panose="020B0503020204020204" pitchFamily="34" charset="-122"/>
              </a:rPr>
              <a:t>解析训练文件和测试文件，统一标签为 </a:t>
            </a:r>
            <a:r>
              <a:rPr lang="en-US" altLang="zh-CN" sz="800">
                <a:solidFill>
                  <a:srgbClr val="333D4A"/>
                </a:solidFill>
                <a:latin typeface="Microsoft YaHei" panose="020B0503020204020204" pitchFamily="34" charset="-122"/>
              </a:rPr>
              <a:t>F/M</a:t>
            </a:r>
            <a:r>
              <a:rPr lang="zh-CN" altLang="en-US" sz="800">
                <a:solidFill>
                  <a:srgbClr val="333D4A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2DE37606-935F-0524-FC33-5BC6D92A29D2}"/>
              </a:ext>
            </a:extLst>
          </p:cNvPr>
          <p:cNvSpPr/>
          <p:nvPr/>
        </p:nvSpPr>
        <p:spPr>
          <a:xfrm>
            <a:off x="1079500" y="2476500"/>
            <a:ext cx="381000" cy="381000"/>
          </a:xfrm>
          <a:prstGeom prst="ellipse">
            <a:avLst/>
          </a:prstGeom>
          <a:solidFill>
            <a:srgbClr val="3A9B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3482D86-B7FA-EAF7-62B4-28BE629ADC94}"/>
              </a:ext>
            </a:extLst>
          </p:cNvPr>
          <p:cNvSpPr txBox="1"/>
          <p:nvPr/>
        </p:nvSpPr>
        <p:spPr>
          <a:xfrm>
            <a:off x="1092200" y="2565400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800" b="1">
                <a:solidFill>
                  <a:srgbClr val="FAFCFF"/>
                </a:solidFill>
                <a:latin typeface="Microsoft YaHei" panose="020B0503020204020204" pitchFamily="34" charset="-122"/>
              </a:rPr>
              <a:t>2</a:t>
            </a:r>
            <a:endParaRPr lang="zh-CN" altLang="en-US" sz="800" b="1">
              <a:solidFill>
                <a:srgbClr val="FAFC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A0AFF0E-60C9-0F63-392C-F7602B4E3FC1}"/>
              </a:ext>
            </a:extLst>
          </p:cNvPr>
          <p:cNvSpPr txBox="1"/>
          <p:nvPr/>
        </p:nvSpPr>
        <p:spPr>
          <a:xfrm>
            <a:off x="1612900" y="2463800"/>
            <a:ext cx="3556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1A2E44"/>
                </a:solidFill>
                <a:latin typeface="Microsoft YaHei" panose="020B0503020204020204" pitchFamily="34" charset="-122"/>
              </a:rPr>
              <a:t>选择特征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CEFD269-1A84-DE4A-DC92-B923611C472E}"/>
              </a:ext>
            </a:extLst>
          </p:cNvPr>
          <p:cNvSpPr txBox="1"/>
          <p:nvPr/>
        </p:nvSpPr>
        <p:spPr>
          <a:xfrm>
            <a:off x="1612900" y="2730500"/>
            <a:ext cx="3556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333D4A"/>
                </a:solidFill>
                <a:latin typeface="Microsoft YaHei" panose="020B0503020204020204" pitchFamily="34" charset="-122"/>
              </a:rPr>
              <a:t>按实验选择身高、体重或二维特征。</a:t>
            </a: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BC635AEA-E62D-C7C0-FDC6-52DE309C48BA}"/>
              </a:ext>
            </a:extLst>
          </p:cNvPr>
          <p:cNvSpPr/>
          <p:nvPr/>
        </p:nvSpPr>
        <p:spPr>
          <a:xfrm>
            <a:off x="1079500" y="3492500"/>
            <a:ext cx="381000" cy="381000"/>
          </a:xfrm>
          <a:prstGeom prst="ellipse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6435AD6-D5B7-620D-E34B-69D04490205F}"/>
              </a:ext>
            </a:extLst>
          </p:cNvPr>
          <p:cNvSpPr txBox="1"/>
          <p:nvPr/>
        </p:nvSpPr>
        <p:spPr>
          <a:xfrm>
            <a:off x="1092200" y="3581400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800" b="1">
                <a:solidFill>
                  <a:srgbClr val="FAFCFF"/>
                </a:solidFill>
                <a:latin typeface="Microsoft YaHei" panose="020B0503020204020204" pitchFamily="34" charset="-122"/>
              </a:rPr>
              <a:t>3</a:t>
            </a:r>
            <a:endParaRPr lang="zh-CN" altLang="en-US" sz="800" b="1">
              <a:solidFill>
                <a:srgbClr val="FAFC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8B85FD5-E09C-1A1B-6B61-4D98F1C1DA84}"/>
              </a:ext>
            </a:extLst>
          </p:cNvPr>
          <p:cNvSpPr txBox="1"/>
          <p:nvPr/>
        </p:nvSpPr>
        <p:spPr>
          <a:xfrm>
            <a:off x="1612900" y="3479800"/>
            <a:ext cx="3556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1A2E44"/>
                </a:solidFill>
                <a:latin typeface="Microsoft YaHei" panose="020B0503020204020204" pitchFamily="34" charset="-122"/>
              </a:rPr>
              <a:t>训练模型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EC3F95B-AF9E-8185-6287-D23B05F3BF48}"/>
              </a:ext>
            </a:extLst>
          </p:cNvPr>
          <p:cNvSpPr txBox="1"/>
          <p:nvPr/>
        </p:nvSpPr>
        <p:spPr>
          <a:xfrm>
            <a:off x="1612900" y="3746500"/>
            <a:ext cx="3556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333D4A"/>
                </a:solidFill>
                <a:latin typeface="Microsoft YaHei" panose="020B0503020204020204" pitchFamily="34" charset="-122"/>
              </a:rPr>
              <a:t>估计均值、方差</a:t>
            </a:r>
            <a:r>
              <a:rPr lang="en-US" altLang="zh-CN" sz="800">
                <a:solidFill>
                  <a:srgbClr val="333D4A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800">
                <a:solidFill>
                  <a:srgbClr val="333D4A"/>
                </a:solidFill>
                <a:latin typeface="Microsoft YaHei" panose="020B0503020204020204" pitchFamily="34" charset="-122"/>
              </a:rPr>
              <a:t>协方差，或保存非参数样本。</a:t>
            </a:r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937D22A4-6C46-BCA5-7A07-C5C38A9E98A5}"/>
              </a:ext>
            </a:extLst>
          </p:cNvPr>
          <p:cNvSpPr/>
          <p:nvPr/>
        </p:nvSpPr>
        <p:spPr>
          <a:xfrm>
            <a:off x="6604000" y="1460500"/>
            <a:ext cx="381000" cy="381000"/>
          </a:xfrm>
          <a:prstGeom prst="ellipse">
            <a:avLst/>
          </a:prstGeom>
          <a:solidFill>
            <a:srgbClr val="EA580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FD0AEE7-69D1-B015-A260-330EA8C66C24}"/>
              </a:ext>
            </a:extLst>
          </p:cNvPr>
          <p:cNvSpPr txBox="1"/>
          <p:nvPr/>
        </p:nvSpPr>
        <p:spPr>
          <a:xfrm>
            <a:off x="6616700" y="1549400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800" b="1">
                <a:solidFill>
                  <a:srgbClr val="FAFCFF"/>
                </a:solidFill>
                <a:latin typeface="Microsoft YaHei" panose="020B0503020204020204" pitchFamily="34" charset="-122"/>
              </a:rPr>
              <a:t>4</a:t>
            </a:r>
            <a:endParaRPr lang="zh-CN" altLang="en-US" sz="800" b="1">
              <a:solidFill>
                <a:srgbClr val="FAFC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BA28344A-CD3F-7510-BBE7-8F16F3EF29B8}"/>
              </a:ext>
            </a:extLst>
          </p:cNvPr>
          <p:cNvSpPr txBox="1"/>
          <p:nvPr/>
        </p:nvSpPr>
        <p:spPr>
          <a:xfrm>
            <a:off x="7137400" y="1447800"/>
            <a:ext cx="3556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1A2E44"/>
                </a:solidFill>
                <a:latin typeface="Microsoft YaHei" panose="020B0503020204020204" pitchFamily="34" charset="-122"/>
              </a:rPr>
              <a:t>进行预测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E3B9D0CA-0D7A-F2AF-441D-A5841FCF064B}"/>
              </a:ext>
            </a:extLst>
          </p:cNvPr>
          <p:cNvSpPr txBox="1"/>
          <p:nvPr/>
        </p:nvSpPr>
        <p:spPr>
          <a:xfrm>
            <a:off x="7137400" y="1714500"/>
            <a:ext cx="3556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333D4A"/>
                </a:solidFill>
                <a:latin typeface="Microsoft YaHei" panose="020B0503020204020204" pitchFamily="34" charset="-122"/>
              </a:rPr>
              <a:t>计算判别函数、风险函数或近邻投票。</a:t>
            </a:r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6ADE540B-E3E2-735E-5E9C-11CEA2C1949B}"/>
              </a:ext>
            </a:extLst>
          </p:cNvPr>
          <p:cNvSpPr/>
          <p:nvPr/>
        </p:nvSpPr>
        <p:spPr>
          <a:xfrm>
            <a:off x="6604000" y="2476500"/>
            <a:ext cx="381000" cy="381000"/>
          </a:xfrm>
          <a:prstGeom prst="ellipse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7EE989C2-46F6-2C3F-4876-7327992C3576}"/>
              </a:ext>
            </a:extLst>
          </p:cNvPr>
          <p:cNvSpPr txBox="1"/>
          <p:nvPr/>
        </p:nvSpPr>
        <p:spPr>
          <a:xfrm>
            <a:off x="6616700" y="2565400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800" b="1">
                <a:solidFill>
                  <a:srgbClr val="FAFCFF"/>
                </a:solidFill>
                <a:latin typeface="Microsoft YaHei" panose="020B0503020204020204" pitchFamily="34" charset="-122"/>
              </a:rPr>
              <a:t>5</a:t>
            </a:r>
            <a:endParaRPr lang="zh-CN" altLang="en-US" sz="800" b="1">
              <a:solidFill>
                <a:srgbClr val="FAFC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287C21CB-3521-33CC-925A-546DE3AB4EFA}"/>
              </a:ext>
            </a:extLst>
          </p:cNvPr>
          <p:cNvSpPr txBox="1"/>
          <p:nvPr/>
        </p:nvSpPr>
        <p:spPr>
          <a:xfrm>
            <a:off x="7137400" y="2463800"/>
            <a:ext cx="3556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1A2E44"/>
                </a:solidFill>
                <a:latin typeface="Microsoft YaHei" panose="020B0503020204020204" pitchFamily="34" charset="-122"/>
              </a:rPr>
              <a:t>评价性能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2D7D04F0-75E6-8C34-4A31-3343A3245D40}"/>
              </a:ext>
            </a:extLst>
          </p:cNvPr>
          <p:cNvSpPr txBox="1"/>
          <p:nvPr/>
        </p:nvSpPr>
        <p:spPr>
          <a:xfrm>
            <a:off x="7137400" y="2730500"/>
            <a:ext cx="3556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333D4A"/>
                </a:solidFill>
                <a:latin typeface="Microsoft YaHei" panose="020B0503020204020204" pitchFamily="34" charset="-122"/>
              </a:rPr>
              <a:t>输出 </a:t>
            </a:r>
            <a:r>
              <a:rPr lang="en-US" altLang="zh-CN" sz="800">
                <a:solidFill>
                  <a:srgbClr val="333D4A"/>
                </a:solidFill>
                <a:latin typeface="Microsoft YaHei" panose="020B0503020204020204" pitchFamily="34" charset="-122"/>
              </a:rPr>
              <a:t>accuracy</a:t>
            </a:r>
            <a:r>
              <a:rPr lang="zh-CN" altLang="en-US" sz="800">
                <a:solidFill>
                  <a:srgbClr val="333D4A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800">
                <a:solidFill>
                  <a:srgbClr val="333D4A"/>
                </a:solidFill>
                <a:latin typeface="Microsoft YaHei" panose="020B0503020204020204" pitchFamily="34" charset="-122"/>
              </a:rPr>
              <a:t>precision</a:t>
            </a:r>
            <a:r>
              <a:rPr lang="zh-CN" altLang="en-US" sz="800">
                <a:solidFill>
                  <a:srgbClr val="333D4A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800">
                <a:solidFill>
                  <a:srgbClr val="333D4A"/>
                </a:solidFill>
                <a:latin typeface="Microsoft YaHei" panose="020B0503020204020204" pitchFamily="34" charset="-122"/>
              </a:rPr>
              <a:t>recall</a:t>
            </a:r>
            <a:r>
              <a:rPr lang="zh-CN" altLang="en-US" sz="800">
                <a:solidFill>
                  <a:srgbClr val="333D4A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800">
                <a:solidFill>
                  <a:srgbClr val="333D4A"/>
                </a:solidFill>
                <a:latin typeface="Microsoft YaHei" panose="020B0503020204020204" pitchFamily="34" charset="-122"/>
              </a:rPr>
              <a:t>confusion matrix</a:t>
            </a:r>
            <a:r>
              <a:rPr lang="zh-CN" altLang="en-US" sz="800">
                <a:solidFill>
                  <a:srgbClr val="333D4A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50FD475B-40B5-19B7-81AA-C6475084CCD2}"/>
              </a:ext>
            </a:extLst>
          </p:cNvPr>
          <p:cNvSpPr/>
          <p:nvPr/>
        </p:nvSpPr>
        <p:spPr>
          <a:xfrm>
            <a:off x="6604000" y="3492500"/>
            <a:ext cx="381000" cy="381000"/>
          </a:xfrm>
          <a:prstGeom prst="ellipse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C6C64744-6C23-09D6-9692-2F700C89F64F}"/>
              </a:ext>
            </a:extLst>
          </p:cNvPr>
          <p:cNvSpPr txBox="1"/>
          <p:nvPr/>
        </p:nvSpPr>
        <p:spPr>
          <a:xfrm>
            <a:off x="6616700" y="3581400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800" b="1">
                <a:solidFill>
                  <a:srgbClr val="FAFCFF"/>
                </a:solidFill>
                <a:latin typeface="Microsoft YaHei" panose="020B0503020204020204" pitchFamily="34" charset="-122"/>
              </a:rPr>
              <a:t>6</a:t>
            </a:r>
            <a:endParaRPr lang="zh-CN" altLang="en-US" sz="800" b="1">
              <a:solidFill>
                <a:srgbClr val="FAFC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229D7BE9-F098-09AD-D1C4-DC625DD07972}"/>
              </a:ext>
            </a:extLst>
          </p:cNvPr>
          <p:cNvSpPr txBox="1"/>
          <p:nvPr/>
        </p:nvSpPr>
        <p:spPr>
          <a:xfrm>
            <a:off x="7137400" y="3479800"/>
            <a:ext cx="3556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1A2E44"/>
                </a:solidFill>
                <a:latin typeface="Microsoft YaHei" panose="020B0503020204020204" pitchFamily="34" charset="-122"/>
              </a:rPr>
              <a:t>生成图表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AFC84532-470F-5EBE-B3E8-0A5BABF0A736}"/>
              </a:ext>
            </a:extLst>
          </p:cNvPr>
          <p:cNvSpPr txBox="1"/>
          <p:nvPr/>
        </p:nvSpPr>
        <p:spPr>
          <a:xfrm>
            <a:off x="7137400" y="3746500"/>
            <a:ext cx="3556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333D4A"/>
                </a:solidFill>
                <a:latin typeface="Microsoft YaHei" panose="020B0503020204020204" pitchFamily="34" charset="-122"/>
              </a:rPr>
              <a:t>绘制散点图、决策边界和混淆矩阵。</a:t>
            </a: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953D833C-F71B-3C5F-097D-32A3AAD0DF05}"/>
              </a:ext>
            </a:extLst>
          </p:cNvPr>
          <p:cNvSpPr/>
          <p:nvPr/>
        </p:nvSpPr>
        <p:spPr>
          <a:xfrm>
            <a:off x="2286000" y="4978400"/>
            <a:ext cx="7620000" cy="736600"/>
          </a:xfrm>
          <a:prstGeom prst="roundRect">
            <a:avLst/>
          </a:prstGeom>
          <a:solidFill>
            <a:srgbClr val="FAFCFF"/>
          </a:solidFill>
          <a:ln w="10160">
            <a:solidFill>
              <a:srgbClr val="C9DD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235BE6C-44BC-4A78-2147-BEF967216585}"/>
              </a:ext>
            </a:extLst>
          </p:cNvPr>
          <p:cNvSpPr/>
          <p:nvPr/>
        </p:nvSpPr>
        <p:spPr>
          <a:xfrm>
            <a:off x="2286000" y="4978400"/>
            <a:ext cx="63500" cy="7366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113297E8-C803-9DB6-33DD-B09AE6E8D8D7}"/>
              </a:ext>
            </a:extLst>
          </p:cNvPr>
          <p:cNvSpPr txBox="1"/>
          <p:nvPr/>
        </p:nvSpPr>
        <p:spPr>
          <a:xfrm>
            <a:off x="2489200" y="5105400"/>
            <a:ext cx="72898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1A2E44"/>
                </a:solidFill>
                <a:latin typeface="Microsoft YaHei" panose="020B0503020204020204" pitchFamily="34" charset="-122"/>
              </a:rPr>
              <a:t>对应脚本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EDD1AEDC-43F2-37D5-A9F6-1332119D8358}"/>
              </a:ext>
            </a:extLst>
          </p:cNvPr>
          <p:cNvSpPr txBox="1"/>
          <p:nvPr/>
        </p:nvSpPr>
        <p:spPr>
          <a:xfrm>
            <a:off x="2489200" y="5410200"/>
            <a:ext cx="72898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00">
                <a:solidFill>
                  <a:srgbClr val="333D4A"/>
                </a:solidFill>
                <a:latin typeface="Microsoft YaHei" panose="020B0503020204020204" pitchFamily="34" charset="-122"/>
              </a:rPr>
              <a:t>scripts/experiment1_bayes.py</a:t>
            </a:r>
            <a:r>
              <a:rPr lang="zh-CN" altLang="en-US" sz="800">
                <a:solidFill>
                  <a:srgbClr val="333D4A"/>
                </a:solidFill>
                <a:latin typeface="Microsoft YaHei" panose="020B0503020204020204" pitchFamily="34" charset="-122"/>
              </a:rPr>
              <a:t>：包含 </a:t>
            </a:r>
            <a:r>
              <a:rPr lang="en-US" altLang="zh-CN" sz="800">
                <a:solidFill>
                  <a:srgbClr val="333D4A"/>
                </a:solidFill>
                <a:latin typeface="Microsoft YaHei" panose="020B0503020204020204" pitchFamily="34" charset="-122"/>
              </a:rPr>
              <a:t>fit_gaussian</a:t>
            </a:r>
            <a:r>
              <a:rPr lang="zh-CN" altLang="en-US" sz="800">
                <a:solidFill>
                  <a:srgbClr val="333D4A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800">
                <a:solidFill>
                  <a:srgbClr val="333D4A"/>
                </a:solidFill>
                <a:latin typeface="Microsoft YaHei" panose="020B0503020204020204" pitchFamily="34" charset="-122"/>
              </a:rPr>
              <a:t>predict_gaussian</a:t>
            </a:r>
            <a:r>
              <a:rPr lang="zh-CN" altLang="en-US" sz="800">
                <a:solidFill>
                  <a:srgbClr val="333D4A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800">
                <a:solidFill>
                  <a:srgbClr val="333D4A"/>
                </a:solidFill>
                <a:latin typeface="Microsoft YaHei" panose="020B0503020204020204" pitchFamily="34" charset="-122"/>
              </a:rPr>
              <a:t>predict_min_risk</a:t>
            </a:r>
            <a:r>
              <a:rPr lang="zh-CN" altLang="en-US" sz="800">
                <a:solidFill>
                  <a:srgbClr val="333D4A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800">
                <a:solidFill>
                  <a:srgbClr val="333D4A"/>
                </a:solidFill>
                <a:latin typeface="Microsoft YaHei" panose="020B0503020204020204" pitchFamily="34" charset="-122"/>
              </a:rPr>
              <a:t>predict_parzen</a:t>
            </a:r>
            <a:r>
              <a:rPr lang="zh-CN" altLang="en-US" sz="800">
                <a:solidFill>
                  <a:srgbClr val="333D4A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800">
                <a:solidFill>
                  <a:srgbClr val="333D4A"/>
                </a:solidFill>
                <a:latin typeface="Microsoft YaHei" panose="020B0503020204020204" pitchFamily="34" charset="-122"/>
              </a:rPr>
              <a:t>predict_knn </a:t>
            </a:r>
            <a:r>
              <a:rPr lang="zh-CN" altLang="en-US" sz="800">
                <a:solidFill>
                  <a:srgbClr val="333D4A"/>
                </a:solidFill>
                <a:latin typeface="Microsoft YaHei" panose="020B0503020204020204" pitchFamily="34" charset="-122"/>
              </a:rPr>
              <a:t>等核心函数。</a:t>
            </a:r>
          </a:p>
        </p:txBody>
      </p:sp>
    </p:spTree>
    <p:extLst>
      <p:ext uri="{BB962C8B-B14F-4D97-AF65-F5344CB8AC3E}">
        <p14:creationId xmlns:p14="http://schemas.microsoft.com/office/powerpoint/2010/main" val="2698897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ACAE702-3FC9-031B-7282-9D57B3E14FF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平行四边形 2">
            <a:extLst>
              <a:ext uri="{FF2B5EF4-FFF2-40B4-BE49-F238E27FC236}">
                <a16:creationId xmlns:a16="http://schemas.microsoft.com/office/drawing/2014/main" id="{7197ED8F-A387-EACD-4214-862395D4ECAF}"/>
              </a:ext>
            </a:extLst>
          </p:cNvPr>
          <p:cNvSpPr/>
          <p:nvPr/>
        </p:nvSpPr>
        <p:spPr>
          <a:xfrm>
            <a:off x="-317500" y="-279400"/>
            <a:ext cx="13208000" cy="1041400"/>
          </a:xfrm>
          <a:prstGeom prst="parallelogram">
            <a:avLst>
              <a:gd name="adj" fmla="val 16000"/>
            </a:avLst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7C24DF2B-5661-A8D3-3F2C-6DDF5D3BC40A}"/>
              </a:ext>
            </a:extLst>
          </p:cNvPr>
          <p:cNvSpPr/>
          <p:nvPr/>
        </p:nvSpPr>
        <p:spPr>
          <a:xfrm>
            <a:off x="8953500" y="-101600"/>
            <a:ext cx="3937000" cy="939800"/>
          </a:xfrm>
          <a:prstGeom prst="parallelogram">
            <a:avLst/>
          </a:prstGeom>
          <a:solidFill>
            <a:srgbClr val="3A9BD9">
              <a:alpha val="80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E867391-C2B2-B74B-FF60-653BD414A2E4}"/>
              </a:ext>
            </a:extLst>
          </p:cNvPr>
          <p:cNvSpPr/>
          <p:nvPr/>
        </p:nvSpPr>
        <p:spPr>
          <a:xfrm>
            <a:off x="660400" y="939800"/>
            <a:ext cx="1168400" cy="508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平行四边形 5">
            <a:extLst>
              <a:ext uri="{FF2B5EF4-FFF2-40B4-BE49-F238E27FC236}">
                <a16:creationId xmlns:a16="http://schemas.microsoft.com/office/drawing/2014/main" id="{D57DB07C-7DB1-7734-3ABF-F82D8D83C20C}"/>
              </a:ext>
            </a:extLst>
          </p:cNvPr>
          <p:cNvSpPr/>
          <p:nvPr/>
        </p:nvSpPr>
        <p:spPr>
          <a:xfrm>
            <a:off x="-1143000" y="6350000"/>
            <a:ext cx="6604000" cy="584200"/>
          </a:xfrm>
          <a:prstGeom prst="parallelogram">
            <a:avLst>
              <a:gd name="adj" fmla="val 28000"/>
            </a:avLst>
          </a:prstGeom>
          <a:solidFill>
            <a:srgbClr val="E3F2F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1DB8D57-0A0F-034C-61B6-7773A846D557}"/>
              </a:ext>
            </a:extLst>
          </p:cNvPr>
          <p:cNvSpPr txBox="1"/>
          <p:nvPr/>
        </p:nvSpPr>
        <p:spPr>
          <a:xfrm>
            <a:off x="736600" y="228600"/>
            <a:ext cx="4572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FAFCFF"/>
                </a:solidFill>
                <a:latin typeface="Microsoft YaHei" panose="020B0503020204020204" pitchFamily="34" charset="-122"/>
              </a:rPr>
              <a:t>EVALUATION</a:t>
            </a:r>
            <a:endParaRPr lang="zh-CN" altLang="en-US" sz="700" b="1">
              <a:solidFill>
                <a:srgbClr val="FAFC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F196D9F-1615-B57A-861F-08B7FE61A2AA}"/>
              </a:ext>
            </a:extLst>
          </p:cNvPr>
          <p:cNvSpPr txBox="1"/>
          <p:nvPr/>
        </p:nvSpPr>
        <p:spPr>
          <a:xfrm>
            <a:off x="736600" y="482600"/>
            <a:ext cx="8890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000" b="1">
                <a:solidFill>
                  <a:srgbClr val="FAFCFF"/>
                </a:solidFill>
                <a:latin typeface="Microsoft YaHei" panose="020B0503020204020204" pitchFamily="34" charset="-122"/>
              </a:rPr>
              <a:t>评价指标：不仅看准确率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B324987-B58D-68B0-EE2B-A790DD3136EE}"/>
              </a:ext>
            </a:extLst>
          </p:cNvPr>
          <p:cNvSpPr txBox="1"/>
          <p:nvPr/>
        </p:nvSpPr>
        <p:spPr>
          <a:xfrm>
            <a:off x="685800" y="6489700"/>
            <a:ext cx="4572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6B7B8C"/>
                </a:solidFill>
                <a:latin typeface="Microsoft YaHei" panose="020B0503020204020204" pitchFamily="34" charset="-122"/>
              </a:rPr>
              <a:t>模式识别课程实验一 </a:t>
            </a:r>
            <a:r>
              <a:rPr lang="en-US" altLang="zh-CN" sz="700">
                <a:solidFill>
                  <a:srgbClr val="6B7B8C"/>
                </a:solidFill>
                <a:latin typeface="Microsoft YaHei" panose="020B0503020204020204" pitchFamily="34" charset="-122"/>
              </a:rPr>
              <a:t>· Bayes </a:t>
            </a:r>
            <a:r>
              <a:rPr lang="zh-CN" altLang="en-US" sz="700">
                <a:solidFill>
                  <a:srgbClr val="6B7B8C"/>
                </a:solidFill>
                <a:latin typeface="Microsoft YaHei" panose="020B0503020204020204" pitchFamily="34" charset="-122"/>
              </a:rPr>
              <a:t>性别分类器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CE7327-F92D-234D-DAC6-F3E895F78C71}"/>
              </a:ext>
            </a:extLst>
          </p:cNvPr>
          <p:cNvSpPr txBox="1"/>
          <p:nvPr/>
        </p:nvSpPr>
        <p:spPr>
          <a:xfrm>
            <a:off x="11277600" y="6438900"/>
            <a:ext cx="4064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800" b="1">
                <a:solidFill>
                  <a:srgbClr val="006BB7"/>
                </a:solidFill>
                <a:latin typeface="Microsoft YaHei" panose="020B0503020204020204" pitchFamily="34" charset="-122"/>
              </a:rPr>
              <a:t>10</a:t>
            </a:r>
            <a:endParaRPr lang="zh-CN" altLang="en-US" sz="8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ED513324-5A6E-612A-33CE-D0C410AC061C}"/>
              </a:ext>
            </a:extLst>
          </p:cNvPr>
          <p:cNvSpPr/>
          <p:nvPr/>
        </p:nvSpPr>
        <p:spPr>
          <a:xfrm>
            <a:off x="889000" y="1524000"/>
            <a:ext cx="3175000" cy="1066800"/>
          </a:xfrm>
          <a:prstGeom prst="roundRect">
            <a:avLst/>
          </a:prstGeom>
          <a:solidFill>
            <a:srgbClr val="FAFCFF"/>
          </a:solidFill>
          <a:ln w="10160">
            <a:solidFill>
              <a:srgbClr val="C9DD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E51E8AB-61D3-E5E1-6588-79E2F79DC110}"/>
              </a:ext>
            </a:extLst>
          </p:cNvPr>
          <p:cNvSpPr/>
          <p:nvPr/>
        </p:nvSpPr>
        <p:spPr>
          <a:xfrm>
            <a:off x="889000" y="1524000"/>
            <a:ext cx="63500" cy="10668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F981915-7667-03EC-5201-4FE961A856DA}"/>
              </a:ext>
            </a:extLst>
          </p:cNvPr>
          <p:cNvSpPr txBox="1"/>
          <p:nvPr/>
        </p:nvSpPr>
        <p:spPr>
          <a:xfrm>
            <a:off x="1092200" y="1651000"/>
            <a:ext cx="28448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1A2E44"/>
                </a:solidFill>
                <a:latin typeface="Microsoft YaHei" panose="020B0503020204020204" pitchFamily="34" charset="-122"/>
              </a:rPr>
              <a:t>Accuracy</a:t>
            </a:r>
            <a:endParaRPr lang="zh-CN" altLang="en-US" sz="1000" b="1">
              <a:solidFill>
                <a:srgbClr val="1A2E4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92F51D3-7F12-E231-BF5D-49E462EA3382}"/>
              </a:ext>
            </a:extLst>
          </p:cNvPr>
          <p:cNvSpPr txBox="1"/>
          <p:nvPr/>
        </p:nvSpPr>
        <p:spPr>
          <a:xfrm>
            <a:off x="1092200" y="1955800"/>
            <a:ext cx="28448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333D4A"/>
                </a:solidFill>
                <a:latin typeface="Microsoft YaHei" panose="020B0503020204020204" pitchFamily="34" charset="-122"/>
              </a:rPr>
              <a:t>预测正确样本数 </a:t>
            </a:r>
            <a:r>
              <a:rPr lang="en-US" altLang="zh-CN" sz="800">
                <a:solidFill>
                  <a:srgbClr val="333D4A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800">
                <a:solidFill>
                  <a:srgbClr val="333D4A"/>
                </a:solidFill>
                <a:latin typeface="Microsoft YaHei" panose="020B0503020204020204" pitchFamily="34" charset="-122"/>
              </a:rPr>
              <a:t>总样本数，用于整体性能比较。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B7567A8B-A353-CD74-823E-CED7D83611DF}"/>
              </a:ext>
            </a:extLst>
          </p:cNvPr>
          <p:cNvSpPr/>
          <p:nvPr/>
        </p:nvSpPr>
        <p:spPr>
          <a:xfrm>
            <a:off x="4508500" y="1524000"/>
            <a:ext cx="3175000" cy="1066800"/>
          </a:xfrm>
          <a:prstGeom prst="roundRect">
            <a:avLst/>
          </a:prstGeom>
          <a:solidFill>
            <a:srgbClr val="FAFCFF"/>
          </a:solidFill>
          <a:ln w="10160">
            <a:solidFill>
              <a:srgbClr val="C9DD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ECDE80C-DA4B-E561-E932-12ABAE52D34E}"/>
              </a:ext>
            </a:extLst>
          </p:cNvPr>
          <p:cNvSpPr/>
          <p:nvPr/>
        </p:nvSpPr>
        <p:spPr>
          <a:xfrm>
            <a:off x="4508500" y="1524000"/>
            <a:ext cx="63500" cy="1066800"/>
          </a:xfrm>
          <a:prstGeom prst="rect">
            <a:avLst/>
          </a:prstGeom>
          <a:solidFill>
            <a:srgbClr val="3A9B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248245C-4030-B2BE-BC44-5B3DE8820D90}"/>
              </a:ext>
            </a:extLst>
          </p:cNvPr>
          <p:cNvSpPr txBox="1"/>
          <p:nvPr/>
        </p:nvSpPr>
        <p:spPr>
          <a:xfrm>
            <a:off x="4711700" y="1651000"/>
            <a:ext cx="28448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1A2E44"/>
                </a:solidFill>
                <a:latin typeface="Microsoft YaHei" panose="020B0503020204020204" pitchFamily="34" charset="-122"/>
              </a:rPr>
              <a:t>Precision</a:t>
            </a:r>
            <a:endParaRPr lang="zh-CN" altLang="en-US" sz="1000" b="1">
              <a:solidFill>
                <a:srgbClr val="1A2E4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F5E5A1F-615B-0BAF-2FF3-83BA0A08E3B6}"/>
              </a:ext>
            </a:extLst>
          </p:cNvPr>
          <p:cNvSpPr txBox="1"/>
          <p:nvPr/>
        </p:nvSpPr>
        <p:spPr>
          <a:xfrm>
            <a:off x="4711700" y="1955800"/>
            <a:ext cx="28448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333D4A"/>
                </a:solidFill>
                <a:latin typeface="Microsoft YaHei" panose="020B0503020204020204" pitchFamily="34" charset="-122"/>
              </a:rPr>
              <a:t>预测为某类的样本中，真正属于该类的比例。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33518E53-A0E5-3A08-C9EA-F38EDA663FC2}"/>
              </a:ext>
            </a:extLst>
          </p:cNvPr>
          <p:cNvSpPr/>
          <p:nvPr/>
        </p:nvSpPr>
        <p:spPr>
          <a:xfrm>
            <a:off x="8128000" y="1524000"/>
            <a:ext cx="2921000" cy="1066800"/>
          </a:xfrm>
          <a:prstGeom prst="roundRect">
            <a:avLst/>
          </a:prstGeom>
          <a:solidFill>
            <a:srgbClr val="FAFCFF"/>
          </a:solidFill>
          <a:ln w="10160">
            <a:solidFill>
              <a:srgbClr val="C9DD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DAFB399-F739-1A35-3935-89AB46E6261E}"/>
              </a:ext>
            </a:extLst>
          </p:cNvPr>
          <p:cNvSpPr/>
          <p:nvPr/>
        </p:nvSpPr>
        <p:spPr>
          <a:xfrm>
            <a:off x="8128000" y="1524000"/>
            <a:ext cx="63500" cy="10668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8583C81-AC4D-7C77-6196-7269D5276EE3}"/>
              </a:ext>
            </a:extLst>
          </p:cNvPr>
          <p:cNvSpPr txBox="1"/>
          <p:nvPr/>
        </p:nvSpPr>
        <p:spPr>
          <a:xfrm>
            <a:off x="8331200" y="1651000"/>
            <a:ext cx="25908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1A2E44"/>
                </a:solidFill>
                <a:latin typeface="Microsoft YaHei" panose="020B0503020204020204" pitchFamily="34" charset="-122"/>
              </a:rPr>
              <a:t>Recall</a:t>
            </a:r>
            <a:endParaRPr lang="zh-CN" altLang="en-US" sz="1000" b="1">
              <a:solidFill>
                <a:srgbClr val="1A2E4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2A4A7BC-55DF-A089-5048-1CB41025B1D0}"/>
              </a:ext>
            </a:extLst>
          </p:cNvPr>
          <p:cNvSpPr txBox="1"/>
          <p:nvPr/>
        </p:nvSpPr>
        <p:spPr>
          <a:xfrm>
            <a:off x="8331200" y="1955800"/>
            <a:ext cx="25908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333D4A"/>
                </a:solidFill>
                <a:latin typeface="Microsoft YaHei" panose="020B0503020204020204" pitchFamily="34" charset="-122"/>
              </a:rPr>
              <a:t>真实属于某类的样本中，被正确找出的比例。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3B8BB6C2-6FF4-BA39-EE4F-22B06AEB78C6}"/>
              </a:ext>
            </a:extLst>
          </p:cNvPr>
          <p:cNvSpPr/>
          <p:nvPr/>
        </p:nvSpPr>
        <p:spPr>
          <a:xfrm>
            <a:off x="1422400" y="3581400"/>
            <a:ext cx="9347200" cy="1270000"/>
          </a:xfrm>
          <a:prstGeom prst="roundRect">
            <a:avLst/>
          </a:prstGeom>
          <a:solidFill>
            <a:srgbClr val="E3F2FD"/>
          </a:solidFill>
          <a:ln w="10160">
            <a:solidFill>
              <a:srgbClr val="B6DD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ABABB5D-1F71-6EF6-CC4A-7EFD30BB5BE2}"/>
              </a:ext>
            </a:extLst>
          </p:cNvPr>
          <p:cNvSpPr txBox="1"/>
          <p:nvPr/>
        </p:nvSpPr>
        <p:spPr>
          <a:xfrm>
            <a:off x="1905000" y="4038600"/>
            <a:ext cx="8382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300" b="1">
                <a:solidFill>
                  <a:srgbClr val="004A82"/>
                </a:solidFill>
                <a:latin typeface="Microsoft YaHei" panose="020B0503020204020204" pitchFamily="34" charset="-122"/>
              </a:rPr>
              <a:t>混淆矩阵用于观察女生判错为男生、男生判错为女生的具体数量；比单一准确率更能解释错误类型。</a:t>
            </a:r>
          </a:p>
        </p:txBody>
      </p:sp>
    </p:spTree>
    <p:extLst>
      <p:ext uri="{BB962C8B-B14F-4D97-AF65-F5344CB8AC3E}">
        <p14:creationId xmlns:p14="http://schemas.microsoft.com/office/powerpoint/2010/main" val="19338669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01CC73F-74FA-17A3-1B16-CF50C14C540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A8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平行四边形 2">
            <a:extLst>
              <a:ext uri="{FF2B5EF4-FFF2-40B4-BE49-F238E27FC236}">
                <a16:creationId xmlns:a16="http://schemas.microsoft.com/office/drawing/2014/main" id="{065EB747-9225-A5B8-AA96-B6C50653C2D4}"/>
              </a:ext>
            </a:extLst>
          </p:cNvPr>
          <p:cNvSpPr/>
          <p:nvPr/>
        </p:nvSpPr>
        <p:spPr>
          <a:xfrm>
            <a:off x="7429500" y="-254000"/>
            <a:ext cx="5461000" cy="2032000"/>
          </a:xfrm>
          <a:prstGeom prst="parallelogram">
            <a:avLst>
              <a:gd name="adj" fmla="val 22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6634D7C-60DA-C49F-F666-1ED8B938CD80}"/>
              </a:ext>
            </a:extLst>
          </p:cNvPr>
          <p:cNvSpPr txBox="1"/>
          <p:nvPr/>
        </p:nvSpPr>
        <p:spPr>
          <a:xfrm>
            <a:off x="889000" y="1206500"/>
            <a:ext cx="1651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200" b="1">
                <a:solidFill>
                  <a:srgbClr val="D4A84B"/>
                </a:solidFill>
                <a:latin typeface="Microsoft YaHei" panose="020B0503020204020204" pitchFamily="34" charset="-122"/>
              </a:rPr>
              <a:t>03</a:t>
            </a:r>
            <a:endParaRPr lang="zh-CN" altLang="en-US" sz="2200" b="1">
              <a:solidFill>
                <a:srgbClr val="D4A84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D07CB06-D97A-7D34-5A4B-71108D3BBA9D}"/>
              </a:ext>
            </a:extLst>
          </p:cNvPr>
          <p:cNvSpPr txBox="1"/>
          <p:nvPr/>
        </p:nvSpPr>
        <p:spPr>
          <a:xfrm>
            <a:off x="889000" y="2095500"/>
            <a:ext cx="8636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3000" b="1">
                <a:solidFill>
                  <a:srgbClr val="FAFCFF"/>
                </a:solidFill>
                <a:latin typeface="Microsoft YaHei" panose="020B0503020204020204" pitchFamily="34" charset="-122"/>
              </a:rPr>
              <a:t>实验结果与分析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0635353-6996-21E2-B794-269B620D5F6D}"/>
              </a:ext>
            </a:extLst>
          </p:cNvPr>
          <p:cNvSpPr txBox="1"/>
          <p:nvPr/>
        </p:nvSpPr>
        <p:spPr>
          <a:xfrm>
            <a:off x="939800" y="2997200"/>
            <a:ext cx="8636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300">
                <a:solidFill>
                  <a:srgbClr val="D9ECFF"/>
                </a:solidFill>
                <a:latin typeface="Microsoft YaHei" panose="020B0503020204020204" pitchFamily="34" charset="-122"/>
              </a:rPr>
              <a:t>参数估计、图表结果、分类性能和现象解释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10A08C28-4F90-0FB5-44BA-C68BA75CCBDD}"/>
              </a:ext>
            </a:extLst>
          </p:cNvPr>
          <p:cNvCxnSpPr/>
          <p:nvPr/>
        </p:nvCxnSpPr>
        <p:spPr>
          <a:xfrm>
            <a:off x="939800" y="3810000"/>
            <a:ext cx="2235200" cy="0"/>
          </a:xfrm>
          <a:prstGeom prst="line">
            <a:avLst/>
          </a:prstGeom>
          <a:ln w="508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59745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835E18B-7609-6EB4-30D3-88F0158A324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平行四边形 2">
            <a:extLst>
              <a:ext uri="{FF2B5EF4-FFF2-40B4-BE49-F238E27FC236}">
                <a16:creationId xmlns:a16="http://schemas.microsoft.com/office/drawing/2014/main" id="{E8221CD8-7A3A-F49B-B97F-249E9663716C}"/>
              </a:ext>
            </a:extLst>
          </p:cNvPr>
          <p:cNvSpPr/>
          <p:nvPr/>
        </p:nvSpPr>
        <p:spPr>
          <a:xfrm>
            <a:off x="-317500" y="-279400"/>
            <a:ext cx="13208000" cy="1041400"/>
          </a:xfrm>
          <a:prstGeom prst="parallelogram">
            <a:avLst>
              <a:gd name="adj" fmla="val 16000"/>
            </a:avLst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91DEB5B9-1E54-7787-E11F-38CAF04F1073}"/>
              </a:ext>
            </a:extLst>
          </p:cNvPr>
          <p:cNvSpPr/>
          <p:nvPr/>
        </p:nvSpPr>
        <p:spPr>
          <a:xfrm>
            <a:off x="8953500" y="-101600"/>
            <a:ext cx="3937000" cy="939800"/>
          </a:xfrm>
          <a:prstGeom prst="parallelogram">
            <a:avLst/>
          </a:prstGeom>
          <a:solidFill>
            <a:srgbClr val="3A9BD9">
              <a:alpha val="80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93E5B95-E669-6917-4E6F-50FAB49C4148}"/>
              </a:ext>
            </a:extLst>
          </p:cNvPr>
          <p:cNvSpPr/>
          <p:nvPr/>
        </p:nvSpPr>
        <p:spPr>
          <a:xfrm>
            <a:off x="660400" y="939800"/>
            <a:ext cx="1168400" cy="508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平行四边形 5">
            <a:extLst>
              <a:ext uri="{FF2B5EF4-FFF2-40B4-BE49-F238E27FC236}">
                <a16:creationId xmlns:a16="http://schemas.microsoft.com/office/drawing/2014/main" id="{02C0D2EF-449C-F564-26FD-DE1A1CA0B63F}"/>
              </a:ext>
            </a:extLst>
          </p:cNvPr>
          <p:cNvSpPr/>
          <p:nvPr/>
        </p:nvSpPr>
        <p:spPr>
          <a:xfrm>
            <a:off x="-1143000" y="6350000"/>
            <a:ext cx="6604000" cy="584200"/>
          </a:xfrm>
          <a:prstGeom prst="parallelogram">
            <a:avLst>
              <a:gd name="adj" fmla="val 28000"/>
            </a:avLst>
          </a:prstGeom>
          <a:solidFill>
            <a:srgbClr val="E3F2F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C7A48FD-378B-E65F-A728-C0025DD7DEA3}"/>
              </a:ext>
            </a:extLst>
          </p:cNvPr>
          <p:cNvSpPr txBox="1"/>
          <p:nvPr/>
        </p:nvSpPr>
        <p:spPr>
          <a:xfrm>
            <a:off x="736600" y="228600"/>
            <a:ext cx="4572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FAFCFF"/>
                </a:solidFill>
                <a:latin typeface="Microsoft YaHei" panose="020B0503020204020204" pitchFamily="34" charset="-122"/>
              </a:rPr>
              <a:t>PARAMETER ESTIMATION</a:t>
            </a:r>
            <a:endParaRPr lang="zh-CN" altLang="en-US" sz="700" b="1">
              <a:solidFill>
                <a:srgbClr val="FAFC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1266B45-CCBB-8493-59FE-C7205CED4224}"/>
              </a:ext>
            </a:extLst>
          </p:cNvPr>
          <p:cNvSpPr txBox="1"/>
          <p:nvPr/>
        </p:nvSpPr>
        <p:spPr>
          <a:xfrm>
            <a:off x="736600" y="482600"/>
            <a:ext cx="8890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000" b="1">
                <a:solidFill>
                  <a:srgbClr val="FAFCFF"/>
                </a:solidFill>
                <a:latin typeface="Microsoft YaHei" panose="020B0503020204020204" pitchFamily="34" charset="-122"/>
              </a:rPr>
              <a:t>训练集估计参数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3F32404-120C-03A6-4205-5AC6C4A988A9}"/>
              </a:ext>
            </a:extLst>
          </p:cNvPr>
          <p:cNvSpPr txBox="1"/>
          <p:nvPr/>
        </p:nvSpPr>
        <p:spPr>
          <a:xfrm>
            <a:off x="685800" y="6489700"/>
            <a:ext cx="4572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6B7B8C"/>
                </a:solidFill>
                <a:latin typeface="Microsoft YaHei" panose="020B0503020204020204" pitchFamily="34" charset="-122"/>
              </a:rPr>
              <a:t>模式识别课程实验一 </a:t>
            </a:r>
            <a:r>
              <a:rPr lang="en-US" altLang="zh-CN" sz="700">
                <a:solidFill>
                  <a:srgbClr val="6B7B8C"/>
                </a:solidFill>
                <a:latin typeface="Microsoft YaHei" panose="020B0503020204020204" pitchFamily="34" charset="-122"/>
              </a:rPr>
              <a:t>· Bayes </a:t>
            </a:r>
            <a:r>
              <a:rPr lang="zh-CN" altLang="en-US" sz="700">
                <a:solidFill>
                  <a:srgbClr val="6B7B8C"/>
                </a:solidFill>
                <a:latin typeface="Microsoft YaHei" panose="020B0503020204020204" pitchFamily="34" charset="-122"/>
              </a:rPr>
              <a:t>性别分类器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98473E3-3F62-ADB8-5F60-538AC664FDB6}"/>
              </a:ext>
            </a:extLst>
          </p:cNvPr>
          <p:cNvSpPr txBox="1"/>
          <p:nvPr/>
        </p:nvSpPr>
        <p:spPr>
          <a:xfrm>
            <a:off x="11277600" y="6438900"/>
            <a:ext cx="4064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800" b="1">
                <a:solidFill>
                  <a:srgbClr val="006BB7"/>
                </a:solidFill>
                <a:latin typeface="Microsoft YaHei" panose="020B0503020204020204" pitchFamily="34" charset="-122"/>
              </a:rPr>
              <a:t>11</a:t>
            </a:r>
            <a:endParaRPr lang="zh-CN" altLang="en-US" sz="8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9199190B-A4A9-FE84-CD12-B00D202A5D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900987"/>
              </p:ext>
            </p:extLst>
          </p:nvPr>
        </p:nvGraphicFramePr>
        <p:xfrm>
          <a:off x="889000" y="1574800"/>
          <a:ext cx="10414000" cy="177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1333">
                  <a:extLst>
                    <a:ext uri="{9D8B030D-6E8A-4147-A177-3AD203B41FA5}">
                      <a16:colId xmlns:a16="http://schemas.microsoft.com/office/drawing/2014/main" val="416239606"/>
                    </a:ext>
                  </a:extLst>
                </a:gridCol>
                <a:gridCol w="3471333">
                  <a:extLst>
                    <a:ext uri="{9D8B030D-6E8A-4147-A177-3AD203B41FA5}">
                      <a16:colId xmlns:a16="http://schemas.microsoft.com/office/drawing/2014/main" val="1520287630"/>
                    </a:ext>
                  </a:extLst>
                </a:gridCol>
                <a:gridCol w="3471333">
                  <a:extLst>
                    <a:ext uri="{9D8B030D-6E8A-4147-A177-3AD203B41FA5}">
                      <a16:colId xmlns:a16="http://schemas.microsoft.com/office/drawing/2014/main" val="1289208260"/>
                    </a:ext>
                  </a:extLst>
                </a:gridCol>
              </a:tblGrid>
              <a:tr h="592667">
                <a:tc>
                  <a:txBody>
                    <a:bodyPr/>
                    <a:lstStyle/>
                    <a:p>
                      <a:r>
                        <a:rPr lang="zh-CN" altLang="en-US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类别</a:t>
                      </a:r>
                    </a:p>
                  </a:txBody>
                  <a:tcPr marL="38100" marR="38100" marT="25400" marB="25400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均值向量 </a:t>
                      </a:r>
                      <a:r>
                        <a:rPr lang="el-GR" altLang="zh-CN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μ</a:t>
                      </a:r>
                      <a:endParaRPr lang="zh-CN" altLang="en-US" sz="800" b="1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协方差矩阵 </a:t>
                      </a:r>
                      <a:r>
                        <a:rPr lang="el-GR" altLang="zh-CN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Σ</a:t>
                      </a:r>
                      <a:endParaRPr lang="zh-CN" altLang="en-US" sz="800" b="1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>
                    <a:solidFill>
                      <a:srgbClr val="006B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1596220"/>
                  </a:ext>
                </a:extLst>
              </a:tr>
              <a:tr h="592667"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女生 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F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[162.84, 52.596]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[[43.934, 15.525], [15.525, 31.129]]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1703850954"/>
                  </a:ext>
                </a:extLst>
              </a:tr>
              <a:tr h="592667"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男生 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M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[173.92, 65.502]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[[20.754, 23.058], [23.058, 59.898]]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1695251414"/>
                  </a:ext>
                </a:extLst>
              </a:tr>
            </a:tbl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BB730CF7-CCC3-DB01-48CA-6DAF9A8C0E8E}"/>
              </a:ext>
            </a:extLst>
          </p:cNvPr>
          <p:cNvSpPr txBox="1"/>
          <p:nvPr/>
        </p:nvSpPr>
        <p:spPr>
          <a:xfrm>
            <a:off x="1219200" y="4127500"/>
            <a:ext cx="9652000" cy="595035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228600" indent="-2286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900">
                <a:solidFill>
                  <a:srgbClr val="333D4A"/>
                </a:solidFill>
                <a:latin typeface="Microsoft YaHei" panose="020B0503020204020204" pitchFamily="34" charset="-122"/>
              </a:rPr>
              <a:t>男生平均身高和平均体重均高于女生，这是分类的主要依据。</a:t>
            </a:r>
          </a:p>
          <a:p>
            <a:pPr marL="228600" indent="-2286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900">
                <a:solidFill>
                  <a:srgbClr val="333D4A"/>
                </a:solidFill>
                <a:latin typeface="Microsoft YaHei" panose="020B0503020204020204" pitchFamily="34" charset="-122"/>
              </a:rPr>
              <a:t>协方差矩阵非对角元素不为 </a:t>
            </a:r>
            <a:r>
              <a:rPr lang="en-US" altLang="zh-CN" sz="900">
                <a:solidFill>
                  <a:srgbClr val="333D4A"/>
                </a:solidFill>
                <a:latin typeface="Microsoft YaHei" panose="020B0503020204020204" pitchFamily="34" charset="-122"/>
              </a:rPr>
              <a:t>0</a:t>
            </a:r>
            <a:r>
              <a:rPr lang="zh-CN" altLang="en-US" sz="900">
                <a:solidFill>
                  <a:srgbClr val="333D4A"/>
                </a:solidFill>
                <a:latin typeface="Microsoft YaHei" panose="020B0503020204020204" pitchFamily="34" charset="-122"/>
              </a:rPr>
              <a:t>，说明身高和体重存在一定相关性。</a:t>
            </a:r>
          </a:p>
          <a:p>
            <a:pPr marL="228600" indent="-2286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900">
                <a:solidFill>
                  <a:srgbClr val="333D4A"/>
                </a:solidFill>
                <a:latin typeface="Microsoft YaHei" panose="020B0503020204020204" pitchFamily="34" charset="-122"/>
              </a:rPr>
              <a:t>协方差估计是否可靠，会影响完整协方差 </a:t>
            </a:r>
            <a:r>
              <a:rPr lang="en-US" altLang="zh-CN" sz="900">
                <a:solidFill>
                  <a:srgbClr val="333D4A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900">
                <a:solidFill>
                  <a:srgbClr val="333D4A"/>
                </a:solidFill>
                <a:latin typeface="Microsoft YaHei" panose="020B0503020204020204" pitchFamily="34" charset="-122"/>
              </a:rPr>
              <a:t>的测试表现。</a:t>
            </a:r>
          </a:p>
        </p:txBody>
      </p:sp>
    </p:spTree>
    <p:extLst>
      <p:ext uri="{BB962C8B-B14F-4D97-AF65-F5344CB8AC3E}">
        <p14:creationId xmlns:p14="http://schemas.microsoft.com/office/powerpoint/2010/main" val="9610967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66D4798-4DAC-3D3B-0DC5-4697EFF8DEE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平行四边形 2">
            <a:extLst>
              <a:ext uri="{FF2B5EF4-FFF2-40B4-BE49-F238E27FC236}">
                <a16:creationId xmlns:a16="http://schemas.microsoft.com/office/drawing/2014/main" id="{9FD4F987-514B-DA4F-0E98-719EAD2492F1}"/>
              </a:ext>
            </a:extLst>
          </p:cNvPr>
          <p:cNvSpPr/>
          <p:nvPr/>
        </p:nvSpPr>
        <p:spPr>
          <a:xfrm>
            <a:off x="-317500" y="-279400"/>
            <a:ext cx="13208000" cy="1041400"/>
          </a:xfrm>
          <a:prstGeom prst="parallelogram">
            <a:avLst>
              <a:gd name="adj" fmla="val 16000"/>
            </a:avLst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C31AF44C-ECBA-869F-87FF-BA0D1FEAF1E6}"/>
              </a:ext>
            </a:extLst>
          </p:cNvPr>
          <p:cNvSpPr/>
          <p:nvPr/>
        </p:nvSpPr>
        <p:spPr>
          <a:xfrm>
            <a:off x="8953500" y="-101600"/>
            <a:ext cx="3937000" cy="939800"/>
          </a:xfrm>
          <a:prstGeom prst="parallelogram">
            <a:avLst/>
          </a:prstGeom>
          <a:solidFill>
            <a:srgbClr val="3A9BD9">
              <a:alpha val="80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963D831-4510-42FF-C311-E44AD82A0FF8}"/>
              </a:ext>
            </a:extLst>
          </p:cNvPr>
          <p:cNvSpPr/>
          <p:nvPr/>
        </p:nvSpPr>
        <p:spPr>
          <a:xfrm>
            <a:off x="660400" y="939800"/>
            <a:ext cx="1168400" cy="508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平行四边形 5">
            <a:extLst>
              <a:ext uri="{FF2B5EF4-FFF2-40B4-BE49-F238E27FC236}">
                <a16:creationId xmlns:a16="http://schemas.microsoft.com/office/drawing/2014/main" id="{4FBB2F09-C640-103B-3888-36ADDB4CEFF4}"/>
              </a:ext>
            </a:extLst>
          </p:cNvPr>
          <p:cNvSpPr/>
          <p:nvPr/>
        </p:nvSpPr>
        <p:spPr>
          <a:xfrm>
            <a:off x="-1143000" y="6350000"/>
            <a:ext cx="6604000" cy="584200"/>
          </a:xfrm>
          <a:prstGeom prst="parallelogram">
            <a:avLst>
              <a:gd name="adj" fmla="val 28000"/>
            </a:avLst>
          </a:prstGeom>
          <a:solidFill>
            <a:srgbClr val="E3F2F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9F3B7A1-CB60-9B34-58E5-868A7B890E6F}"/>
              </a:ext>
            </a:extLst>
          </p:cNvPr>
          <p:cNvSpPr txBox="1"/>
          <p:nvPr/>
        </p:nvSpPr>
        <p:spPr>
          <a:xfrm>
            <a:off x="736600" y="228600"/>
            <a:ext cx="4572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FAFCFF"/>
                </a:solidFill>
                <a:latin typeface="Microsoft YaHei" panose="020B0503020204020204" pitchFamily="34" charset="-122"/>
              </a:rPr>
              <a:t>RESULT FIGURE</a:t>
            </a:r>
            <a:endParaRPr lang="zh-CN" altLang="en-US" sz="700" b="1">
              <a:solidFill>
                <a:srgbClr val="FAFC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D6EDDC9-5D5A-E7CD-7AB5-5B57B435510D}"/>
              </a:ext>
            </a:extLst>
          </p:cNvPr>
          <p:cNvSpPr txBox="1"/>
          <p:nvPr/>
        </p:nvSpPr>
        <p:spPr>
          <a:xfrm>
            <a:off x="736600" y="482600"/>
            <a:ext cx="8890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000" b="1">
                <a:solidFill>
                  <a:srgbClr val="FAFCFF"/>
                </a:solidFill>
                <a:latin typeface="Microsoft YaHei" panose="020B0503020204020204" pitchFamily="34" charset="-122"/>
              </a:rPr>
              <a:t>样本分布：身高与体重的可分性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2851E3A-3777-4FBE-FBF2-0DCC2FB109F2}"/>
              </a:ext>
            </a:extLst>
          </p:cNvPr>
          <p:cNvSpPr txBox="1"/>
          <p:nvPr/>
        </p:nvSpPr>
        <p:spPr>
          <a:xfrm>
            <a:off x="685800" y="6489700"/>
            <a:ext cx="4572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6B7B8C"/>
                </a:solidFill>
                <a:latin typeface="Microsoft YaHei" panose="020B0503020204020204" pitchFamily="34" charset="-122"/>
              </a:rPr>
              <a:t>模式识别课程实验一 </a:t>
            </a:r>
            <a:r>
              <a:rPr lang="en-US" altLang="zh-CN" sz="700">
                <a:solidFill>
                  <a:srgbClr val="6B7B8C"/>
                </a:solidFill>
                <a:latin typeface="Microsoft YaHei" panose="020B0503020204020204" pitchFamily="34" charset="-122"/>
              </a:rPr>
              <a:t>· Bayes </a:t>
            </a:r>
            <a:r>
              <a:rPr lang="zh-CN" altLang="en-US" sz="700">
                <a:solidFill>
                  <a:srgbClr val="6B7B8C"/>
                </a:solidFill>
                <a:latin typeface="Microsoft YaHei" panose="020B0503020204020204" pitchFamily="34" charset="-122"/>
              </a:rPr>
              <a:t>性别分类器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426DC02-06C6-70FB-9351-63FC25323BA4}"/>
              </a:ext>
            </a:extLst>
          </p:cNvPr>
          <p:cNvSpPr txBox="1"/>
          <p:nvPr/>
        </p:nvSpPr>
        <p:spPr>
          <a:xfrm>
            <a:off x="11277600" y="6438900"/>
            <a:ext cx="4064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800" b="1">
                <a:solidFill>
                  <a:srgbClr val="006BB7"/>
                </a:solidFill>
                <a:latin typeface="Microsoft YaHei" panose="020B0503020204020204" pitchFamily="34" charset="-122"/>
              </a:rPr>
              <a:t>12</a:t>
            </a:r>
            <a:endParaRPr lang="zh-CN" altLang="en-US" sz="8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1A580A2B-0B4F-1584-579B-5A60AA9497C9}"/>
              </a:ext>
            </a:extLst>
          </p:cNvPr>
          <p:cNvSpPr/>
          <p:nvPr/>
        </p:nvSpPr>
        <p:spPr>
          <a:xfrm>
            <a:off x="914400" y="1422400"/>
            <a:ext cx="6604000" cy="4318000"/>
          </a:xfrm>
          <a:prstGeom prst="roundRect">
            <a:avLst/>
          </a:prstGeom>
          <a:solidFill>
            <a:srgbClr val="FAFCFF"/>
          </a:solidFill>
          <a:ln w="10160">
            <a:solidFill>
              <a:srgbClr val="C9DD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0830E055-A590-AF0C-9B10-2FB8896539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7408" y="1660691"/>
            <a:ext cx="5377984" cy="3841417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1B5B561D-384C-8EEB-4059-22AAF7ED7560}"/>
              </a:ext>
            </a:extLst>
          </p:cNvPr>
          <p:cNvSpPr/>
          <p:nvPr/>
        </p:nvSpPr>
        <p:spPr>
          <a:xfrm>
            <a:off x="8128000" y="1676400"/>
            <a:ext cx="2921000" cy="990600"/>
          </a:xfrm>
          <a:prstGeom prst="roundRect">
            <a:avLst/>
          </a:prstGeom>
          <a:solidFill>
            <a:srgbClr val="FAFCFF"/>
          </a:solidFill>
          <a:ln w="10160">
            <a:solidFill>
              <a:srgbClr val="C9DD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0C1DCB2-E81D-66C3-023B-D4BF271A5A8E}"/>
              </a:ext>
            </a:extLst>
          </p:cNvPr>
          <p:cNvSpPr/>
          <p:nvPr/>
        </p:nvSpPr>
        <p:spPr>
          <a:xfrm>
            <a:off x="8128000" y="1676400"/>
            <a:ext cx="63500" cy="9906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CDCD2B7-0B3E-25E1-10AF-108ED2763E8C}"/>
              </a:ext>
            </a:extLst>
          </p:cNvPr>
          <p:cNvSpPr txBox="1"/>
          <p:nvPr/>
        </p:nvSpPr>
        <p:spPr>
          <a:xfrm>
            <a:off x="8331200" y="1803400"/>
            <a:ext cx="25908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1A2E44"/>
                </a:solidFill>
                <a:latin typeface="Microsoft YaHei" panose="020B0503020204020204" pitchFamily="34" charset="-122"/>
              </a:rPr>
              <a:t>观察 </a:t>
            </a:r>
            <a:r>
              <a:rPr lang="en-US" altLang="zh-CN" sz="1000" b="1">
                <a:solidFill>
                  <a:srgbClr val="1A2E44"/>
                </a:solidFill>
                <a:latin typeface="Microsoft YaHei" panose="020B0503020204020204" pitchFamily="34" charset="-122"/>
              </a:rPr>
              <a:t>1</a:t>
            </a:r>
            <a:endParaRPr lang="zh-CN" altLang="en-US" sz="1000" b="1">
              <a:solidFill>
                <a:srgbClr val="1A2E4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B0AB682-4CD6-D95E-85DA-A1F52B15A260}"/>
              </a:ext>
            </a:extLst>
          </p:cNvPr>
          <p:cNvSpPr txBox="1"/>
          <p:nvPr/>
        </p:nvSpPr>
        <p:spPr>
          <a:xfrm>
            <a:off x="8331200" y="2108200"/>
            <a:ext cx="25908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333D4A"/>
                </a:solidFill>
                <a:latin typeface="Microsoft YaHei" panose="020B0503020204020204" pitchFamily="34" charset="-122"/>
              </a:rPr>
              <a:t>男生样本整体位于更高身高、更高体重区域。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2F734992-0EC2-EA45-1757-34451720BA1D}"/>
              </a:ext>
            </a:extLst>
          </p:cNvPr>
          <p:cNvSpPr/>
          <p:nvPr/>
        </p:nvSpPr>
        <p:spPr>
          <a:xfrm>
            <a:off x="8128000" y="3048000"/>
            <a:ext cx="2921000" cy="990600"/>
          </a:xfrm>
          <a:prstGeom prst="roundRect">
            <a:avLst/>
          </a:prstGeom>
          <a:solidFill>
            <a:srgbClr val="FAFCFF"/>
          </a:solidFill>
          <a:ln w="10160">
            <a:solidFill>
              <a:srgbClr val="C9DD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887C7CA-5028-4033-D57E-7585F9533C8E}"/>
              </a:ext>
            </a:extLst>
          </p:cNvPr>
          <p:cNvSpPr/>
          <p:nvPr/>
        </p:nvSpPr>
        <p:spPr>
          <a:xfrm>
            <a:off x="8128000" y="3048000"/>
            <a:ext cx="63500" cy="990600"/>
          </a:xfrm>
          <a:prstGeom prst="rect">
            <a:avLst/>
          </a:prstGeom>
          <a:solidFill>
            <a:srgbClr val="3A9B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C1FAB23-067E-E0A2-ADFE-2482A7988CD8}"/>
              </a:ext>
            </a:extLst>
          </p:cNvPr>
          <p:cNvSpPr txBox="1"/>
          <p:nvPr/>
        </p:nvSpPr>
        <p:spPr>
          <a:xfrm>
            <a:off x="8331200" y="3175000"/>
            <a:ext cx="25908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1A2E44"/>
                </a:solidFill>
                <a:latin typeface="Microsoft YaHei" panose="020B0503020204020204" pitchFamily="34" charset="-122"/>
              </a:rPr>
              <a:t>观察 </a:t>
            </a:r>
            <a:r>
              <a:rPr lang="en-US" altLang="zh-CN" sz="1000" b="1">
                <a:solidFill>
                  <a:srgbClr val="1A2E44"/>
                </a:solidFill>
                <a:latin typeface="Microsoft YaHei" panose="020B0503020204020204" pitchFamily="34" charset="-122"/>
              </a:rPr>
              <a:t>2</a:t>
            </a:r>
            <a:endParaRPr lang="zh-CN" altLang="en-US" sz="1000" b="1">
              <a:solidFill>
                <a:srgbClr val="1A2E4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FEFECB0-E8E0-D3FD-040F-9C9C6B86AE2B}"/>
              </a:ext>
            </a:extLst>
          </p:cNvPr>
          <p:cNvSpPr txBox="1"/>
          <p:nvPr/>
        </p:nvSpPr>
        <p:spPr>
          <a:xfrm>
            <a:off x="8331200" y="3479800"/>
            <a:ext cx="25908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333D4A"/>
                </a:solidFill>
                <a:latin typeface="Microsoft YaHei" panose="020B0503020204020204" pitchFamily="34" charset="-122"/>
              </a:rPr>
              <a:t>两类样本在边界区域存在重叠，因此无法完全无误分类。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CF7D8B3C-22EF-A147-17B9-3BCD89815175}"/>
              </a:ext>
            </a:extLst>
          </p:cNvPr>
          <p:cNvSpPr/>
          <p:nvPr/>
        </p:nvSpPr>
        <p:spPr>
          <a:xfrm>
            <a:off x="8128000" y="4419600"/>
            <a:ext cx="2921000" cy="990600"/>
          </a:xfrm>
          <a:prstGeom prst="roundRect">
            <a:avLst/>
          </a:prstGeom>
          <a:solidFill>
            <a:srgbClr val="FAFCFF"/>
          </a:solidFill>
          <a:ln w="10160">
            <a:solidFill>
              <a:srgbClr val="C9DD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08325BE-2FA0-3CEE-4C19-09DA14AD31E0}"/>
              </a:ext>
            </a:extLst>
          </p:cNvPr>
          <p:cNvSpPr/>
          <p:nvPr/>
        </p:nvSpPr>
        <p:spPr>
          <a:xfrm>
            <a:off x="8128000" y="4419600"/>
            <a:ext cx="63500" cy="9906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CAAFF5AA-E3DA-54ED-22DE-2D93B5FE6393}"/>
              </a:ext>
            </a:extLst>
          </p:cNvPr>
          <p:cNvSpPr txBox="1"/>
          <p:nvPr/>
        </p:nvSpPr>
        <p:spPr>
          <a:xfrm>
            <a:off x="8331200" y="4546600"/>
            <a:ext cx="25908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1A2E44"/>
                </a:solidFill>
                <a:latin typeface="Microsoft YaHei" panose="020B0503020204020204" pitchFamily="34" charset="-122"/>
              </a:rPr>
              <a:t>观察 </a:t>
            </a:r>
            <a:r>
              <a:rPr lang="en-US" altLang="zh-CN" sz="1000" b="1">
                <a:solidFill>
                  <a:srgbClr val="1A2E44"/>
                </a:solidFill>
                <a:latin typeface="Microsoft YaHei" panose="020B0503020204020204" pitchFamily="34" charset="-122"/>
              </a:rPr>
              <a:t>3</a:t>
            </a:r>
            <a:endParaRPr lang="zh-CN" altLang="en-US" sz="1000" b="1">
              <a:solidFill>
                <a:srgbClr val="1A2E4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2902A6C-BFCB-3A9B-B79E-74432130130B}"/>
              </a:ext>
            </a:extLst>
          </p:cNvPr>
          <p:cNvSpPr txBox="1"/>
          <p:nvPr/>
        </p:nvSpPr>
        <p:spPr>
          <a:xfrm>
            <a:off x="8331200" y="4851400"/>
            <a:ext cx="25908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00">
                <a:solidFill>
                  <a:srgbClr val="333D4A"/>
                </a:solidFill>
                <a:latin typeface="Microsoft YaHei" panose="020B0503020204020204" pitchFamily="34" charset="-122"/>
              </a:rPr>
              <a:t>test1 </a:t>
            </a:r>
            <a:r>
              <a:rPr lang="zh-CN" altLang="en-US" sz="800">
                <a:solidFill>
                  <a:srgbClr val="333D4A"/>
                </a:solidFill>
                <a:latin typeface="Microsoft YaHei" panose="020B0503020204020204" pitchFamily="34" charset="-122"/>
              </a:rPr>
              <a:t>样本基本落在训练集分布附近，测试准确率较高。</a:t>
            </a:r>
          </a:p>
        </p:txBody>
      </p:sp>
    </p:spTree>
    <p:extLst>
      <p:ext uri="{BB962C8B-B14F-4D97-AF65-F5344CB8AC3E}">
        <p14:creationId xmlns:p14="http://schemas.microsoft.com/office/powerpoint/2010/main" val="13182734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3870A74-D146-276A-0736-D5CB550CBC8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平行四边形 2">
            <a:extLst>
              <a:ext uri="{FF2B5EF4-FFF2-40B4-BE49-F238E27FC236}">
                <a16:creationId xmlns:a16="http://schemas.microsoft.com/office/drawing/2014/main" id="{CD4886BC-E69C-FE8A-B18F-E9C68DE6F66C}"/>
              </a:ext>
            </a:extLst>
          </p:cNvPr>
          <p:cNvSpPr/>
          <p:nvPr/>
        </p:nvSpPr>
        <p:spPr>
          <a:xfrm>
            <a:off x="-317500" y="-279400"/>
            <a:ext cx="13208000" cy="1041400"/>
          </a:xfrm>
          <a:prstGeom prst="parallelogram">
            <a:avLst>
              <a:gd name="adj" fmla="val 16000"/>
            </a:avLst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A61F7259-F2D7-40F5-9728-D8CE26234577}"/>
              </a:ext>
            </a:extLst>
          </p:cNvPr>
          <p:cNvSpPr/>
          <p:nvPr/>
        </p:nvSpPr>
        <p:spPr>
          <a:xfrm>
            <a:off x="8953500" y="-101600"/>
            <a:ext cx="3937000" cy="939800"/>
          </a:xfrm>
          <a:prstGeom prst="parallelogram">
            <a:avLst/>
          </a:prstGeom>
          <a:solidFill>
            <a:srgbClr val="3A9BD9">
              <a:alpha val="80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75DF5FC-EA8D-885E-D793-C998E1C69DA8}"/>
              </a:ext>
            </a:extLst>
          </p:cNvPr>
          <p:cNvSpPr/>
          <p:nvPr/>
        </p:nvSpPr>
        <p:spPr>
          <a:xfrm>
            <a:off x="660400" y="939800"/>
            <a:ext cx="1168400" cy="508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平行四边形 5">
            <a:extLst>
              <a:ext uri="{FF2B5EF4-FFF2-40B4-BE49-F238E27FC236}">
                <a16:creationId xmlns:a16="http://schemas.microsoft.com/office/drawing/2014/main" id="{35B79F94-A43C-24F3-7080-6F88B01CEE2A}"/>
              </a:ext>
            </a:extLst>
          </p:cNvPr>
          <p:cNvSpPr/>
          <p:nvPr/>
        </p:nvSpPr>
        <p:spPr>
          <a:xfrm>
            <a:off x="-1143000" y="6350000"/>
            <a:ext cx="6604000" cy="584200"/>
          </a:xfrm>
          <a:prstGeom prst="parallelogram">
            <a:avLst>
              <a:gd name="adj" fmla="val 28000"/>
            </a:avLst>
          </a:prstGeom>
          <a:solidFill>
            <a:srgbClr val="E3F2F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2DF593D-FD3B-38D0-F5D1-C67FA3EE3FD1}"/>
              </a:ext>
            </a:extLst>
          </p:cNvPr>
          <p:cNvSpPr txBox="1"/>
          <p:nvPr/>
        </p:nvSpPr>
        <p:spPr>
          <a:xfrm>
            <a:off x="736600" y="228600"/>
            <a:ext cx="4572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FAFCFF"/>
                </a:solidFill>
                <a:latin typeface="Microsoft YaHei" panose="020B0503020204020204" pitchFamily="34" charset="-122"/>
              </a:rPr>
              <a:t>RESULT FIGURE</a:t>
            </a:r>
            <a:endParaRPr lang="zh-CN" altLang="en-US" sz="700" b="1">
              <a:solidFill>
                <a:srgbClr val="FAFC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FABDC20-6199-15E6-F569-06E264F21002}"/>
              </a:ext>
            </a:extLst>
          </p:cNvPr>
          <p:cNvSpPr txBox="1"/>
          <p:nvPr/>
        </p:nvSpPr>
        <p:spPr>
          <a:xfrm>
            <a:off x="736600" y="482600"/>
            <a:ext cx="8890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000" b="1">
                <a:solidFill>
                  <a:srgbClr val="FAFCFF"/>
                </a:solidFill>
                <a:latin typeface="Microsoft YaHei" panose="020B0503020204020204" pitchFamily="34" charset="-122"/>
              </a:rPr>
              <a:t>二维 </a:t>
            </a:r>
            <a:r>
              <a:rPr lang="en-US" altLang="zh-CN" sz="2000" b="1">
                <a:solidFill>
                  <a:srgbClr val="FAFCFF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2000" b="1">
                <a:solidFill>
                  <a:srgbClr val="FAFCFF"/>
                </a:solidFill>
                <a:latin typeface="Microsoft YaHei" panose="020B0503020204020204" pitchFamily="34" charset="-122"/>
              </a:rPr>
              <a:t>决策边界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8A232EB-AC96-4A7E-4659-6C01275E7055}"/>
              </a:ext>
            </a:extLst>
          </p:cNvPr>
          <p:cNvSpPr txBox="1"/>
          <p:nvPr/>
        </p:nvSpPr>
        <p:spPr>
          <a:xfrm>
            <a:off x="685800" y="6489700"/>
            <a:ext cx="4572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6B7B8C"/>
                </a:solidFill>
                <a:latin typeface="Microsoft YaHei" panose="020B0503020204020204" pitchFamily="34" charset="-122"/>
              </a:rPr>
              <a:t>模式识别课程实验一 </a:t>
            </a:r>
            <a:r>
              <a:rPr lang="en-US" altLang="zh-CN" sz="700">
                <a:solidFill>
                  <a:srgbClr val="6B7B8C"/>
                </a:solidFill>
                <a:latin typeface="Microsoft YaHei" panose="020B0503020204020204" pitchFamily="34" charset="-122"/>
              </a:rPr>
              <a:t>· Bayes </a:t>
            </a:r>
            <a:r>
              <a:rPr lang="zh-CN" altLang="en-US" sz="700">
                <a:solidFill>
                  <a:srgbClr val="6B7B8C"/>
                </a:solidFill>
                <a:latin typeface="Microsoft YaHei" panose="020B0503020204020204" pitchFamily="34" charset="-122"/>
              </a:rPr>
              <a:t>性别分类器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1CF9DD4-160A-AF8B-2FE6-09F8B8F7CEC1}"/>
              </a:ext>
            </a:extLst>
          </p:cNvPr>
          <p:cNvSpPr txBox="1"/>
          <p:nvPr/>
        </p:nvSpPr>
        <p:spPr>
          <a:xfrm>
            <a:off x="11277600" y="6438900"/>
            <a:ext cx="4064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800" b="1">
                <a:solidFill>
                  <a:srgbClr val="006BB7"/>
                </a:solidFill>
                <a:latin typeface="Microsoft YaHei" panose="020B0503020204020204" pitchFamily="34" charset="-122"/>
              </a:rPr>
              <a:t>13</a:t>
            </a:r>
            <a:endParaRPr lang="zh-CN" altLang="en-US" sz="8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A0B13B90-80AB-B4D5-A378-BDCA7CCE7FAB}"/>
              </a:ext>
            </a:extLst>
          </p:cNvPr>
          <p:cNvSpPr/>
          <p:nvPr/>
        </p:nvSpPr>
        <p:spPr>
          <a:xfrm>
            <a:off x="914400" y="1371600"/>
            <a:ext cx="6794500" cy="4445000"/>
          </a:xfrm>
          <a:prstGeom prst="roundRect">
            <a:avLst/>
          </a:prstGeom>
          <a:solidFill>
            <a:srgbClr val="FAFCFF"/>
          </a:solidFill>
          <a:ln w="10160">
            <a:solidFill>
              <a:srgbClr val="C9DD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97B47157-5050-15F8-EC67-7C5CF031DC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7220" y="1555221"/>
            <a:ext cx="5708861" cy="4077758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0E6E3DAE-0EA8-60B6-8BB8-F52E88577C8B}"/>
              </a:ext>
            </a:extLst>
          </p:cNvPr>
          <p:cNvSpPr/>
          <p:nvPr/>
        </p:nvSpPr>
        <p:spPr>
          <a:xfrm>
            <a:off x="8255000" y="1524000"/>
            <a:ext cx="2921000" cy="1041400"/>
          </a:xfrm>
          <a:prstGeom prst="roundRect">
            <a:avLst/>
          </a:prstGeom>
          <a:solidFill>
            <a:srgbClr val="FAFCFF"/>
          </a:solidFill>
          <a:ln w="10160">
            <a:solidFill>
              <a:srgbClr val="C9DD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8BCA8E8-E759-A75D-836F-83FDA481495A}"/>
              </a:ext>
            </a:extLst>
          </p:cNvPr>
          <p:cNvSpPr/>
          <p:nvPr/>
        </p:nvSpPr>
        <p:spPr>
          <a:xfrm>
            <a:off x="8255000" y="1524000"/>
            <a:ext cx="63500" cy="10414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1C80E7B-5BCF-88C6-91F4-9E932DCAFFAB}"/>
              </a:ext>
            </a:extLst>
          </p:cNvPr>
          <p:cNvSpPr txBox="1"/>
          <p:nvPr/>
        </p:nvSpPr>
        <p:spPr>
          <a:xfrm>
            <a:off x="8458200" y="1651000"/>
            <a:ext cx="25908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1A2E44"/>
                </a:solidFill>
                <a:latin typeface="Microsoft YaHei" panose="020B0503020204020204" pitchFamily="34" charset="-122"/>
              </a:rPr>
              <a:t>边界含义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69B8156-81B4-7F9C-601B-A7521C8165E4}"/>
              </a:ext>
            </a:extLst>
          </p:cNvPr>
          <p:cNvSpPr txBox="1"/>
          <p:nvPr/>
        </p:nvSpPr>
        <p:spPr>
          <a:xfrm>
            <a:off x="8458200" y="1955800"/>
            <a:ext cx="25908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333D4A"/>
                </a:solidFill>
                <a:latin typeface="Microsoft YaHei" panose="020B0503020204020204" pitchFamily="34" charset="-122"/>
              </a:rPr>
              <a:t>黑色曲线是 </a:t>
            </a:r>
            <a:r>
              <a:rPr lang="en-US" altLang="zh-CN" sz="800">
                <a:solidFill>
                  <a:srgbClr val="333D4A"/>
                </a:solidFill>
                <a:latin typeface="Microsoft YaHei" panose="020B0503020204020204" pitchFamily="34" charset="-122"/>
              </a:rPr>
              <a:t>gF(x)=gM(x) </a:t>
            </a:r>
            <a:r>
              <a:rPr lang="zh-CN" altLang="en-US" sz="800">
                <a:solidFill>
                  <a:srgbClr val="333D4A"/>
                </a:solidFill>
                <a:latin typeface="Microsoft YaHei" panose="020B0503020204020204" pitchFamily="34" charset="-122"/>
              </a:rPr>
              <a:t>的位置，两侧分别判为女生或男生。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1D43B8EA-BE59-3586-FC5C-C21267BFFA8C}"/>
              </a:ext>
            </a:extLst>
          </p:cNvPr>
          <p:cNvSpPr/>
          <p:nvPr/>
        </p:nvSpPr>
        <p:spPr>
          <a:xfrm>
            <a:off x="8255000" y="2984500"/>
            <a:ext cx="2921000" cy="1041400"/>
          </a:xfrm>
          <a:prstGeom prst="roundRect">
            <a:avLst/>
          </a:prstGeom>
          <a:solidFill>
            <a:srgbClr val="FAFCFF"/>
          </a:solidFill>
          <a:ln w="10160">
            <a:solidFill>
              <a:srgbClr val="C9DD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F09E4EF-1004-0CF1-402E-8375E480ECD8}"/>
              </a:ext>
            </a:extLst>
          </p:cNvPr>
          <p:cNvSpPr/>
          <p:nvPr/>
        </p:nvSpPr>
        <p:spPr>
          <a:xfrm>
            <a:off x="8255000" y="2984500"/>
            <a:ext cx="63500" cy="1041400"/>
          </a:xfrm>
          <a:prstGeom prst="rect">
            <a:avLst/>
          </a:prstGeom>
          <a:solidFill>
            <a:srgbClr val="3A9B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A0148CD-A815-CD0B-7CAE-345B91713173}"/>
              </a:ext>
            </a:extLst>
          </p:cNvPr>
          <p:cNvSpPr txBox="1"/>
          <p:nvPr/>
        </p:nvSpPr>
        <p:spPr>
          <a:xfrm>
            <a:off x="8458200" y="3111500"/>
            <a:ext cx="25908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1A2E44"/>
                </a:solidFill>
                <a:latin typeface="Microsoft YaHei" panose="020B0503020204020204" pitchFamily="34" charset="-122"/>
              </a:rPr>
              <a:t>为何非线性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53DFE9B-BA00-E7BB-6C3C-560747D92062}"/>
              </a:ext>
            </a:extLst>
          </p:cNvPr>
          <p:cNvSpPr txBox="1"/>
          <p:nvPr/>
        </p:nvSpPr>
        <p:spPr>
          <a:xfrm>
            <a:off x="8458200" y="3416300"/>
            <a:ext cx="25908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333D4A"/>
                </a:solidFill>
                <a:latin typeface="Microsoft YaHei" panose="020B0503020204020204" pitchFamily="34" charset="-122"/>
              </a:rPr>
              <a:t>两类协方差不同，因此高斯 </a:t>
            </a:r>
            <a:r>
              <a:rPr lang="en-US" altLang="zh-CN" sz="800">
                <a:solidFill>
                  <a:srgbClr val="333D4A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800">
                <a:solidFill>
                  <a:srgbClr val="333D4A"/>
                </a:solidFill>
                <a:latin typeface="Microsoft YaHei" panose="020B0503020204020204" pitchFamily="34" charset="-122"/>
              </a:rPr>
              <a:t>形成二次判别边界。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92022D85-68F5-E316-C73A-C3BC15171D29}"/>
              </a:ext>
            </a:extLst>
          </p:cNvPr>
          <p:cNvSpPr/>
          <p:nvPr/>
        </p:nvSpPr>
        <p:spPr>
          <a:xfrm>
            <a:off x="8255000" y="4445000"/>
            <a:ext cx="2921000" cy="889000"/>
          </a:xfrm>
          <a:prstGeom prst="roundRect">
            <a:avLst/>
          </a:prstGeom>
          <a:solidFill>
            <a:srgbClr val="FAFCFF"/>
          </a:solidFill>
          <a:ln w="10160">
            <a:solidFill>
              <a:srgbClr val="C9DD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C341C63-77CE-632D-B2AA-5967C991BC84}"/>
              </a:ext>
            </a:extLst>
          </p:cNvPr>
          <p:cNvSpPr/>
          <p:nvPr/>
        </p:nvSpPr>
        <p:spPr>
          <a:xfrm>
            <a:off x="8255000" y="4445000"/>
            <a:ext cx="63500" cy="889000"/>
          </a:xfrm>
          <a:prstGeom prst="rect">
            <a:avLst/>
          </a:prstGeom>
          <a:solidFill>
            <a:srgbClr val="EA580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DEC46678-51DB-F635-395B-90AC91BC3EE4}"/>
              </a:ext>
            </a:extLst>
          </p:cNvPr>
          <p:cNvSpPr txBox="1"/>
          <p:nvPr/>
        </p:nvSpPr>
        <p:spPr>
          <a:xfrm>
            <a:off x="8458200" y="4572000"/>
            <a:ext cx="25908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1A2E44"/>
                </a:solidFill>
                <a:latin typeface="Microsoft YaHei" panose="020B0503020204020204" pitchFamily="34" charset="-122"/>
              </a:rPr>
              <a:t>错误来源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221EAB49-CB12-21BA-BDE5-948179ABA130}"/>
              </a:ext>
            </a:extLst>
          </p:cNvPr>
          <p:cNvSpPr txBox="1"/>
          <p:nvPr/>
        </p:nvSpPr>
        <p:spPr>
          <a:xfrm>
            <a:off x="8458200" y="4876800"/>
            <a:ext cx="25908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333D4A"/>
                </a:solidFill>
                <a:latin typeface="Microsoft YaHei" panose="020B0503020204020204" pitchFamily="34" charset="-122"/>
              </a:rPr>
              <a:t>边界附近样本重叠，是主要错误来源。</a:t>
            </a:r>
          </a:p>
        </p:txBody>
      </p:sp>
    </p:spTree>
    <p:extLst>
      <p:ext uri="{BB962C8B-B14F-4D97-AF65-F5344CB8AC3E}">
        <p14:creationId xmlns:p14="http://schemas.microsoft.com/office/powerpoint/2010/main" val="22709289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A3491A3-97E8-13C1-06EC-2A4B79D753B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平行四边形 2">
            <a:extLst>
              <a:ext uri="{FF2B5EF4-FFF2-40B4-BE49-F238E27FC236}">
                <a16:creationId xmlns:a16="http://schemas.microsoft.com/office/drawing/2014/main" id="{211D45C2-F277-AE0B-457E-1DA90F7B6362}"/>
              </a:ext>
            </a:extLst>
          </p:cNvPr>
          <p:cNvSpPr/>
          <p:nvPr/>
        </p:nvSpPr>
        <p:spPr>
          <a:xfrm>
            <a:off x="-317500" y="-279400"/>
            <a:ext cx="13208000" cy="1041400"/>
          </a:xfrm>
          <a:prstGeom prst="parallelogram">
            <a:avLst>
              <a:gd name="adj" fmla="val 16000"/>
            </a:avLst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66CB6AA8-77CE-9105-C14B-DDBA10C936B2}"/>
              </a:ext>
            </a:extLst>
          </p:cNvPr>
          <p:cNvSpPr/>
          <p:nvPr/>
        </p:nvSpPr>
        <p:spPr>
          <a:xfrm>
            <a:off x="8953500" y="-101600"/>
            <a:ext cx="3937000" cy="939800"/>
          </a:xfrm>
          <a:prstGeom prst="parallelogram">
            <a:avLst/>
          </a:prstGeom>
          <a:solidFill>
            <a:srgbClr val="3A9BD9">
              <a:alpha val="80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EF0A7C5-EBC6-A7D9-F0E6-177B3AFF71AA}"/>
              </a:ext>
            </a:extLst>
          </p:cNvPr>
          <p:cNvSpPr/>
          <p:nvPr/>
        </p:nvSpPr>
        <p:spPr>
          <a:xfrm>
            <a:off x="660400" y="939800"/>
            <a:ext cx="1168400" cy="508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平行四边形 5">
            <a:extLst>
              <a:ext uri="{FF2B5EF4-FFF2-40B4-BE49-F238E27FC236}">
                <a16:creationId xmlns:a16="http://schemas.microsoft.com/office/drawing/2014/main" id="{0955F1BC-084E-68CE-8DC1-FF2F1A629F58}"/>
              </a:ext>
            </a:extLst>
          </p:cNvPr>
          <p:cNvSpPr/>
          <p:nvPr/>
        </p:nvSpPr>
        <p:spPr>
          <a:xfrm>
            <a:off x="-1143000" y="6350000"/>
            <a:ext cx="6604000" cy="584200"/>
          </a:xfrm>
          <a:prstGeom prst="parallelogram">
            <a:avLst>
              <a:gd name="adj" fmla="val 28000"/>
            </a:avLst>
          </a:prstGeom>
          <a:solidFill>
            <a:srgbClr val="E3F2F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40F6C35-7E25-02D7-A125-3F718C1E3123}"/>
              </a:ext>
            </a:extLst>
          </p:cNvPr>
          <p:cNvSpPr txBox="1"/>
          <p:nvPr/>
        </p:nvSpPr>
        <p:spPr>
          <a:xfrm>
            <a:off x="736600" y="228600"/>
            <a:ext cx="4572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FAFCFF"/>
                </a:solidFill>
                <a:latin typeface="Microsoft YaHei" panose="020B0503020204020204" pitchFamily="34" charset="-122"/>
              </a:rPr>
              <a:t>RESULT TABLE</a:t>
            </a:r>
            <a:endParaRPr lang="zh-CN" altLang="en-US" sz="700" b="1">
              <a:solidFill>
                <a:srgbClr val="FAFC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6365549-6207-0AAE-89E0-77B28BAA48CA}"/>
              </a:ext>
            </a:extLst>
          </p:cNvPr>
          <p:cNvSpPr txBox="1"/>
          <p:nvPr/>
        </p:nvSpPr>
        <p:spPr>
          <a:xfrm>
            <a:off x="736600" y="482600"/>
            <a:ext cx="8890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000" b="1">
                <a:solidFill>
                  <a:srgbClr val="FAFCFF"/>
                </a:solidFill>
                <a:latin typeface="Microsoft YaHei" panose="020B0503020204020204" pitchFamily="34" charset="-122"/>
              </a:rPr>
              <a:t>主要分类结果总表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7111EED-C8B5-1270-5734-99E108858069}"/>
              </a:ext>
            </a:extLst>
          </p:cNvPr>
          <p:cNvSpPr txBox="1"/>
          <p:nvPr/>
        </p:nvSpPr>
        <p:spPr>
          <a:xfrm>
            <a:off x="685800" y="6489700"/>
            <a:ext cx="4572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6B7B8C"/>
                </a:solidFill>
                <a:latin typeface="Microsoft YaHei" panose="020B0503020204020204" pitchFamily="34" charset="-122"/>
              </a:rPr>
              <a:t>模式识别课程实验一 </a:t>
            </a:r>
            <a:r>
              <a:rPr lang="en-US" altLang="zh-CN" sz="700">
                <a:solidFill>
                  <a:srgbClr val="6B7B8C"/>
                </a:solidFill>
                <a:latin typeface="Microsoft YaHei" panose="020B0503020204020204" pitchFamily="34" charset="-122"/>
              </a:rPr>
              <a:t>· Bayes </a:t>
            </a:r>
            <a:r>
              <a:rPr lang="zh-CN" altLang="en-US" sz="700">
                <a:solidFill>
                  <a:srgbClr val="6B7B8C"/>
                </a:solidFill>
                <a:latin typeface="Microsoft YaHei" panose="020B0503020204020204" pitchFamily="34" charset="-122"/>
              </a:rPr>
              <a:t>性别分类器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725A8A9-049E-8525-3D37-BAEB49C55191}"/>
              </a:ext>
            </a:extLst>
          </p:cNvPr>
          <p:cNvSpPr txBox="1"/>
          <p:nvPr/>
        </p:nvSpPr>
        <p:spPr>
          <a:xfrm>
            <a:off x="11277600" y="6438900"/>
            <a:ext cx="4064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800" b="1">
                <a:solidFill>
                  <a:srgbClr val="006BB7"/>
                </a:solidFill>
                <a:latin typeface="Microsoft YaHei" panose="020B0503020204020204" pitchFamily="34" charset="-122"/>
              </a:rPr>
              <a:t>14</a:t>
            </a:r>
            <a:endParaRPr lang="zh-CN" altLang="en-US" sz="8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3EB1366A-6AC5-DAB6-5D67-0BD14A1521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2419557"/>
              </p:ext>
            </p:extLst>
          </p:nvPr>
        </p:nvGraphicFramePr>
        <p:xfrm>
          <a:off x="533400" y="1397000"/>
          <a:ext cx="11112500" cy="391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2500">
                  <a:extLst>
                    <a:ext uri="{9D8B030D-6E8A-4147-A177-3AD203B41FA5}">
                      <a16:colId xmlns:a16="http://schemas.microsoft.com/office/drawing/2014/main" val="262206333"/>
                    </a:ext>
                  </a:extLst>
                </a:gridCol>
                <a:gridCol w="2222500">
                  <a:extLst>
                    <a:ext uri="{9D8B030D-6E8A-4147-A177-3AD203B41FA5}">
                      <a16:colId xmlns:a16="http://schemas.microsoft.com/office/drawing/2014/main" val="1907943909"/>
                    </a:ext>
                  </a:extLst>
                </a:gridCol>
                <a:gridCol w="2222500">
                  <a:extLst>
                    <a:ext uri="{9D8B030D-6E8A-4147-A177-3AD203B41FA5}">
                      <a16:colId xmlns:a16="http://schemas.microsoft.com/office/drawing/2014/main" val="3940940603"/>
                    </a:ext>
                  </a:extLst>
                </a:gridCol>
                <a:gridCol w="2222500">
                  <a:extLst>
                    <a:ext uri="{9D8B030D-6E8A-4147-A177-3AD203B41FA5}">
                      <a16:colId xmlns:a16="http://schemas.microsoft.com/office/drawing/2014/main" val="3210138579"/>
                    </a:ext>
                  </a:extLst>
                </a:gridCol>
                <a:gridCol w="2222500">
                  <a:extLst>
                    <a:ext uri="{9D8B030D-6E8A-4147-A177-3AD203B41FA5}">
                      <a16:colId xmlns:a16="http://schemas.microsoft.com/office/drawing/2014/main" val="1398866685"/>
                    </a:ext>
                  </a:extLst>
                </a:gridCol>
              </a:tblGrid>
              <a:tr h="488950">
                <a:tc>
                  <a:txBody>
                    <a:bodyPr/>
                    <a:lstStyle/>
                    <a:p>
                      <a:r>
                        <a:rPr lang="zh-CN" altLang="en-US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方法</a:t>
                      </a:r>
                    </a:p>
                  </a:txBody>
                  <a:tcPr marL="38100" marR="38100" marT="25400" marB="25400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设置</a:t>
                      </a:r>
                    </a:p>
                  </a:txBody>
                  <a:tcPr marL="38100" marR="38100" marT="25400" marB="25400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训练</a:t>
                      </a:r>
                    </a:p>
                  </a:txBody>
                  <a:tcPr marL="38100" marR="38100" marT="25400" marB="25400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test1</a:t>
                      </a:r>
                      <a:endParaRPr lang="zh-CN" altLang="en-US" sz="800" b="1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test2</a:t>
                      </a:r>
                      <a:endParaRPr lang="zh-CN" altLang="en-US" sz="800" b="1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>
                    <a:solidFill>
                      <a:srgbClr val="006B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699047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单特征 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Bayes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只用身高，等先验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86.00%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94.29%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91.00%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1416150159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单特征 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Bayes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只用体重，等先验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82.00%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94.29%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85.33%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854511927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二维相关 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Bayes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完整协方差，等先验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88.00%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97.14%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89.33%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553620907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二维不相关 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Bayes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对角协方差，等先验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88.00%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97.14%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90.33%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4033328485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最小风险 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Bayes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自定义损失表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84.00%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94.29%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84.33%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4130775855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Parzen Bayes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h=5.0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87.00%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97.14%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90.33%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3048165126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kNN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k=5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89.00%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100.00%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90.33%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2505166096"/>
                  </a:ext>
                </a:extLst>
              </a:tr>
            </a:tbl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2190403D-DD99-4615-F2C9-FAE1FD17CBFD}"/>
              </a:ext>
            </a:extLst>
          </p:cNvPr>
          <p:cNvSpPr txBox="1"/>
          <p:nvPr/>
        </p:nvSpPr>
        <p:spPr>
          <a:xfrm>
            <a:off x="889000" y="5740400"/>
            <a:ext cx="10414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200" b="1">
                <a:solidFill>
                  <a:srgbClr val="004A82"/>
                </a:solidFill>
                <a:latin typeface="Microsoft YaHei" panose="020B0503020204020204" pitchFamily="34" charset="-122"/>
              </a:rPr>
              <a:t>表中结果说明：二维特征整体更稳定，非参数方法与参数 </a:t>
            </a:r>
            <a:r>
              <a:rPr lang="en-US" altLang="zh-CN" sz="1200" b="1">
                <a:solidFill>
                  <a:srgbClr val="004A82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1200" b="1">
                <a:solidFill>
                  <a:srgbClr val="004A82"/>
                </a:solidFill>
                <a:latin typeface="Microsoft YaHei" panose="020B0503020204020204" pitchFamily="34" charset="-122"/>
              </a:rPr>
              <a:t>表现接近。</a:t>
            </a:r>
          </a:p>
        </p:txBody>
      </p:sp>
    </p:spTree>
    <p:extLst>
      <p:ext uri="{BB962C8B-B14F-4D97-AF65-F5344CB8AC3E}">
        <p14:creationId xmlns:p14="http://schemas.microsoft.com/office/powerpoint/2010/main" val="29895539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560FE52-2416-1664-87D2-621C97B175C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平行四边形 2">
            <a:extLst>
              <a:ext uri="{FF2B5EF4-FFF2-40B4-BE49-F238E27FC236}">
                <a16:creationId xmlns:a16="http://schemas.microsoft.com/office/drawing/2014/main" id="{2BFD156A-F2AA-D227-CBEB-F217C37EEE07}"/>
              </a:ext>
            </a:extLst>
          </p:cNvPr>
          <p:cNvSpPr/>
          <p:nvPr/>
        </p:nvSpPr>
        <p:spPr>
          <a:xfrm>
            <a:off x="-317500" y="-279400"/>
            <a:ext cx="13208000" cy="1041400"/>
          </a:xfrm>
          <a:prstGeom prst="parallelogram">
            <a:avLst>
              <a:gd name="adj" fmla="val 16000"/>
            </a:avLst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C0F179AA-C33F-5BBC-785A-B08DADB52478}"/>
              </a:ext>
            </a:extLst>
          </p:cNvPr>
          <p:cNvSpPr/>
          <p:nvPr/>
        </p:nvSpPr>
        <p:spPr>
          <a:xfrm>
            <a:off x="8953500" y="-101600"/>
            <a:ext cx="3937000" cy="939800"/>
          </a:xfrm>
          <a:prstGeom prst="parallelogram">
            <a:avLst/>
          </a:prstGeom>
          <a:solidFill>
            <a:srgbClr val="3A9BD9">
              <a:alpha val="80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B2FDF5A-043B-DF68-39BA-3ECC81156BBB}"/>
              </a:ext>
            </a:extLst>
          </p:cNvPr>
          <p:cNvSpPr/>
          <p:nvPr/>
        </p:nvSpPr>
        <p:spPr>
          <a:xfrm>
            <a:off x="660400" y="939800"/>
            <a:ext cx="1168400" cy="508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平行四边形 5">
            <a:extLst>
              <a:ext uri="{FF2B5EF4-FFF2-40B4-BE49-F238E27FC236}">
                <a16:creationId xmlns:a16="http://schemas.microsoft.com/office/drawing/2014/main" id="{74CF7774-C049-90EA-8BCF-0CCCD5E4E1A0}"/>
              </a:ext>
            </a:extLst>
          </p:cNvPr>
          <p:cNvSpPr/>
          <p:nvPr/>
        </p:nvSpPr>
        <p:spPr>
          <a:xfrm>
            <a:off x="-1143000" y="6350000"/>
            <a:ext cx="6604000" cy="584200"/>
          </a:xfrm>
          <a:prstGeom prst="parallelogram">
            <a:avLst>
              <a:gd name="adj" fmla="val 28000"/>
            </a:avLst>
          </a:prstGeom>
          <a:solidFill>
            <a:srgbClr val="E3F2F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C2F8866-FA0E-EBE2-2272-68CC997E02FC}"/>
              </a:ext>
            </a:extLst>
          </p:cNvPr>
          <p:cNvSpPr txBox="1"/>
          <p:nvPr/>
        </p:nvSpPr>
        <p:spPr>
          <a:xfrm>
            <a:off x="736600" y="228600"/>
            <a:ext cx="4572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FAFCFF"/>
                </a:solidFill>
                <a:latin typeface="Microsoft YaHei" panose="020B0503020204020204" pitchFamily="34" charset="-122"/>
              </a:rPr>
              <a:t>RESULT ANALYSIS</a:t>
            </a:r>
            <a:endParaRPr lang="zh-CN" altLang="en-US" sz="700" b="1">
              <a:solidFill>
                <a:srgbClr val="FAFC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FC28B34-B651-0D5D-244B-48A5A9D749D5}"/>
              </a:ext>
            </a:extLst>
          </p:cNvPr>
          <p:cNvSpPr txBox="1"/>
          <p:nvPr/>
        </p:nvSpPr>
        <p:spPr>
          <a:xfrm>
            <a:off x="736600" y="482600"/>
            <a:ext cx="8890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000" b="1">
                <a:solidFill>
                  <a:srgbClr val="FAFCFF"/>
                </a:solidFill>
                <a:latin typeface="Microsoft YaHei" panose="020B0503020204020204" pitchFamily="34" charset="-122"/>
              </a:rPr>
              <a:t>单特征对比：身高优于体重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EA5C306-C990-E5BA-6102-C2B88EA84F5C}"/>
              </a:ext>
            </a:extLst>
          </p:cNvPr>
          <p:cNvSpPr txBox="1"/>
          <p:nvPr/>
        </p:nvSpPr>
        <p:spPr>
          <a:xfrm>
            <a:off x="685800" y="6489700"/>
            <a:ext cx="4572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6B7B8C"/>
                </a:solidFill>
                <a:latin typeface="Microsoft YaHei" panose="020B0503020204020204" pitchFamily="34" charset="-122"/>
              </a:rPr>
              <a:t>模式识别课程实验一 </a:t>
            </a:r>
            <a:r>
              <a:rPr lang="en-US" altLang="zh-CN" sz="700">
                <a:solidFill>
                  <a:srgbClr val="6B7B8C"/>
                </a:solidFill>
                <a:latin typeface="Microsoft YaHei" panose="020B0503020204020204" pitchFamily="34" charset="-122"/>
              </a:rPr>
              <a:t>· Bayes </a:t>
            </a:r>
            <a:r>
              <a:rPr lang="zh-CN" altLang="en-US" sz="700">
                <a:solidFill>
                  <a:srgbClr val="6B7B8C"/>
                </a:solidFill>
                <a:latin typeface="Microsoft YaHei" panose="020B0503020204020204" pitchFamily="34" charset="-122"/>
              </a:rPr>
              <a:t>性别分类器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22C9D62-44B0-1015-0724-6EDD7A83966B}"/>
              </a:ext>
            </a:extLst>
          </p:cNvPr>
          <p:cNvSpPr txBox="1"/>
          <p:nvPr/>
        </p:nvSpPr>
        <p:spPr>
          <a:xfrm>
            <a:off x="11277600" y="6438900"/>
            <a:ext cx="4064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800" b="1">
                <a:solidFill>
                  <a:srgbClr val="006BB7"/>
                </a:solidFill>
                <a:latin typeface="Microsoft YaHei" panose="020B0503020204020204" pitchFamily="34" charset="-122"/>
              </a:rPr>
              <a:t>15</a:t>
            </a:r>
            <a:endParaRPr lang="zh-CN" altLang="en-US" sz="8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64BAC835-E975-3911-6967-4C530994DD8B}"/>
              </a:ext>
            </a:extLst>
          </p:cNvPr>
          <p:cNvSpPr/>
          <p:nvPr/>
        </p:nvSpPr>
        <p:spPr>
          <a:xfrm>
            <a:off x="1333500" y="1600200"/>
            <a:ext cx="2286000" cy="863600"/>
          </a:xfrm>
          <a:prstGeom prst="roundRect">
            <a:avLst/>
          </a:prstGeom>
          <a:solidFill>
            <a:srgbClr val="F4FAFF"/>
          </a:solidFill>
          <a:ln w="10160">
            <a:solidFill>
              <a:srgbClr val="C9DD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8B6E89D-2B93-F336-331F-E837526E9C42}"/>
              </a:ext>
            </a:extLst>
          </p:cNvPr>
          <p:cNvSpPr txBox="1"/>
          <p:nvPr/>
        </p:nvSpPr>
        <p:spPr>
          <a:xfrm>
            <a:off x="1485900" y="1701800"/>
            <a:ext cx="2032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006BB7"/>
                </a:solidFill>
                <a:latin typeface="Microsoft YaHei" panose="020B0503020204020204" pitchFamily="34" charset="-122"/>
              </a:rPr>
              <a:t>91.00%</a:t>
            </a:r>
            <a:endParaRPr lang="zh-CN" altLang="en-US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5F4D1E6-AA7E-C7FC-EF9D-2002591F9EE2}"/>
              </a:ext>
            </a:extLst>
          </p:cNvPr>
          <p:cNvSpPr txBox="1"/>
          <p:nvPr/>
        </p:nvSpPr>
        <p:spPr>
          <a:xfrm>
            <a:off x="1485900" y="2095500"/>
            <a:ext cx="2032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6B7B8C"/>
                </a:solidFill>
                <a:latin typeface="Microsoft YaHei" panose="020B0503020204020204" pitchFamily="34" charset="-122"/>
              </a:rPr>
              <a:t>只用身高 </a:t>
            </a:r>
            <a:r>
              <a:rPr lang="en-US" altLang="zh-CN" sz="700">
                <a:solidFill>
                  <a:srgbClr val="6B7B8C"/>
                </a:solidFill>
                <a:latin typeface="Microsoft YaHei" panose="020B0503020204020204" pitchFamily="34" charset="-122"/>
              </a:rPr>
              <a:t>test2</a:t>
            </a:r>
            <a:endParaRPr lang="zh-CN" altLang="en-US" sz="700">
              <a:solidFill>
                <a:srgbClr val="6B7B8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97E28418-534C-7DA6-A9E2-6E12850C2E4E}"/>
              </a:ext>
            </a:extLst>
          </p:cNvPr>
          <p:cNvSpPr/>
          <p:nvPr/>
        </p:nvSpPr>
        <p:spPr>
          <a:xfrm>
            <a:off x="4318000" y="1600200"/>
            <a:ext cx="2286000" cy="863600"/>
          </a:xfrm>
          <a:prstGeom prst="roundRect">
            <a:avLst/>
          </a:prstGeom>
          <a:solidFill>
            <a:srgbClr val="F4FAFF"/>
          </a:solidFill>
          <a:ln w="10160">
            <a:solidFill>
              <a:srgbClr val="C9DD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8CFA7BD-2284-4A17-D2AB-FC8F608917EB}"/>
              </a:ext>
            </a:extLst>
          </p:cNvPr>
          <p:cNvSpPr txBox="1"/>
          <p:nvPr/>
        </p:nvSpPr>
        <p:spPr>
          <a:xfrm>
            <a:off x="4470400" y="1701800"/>
            <a:ext cx="2032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3A9BD9"/>
                </a:solidFill>
                <a:latin typeface="Microsoft YaHei" panose="020B0503020204020204" pitchFamily="34" charset="-122"/>
              </a:rPr>
              <a:t>85.33%</a:t>
            </a:r>
            <a:endParaRPr lang="zh-CN" altLang="en-US" b="1">
              <a:solidFill>
                <a:srgbClr val="3A9BD9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2906D6D-B7BD-2120-8207-8FCBE7A61E6C}"/>
              </a:ext>
            </a:extLst>
          </p:cNvPr>
          <p:cNvSpPr txBox="1"/>
          <p:nvPr/>
        </p:nvSpPr>
        <p:spPr>
          <a:xfrm>
            <a:off x="4470400" y="2095500"/>
            <a:ext cx="2032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6B7B8C"/>
                </a:solidFill>
                <a:latin typeface="Microsoft YaHei" panose="020B0503020204020204" pitchFamily="34" charset="-122"/>
              </a:rPr>
              <a:t>只用体重 </a:t>
            </a:r>
            <a:r>
              <a:rPr lang="en-US" altLang="zh-CN" sz="700">
                <a:solidFill>
                  <a:srgbClr val="6B7B8C"/>
                </a:solidFill>
                <a:latin typeface="Microsoft YaHei" panose="020B0503020204020204" pitchFamily="34" charset="-122"/>
              </a:rPr>
              <a:t>test2</a:t>
            </a:r>
            <a:endParaRPr lang="zh-CN" altLang="en-US" sz="700">
              <a:solidFill>
                <a:srgbClr val="6B7B8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25993F84-76A6-C634-7613-0D86EC0ADFC9}"/>
              </a:ext>
            </a:extLst>
          </p:cNvPr>
          <p:cNvSpPr/>
          <p:nvPr/>
        </p:nvSpPr>
        <p:spPr>
          <a:xfrm>
            <a:off x="7302500" y="1600200"/>
            <a:ext cx="2286000" cy="863600"/>
          </a:xfrm>
          <a:prstGeom prst="roundRect">
            <a:avLst/>
          </a:prstGeom>
          <a:solidFill>
            <a:srgbClr val="F4FAFF"/>
          </a:solidFill>
          <a:ln w="10160">
            <a:solidFill>
              <a:srgbClr val="C9DD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75C7554-15B8-F912-7AB6-5AA3BCABD1D4}"/>
              </a:ext>
            </a:extLst>
          </p:cNvPr>
          <p:cNvSpPr txBox="1"/>
          <p:nvPr/>
        </p:nvSpPr>
        <p:spPr>
          <a:xfrm>
            <a:off x="7454900" y="1701800"/>
            <a:ext cx="2032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D4A84B"/>
                </a:solidFill>
                <a:latin typeface="Microsoft YaHei" panose="020B0503020204020204" pitchFamily="34" charset="-122"/>
              </a:rPr>
              <a:t>+5.67%</a:t>
            </a:r>
            <a:endParaRPr lang="zh-CN" altLang="en-US" b="1">
              <a:solidFill>
                <a:srgbClr val="D4A84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D92C72C-5A02-75A6-EBD8-9F4B88418011}"/>
              </a:ext>
            </a:extLst>
          </p:cNvPr>
          <p:cNvSpPr txBox="1"/>
          <p:nvPr/>
        </p:nvSpPr>
        <p:spPr>
          <a:xfrm>
            <a:off x="7454900" y="2095500"/>
            <a:ext cx="2032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6B7B8C"/>
                </a:solidFill>
                <a:latin typeface="Microsoft YaHei" panose="020B0503020204020204" pitchFamily="34" charset="-122"/>
              </a:rPr>
              <a:t>身高相对提升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71CE2C8D-33B6-D7FE-FA4F-20A7F1483286}"/>
              </a:ext>
            </a:extLst>
          </p:cNvPr>
          <p:cNvSpPr/>
          <p:nvPr/>
        </p:nvSpPr>
        <p:spPr>
          <a:xfrm>
            <a:off x="1397000" y="3365500"/>
            <a:ext cx="9398000" cy="1168400"/>
          </a:xfrm>
          <a:prstGeom prst="roundRect">
            <a:avLst/>
          </a:prstGeom>
          <a:solidFill>
            <a:srgbClr val="E3F2FD"/>
          </a:solidFill>
          <a:ln w="10160">
            <a:solidFill>
              <a:srgbClr val="B6DD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EB91F93-8836-678B-DEC8-7F147F2F7FC1}"/>
              </a:ext>
            </a:extLst>
          </p:cNvPr>
          <p:cNvSpPr txBox="1"/>
          <p:nvPr/>
        </p:nvSpPr>
        <p:spPr>
          <a:xfrm>
            <a:off x="1778000" y="3771900"/>
            <a:ext cx="8636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300" b="1">
                <a:solidFill>
                  <a:srgbClr val="004A82"/>
                </a:solidFill>
                <a:latin typeface="Microsoft YaHei" panose="020B0503020204020204" pitchFamily="34" charset="-122"/>
              </a:rPr>
              <a:t>解释：在该数据集中，男女性别差异在身高上更明显；体重受个体差异影响更大，因此单独使用体重分类效果较弱。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60B8035-E95E-0F6B-6A29-1B2B17986EF9}"/>
              </a:ext>
            </a:extLst>
          </p:cNvPr>
          <p:cNvSpPr txBox="1"/>
          <p:nvPr/>
        </p:nvSpPr>
        <p:spPr>
          <a:xfrm>
            <a:off x="1397000" y="5143500"/>
            <a:ext cx="9398000" cy="595035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228600" indent="-2286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900">
                <a:solidFill>
                  <a:srgbClr val="333D4A"/>
                </a:solidFill>
                <a:latin typeface="Microsoft YaHei" panose="020B0503020204020204" pitchFamily="34" charset="-122"/>
              </a:rPr>
              <a:t>身高一维 </a:t>
            </a:r>
            <a:r>
              <a:rPr lang="en-US" altLang="zh-CN" sz="900">
                <a:solidFill>
                  <a:srgbClr val="333D4A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900">
                <a:solidFill>
                  <a:srgbClr val="333D4A"/>
                </a:solidFill>
                <a:latin typeface="Microsoft YaHei" panose="020B0503020204020204" pitchFamily="34" charset="-122"/>
              </a:rPr>
              <a:t>在 </a:t>
            </a:r>
            <a:r>
              <a:rPr lang="en-US" altLang="zh-CN" sz="900">
                <a:solidFill>
                  <a:srgbClr val="333D4A"/>
                </a:solidFill>
                <a:latin typeface="Microsoft YaHei" panose="020B0503020204020204" pitchFamily="34" charset="-122"/>
              </a:rPr>
              <a:t>test2 </a:t>
            </a:r>
            <a:r>
              <a:rPr lang="zh-CN" altLang="en-US" sz="900">
                <a:solidFill>
                  <a:srgbClr val="333D4A"/>
                </a:solidFill>
                <a:latin typeface="Microsoft YaHei" panose="020B0503020204020204" pitchFamily="34" charset="-122"/>
              </a:rPr>
              <a:t>上达到 </a:t>
            </a:r>
            <a:r>
              <a:rPr lang="en-US" altLang="zh-CN" sz="900">
                <a:solidFill>
                  <a:srgbClr val="333D4A"/>
                </a:solidFill>
                <a:latin typeface="Microsoft YaHei" panose="020B0503020204020204" pitchFamily="34" charset="-122"/>
              </a:rPr>
              <a:t>91.00%</a:t>
            </a:r>
            <a:r>
              <a:rPr lang="zh-CN" altLang="en-US" sz="900">
                <a:solidFill>
                  <a:srgbClr val="333D4A"/>
                </a:solidFill>
                <a:latin typeface="Microsoft YaHei" panose="020B0503020204020204" pitchFamily="34" charset="-122"/>
              </a:rPr>
              <a:t>。</a:t>
            </a:r>
          </a:p>
          <a:p>
            <a:pPr marL="228600" indent="-2286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900">
                <a:solidFill>
                  <a:srgbClr val="333D4A"/>
                </a:solidFill>
                <a:latin typeface="Microsoft YaHei" panose="020B0503020204020204" pitchFamily="34" charset="-122"/>
              </a:rPr>
              <a:t>体重一维 </a:t>
            </a:r>
            <a:r>
              <a:rPr lang="en-US" altLang="zh-CN" sz="900">
                <a:solidFill>
                  <a:srgbClr val="333D4A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900">
                <a:solidFill>
                  <a:srgbClr val="333D4A"/>
                </a:solidFill>
                <a:latin typeface="Microsoft YaHei" panose="020B0503020204020204" pitchFamily="34" charset="-122"/>
              </a:rPr>
              <a:t>在 </a:t>
            </a:r>
            <a:r>
              <a:rPr lang="en-US" altLang="zh-CN" sz="900">
                <a:solidFill>
                  <a:srgbClr val="333D4A"/>
                </a:solidFill>
                <a:latin typeface="Microsoft YaHei" panose="020B0503020204020204" pitchFamily="34" charset="-122"/>
              </a:rPr>
              <a:t>test2 </a:t>
            </a:r>
            <a:r>
              <a:rPr lang="zh-CN" altLang="en-US" sz="900">
                <a:solidFill>
                  <a:srgbClr val="333D4A"/>
                </a:solidFill>
                <a:latin typeface="Microsoft YaHei" panose="020B0503020204020204" pitchFamily="34" charset="-122"/>
              </a:rPr>
              <a:t>上为 </a:t>
            </a:r>
            <a:r>
              <a:rPr lang="en-US" altLang="zh-CN" sz="900">
                <a:solidFill>
                  <a:srgbClr val="333D4A"/>
                </a:solidFill>
                <a:latin typeface="Microsoft YaHei" panose="020B0503020204020204" pitchFamily="34" charset="-122"/>
              </a:rPr>
              <a:t>85.33%</a:t>
            </a:r>
            <a:r>
              <a:rPr lang="zh-CN" altLang="en-US" sz="900">
                <a:solidFill>
                  <a:srgbClr val="333D4A"/>
                </a:solidFill>
                <a:latin typeface="Microsoft YaHei" panose="020B0503020204020204" pitchFamily="34" charset="-122"/>
              </a:rPr>
              <a:t>。</a:t>
            </a:r>
          </a:p>
          <a:p>
            <a:pPr marL="228600" indent="-2286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900">
                <a:solidFill>
                  <a:srgbClr val="333D4A"/>
                </a:solidFill>
                <a:latin typeface="Microsoft YaHei" panose="020B0503020204020204" pitchFamily="34" charset="-122"/>
              </a:rPr>
              <a:t>这说明特征选择会显著影响分类性能。</a:t>
            </a:r>
          </a:p>
        </p:txBody>
      </p:sp>
    </p:spTree>
    <p:extLst>
      <p:ext uri="{BB962C8B-B14F-4D97-AF65-F5344CB8AC3E}">
        <p14:creationId xmlns:p14="http://schemas.microsoft.com/office/powerpoint/2010/main" val="8843007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E76D0BC-40F9-5B45-491D-0F87A5EFC4B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平行四边形 2">
            <a:extLst>
              <a:ext uri="{FF2B5EF4-FFF2-40B4-BE49-F238E27FC236}">
                <a16:creationId xmlns:a16="http://schemas.microsoft.com/office/drawing/2014/main" id="{C0ED5688-37B0-AC82-9273-D79FB663F6FB}"/>
              </a:ext>
            </a:extLst>
          </p:cNvPr>
          <p:cNvSpPr/>
          <p:nvPr/>
        </p:nvSpPr>
        <p:spPr>
          <a:xfrm>
            <a:off x="-317500" y="-279400"/>
            <a:ext cx="13208000" cy="1041400"/>
          </a:xfrm>
          <a:prstGeom prst="parallelogram">
            <a:avLst>
              <a:gd name="adj" fmla="val 16000"/>
            </a:avLst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B4C88173-DD12-3610-6792-27C7FDD46F92}"/>
              </a:ext>
            </a:extLst>
          </p:cNvPr>
          <p:cNvSpPr/>
          <p:nvPr/>
        </p:nvSpPr>
        <p:spPr>
          <a:xfrm>
            <a:off x="8953500" y="-101600"/>
            <a:ext cx="3937000" cy="939800"/>
          </a:xfrm>
          <a:prstGeom prst="parallelogram">
            <a:avLst/>
          </a:prstGeom>
          <a:solidFill>
            <a:srgbClr val="3A9BD9">
              <a:alpha val="80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1E72A68-06C2-C6D0-C76B-6952DB12A03A}"/>
              </a:ext>
            </a:extLst>
          </p:cNvPr>
          <p:cNvSpPr/>
          <p:nvPr/>
        </p:nvSpPr>
        <p:spPr>
          <a:xfrm>
            <a:off x="660400" y="939800"/>
            <a:ext cx="1168400" cy="508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平行四边形 5">
            <a:extLst>
              <a:ext uri="{FF2B5EF4-FFF2-40B4-BE49-F238E27FC236}">
                <a16:creationId xmlns:a16="http://schemas.microsoft.com/office/drawing/2014/main" id="{BC9E8460-43BA-0D17-4DC2-5E6AFF146EF3}"/>
              </a:ext>
            </a:extLst>
          </p:cNvPr>
          <p:cNvSpPr/>
          <p:nvPr/>
        </p:nvSpPr>
        <p:spPr>
          <a:xfrm>
            <a:off x="-1143000" y="6350000"/>
            <a:ext cx="6604000" cy="584200"/>
          </a:xfrm>
          <a:prstGeom prst="parallelogram">
            <a:avLst>
              <a:gd name="adj" fmla="val 28000"/>
            </a:avLst>
          </a:prstGeom>
          <a:solidFill>
            <a:srgbClr val="E3F2F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4DAC04C-1FC3-63EC-DEA1-45FCBC9E4A0B}"/>
              </a:ext>
            </a:extLst>
          </p:cNvPr>
          <p:cNvSpPr txBox="1"/>
          <p:nvPr/>
        </p:nvSpPr>
        <p:spPr>
          <a:xfrm>
            <a:off x="736600" y="228600"/>
            <a:ext cx="4572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FAFCFF"/>
                </a:solidFill>
                <a:latin typeface="Microsoft YaHei" panose="020B0503020204020204" pitchFamily="34" charset="-122"/>
              </a:rPr>
              <a:t>RESULT ANALYSIS</a:t>
            </a:r>
            <a:endParaRPr lang="zh-CN" altLang="en-US" sz="700" b="1">
              <a:solidFill>
                <a:srgbClr val="FAFC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DB574FE-4777-FFC0-92C8-83BC529AE1FB}"/>
              </a:ext>
            </a:extLst>
          </p:cNvPr>
          <p:cNvSpPr txBox="1"/>
          <p:nvPr/>
        </p:nvSpPr>
        <p:spPr>
          <a:xfrm>
            <a:off x="736600" y="482600"/>
            <a:ext cx="8890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000" b="1">
                <a:solidFill>
                  <a:srgbClr val="FAFCFF"/>
                </a:solidFill>
                <a:latin typeface="Microsoft YaHei" panose="020B0503020204020204" pitchFamily="34" charset="-122"/>
              </a:rPr>
              <a:t>二维特征与协方差假设对比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DF4CA0E-4497-B79B-769D-538295B21ACC}"/>
              </a:ext>
            </a:extLst>
          </p:cNvPr>
          <p:cNvSpPr txBox="1"/>
          <p:nvPr/>
        </p:nvSpPr>
        <p:spPr>
          <a:xfrm>
            <a:off x="685800" y="6489700"/>
            <a:ext cx="4572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6B7B8C"/>
                </a:solidFill>
                <a:latin typeface="Microsoft YaHei" panose="020B0503020204020204" pitchFamily="34" charset="-122"/>
              </a:rPr>
              <a:t>模式识别课程实验一 </a:t>
            </a:r>
            <a:r>
              <a:rPr lang="en-US" altLang="zh-CN" sz="700">
                <a:solidFill>
                  <a:srgbClr val="6B7B8C"/>
                </a:solidFill>
                <a:latin typeface="Microsoft YaHei" panose="020B0503020204020204" pitchFamily="34" charset="-122"/>
              </a:rPr>
              <a:t>· Bayes </a:t>
            </a:r>
            <a:r>
              <a:rPr lang="zh-CN" altLang="en-US" sz="700">
                <a:solidFill>
                  <a:srgbClr val="6B7B8C"/>
                </a:solidFill>
                <a:latin typeface="Microsoft YaHei" panose="020B0503020204020204" pitchFamily="34" charset="-122"/>
              </a:rPr>
              <a:t>性别分类器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E1DF0F2-3884-1EA7-F1BD-19D2DE226EF8}"/>
              </a:ext>
            </a:extLst>
          </p:cNvPr>
          <p:cNvSpPr txBox="1"/>
          <p:nvPr/>
        </p:nvSpPr>
        <p:spPr>
          <a:xfrm>
            <a:off x="11277600" y="6438900"/>
            <a:ext cx="4064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800" b="1">
                <a:solidFill>
                  <a:srgbClr val="006BB7"/>
                </a:solidFill>
                <a:latin typeface="Microsoft YaHei" panose="020B0503020204020204" pitchFamily="34" charset="-122"/>
              </a:rPr>
              <a:t>16</a:t>
            </a:r>
            <a:endParaRPr lang="zh-CN" altLang="en-US" sz="8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5770E244-429C-096E-FFFF-418FBE9B2A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1688419"/>
              </p:ext>
            </p:extLst>
          </p:nvPr>
        </p:nvGraphicFramePr>
        <p:xfrm>
          <a:off x="1397000" y="1587500"/>
          <a:ext cx="9398000" cy="142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9500">
                  <a:extLst>
                    <a:ext uri="{9D8B030D-6E8A-4147-A177-3AD203B41FA5}">
                      <a16:colId xmlns:a16="http://schemas.microsoft.com/office/drawing/2014/main" val="3183471462"/>
                    </a:ext>
                  </a:extLst>
                </a:gridCol>
                <a:gridCol w="2349500">
                  <a:extLst>
                    <a:ext uri="{9D8B030D-6E8A-4147-A177-3AD203B41FA5}">
                      <a16:colId xmlns:a16="http://schemas.microsoft.com/office/drawing/2014/main" val="2093078072"/>
                    </a:ext>
                  </a:extLst>
                </a:gridCol>
                <a:gridCol w="2349500">
                  <a:extLst>
                    <a:ext uri="{9D8B030D-6E8A-4147-A177-3AD203B41FA5}">
                      <a16:colId xmlns:a16="http://schemas.microsoft.com/office/drawing/2014/main" val="1126175303"/>
                    </a:ext>
                  </a:extLst>
                </a:gridCol>
                <a:gridCol w="2349500">
                  <a:extLst>
                    <a:ext uri="{9D8B030D-6E8A-4147-A177-3AD203B41FA5}">
                      <a16:colId xmlns:a16="http://schemas.microsoft.com/office/drawing/2014/main" val="1440725981"/>
                    </a:ext>
                  </a:extLst>
                </a:gridCol>
              </a:tblGrid>
              <a:tr h="474133">
                <a:tc>
                  <a:txBody>
                    <a:bodyPr/>
                    <a:lstStyle/>
                    <a:p>
                      <a:r>
                        <a:rPr lang="zh-CN" altLang="en-US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模型</a:t>
                      </a:r>
                    </a:p>
                  </a:txBody>
                  <a:tcPr marL="38100" marR="38100" marT="25400" marB="25400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训练准确率</a:t>
                      </a:r>
                    </a:p>
                  </a:txBody>
                  <a:tcPr marL="38100" marR="38100" marT="25400" marB="25400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test1</a:t>
                      </a:r>
                      <a:r>
                        <a:rPr lang="zh-CN" altLang="en-US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准确率</a:t>
                      </a:r>
                    </a:p>
                  </a:txBody>
                  <a:tcPr marL="38100" marR="38100" marT="25400" marB="25400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test2</a:t>
                      </a:r>
                      <a:r>
                        <a:rPr lang="zh-CN" altLang="en-US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准确率</a:t>
                      </a:r>
                    </a:p>
                  </a:txBody>
                  <a:tcPr marL="38100" marR="38100" marT="25400" marB="25400">
                    <a:solidFill>
                      <a:srgbClr val="006B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8412678"/>
                  </a:ext>
                </a:extLst>
              </a:tr>
              <a:tr h="474133"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完整协方差 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Bayes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88.00%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97.14%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89.33%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3737191030"/>
                  </a:ext>
                </a:extLst>
              </a:tr>
              <a:tr h="474133"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对角协方差 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Bayes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88.00%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97.14%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90.33%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3014543107"/>
                  </a:ext>
                </a:extLst>
              </a:tr>
            </a:tbl>
          </a:graphicData>
        </a:graphic>
      </p:graphicFrame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D8062655-25E5-B060-D9E6-A062EB7968C6}"/>
              </a:ext>
            </a:extLst>
          </p:cNvPr>
          <p:cNvSpPr/>
          <p:nvPr/>
        </p:nvSpPr>
        <p:spPr>
          <a:xfrm>
            <a:off x="1524000" y="3683000"/>
            <a:ext cx="3810000" cy="1117600"/>
          </a:xfrm>
          <a:prstGeom prst="roundRect">
            <a:avLst/>
          </a:prstGeom>
          <a:solidFill>
            <a:srgbClr val="FAFCFF"/>
          </a:solidFill>
          <a:ln w="10160">
            <a:solidFill>
              <a:srgbClr val="C9DD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41FA2FC-EAA5-5E5E-3EE2-83FD37105004}"/>
              </a:ext>
            </a:extLst>
          </p:cNvPr>
          <p:cNvSpPr/>
          <p:nvPr/>
        </p:nvSpPr>
        <p:spPr>
          <a:xfrm>
            <a:off x="1524000" y="3683000"/>
            <a:ext cx="63500" cy="11176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B545AAF-1DA7-29C0-2CCD-5E8FD16E9FDB}"/>
              </a:ext>
            </a:extLst>
          </p:cNvPr>
          <p:cNvSpPr txBox="1"/>
          <p:nvPr/>
        </p:nvSpPr>
        <p:spPr>
          <a:xfrm>
            <a:off x="1727200" y="3810000"/>
            <a:ext cx="34798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1A2E44"/>
                </a:solidFill>
                <a:latin typeface="Microsoft YaHei" panose="020B0503020204020204" pitchFamily="34" charset="-122"/>
              </a:rPr>
              <a:t>完整协方差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2B08C67-FC97-37D1-1C97-F9BC7883F602}"/>
              </a:ext>
            </a:extLst>
          </p:cNvPr>
          <p:cNvSpPr txBox="1"/>
          <p:nvPr/>
        </p:nvSpPr>
        <p:spPr>
          <a:xfrm>
            <a:off x="1727200" y="4114800"/>
            <a:ext cx="34798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333D4A"/>
                </a:solidFill>
                <a:latin typeface="Microsoft YaHei" panose="020B0503020204020204" pitchFamily="34" charset="-122"/>
              </a:rPr>
              <a:t>能表达身高和体重相关性，模型更灵活，但参数估计方差较大。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74E1938C-6E41-DA9C-F541-1FEB04839700}"/>
              </a:ext>
            </a:extLst>
          </p:cNvPr>
          <p:cNvSpPr/>
          <p:nvPr/>
        </p:nvSpPr>
        <p:spPr>
          <a:xfrm>
            <a:off x="6858000" y="3683000"/>
            <a:ext cx="3810000" cy="1117600"/>
          </a:xfrm>
          <a:prstGeom prst="roundRect">
            <a:avLst/>
          </a:prstGeom>
          <a:solidFill>
            <a:srgbClr val="FAFCFF"/>
          </a:solidFill>
          <a:ln w="10160">
            <a:solidFill>
              <a:srgbClr val="C9DD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232A68F-D277-3371-6C9F-A7E0B3292C25}"/>
              </a:ext>
            </a:extLst>
          </p:cNvPr>
          <p:cNvSpPr/>
          <p:nvPr/>
        </p:nvSpPr>
        <p:spPr>
          <a:xfrm>
            <a:off x="6858000" y="3683000"/>
            <a:ext cx="63500" cy="1117600"/>
          </a:xfrm>
          <a:prstGeom prst="rect">
            <a:avLst/>
          </a:prstGeom>
          <a:solidFill>
            <a:srgbClr val="3A9B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4B19808-010E-0394-2021-81C9B398AFBC}"/>
              </a:ext>
            </a:extLst>
          </p:cNvPr>
          <p:cNvSpPr txBox="1"/>
          <p:nvPr/>
        </p:nvSpPr>
        <p:spPr>
          <a:xfrm>
            <a:off x="7061200" y="3810000"/>
            <a:ext cx="34798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1A2E44"/>
                </a:solidFill>
                <a:latin typeface="Microsoft YaHei" panose="020B0503020204020204" pitchFamily="34" charset="-122"/>
              </a:rPr>
              <a:t>对角协方差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BE8DB1C-EAFE-F958-FAED-7D22C310B86B}"/>
              </a:ext>
            </a:extLst>
          </p:cNvPr>
          <p:cNvSpPr txBox="1"/>
          <p:nvPr/>
        </p:nvSpPr>
        <p:spPr>
          <a:xfrm>
            <a:off x="7061200" y="4114800"/>
            <a:ext cx="34798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333D4A"/>
                </a:solidFill>
                <a:latin typeface="Microsoft YaHei" panose="020B0503020204020204" pitchFamily="34" charset="-122"/>
              </a:rPr>
              <a:t>忽略相关性，参数更少，在 </a:t>
            </a:r>
            <a:r>
              <a:rPr lang="en-US" altLang="zh-CN" sz="800">
                <a:solidFill>
                  <a:srgbClr val="333D4A"/>
                </a:solidFill>
                <a:latin typeface="Microsoft YaHei" panose="020B0503020204020204" pitchFamily="34" charset="-122"/>
              </a:rPr>
              <a:t>test2 </a:t>
            </a:r>
            <a:r>
              <a:rPr lang="zh-CN" altLang="en-US" sz="800">
                <a:solidFill>
                  <a:srgbClr val="333D4A"/>
                </a:solidFill>
                <a:latin typeface="Microsoft YaHei" panose="020B0503020204020204" pitchFamily="34" charset="-122"/>
              </a:rPr>
              <a:t>上反而略好，说明小样本下更稳定。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F943CF7-5C7A-7E96-4BC1-ED78B8AB1BAA}"/>
              </a:ext>
            </a:extLst>
          </p:cNvPr>
          <p:cNvSpPr txBox="1"/>
          <p:nvPr/>
        </p:nvSpPr>
        <p:spPr>
          <a:xfrm>
            <a:off x="1651000" y="5461000"/>
            <a:ext cx="8890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200" b="1">
                <a:solidFill>
                  <a:srgbClr val="004A82"/>
                </a:solidFill>
                <a:latin typeface="Microsoft YaHei" panose="020B0503020204020204" pitchFamily="34" charset="-122"/>
              </a:rPr>
              <a:t>结论：模型复杂度并非越高越好，需要结合样本规模和测试表现判断。</a:t>
            </a:r>
          </a:p>
        </p:txBody>
      </p:sp>
    </p:spTree>
    <p:extLst>
      <p:ext uri="{BB962C8B-B14F-4D97-AF65-F5344CB8AC3E}">
        <p14:creationId xmlns:p14="http://schemas.microsoft.com/office/powerpoint/2010/main" val="34591220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CB24448-726C-C379-77F2-432389128AF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平行四边形 2">
            <a:extLst>
              <a:ext uri="{FF2B5EF4-FFF2-40B4-BE49-F238E27FC236}">
                <a16:creationId xmlns:a16="http://schemas.microsoft.com/office/drawing/2014/main" id="{B5CDF071-F7EB-F687-6EE0-0A2287F868FF}"/>
              </a:ext>
            </a:extLst>
          </p:cNvPr>
          <p:cNvSpPr/>
          <p:nvPr/>
        </p:nvSpPr>
        <p:spPr>
          <a:xfrm>
            <a:off x="-317500" y="-279400"/>
            <a:ext cx="13208000" cy="1041400"/>
          </a:xfrm>
          <a:prstGeom prst="parallelogram">
            <a:avLst>
              <a:gd name="adj" fmla="val 16000"/>
            </a:avLst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AF4654AA-B140-4478-A722-D491CF6CCBEC}"/>
              </a:ext>
            </a:extLst>
          </p:cNvPr>
          <p:cNvSpPr/>
          <p:nvPr/>
        </p:nvSpPr>
        <p:spPr>
          <a:xfrm>
            <a:off x="8953500" y="-101600"/>
            <a:ext cx="3937000" cy="939800"/>
          </a:xfrm>
          <a:prstGeom prst="parallelogram">
            <a:avLst/>
          </a:prstGeom>
          <a:solidFill>
            <a:srgbClr val="3A9BD9">
              <a:alpha val="80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1AA299F-A076-242D-2D6E-7A7857849078}"/>
              </a:ext>
            </a:extLst>
          </p:cNvPr>
          <p:cNvSpPr/>
          <p:nvPr/>
        </p:nvSpPr>
        <p:spPr>
          <a:xfrm>
            <a:off x="660400" y="939800"/>
            <a:ext cx="1168400" cy="508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平行四边形 5">
            <a:extLst>
              <a:ext uri="{FF2B5EF4-FFF2-40B4-BE49-F238E27FC236}">
                <a16:creationId xmlns:a16="http://schemas.microsoft.com/office/drawing/2014/main" id="{93A88873-0715-7322-E111-BBC7AAFBC6EB}"/>
              </a:ext>
            </a:extLst>
          </p:cNvPr>
          <p:cNvSpPr/>
          <p:nvPr/>
        </p:nvSpPr>
        <p:spPr>
          <a:xfrm>
            <a:off x="-1143000" y="6350000"/>
            <a:ext cx="6604000" cy="584200"/>
          </a:xfrm>
          <a:prstGeom prst="parallelogram">
            <a:avLst>
              <a:gd name="adj" fmla="val 28000"/>
            </a:avLst>
          </a:prstGeom>
          <a:solidFill>
            <a:srgbClr val="E3F2F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74E053B-266D-E893-D122-55EF66195909}"/>
              </a:ext>
            </a:extLst>
          </p:cNvPr>
          <p:cNvSpPr txBox="1"/>
          <p:nvPr/>
        </p:nvSpPr>
        <p:spPr>
          <a:xfrm>
            <a:off x="736600" y="228600"/>
            <a:ext cx="4572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FAFCFF"/>
                </a:solidFill>
                <a:latin typeface="Microsoft YaHei" panose="020B0503020204020204" pitchFamily="34" charset="-122"/>
              </a:rPr>
              <a:t>RESULT ANALYSIS</a:t>
            </a:r>
            <a:endParaRPr lang="zh-CN" altLang="en-US" sz="700" b="1">
              <a:solidFill>
                <a:srgbClr val="FAFC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182C7DB-AFE0-6B7F-D45F-1D19906D614F}"/>
              </a:ext>
            </a:extLst>
          </p:cNvPr>
          <p:cNvSpPr txBox="1"/>
          <p:nvPr/>
        </p:nvSpPr>
        <p:spPr>
          <a:xfrm>
            <a:off x="736600" y="482600"/>
            <a:ext cx="8890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000" b="1">
                <a:solidFill>
                  <a:srgbClr val="FAFCFF"/>
                </a:solidFill>
                <a:latin typeface="Microsoft YaHei" panose="020B0503020204020204" pitchFamily="34" charset="-122"/>
              </a:rPr>
              <a:t>先验概率影响实验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1D54731-AC63-5C87-065C-D5BD0ED806C5}"/>
              </a:ext>
            </a:extLst>
          </p:cNvPr>
          <p:cNvSpPr txBox="1"/>
          <p:nvPr/>
        </p:nvSpPr>
        <p:spPr>
          <a:xfrm>
            <a:off x="685800" y="6489700"/>
            <a:ext cx="4572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6B7B8C"/>
                </a:solidFill>
                <a:latin typeface="Microsoft YaHei" panose="020B0503020204020204" pitchFamily="34" charset="-122"/>
              </a:rPr>
              <a:t>模式识别课程实验一 </a:t>
            </a:r>
            <a:r>
              <a:rPr lang="en-US" altLang="zh-CN" sz="700">
                <a:solidFill>
                  <a:srgbClr val="6B7B8C"/>
                </a:solidFill>
                <a:latin typeface="Microsoft YaHei" panose="020B0503020204020204" pitchFamily="34" charset="-122"/>
              </a:rPr>
              <a:t>· Bayes </a:t>
            </a:r>
            <a:r>
              <a:rPr lang="zh-CN" altLang="en-US" sz="700">
                <a:solidFill>
                  <a:srgbClr val="6B7B8C"/>
                </a:solidFill>
                <a:latin typeface="Microsoft YaHei" panose="020B0503020204020204" pitchFamily="34" charset="-122"/>
              </a:rPr>
              <a:t>性别分类器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D13241A-2411-F81F-E20E-3B56792CAA83}"/>
              </a:ext>
            </a:extLst>
          </p:cNvPr>
          <p:cNvSpPr txBox="1"/>
          <p:nvPr/>
        </p:nvSpPr>
        <p:spPr>
          <a:xfrm>
            <a:off x="11277600" y="6438900"/>
            <a:ext cx="4064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800" b="1">
                <a:solidFill>
                  <a:srgbClr val="006BB7"/>
                </a:solidFill>
                <a:latin typeface="Microsoft YaHei" panose="020B0503020204020204" pitchFamily="34" charset="-122"/>
              </a:rPr>
              <a:t>17</a:t>
            </a:r>
            <a:endParaRPr lang="zh-CN" altLang="en-US" sz="8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4675804D-CA78-D51C-B824-B764EF6C83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9443450"/>
              </p:ext>
            </p:extLst>
          </p:nvPr>
        </p:nvGraphicFramePr>
        <p:xfrm>
          <a:off x="1244600" y="1524000"/>
          <a:ext cx="9652000" cy="1714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3000">
                  <a:extLst>
                    <a:ext uri="{9D8B030D-6E8A-4147-A177-3AD203B41FA5}">
                      <a16:colId xmlns:a16="http://schemas.microsoft.com/office/drawing/2014/main" val="3110985372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550043866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166777478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560717686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r>
                        <a:rPr lang="zh-CN" altLang="en-US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先验设置</a:t>
                      </a:r>
                    </a:p>
                  </a:txBody>
                  <a:tcPr marL="38100" marR="38100" marT="25400" marB="25400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训练准确率</a:t>
                      </a:r>
                    </a:p>
                  </a:txBody>
                  <a:tcPr marL="38100" marR="38100" marT="25400" marB="25400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test1</a:t>
                      </a:r>
                      <a:r>
                        <a:rPr lang="zh-CN" altLang="en-US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准确率</a:t>
                      </a:r>
                    </a:p>
                  </a:txBody>
                  <a:tcPr marL="38100" marR="38100" marT="25400" marB="25400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test2</a:t>
                      </a:r>
                      <a:r>
                        <a:rPr lang="zh-CN" altLang="en-US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准确率</a:t>
                      </a:r>
                    </a:p>
                  </a:txBody>
                  <a:tcPr marL="38100" marR="38100" marT="25400" marB="25400">
                    <a:solidFill>
                      <a:srgbClr val="006B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0297264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P(F)=0.50, P(M)=0.50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88.00%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97.14%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89.33%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1839549478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P(F)=0.75, P(M)=0.25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86.00%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85.71%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80.00%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2791437845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P(F)=0.90, P(M)=0.10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79.00%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80.00%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67.33%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214180928"/>
                  </a:ext>
                </a:extLst>
              </a:tr>
            </a:tbl>
          </a:graphicData>
        </a:graphic>
      </p:graphicFrame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D2D7CDFD-2412-57CC-7C45-618443DF58A6}"/>
              </a:ext>
            </a:extLst>
          </p:cNvPr>
          <p:cNvSpPr/>
          <p:nvPr/>
        </p:nvSpPr>
        <p:spPr>
          <a:xfrm>
            <a:off x="1549400" y="4000500"/>
            <a:ext cx="1905000" cy="736600"/>
          </a:xfrm>
          <a:prstGeom prst="roundRect">
            <a:avLst/>
          </a:prstGeom>
          <a:solidFill>
            <a:srgbClr val="F4FAFF"/>
          </a:solidFill>
          <a:ln w="10160">
            <a:solidFill>
              <a:srgbClr val="C9DD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6009694-5C4F-4799-4AB6-10A4326C41C6}"/>
              </a:ext>
            </a:extLst>
          </p:cNvPr>
          <p:cNvSpPr txBox="1"/>
          <p:nvPr/>
        </p:nvSpPr>
        <p:spPr>
          <a:xfrm>
            <a:off x="1701800" y="4102100"/>
            <a:ext cx="1651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006BB7"/>
                </a:solidFill>
                <a:latin typeface="Microsoft YaHei" panose="020B0503020204020204" pitchFamily="34" charset="-122"/>
              </a:rPr>
              <a:t>89.33%</a:t>
            </a:r>
            <a:endParaRPr lang="zh-CN" altLang="en-US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FF49666-476A-461E-A782-4F9327C4BE41}"/>
              </a:ext>
            </a:extLst>
          </p:cNvPr>
          <p:cNvSpPr txBox="1"/>
          <p:nvPr/>
        </p:nvSpPr>
        <p:spPr>
          <a:xfrm>
            <a:off x="1701800" y="4495800"/>
            <a:ext cx="1651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6B7B8C"/>
                </a:solidFill>
                <a:latin typeface="Microsoft YaHei" panose="020B0503020204020204" pitchFamily="34" charset="-122"/>
              </a:rPr>
              <a:t>等先验 </a:t>
            </a:r>
            <a:r>
              <a:rPr lang="en-US" altLang="zh-CN" sz="700">
                <a:solidFill>
                  <a:srgbClr val="6B7B8C"/>
                </a:solidFill>
                <a:latin typeface="Microsoft YaHei" panose="020B0503020204020204" pitchFamily="34" charset="-122"/>
              </a:rPr>
              <a:t>test2</a:t>
            </a:r>
            <a:endParaRPr lang="zh-CN" altLang="en-US" sz="700">
              <a:solidFill>
                <a:srgbClr val="6B7B8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B11EB87A-E15E-9B8D-8829-A19035F7CD5C}"/>
              </a:ext>
            </a:extLst>
          </p:cNvPr>
          <p:cNvSpPr/>
          <p:nvPr/>
        </p:nvSpPr>
        <p:spPr>
          <a:xfrm>
            <a:off x="4089400" y="4000500"/>
            <a:ext cx="1905000" cy="736600"/>
          </a:xfrm>
          <a:prstGeom prst="roundRect">
            <a:avLst/>
          </a:prstGeom>
          <a:solidFill>
            <a:srgbClr val="F4FAFF"/>
          </a:solidFill>
          <a:ln w="10160">
            <a:solidFill>
              <a:srgbClr val="C9DD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DFA3B7C-B24C-9D2D-1C26-10B265BCB662}"/>
              </a:ext>
            </a:extLst>
          </p:cNvPr>
          <p:cNvSpPr txBox="1"/>
          <p:nvPr/>
        </p:nvSpPr>
        <p:spPr>
          <a:xfrm>
            <a:off x="4241800" y="4102100"/>
            <a:ext cx="1651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3A9BD9"/>
                </a:solidFill>
                <a:latin typeface="Microsoft YaHei" panose="020B0503020204020204" pitchFamily="34" charset="-122"/>
              </a:rPr>
              <a:t>80.00%</a:t>
            </a:r>
            <a:endParaRPr lang="zh-CN" altLang="en-US" b="1">
              <a:solidFill>
                <a:srgbClr val="3A9BD9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B6A4744-BA3C-5577-1580-B411102F493E}"/>
              </a:ext>
            </a:extLst>
          </p:cNvPr>
          <p:cNvSpPr txBox="1"/>
          <p:nvPr/>
        </p:nvSpPr>
        <p:spPr>
          <a:xfrm>
            <a:off x="4241800" y="4495800"/>
            <a:ext cx="1651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6B7B8C"/>
                </a:solidFill>
                <a:latin typeface="Microsoft YaHei" panose="020B0503020204020204" pitchFamily="34" charset="-122"/>
              </a:rPr>
              <a:t>女生先验 </a:t>
            </a:r>
            <a:r>
              <a:rPr lang="en-US" altLang="zh-CN" sz="700">
                <a:solidFill>
                  <a:srgbClr val="6B7B8C"/>
                </a:solidFill>
                <a:latin typeface="Microsoft YaHei" panose="020B0503020204020204" pitchFamily="34" charset="-122"/>
              </a:rPr>
              <a:t>0.75</a:t>
            </a:r>
            <a:endParaRPr lang="zh-CN" altLang="en-US" sz="700">
              <a:solidFill>
                <a:srgbClr val="6B7B8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0EF78B8D-8CC3-6F17-BFB1-AC8F37AE5B1B}"/>
              </a:ext>
            </a:extLst>
          </p:cNvPr>
          <p:cNvSpPr/>
          <p:nvPr/>
        </p:nvSpPr>
        <p:spPr>
          <a:xfrm>
            <a:off x="6629400" y="4000500"/>
            <a:ext cx="1905000" cy="736600"/>
          </a:xfrm>
          <a:prstGeom prst="roundRect">
            <a:avLst/>
          </a:prstGeom>
          <a:solidFill>
            <a:srgbClr val="F4FAFF"/>
          </a:solidFill>
          <a:ln w="10160">
            <a:solidFill>
              <a:srgbClr val="C9DD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1C14BDB-7C14-128D-7AD8-7DB8B5A56997}"/>
              </a:ext>
            </a:extLst>
          </p:cNvPr>
          <p:cNvSpPr txBox="1"/>
          <p:nvPr/>
        </p:nvSpPr>
        <p:spPr>
          <a:xfrm>
            <a:off x="6781800" y="4102100"/>
            <a:ext cx="1651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EA580C"/>
                </a:solidFill>
                <a:latin typeface="Microsoft YaHei" panose="020B0503020204020204" pitchFamily="34" charset="-122"/>
              </a:rPr>
              <a:t>67.33%</a:t>
            </a:r>
            <a:endParaRPr lang="zh-CN" altLang="en-US" b="1">
              <a:solidFill>
                <a:srgbClr val="EA580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D0DC954-9479-BD71-F065-F4FFE3186DC6}"/>
              </a:ext>
            </a:extLst>
          </p:cNvPr>
          <p:cNvSpPr txBox="1"/>
          <p:nvPr/>
        </p:nvSpPr>
        <p:spPr>
          <a:xfrm>
            <a:off x="6781800" y="4495800"/>
            <a:ext cx="1651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6B7B8C"/>
                </a:solidFill>
                <a:latin typeface="Microsoft YaHei" panose="020B0503020204020204" pitchFamily="34" charset="-122"/>
              </a:rPr>
              <a:t>女生先验 </a:t>
            </a:r>
            <a:r>
              <a:rPr lang="en-US" altLang="zh-CN" sz="700">
                <a:solidFill>
                  <a:srgbClr val="6B7B8C"/>
                </a:solidFill>
                <a:latin typeface="Microsoft YaHei" panose="020B0503020204020204" pitchFamily="34" charset="-122"/>
              </a:rPr>
              <a:t>0.90</a:t>
            </a:r>
            <a:endParaRPr lang="zh-CN" altLang="en-US" sz="700">
              <a:solidFill>
                <a:srgbClr val="6B7B8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B92E8DEB-E1AD-3996-1DC6-6B7CFBEA0A46}"/>
              </a:ext>
            </a:extLst>
          </p:cNvPr>
          <p:cNvSpPr/>
          <p:nvPr/>
        </p:nvSpPr>
        <p:spPr>
          <a:xfrm>
            <a:off x="8890000" y="3886200"/>
            <a:ext cx="2159000" cy="1066800"/>
          </a:xfrm>
          <a:prstGeom prst="roundRect">
            <a:avLst/>
          </a:prstGeom>
          <a:solidFill>
            <a:srgbClr val="FAFCFF"/>
          </a:solidFill>
          <a:ln w="10160">
            <a:solidFill>
              <a:srgbClr val="C9DD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639BA4D-B744-3ABA-A2BD-5B1AF28A92D1}"/>
              </a:ext>
            </a:extLst>
          </p:cNvPr>
          <p:cNvSpPr/>
          <p:nvPr/>
        </p:nvSpPr>
        <p:spPr>
          <a:xfrm>
            <a:off x="8890000" y="3886200"/>
            <a:ext cx="63500" cy="1066800"/>
          </a:xfrm>
          <a:prstGeom prst="rect">
            <a:avLst/>
          </a:prstGeom>
          <a:solidFill>
            <a:srgbClr val="EA580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BCC6AE0-AF3C-36E3-56DE-4A0684D6981D}"/>
              </a:ext>
            </a:extLst>
          </p:cNvPr>
          <p:cNvSpPr txBox="1"/>
          <p:nvPr/>
        </p:nvSpPr>
        <p:spPr>
          <a:xfrm>
            <a:off x="9093200" y="4013200"/>
            <a:ext cx="18288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1A2E44"/>
                </a:solidFill>
                <a:latin typeface="Microsoft YaHei" panose="020B0503020204020204" pitchFamily="34" charset="-122"/>
              </a:rPr>
              <a:t>原因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F7D783F-E032-FFC3-C598-0E0E52D9AE13}"/>
              </a:ext>
            </a:extLst>
          </p:cNvPr>
          <p:cNvSpPr txBox="1"/>
          <p:nvPr/>
        </p:nvSpPr>
        <p:spPr>
          <a:xfrm>
            <a:off x="9093200" y="4318000"/>
            <a:ext cx="18288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00">
                <a:solidFill>
                  <a:srgbClr val="333D4A"/>
                </a:solidFill>
                <a:latin typeface="Microsoft YaHei" panose="020B0503020204020204" pitchFamily="34" charset="-122"/>
              </a:rPr>
              <a:t>test2 </a:t>
            </a:r>
            <a:r>
              <a:rPr lang="zh-CN" altLang="en-US" sz="800">
                <a:solidFill>
                  <a:srgbClr val="333D4A"/>
                </a:solidFill>
                <a:latin typeface="Microsoft YaHei" panose="020B0503020204020204" pitchFamily="34" charset="-122"/>
              </a:rPr>
              <a:t>中男生占多数，女生先验过高会导致男生被大量误判为女生。</a:t>
            </a:r>
          </a:p>
        </p:txBody>
      </p:sp>
    </p:spTree>
    <p:extLst>
      <p:ext uri="{BB962C8B-B14F-4D97-AF65-F5344CB8AC3E}">
        <p14:creationId xmlns:p14="http://schemas.microsoft.com/office/powerpoint/2010/main" val="27319697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CAF7528-9BDF-6532-FC7A-1DFF0D6EC4C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平行四边形 2">
            <a:extLst>
              <a:ext uri="{FF2B5EF4-FFF2-40B4-BE49-F238E27FC236}">
                <a16:creationId xmlns:a16="http://schemas.microsoft.com/office/drawing/2014/main" id="{887F1D63-6AED-1190-8F8A-76C0126A5D0D}"/>
              </a:ext>
            </a:extLst>
          </p:cNvPr>
          <p:cNvSpPr/>
          <p:nvPr/>
        </p:nvSpPr>
        <p:spPr>
          <a:xfrm>
            <a:off x="-317500" y="-279400"/>
            <a:ext cx="13208000" cy="1041400"/>
          </a:xfrm>
          <a:prstGeom prst="parallelogram">
            <a:avLst>
              <a:gd name="adj" fmla="val 16000"/>
            </a:avLst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E8AC1B1E-6758-BFE0-4657-764FA0E36497}"/>
              </a:ext>
            </a:extLst>
          </p:cNvPr>
          <p:cNvSpPr/>
          <p:nvPr/>
        </p:nvSpPr>
        <p:spPr>
          <a:xfrm>
            <a:off x="8953500" y="-101600"/>
            <a:ext cx="3937000" cy="939800"/>
          </a:xfrm>
          <a:prstGeom prst="parallelogram">
            <a:avLst/>
          </a:prstGeom>
          <a:solidFill>
            <a:srgbClr val="3A9BD9">
              <a:alpha val="80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70A4562-2AAE-934E-1BBD-C585F947CE5E}"/>
              </a:ext>
            </a:extLst>
          </p:cNvPr>
          <p:cNvSpPr/>
          <p:nvPr/>
        </p:nvSpPr>
        <p:spPr>
          <a:xfrm>
            <a:off x="660400" y="939800"/>
            <a:ext cx="1168400" cy="508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平行四边形 5">
            <a:extLst>
              <a:ext uri="{FF2B5EF4-FFF2-40B4-BE49-F238E27FC236}">
                <a16:creationId xmlns:a16="http://schemas.microsoft.com/office/drawing/2014/main" id="{338144F9-8A8C-1D9C-6D0A-2AF03709B844}"/>
              </a:ext>
            </a:extLst>
          </p:cNvPr>
          <p:cNvSpPr/>
          <p:nvPr/>
        </p:nvSpPr>
        <p:spPr>
          <a:xfrm>
            <a:off x="-1143000" y="6350000"/>
            <a:ext cx="6604000" cy="584200"/>
          </a:xfrm>
          <a:prstGeom prst="parallelogram">
            <a:avLst>
              <a:gd name="adj" fmla="val 28000"/>
            </a:avLst>
          </a:prstGeom>
          <a:solidFill>
            <a:srgbClr val="E3F2F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F2FE71A-80D4-B4DF-C568-C010D4BE285E}"/>
              </a:ext>
            </a:extLst>
          </p:cNvPr>
          <p:cNvSpPr txBox="1"/>
          <p:nvPr/>
        </p:nvSpPr>
        <p:spPr>
          <a:xfrm>
            <a:off x="736600" y="228600"/>
            <a:ext cx="4572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FAFCFF"/>
                </a:solidFill>
                <a:latin typeface="Microsoft YaHei" panose="020B0503020204020204" pitchFamily="34" charset="-122"/>
              </a:rPr>
              <a:t>RESULT ANALYSIS</a:t>
            </a:r>
            <a:endParaRPr lang="zh-CN" altLang="en-US" sz="700" b="1">
              <a:solidFill>
                <a:srgbClr val="FAFC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D1DE05F-090A-1634-FF75-62B8164E8F5F}"/>
              </a:ext>
            </a:extLst>
          </p:cNvPr>
          <p:cNvSpPr txBox="1"/>
          <p:nvPr/>
        </p:nvSpPr>
        <p:spPr>
          <a:xfrm>
            <a:off x="736600" y="482600"/>
            <a:ext cx="8890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000" b="1">
                <a:solidFill>
                  <a:srgbClr val="FAFCFF"/>
                </a:solidFill>
                <a:latin typeface="Microsoft YaHei" panose="020B0503020204020204" pitchFamily="34" charset="-122"/>
              </a:rPr>
              <a:t>最小风险 </a:t>
            </a:r>
            <a:r>
              <a:rPr lang="en-US" altLang="zh-CN" sz="2000" b="1">
                <a:solidFill>
                  <a:srgbClr val="FAFCFF"/>
                </a:solidFill>
                <a:latin typeface="Microsoft YaHei" panose="020B0503020204020204" pitchFamily="34" charset="-122"/>
              </a:rPr>
              <a:t>Bayes</a:t>
            </a:r>
            <a:r>
              <a:rPr lang="zh-CN" altLang="en-US" sz="2000" b="1">
                <a:solidFill>
                  <a:srgbClr val="FAFCFF"/>
                </a:solidFill>
                <a:latin typeface="Microsoft YaHei" panose="020B0503020204020204" pitchFamily="34" charset="-122"/>
              </a:rPr>
              <a:t>：准确率不是唯一目标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FDEB855-08E9-C2B1-57D8-EC8D2CDF3718}"/>
              </a:ext>
            </a:extLst>
          </p:cNvPr>
          <p:cNvSpPr txBox="1"/>
          <p:nvPr/>
        </p:nvSpPr>
        <p:spPr>
          <a:xfrm>
            <a:off x="685800" y="6489700"/>
            <a:ext cx="4572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6B7B8C"/>
                </a:solidFill>
                <a:latin typeface="Microsoft YaHei" panose="020B0503020204020204" pitchFamily="34" charset="-122"/>
              </a:rPr>
              <a:t>模式识别课程实验一 </a:t>
            </a:r>
            <a:r>
              <a:rPr lang="en-US" altLang="zh-CN" sz="700">
                <a:solidFill>
                  <a:srgbClr val="6B7B8C"/>
                </a:solidFill>
                <a:latin typeface="Microsoft YaHei" panose="020B0503020204020204" pitchFamily="34" charset="-122"/>
              </a:rPr>
              <a:t>· Bayes </a:t>
            </a:r>
            <a:r>
              <a:rPr lang="zh-CN" altLang="en-US" sz="700">
                <a:solidFill>
                  <a:srgbClr val="6B7B8C"/>
                </a:solidFill>
                <a:latin typeface="Microsoft YaHei" panose="020B0503020204020204" pitchFamily="34" charset="-122"/>
              </a:rPr>
              <a:t>性别分类器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7223214-2BA8-5419-1D06-11B8661DF4FA}"/>
              </a:ext>
            </a:extLst>
          </p:cNvPr>
          <p:cNvSpPr txBox="1"/>
          <p:nvPr/>
        </p:nvSpPr>
        <p:spPr>
          <a:xfrm>
            <a:off x="11277600" y="6438900"/>
            <a:ext cx="4064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800" b="1">
                <a:solidFill>
                  <a:srgbClr val="006BB7"/>
                </a:solidFill>
                <a:latin typeface="Microsoft YaHei" panose="020B0503020204020204" pitchFamily="34" charset="-122"/>
              </a:rPr>
              <a:t>18</a:t>
            </a:r>
            <a:endParaRPr lang="zh-CN" altLang="en-US" sz="8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B20F6A67-517C-B80F-D9FA-F035866B1D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2125096"/>
              </p:ext>
            </p:extLst>
          </p:nvPr>
        </p:nvGraphicFramePr>
        <p:xfrm>
          <a:off x="1460500" y="1524000"/>
          <a:ext cx="9271000" cy="1333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7750">
                  <a:extLst>
                    <a:ext uri="{9D8B030D-6E8A-4147-A177-3AD203B41FA5}">
                      <a16:colId xmlns:a16="http://schemas.microsoft.com/office/drawing/2014/main" val="3905224615"/>
                    </a:ext>
                  </a:extLst>
                </a:gridCol>
                <a:gridCol w="2317750">
                  <a:extLst>
                    <a:ext uri="{9D8B030D-6E8A-4147-A177-3AD203B41FA5}">
                      <a16:colId xmlns:a16="http://schemas.microsoft.com/office/drawing/2014/main" val="2656793424"/>
                    </a:ext>
                  </a:extLst>
                </a:gridCol>
                <a:gridCol w="2317750">
                  <a:extLst>
                    <a:ext uri="{9D8B030D-6E8A-4147-A177-3AD203B41FA5}">
                      <a16:colId xmlns:a16="http://schemas.microsoft.com/office/drawing/2014/main" val="1346295484"/>
                    </a:ext>
                  </a:extLst>
                </a:gridCol>
                <a:gridCol w="2317750">
                  <a:extLst>
                    <a:ext uri="{9D8B030D-6E8A-4147-A177-3AD203B41FA5}">
                      <a16:colId xmlns:a16="http://schemas.microsoft.com/office/drawing/2014/main" val="1416577964"/>
                    </a:ext>
                  </a:extLst>
                </a:gridCol>
              </a:tblGrid>
              <a:tr h="444500">
                <a:tc>
                  <a:txBody>
                    <a:bodyPr/>
                    <a:lstStyle/>
                    <a:p>
                      <a:r>
                        <a:rPr lang="zh-CN" altLang="en-US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方法</a:t>
                      </a:r>
                    </a:p>
                  </a:txBody>
                  <a:tcPr marL="38100" marR="38100" marT="25400" marB="25400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训练</a:t>
                      </a:r>
                    </a:p>
                  </a:txBody>
                  <a:tcPr marL="38100" marR="38100" marT="25400" marB="25400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test1</a:t>
                      </a:r>
                      <a:endParaRPr lang="zh-CN" altLang="en-US" sz="800" b="1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test2</a:t>
                      </a:r>
                      <a:endParaRPr lang="zh-CN" altLang="en-US" sz="800" b="1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>
                    <a:solidFill>
                      <a:srgbClr val="006B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2959994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最小错误率 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Bayes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88.00%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97.14%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89.33%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1478973103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最小风险 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Bayes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84.00%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94.29%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84.33%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1207877344"/>
                  </a:ext>
                </a:extLst>
              </a:tr>
            </a:tbl>
          </a:graphicData>
        </a:graphic>
      </p:graphicFrame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7DFFCEE1-5129-9A1C-197B-8D9AF06C032D}"/>
              </a:ext>
            </a:extLst>
          </p:cNvPr>
          <p:cNvSpPr/>
          <p:nvPr/>
        </p:nvSpPr>
        <p:spPr>
          <a:xfrm>
            <a:off x="1422400" y="3492500"/>
            <a:ext cx="9347200" cy="990600"/>
          </a:xfrm>
          <a:prstGeom prst="roundRect">
            <a:avLst/>
          </a:prstGeom>
          <a:solidFill>
            <a:srgbClr val="E3F2FD"/>
          </a:solidFill>
          <a:ln w="10160">
            <a:solidFill>
              <a:srgbClr val="B6DD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E0656F5-BD36-5895-30F9-CA8FE490F0E1}"/>
              </a:ext>
            </a:extLst>
          </p:cNvPr>
          <p:cNvSpPr txBox="1"/>
          <p:nvPr/>
        </p:nvSpPr>
        <p:spPr>
          <a:xfrm>
            <a:off x="1803400" y="3886200"/>
            <a:ext cx="8636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400" b="1">
                <a:solidFill>
                  <a:srgbClr val="004A82"/>
                </a:solidFill>
                <a:latin typeface="Microsoft YaHei" panose="020B0503020204020204" pitchFamily="34" charset="-122"/>
              </a:rPr>
              <a:t>最小风险 </a:t>
            </a:r>
            <a:r>
              <a:rPr lang="en-US" altLang="zh-CN" sz="1400" b="1">
                <a:solidFill>
                  <a:srgbClr val="004A82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1400" b="1">
                <a:solidFill>
                  <a:srgbClr val="004A82"/>
                </a:solidFill>
                <a:latin typeface="Microsoft YaHei" panose="020B0503020204020204" pitchFamily="34" charset="-122"/>
              </a:rPr>
              <a:t>的目标不是最高准确率，而是降低加权错误代价。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1B691F9-38D8-7E53-3C06-47FC87D629E6}"/>
              </a:ext>
            </a:extLst>
          </p:cNvPr>
          <p:cNvSpPr txBox="1"/>
          <p:nvPr/>
        </p:nvSpPr>
        <p:spPr>
          <a:xfrm>
            <a:off x="1422400" y="5080000"/>
            <a:ext cx="9347200" cy="595035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228600" indent="-2286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900">
                <a:solidFill>
                  <a:srgbClr val="333D4A"/>
                </a:solidFill>
                <a:latin typeface="Microsoft YaHei" panose="020B0503020204020204" pitchFamily="34" charset="-122"/>
              </a:rPr>
              <a:t>当 </a:t>
            </a:r>
            <a:r>
              <a:rPr lang="en-US" altLang="zh-CN" sz="900">
                <a:solidFill>
                  <a:srgbClr val="333D4A"/>
                </a:solidFill>
                <a:latin typeface="Microsoft YaHei" panose="020B0503020204020204" pitchFamily="34" charset="-122"/>
              </a:rPr>
              <a:t>λ(M|F)=2 </a:t>
            </a:r>
            <a:r>
              <a:rPr lang="zh-CN" altLang="en-US" sz="900">
                <a:solidFill>
                  <a:srgbClr val="333D4A"/>
                </a:solidFill>
                <a:latin typeface="Microsoft YaHei" panose="020B0503020204020204" pitchFamily="34" charset="-122"/>
              </a:rPr>
              <a:t>时，女生误判为男生的代价更高。</a:t>
            </a:r>
          </a:p>
          <a:p>
            <a:pPr marL="228600" indent="-2286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900">
                <a:solidFill>
                  <a:srgbClr val="333D4A"/>
                </a:solidFill>
                <a:latin typeface="Microsoft YaHei" panose="020B0503020204020204" pitchFamily="34" charset="-122"/>
              </a:rPr>
              <a:t>分类器会更保守地判为男生，因此总体准确率可能下降。</a:t>
            </a:r>
          </a:p>
          <a:p>
            <a:pPr marL="228600" indent="-2286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900">
                <a:solidFill>
                  <a:srgbClr val="333D4A"/>
                </a:solidFill>
                <a:latin typeface="Microsoft YaHei" panose="020B0503020204020204" pitchFamily="34" charset="-122"/>
              </a:rPr>
              <a:t>这体现了实际任务中根据错误代价设计分类器的思想。</a:t>
            </a:r>
          </a:p>
        </p:txBody>
      </p:sp>
    </p:spTree>
    <p:extLst>
      <p:ext uri="{BB962C8B-B14F-4D97-AF65-F5344CB8AC3E}">
        <p14:creationId xmlns:p14="http://schemas.microsoft.com/office/powerpoint/2010/main" val="13302168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0D55A1B-34A6-7EA4-C9EA-DF2410503FC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平行四边形 2">
            <a:extLst>
              <a:ext uri="{FF2B5EF4-FFF2-40B4-BE49-F238E27FC236}">
                <a16:creationId xmlns:a16="http://schemas.microsoft.com/office/drawing/2014/main" id="{85A7B3CE-494A-D48F-C87E-9B4E265A4583}"/>
              </a:ext>
            </a:extLst>
          </p:cNvPr>
          <p:cNvSpPr/>
          <p:nvPr/>
        </p:nvSpPr>
        <p:spPr>
          <a:xfrm>
            <a:off x="-317500" y="-279400"/>
            <a:ext cx="13208000" cy="1041400"/>
          </a:xfrm>
          <a:prstGeom prst="parallelogram">
            <a:avLst>
              <a:gd name="adj" fmla="val 16000"/>
            </a:avLst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3A2E62FB-8C71-12FA-4799-31A19FC706FF}"/>
              </a:ext>
            </a:extLst>
          </p:cNvPr>
          <p:cNvSpPr/>
          <p:nvPr/>
        </p:nvSpPr>
        <p:spPr>
          <a:xfrm>
            <a:off x="8953500" y="-101600"/>
            <a:ext cx="3937000" cy="939800"/>
          </a:xfrm>
          <a:prstGeom prst="parallelogram">
            <a:avLst/>
          </a:prstGeom>
          <a:solidFill>
            <a:srgbClr val="3A9BD9">
              <a:alpha val="80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FAC28E0-C432-7C74-70F1-A9AB6536FD5A}"/>
              </a:ext>
            </a:extLst>
          </p:cNvPr>
          <p:cNvSpPr/>
          <p:nvPr/>
        </p:nvSpPr>
        <p:spPr>
          <a:xfrm>
            <a:off x="660400" y="939800"/>
            <a:ext cx="1168400" cy="508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平行四边形 5">
            <a:extLst>
              <a:ext uri="{FF2B5EF4-FFF2-40B4-BE49-F238E27FC236}">
                <a16:creationId xmlns:a16="http://schemas.microsoft.com/office/drawing/2014/main" id="{A95613E6-60C4-2F3E-7EA9-F94730880FF2}"/>
              </a:ext>
            </a:extLst>
          </p:cNvPr>
          <p:cNvSpPr/>
          <p:nvPr/>
        </p:nvSpPr>
        <p:spPr>
          <a:xfrm>
            <a:off x="-1143000" y="6350000"/>
            <a:ext cx="6604000" cy="584200"/>
          </a:xfrm>
          <a:prstGeom prst="parallelogram">
            <a:avLst>
              <a:gd name="adj" fmla="val 28000"/>
            </a:avLst>
          </a:prstGeom>
          <a:solidFill>
            <a:srgbClr val="E3F2F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4FF032E-185B-A9DF-18BD-E40FBC64487F}"/>
              </a:ext>
            </a:extLst>
          </p:cNvPr>
          <p:cNvSpPr txBox="1"/>
          <p:nvPr/>
        </p:nvSpPr>
        <p:spPr>
          <a:xfrm>
            <a:off x="736600" y="228600"/>
            <a:ext cx="4572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FAFCFF"/>
                </a:solidFill>
                <a:latin typeface="Microsoft YaHei" panose="020B0503020204020204" pitchFamily="34" charset="-122"/>
              </a:rPr>
              <a:t>RESULT ANALYSIS</a:t>
            </a:r>
            <a:endParaRPr lang="zh-CN" altLang="en-US" sz="700" b="1">
              <a:solidFill>
                <a:srgbClr val="FAFC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0F6F9CD-CAAC-3131-78CF-EAE56C83A641}"/>
              </a:ext>
            </a:extLst>
          </p:cNvPr>
          <p:cNvSpPr txBox="1"/>
          <p:nvPr/>
        </p:nvSpPr>
        <p:spPr>
          <a:xfrm>
            <a:off x="736600" y="482600"/>
            <a:ext cx="8890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000" b="1">
                <a:solidFill>
                  <a:srgbClr val="FAFCFF"/>
                </a:solidFill>
                <a:latin typeface="Microsoft YaHei" panose="020B0503020204020204" pitchFamily="34" charset="-122"/>
              </a:rPr>
              <a:t>非参数方法结果：</a:t>
            </a:r>
            <a:r>
              <a:rPr lang="en-US" altLang="zh-CN" sz="2000" b="1">
                <a:solidFill>
                  <a:srgbClr val="FAFCFF"/>
                </a:solidFill>
                <a:latin typeface="Microsoft YaHei" panose="020B0503020204020204" pitchFamily="34" charset="-122"/>
              </a:rPr>
              <a:t>Parzen </a:t>
            </a:r>
            <a:r>
              <a:rPr lang="zh-CN" altLang="en-US" sz="2000" b="1">
                <a:solidFill>
                  <a:srgbClr val="FAFCFF"/>
                </a:solidFill>
                <a:latin typeface="Microsoft YaHei" panose="020B0503020204020204" pitchFamily="34" charset="-122"/>
              </a:rPr>
              <a:t>与 </a:t>
            </a:r>
            <a:r>
              <a:rPr lang="en-US" altLang="zh-CN" sz="2000" b="1">
                <a:solidFill>
                  <a:srgbClr val="FAFCFF"/>
                </a:solidFill>
                <a:latin typeface="Microsoft YaHei" panose="020B0503020204020204" pitchFamily="34" charset="-122"/>
              </a:rPr>
              <a:t>kNN</a:t>
            </a:r>
            <a:endParaRPr lang="zh-CN" altLang="en-US" sz="2000" b="1">
              <a:solidFill>
                <a:srgbClr val="FAFC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4BBF19C-97C7-2C47-B4FF-A907C2785501}"/>
              </a:ext>
            </a:extLst>
          </p:cNvPr>
          <p:cNvSpPr txBox="1"/>
          <p:nvPr/>
        </p:nvSpPr>
        <p:spPr>
          <a:xfrm>
            <a:off x="685800" y="6489700"/>
            <a:ext cx="4572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6B7B8C"/>
                </a:solidFill>
                <a:latin typeface="Microsoft YaHei" panose="020B0503020204020204" pitchFamily="34" charset="-122"/>
              </a:rPr>
              <a:t>模式识别课程实验一 </a:t>
            </a:r>
            <a:r>
              <a:rPr lang="en-US" altLang="zh-CN" sz="700">
                <a:solidFill>
                  <a:srgbClr val="6B7B8C"/>
                </a:solidFill>
                <a:latin typeface="Microsoft YaHei" panose="020B0503020204020204" pitchFamily="34" charset="-122"/>
              </a:rPr>
              <a:t>· Bayes </a:t>
            </a:r>
            <a:r>
              <a:rPr lang="zh-CN" altLang="en-US" sz="700">
                <a:solidFill>
                  <a:srgbClr val="6B7B8C"/>
                </a:solidFill>
                <a:latin typeface="Microsoft YaHei" panose="020B0503020204020204" pitchFamily="34" charset="-122"/>
              </a:rPr>
              <a:t>性别分类器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9D2529F-8CF8-4670-7941-D5E902B4CA33}"/>
              </a:ext>
            </a:extLst>
          </p:cNvPr>
          <p:cNvSpPr txBox="1"/>
          <p:nvPr/>
        </p:nvSpPr>
        <p:spPr>
          <a:xfrm>
            <a:off x="11277600" y="6438900"/>
            <a:ext cx="4064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800" b="1">
                <a:solidFill>
                  <a:srgbClr val="006BB7"/>
                </a:solidFill>
                <a:latin typeface="Microsoft YaHei" panose="020B0503020204020204" pitchFamily="34" charset="-122"/>
              </a:rPr>
              <a:t>19</a:t>
            </a:r>
            <a:endParaRPr lang="zh-CN" altLang="en-US" sz="8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FD035A49-AE4A-B2B3-BFEF-D6D0CDE260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9948124"/>
              </p:ext>
            </p:extLst>
          </p:nvPr>
        </p:nvGraphicFramePr>
        <p:xfrm>
          <a:off x="1333500" y="1524000"/>
          <a:ext cx="9525000" cy="162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1250">
                  <a:extLst>
                    <a:ext uri="{9D8B030D-6E8A-4147-A177-3AD203B41FA5}">
                      <a16:colId xmlns:a16="http://schemas.microsoft.com/office/drawing/2014/main" val="1629174674"/>
                    </a:ext>
                  </a:extLst>
                </a:gridCol>
                <a:gridCol w="2381250">
                  <a:extLst>
                    <a:ext uri="{9D8B030D-6E8A-4147-A177-3AD203B41FA5}">
                      <a16:colId xmlns:a16="http://schemas.microsoft.com/office/drawing/2014/main" val="3551464002"/>
                    </a:ext>
                  </a:extLst>
                </a:gridCol>
                <a:gridCol w="2381250">
                  <a:extLst>
                    <a:ext uri="{9D8B030D-6E8A-4147-A177-3AD203B41FA5}">
                      <a16:colId xmlns:a16="http://schemas.microsoft.com/office/drawing/2014/main" val="3628571464"/>
                    </a:ext>
                  </a:extLst>
                </a:gridCol>
                <a:gridCol w="2381250">
                  <a:extLst>
                    <a:ext uri="{9D8B030D-6E8A-4147-A177-3AD203B41FA5}">
                      <a16:colId xmlns:a16="http://schemas.microsoft.com/office/drawing/2014/main" val="1027072422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r>
                        <a:rPr lang="zh-CN" altLang="en-US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方法</a:t>
                      </a:r>
                    </a:p>
                  </a:txBody>
                  <a:tcPr marL="38100" marR="38100" marT="25400" marB="25400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训练准确率</a:t>
                      </a:r>
                    </a:p>
                  </a:txBody>
                  <a:tcPr marL="38100" marR="38100" marT="25400" marB="25400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test1</a:t>
                      </a:r>
                      <a:r>
                        <a:rPr lang="zh-CN" altLang="en-US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准确率</a:t>
                      </a:r>
                    </a:p>
                  </a:txBody>
                  <a:tcPr marL="38100" marR="38100" marT="25400" marB="25400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test2</a:t>
                      </a:r>
                      <a:r>
                        <a:rPr lang="zh-CN" altLang="en-US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准确率</a:t>
                      </a:r>
                    </a:p>
                  </a:txBody>
                  <a:tcPr marL="38100" marR="38100" marT="25400" marB="25400">
                    <a:solidFill>
                      <a:srgbClr val="006B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835753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Parzen Bayes, h=5.0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87.00%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97.14%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90.33%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410078418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kNN, k=5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89.00%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100.00%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90.33%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1953686588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二维对角 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Bayes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88.00%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97.14%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90.33%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3952676609"/>
                  </a:ext>
                </a:extLst>
              </a:tr>
            </a:tbl>
          </a:graphicData>
        </a:graphic>
      </p:graphicFrame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5CC5F152-4CED-ED9E-A214-B1DE1713D5FE}"/>
              </a:ext>
            </a:extLst>
          </p:cNvPr>
          <p:cNvSpPr/>
          <p:nvPr/>
        </p:nvSpPr>
        <p:spPr>
          <a:xfrm>
            <a:off x="1460500" y="3873500"/>
            <a:ext cx="3810000" cy="1117600"/>
          </a:xfrm>
          <a:prstGeom prst="roundRect">
            <a:avLst/>
          </a:prstGeom>
          <a:solidFill>
            <a:srgbClr val="FAFCFF"/>
          </a:solidFill>
          <a:ln w="10160">
            <a:solidFill>
              <a:srgbClr val="C9DD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6AB3AE6-CB07-E0C3-5BBF-91A1918C51E1}"/>
              </a:ext>
            </a:extLst>
          </p:cNvPr>
          <p:cNvSpPr/>
          <p:nvPr/>
        </p:nvSpPr>
        <p:spPr>
          <a:xfrm>
            <a:off x="1460500" y="3873500"/>
            <a:ext cx="63500" cy="11176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ACCABAD-6EA8-B4FD-4FF8-EA3A4DF1DAA2}"/>
              </a:ext>
            </a:extLst>
          </p:cNvPr>
          <p:cNvSpPr txBox="1"/>
          <p:nvPr/>
        </p:nvSpPr>
        <p:spPr>
          <a:xfrm>
            <a:off x="1663700" y="4000500"/>
            <a:ext cx="34798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1A2E44"/>
                </a:solidFill>
                <a:latin typeface="Microsoft YaHei" panose="020B0503020204020204" pitchFamily="34" charset="-122"/>
              </a:rPr>
              <a:t>Parzen</a:t>
            </a:r>
            <a:endParaRPr lang="zh-CN" altLang="en-US" sz="1000" b="1">
              <a:solidFill>
                <a:srgbClr val="1A2E4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85AA893-50E0-2BD3-2CAF-D48EE516CC47}"/>
              </a:ext>
            </a:extLst>
          </p:cNvPr>
          <p:cNvSpPr txBox="1"/>
          <p:nvPr/>
        </p:nvSpPr>
        <p:spPr>
          <a:xfrm>
            <a:off x="1663700" y="4305300"/>
            <a:ext cx="34798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333D4A"/>
                </a:solidFill>
                <a:latin typeface="Microsoft YaHei" panose="020B0503020204020204" pitchFamily="34" charset="-122"/>
              </a:rPr>
              <a:t>不依赖正态分布假设，可利用样本局部密度，但受窗口宽度 </a:t>
            </a:r>
            <a:r>
              <a:rPr lang="en-US" altLang="zh-CN" sz="800">
                <a:solidFill>
                  <a:srgbClr val="333D4A"/>
                </a:solidFill>
                <a:latin typeface="Microsoft YaHei" panose="020B0503020204020204" pitchFamily="34" charset="-122"/>
              </a:rPr>
              <a:t>h </a:t>
            </a:r>
            <a:r>
              <a:rPr lang="zh-CN" altLang="en-US" sz="800">
                <a:solidFill>
                  <a:srgbClr val="333D4A"/>
                </a:solidFill>
                <a:latin typeface="Microsoft YaHei" panose="020B0503020204020204" pitchFamily="34" charset="-122"/>
              </a:rPr>
              <a:t>影响。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6F02337E-EFA0-F07E-ABF9-A25664084C95}"/>
              </a:ext>
            </a:extLst>
          </p:cNvPr>
          <p:cNvSpPr/>
          <p:nvPr/>
        </p:nvSpPr>
        <p:spPr>
          <a:xfrm>
            <a:off x="6921500" y="3873500"/>
            <a:ext cx="3810000" cy="1117600"/>
          </a:xfrm>
          <a:prstGeom prst="roundRect">
            <a:avLst/>
          </a:prstGeom>
          <a:solidFill>
            <a:srgbClr val="FAFCFF"/>
          </a:solidFill>
          <a:ln w="10160">
            <a:solidFill>
              <a:srgbClr val="C9DD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29DC25A-D79D-938D-4FDC-532CB95EB748}"/>
              </a:ext>
            </a:extLst>
          </p:cNvPr>
          <p:cNvSpPr/>
          <p:nvPr/>
        </p:nvSpPr>
        <p:spPr>
          <a:xfrm>
            <a:off x="6921500" y="3873500"/>
            <a:ext cx="63500" cy="1117600"/>
          </a:xfrm>
          <a:prstGeom prst="rect">
            <a:avLst/>
          </a:prstGeom>
          <a:solidFill>
            <a:srgbClr val="3A9B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3842658-C8A3-4D43-C6F1-21D8C7F1D870}"/>
              </a:ext>
            </a:extLst>
          </p:cNvPr>
          <p:cNvSpPr txBox="1"/>
          <p:nvPr/>
        </p:nvSpPr>
        <p:spPr>
          <a:xfrm>
            <a:off x="7124700" y="4000500"/>
            <a:ext cx="34798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1A2E44"/>
                </a:solidFill>
                <a:latin typeface="Microsoft YaHei" panose="020B0503020204020204" pitchFamily="34" charset="-122"/>
              </a:rPr>
              <a:t>kNN</a:t>
            </a:r>
            <a:endParaRPr lang="zh-CN" altLang="en-US" sz="1000" b="1">
              <a:solidFill>
                <a:srgbClr val="1A2E4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8866F24-6363-2115-3733-F6CB0F56F824}"/>
              </a:ext>
            </a:extLst>
          </p:cNvPr>
          <p:cNvSpPr txBox="1"/>
          <p:nvPr/>
        </p:nvSpPr>
        <p:spPr>
          <a:xfrm>
            <a:off x="7124700" y="4305300"/>
            <a:ext cx="34798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333D4A"/>
                </a:solidFill>
                <a:latin typeface="Microsoft YaHei" panose="020B0503020204020204" pitchFamily="34" charset="-122"/>
              </a:rPr>
              <a:t>直接利用最近邻投票，直观有效，但预测时需要计算与训练样本的距离。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0A0A1E9-664D-37FE-1EB0-F9D8FAB7302A}"/>
              </a:ext>
            </a:extLst>
          </p:cNvPr>
          <p:cNvSpPr txBox="1"/>
          <p:nvPr/>
        </p:nvSpPr>
        <p:spPr>
          <a:xfrm>
            <a:off x="1714500" y="5651500"/>
            <a:ext cx="8763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200" b="1">
                <a:solidFill>
                  <a:srgbClr val="004A82"/>
                </a:solidFill>
                <a:latin typeface="Microsoft YaHei" panose="020B0503020204020204" pitchFamily="34" charset="-122"/>
              </a:rPr>
              <a:t>结论：在该二维数据集上，非参数方法能达到与参数 </a:t>
            </a:r>
            <a:r>
              <a:rPr lang="en-US" altLang="zh-CN" sz="1200" b="1">
                <a:solidFill>
                  <a:srgbClr val="004A82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1200" b="1">
                <a:solidFill>
                  <a:srgbClr val="004A82"/>
                </a:solidFill>
                <a:latin typeface="Microsoft YaHei" panose="020B0503020204020204" pitchFamily="34" charset="-122"/>
              </a:rPr>
              <a:t>接近的性能。</a:t>
            </a:r>
          </a:p>
        </p:txBody>
      </p:sp>
    </p:spTree>
    <p:extLst>
      <p:ext uri="{BB962C8B-B14F-4D97-AF65-F5344CB8AC3E}">
        <p14:creationId xmlns:p14="http://schemas.microsoft.com/office/powerpoint/2010/main" val="487941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FE95147-5A38-ABD5-E572-776B2422FAC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平行四边形 2">
            <a:extLst>
              <a:ext uri="{FF2B5EF4-FFF2-40B4-BE49-F238E27FC236}">
                <a16:creationId xmlns:a16="http://schemas.microsoft.com/office/drawing/2014/main" id="{B3AC9D83-33C6-89D7-445B-8C60DD51E765}"/>
              </a:ext>
            </a:extLst>
          </p:cNvPr>
          <p:cNvSpPr/>
          <p:nvPr/>
        </p:nvSpPr>
        <p:spPr>
          <a:xfrm>
            <a:off x="-317500" y="-279400"/>
            <a:ext cx="13208000" cy="1041400"/>
          </a:xfrm>
          <a:prstGeom prst="parallelogram">
            <a:avLst>
              <a:gd name="adj" fmla="val 16000"/>
            </a:avLst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2DFA6695-637E-513F-E0EB-06747C938DDF}"/>
              </a:ext>
            </a:extLst>
          </p:cNvPr>
          <p:cNvSpPr/>
          <p:nvPr/>
        </p:nvSpPr>
        <p:spPr>
          <a:xfrm>
            <a:off x="8953500" y="-101600"/>
            <a:ext cx="3937000" cy="939800"/>
          </a:xfrm>
          <a:prstGeom prst="parallelogram">
            <a:avLst/>
          </a:prstGeom>
          <a:solidFill>
            <a:srgbClr val="3A9BD9">
              <a:alpha val="80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0BA860C-343A-EF3B-69E1-E41DC26AD2AC}"/>
              </a:ext>
            </a:extLst>
          </p:cNvPr>
          <p:cNvSpPr/>
          <p:nvPr/>
        </p:nvSpPr>
        <p:spPr>
          <a:xfrm>
            <a:off x="660400" y="939800"/>
            <a:ext cx="1168400" cy="508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平行四边形 5">
            <a:extLst>
              <a:ext uri="{FF2B5EF4-FFF2-40B4-BE49-F238E27FC236}">
                <a16:creationId xmlns:a16="http://schemas.microsoft.com/office/drawing/2014/main" id="{8DC28830-EE78-640D-DC70-A6C5D4C566F4}"/>
              </a:ext>
            </a:extLst>
          </p:cNvPr>
          <p:cNvSpPr/>
          <p:nvPr/>
        </p:nvSpPr>
        <p:spPr>
          <a:xfrm>
            <a:off x="-1143000" y="6350000"/>
            <a:ext cx="6604000" cy="584200"/>
          </a:xfrm>
          <a:prstGeom prst="parallelogram">
            <a:avLst>
              <a:gd name="adj" fmla="val 28000"/>
            </a:avLst>
          </a:prstGeom>
          <a:solidFill>
            <a:srgbClr val="E3F2F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4842FDC-A321-663A-D89A-7D4438D57AA3}"/>
              </a:ext>
            </a:extLst>
          </p:cNvPr>
          <p:cNvSpPr txBox="1"/>
          <p:nvPr/>
        </p:nvSpPr>
        <p:spPr>
          <a:xfrm>
            <a:off x="736600" y="228600"/>
            <a:ext cx="4572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FAFCFF"/>
                </a:solidFill>
                <a:latin typeface="Microsoft YaHei" panose="020B0503020204020204" pitchFamily="34" charset="-122"/>
              </a:rPr>
              <a:t>RESULT FIGURE</a:t>
            </a:r>
            <a:endParaRPr lang="zh-CN" altLang="en-US" sz="700" b="1">
              <a:solidFill>
                <a:srgbClr val="FAFC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5BE9755-6EC1-B745-2269-78828D2FA9D5}"/>
              </a:ext>
            </a:extLst>
          </p:cNvPr>
          <p:cNvSpPr txBox="1"/>
          <p:nvPr/>
        </p:nvSpPr>
        <p:spPr>
          <a:xfrm>
            <a:off x="736600" y="482600"/>
            <a:ext cx="8890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000" b="1">
                <a:solidFill>
                  <a:srgbClr val="FAFCFF"/>
                </a:solidFill>
                <a:latin typeface="Microsoft YaHei" panose="020B0503020204020204" pitchFamily="34" charset="-122"/>
              </a:rPr>
              <a:t>test2 </a:t>
            </a:r>
            <a:r>
              <a:rPr lang="zh-CN" altLang="en-US" sz="2000" b="1">
                <a:solidFill>
                  <a:srgbClr val="FAFCFF"/>
                </a:solidFill>
                <a:latin typeface="Microsoft YaHei" panose="020B0503020204020204" pitchFamily="34" charset="-122"/>
              </a:rPr>
              <a:t>混淆矩阵：错误类型观察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88D7E86-9240-4986-8DBC-498C0E0042AB}"/>
              </a:ext>
            </a:extLst>
          </p:cNvPr>
          <p:cNvSpPr txBox="1"/>
          <p:nvPr/>
        </p:nvSpPr>
        <p:spPr>
          <a:xfrm>
            <a:off x="685800" y="6489700"/>
            <a:ext cx="4572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6B7B8C"/>
                </a:solidFill>
                <a:latin typeface="Microsoft YaHei" panose="020B0503020204020204" pitchFamily="34" charset="-122"/>
              </a:rPr>
              <a:t>模式识别课程实验一 </a:t>
            </a:r>
            <a:r>
              <a:rPr lang="en-US" altLang="zh-CN" sz="700">
                <a:solidFill>
                  <a:srgbClr val="6B7B8C"/>
                </a:solidFill>
                <a:latin typeface="Microsoft YaHei" panose="020B0503020204020204" pitchFamily="34" charset="-122"/>
              </a:rPr>
              <a:t>· Bayes </a:t>
            </a:r>
            <a:r>
              <a:rPr lang="zh-CN" altLang="en-US" sz="700">
                <a:solidFill>
                  <a:srgbClr val="6B7B8C"/>
                </a:solidFill>
                <a:latin typeface="Microsoft YaHei" panose="020B0503020204020204" pitchFamily="34" charset="-122"/>
              </a:rPr>
              <a:t>性别分类器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49C01BD-CFA4-3283-F8A7-354012EB493B}"/>
              </a:ext>
            </a:extLst>
          </p:cNvPr>
          <p:cNvSpPr txBox="1"/>
          <p:nvPr/>
        </p:nvSpPr>
        <p:spPr>
          <a:xfrm>
            <a:off x="11277600" y="6438900"/>
            <a:ext cx="4064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800" b="1">
                <a:solidFill>
                  <a:srgbClr val="006BB7"/>
                </a:solidFill>
                <a:latin typeface="Microsoft YaHei" panose="020B0503020204020204" pitchFamily="34" charset="-122"/>
              </a:rPr>
              <a:t>20</a:t>
            </a:r>
            <a:endParaRPr lang="zh-CN" altLang="en-US" sz="8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A09ADF4E-57F0-397F-9CFD-BB83B0E1E22E}"/>
              </a:ext>
            </a:extLst>
          </p:cNvPr>
          <p:cNvSpPr/>
          <p:nvPr/>
        </p:nvSpPr>
        <p:spPr>
          <a:xfrm>
            <a:off x="1206500" y="1397000"/>
            <a:ext cx="4445000" cy="3810000"/>
          </a:xfrm>
          <a:prstGeom prst="roundRect">
            <a:avLst/>
          </a:prstGeom>
          <a:solidFill>
            <a:srgbClr val="FAFCFF"/>
          </a:solidFill>
          <a:ln w="10160">
            <a:solidFill>
              <a:srgbClr val="C9DD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AAF1E218-FB48-FE6B-43AA-B311623071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501" y="1241858"/>
            <a:ext cx="4806999" cy="4120284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AADA1EDF-59BA-E9AE-2484-EC8C607F078C}"/>
              </a:ext>
            </a:extLst>
          </p:cNvPr>
          <p:cNvSpPr/>
          <p:nvPr/>
        </p:nvSpPr>
        <p:spPr>
          <a:xfrm>
            <a:off x="6667500" y="1651000"/>
            <a:ext cx="3810000" cy="965200"/>
          </a:xfrm>
          <a:prstGeom prst="roundRect">
            <a:avLst/>
          </a:prstGeom>
          <a:solidFill>
            <a:srgbClr val="FAFCFF"/>
          </a:solidFill>
          <a:ln w="10160">
            <a:solidFill>
              <a:srgbClr val="C9DD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DC1CB6A-F206-964E-14C0-E9F955636070}"/>
              </a:ext>
            </a:extLst>
          </p:cNvPr>
          <p:cNvSpPr/>
          <p:nvPr/>
        </p:nvSpPr>
        <p:spPr>
          <a:xfrm>
            <a:off x="6667500" y="1651000"/>
            <a:ext cx="63500" cy="9652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555520E-71E7-5F50-D7F0-EAB64D3DC7CD}"/>
              </a:ext>
            </a:extLst>
          </p:cNvPr>
          <p:cNvSpPr txBox="1"/>
          <p:nvPr/>
        </p:nvSpPr>
        <p:spPr>
          <a:xfrm>
            <a:off x="6870700" y="1778000"/>
            <a:ext cx="34798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1A2E44"/>
                </a:solidFill>
                <a:latin typeface="Microsoft YaHei" panose="020B0503020204020204" pitchFamily="34" charset="-122"/>
              </a:rPr>
              <a:t>结果解读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D5144B5-5FDF-8472-4B25-92F31FECE841}"/>
              </a:ext>
            </a:extLst>
          </p:cNvPr>
          <p:cNvSpPr txBox="1"/>
          <p:nvPr/>
        </p:nvSpPr>
        <p:spPr>
          <a:xfrm>
            <a:off x="6870700" y="2082800"/>
            <a:ext cx="34798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333D4A"/>
                </a:solidFill>
                <a:latin typeface="Microsoft YaHei" panose="020B0503020204020204" pitchFamily="34" charset="-122"/>
              </a:rPr>
              <a:t>二维完整协方差 </a:t>
            </a:r>
            <a:r>
              <a:rPr lang="en-US" altLang="zh-CN" sz="800">
                <a:solidFill>
                  <a:srgbClr val="333D4A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800">
                <a:solidFill>
                  <a:srgbClr val="333D4A"/>
                </a:solidFill>
                <a:latin typeface="Microsoft YaHei" panose="020B0503020204020204" pitchFamily="34" charset="-122"/>
              </a:rPr>
              <a:t>在 </a:t>
            </a:r>
            <a:r>
              <a:rPr lang="en-US" altLang="zh-CN" sz="800">
                <a:solidFill>
                  <a:srgbClr val="333D4A"/>
                </a:solidFill>
                <a:latin typeface="Microsoft YaHei" panose="020B0503020204020204" pitchFamily="34" charset="-122"/>
              </a:rPr>
              <a:t>test2 </a:t>
            </a:r>
            <a:r>
              <a:rPr lang="zh-CN" altLang="en-US" sz="800">
                <a:solidFill>
                  <a:srgbClr val="333D4A"/>
                </a:solidFill>
                <a:latin typeface="Microsoft YaHei" panose="020B0503020204020204" pitchFamily="34" charset="-122"/>
              </a:rPr>
              <a:t>上正确识别 </a:t>
            </a:r>
            <a:r>
              <a:rPr lang="en-US" altLang="zh-CN" sz="800">
                <a:solidFill>
                  <a:srgbClr val="333D4A"/>
                </a:solidFill>
                <a:latin typeface="Microsoft YaHei" panose="020B0503020204020204" pitchFamily="34" charset="-122"/>
              </a:rPr>
              <a:t>49 </a:t>
            </a:r>
            <a:r>
              <a:rPr lang="zh-CN" altLang="en-US" sz="800">
                <a:solidFill>
                  <a:srgbClr val="333D4A"/>
                </a:solidFill>
                <a:latin typeface="Microsoft YaHei" panose="020B0503020204020204" pitchFamily="34" charset="-122"/>
              </a:rPr>
              <a:t>个女生和 </a:t>
            </a:r>
            <a:r>
              <a:rPr lang="en-US" altLang="zh-CN" sz="800">
                <a:solidFill>
                  <a:srgbClr val="333D4A"/>
                </a:solidFill>
                <a:latin typeface="Microsoft YaHei" panose="020B0503020204020204" pitchFamily="34" charset="-122"/>
              </a:rPr>
              <a:t>219 </a:t>
            </a:r>
            <a:r>
              <a:rPr lang="zh-CN" altLang="en-US" sz="800">
                <a:solidFill>
                  <a:srgbClr val="333D4A"/>
                </a:solidFill>
                <a:latin typeface="Microsoft YaHei" panose="020B0503020204020204" pitchFamily="34" charset="-122"/>
              </a:rPr>
              <a:t>个男生。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2BCB932-2FE5-277A-F374-3084D0F7A4AE}"/>
              </a:ext>
            </a:extLst>
          </p:cNvPr>
          <p:cNvSpPr/>
          <p:nvPr/>
        </p:nvSpPr>
        <p:spPr>
          <a:xfrm>
            <a:off x="6667500" y="3048000"/>
            <a:ext cx="3810000" cy="965200"/>
          </a:xfrm>
          <a:prstGeom prst="roundRect">
            <a:avLst/>
          </a:prstGeom>
          <a:solidFill>
            <a:srgbClr val="FAFCFF"/>
          </a:solidFill>
          <a:ln w="10160">
            <a:solidFill>
              <a:srgbClr val="C9DD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E05FA33-88E0-8424-55B4-F89D33CD33B0}"/>
              </a:ext>
            </a:extLst>
          </p:cNvPr>
          <p:cNvSpPr/>
          <p:nvPr/>
        </p:nvSpPr>
        <p:spPr>
          <a:xfrm>
            <a:off x="6667500" y="3048000"/>
            <a:ext cx="63500" cy="965200"/>
          </a:xfrm>
          <a:prstGeom prst="rect">
            <a:avLst/>
          </a:prstGeom>
          <a:solidFill>
            <a:srgbClr val="3A9B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23D47B8-B3F7-69AC-2675-B0C81030F99C}"/>
              </a:ext>
            </a:extLst>
          </p:cNvPr>
          <p:cNvSpPr txBox="1"/>
          <p:nvPr/>
        </p:nvSpPr>
        <p:spPr>
          <a:xfrm>
            <a:off x="6870700" y="3175000"/>
            <a:ext cx="34798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1A2E44"/>
                </a:solidFill>
                <a:latin typeface="Microsoft YaHei" panose="020B0503020204020204" pitchFamily="34" charset="-122"/>
              </a:rPr>
              <a:t>错误类型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217468A-DA84-6CBB-8729-7684756D5D6F}"/>
              </a:ext>
            </a:extLst>
          </p:cNvPr>
          <p:cNvSpPr txBox="1"/>
          <p:nvPr/>
        </p:nvSpPr>
        <p:spPr>
          <a:xfrm>
            <a:off x="6870700" y="3479800"/>
            <a:ext cx="34798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333D4A"/>
                </a:solidFill>
                <a:latin typeface="Microsoft YaHei" panose="020B0503020204020204" pitchFamily="34" charset="-122"/>
              </a:rPr>
              <a:t>女生误判为男生 </a:t>
            </a:r>
            <a:r>
              <a:rPr lang="en-US" altLang="zh-CN" sz="800">
                <a:solidFill>
                  <a:srgbClr val="333D4A"/>
                </a:solidFill>
                <a:latin typeface="Microsoft YaHei" panose="020B0503020204020204" pitchFamily="34" charset="-122"/>
              </a:rPr>
              <a:t>1 </a:t>
            </a:r>
            <a:r>
              <a:rPr lang="zh-CN" altLang="en-US" sz="800">
                <a:solidFill>
                  <a:srgbClr val="333D4A"/>
                </a:solidFill>
                <a:latin typeface="Microsoft YaHei" panose="020B0503020204020204" pitchFamily="34" charset="-122"/>
              </a:rPr>
              <a:t>个，男生误判为女生 </a:t>
            </a:r>
            <a:r>
              <a:rPr lang="en-US" altLang="zh-CN" sz="800">
                <a:solidFill>
                  <a:srgbClr val="333D4A"/>
                </a:solidFill>
                <a:latin typeface="Microsoft YaHei" panose="020B0503020204020204" pitchFamily="34" charset="-122"/>
              </a:rPr>
              <a:t>31 </a:t>
            </a:r>
            <a:r>
              <a:rPr lang="zh-CN" altLang="en-US" sz="800">
                <a:solidFill>
                  <a:srgbClr val="333D4A"/>
                </a:solidFill>
                <a:latin typeface="Microsoft YaHei" panose="020B0503020204020204" pitchFamily="34" charset="-122"/>
              </a:rPr>
              <a:t>个。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8E2B2FE2-3098-FF5B-247A-702CE0C00266}"/>
              </a:ext>
            </a:extLst>
          </p:cNvPr>
          <p:cNvSpPr/>
          <p:nvPr/>
        </p:nvSpPr>
        <p:spPr>
          <a:xfrm>
            <a:off x="6667500" y="4445000"/>
            <a:ext cx="3810000" cy="965200"/>
          </a:xfrm>
          <a:prstGeom prst="roundRect">
            <a:avLst/>
          </a:prstGeom>
          <a:solidFill>
            <a:srgbClr val="FAFCFF"/>
          </a:solidFill>
          <a:ln w="10160">
            <a:solidFill>
              <a:srgbClr val="C9DD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A13BE57-2091-C2DA-7767-92B47A955E77}"/>
              </a:ext>
            </a:extLst>
          </p:cNvPr>
          <p:cNvSpPr/>
          <p:nvPr/>
        </p:nvSpPr>
        <p:spPr>
          <a:xfrm>
            <a:off x="6667500" y="4445000"/>
            <a:ext cx="63500" cy="965200"/>
          </a:xfrm>
          <a:prstGeom prst="rect">
            <a:avLst/>
          </a:prstGeom>
          <a:solidFill>
            <a:srgbClr val="EA580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1F5D10CF-4C27-9AA6-4B68-97E5A6C8A16D}"/>
              </a:ext>
            </a:extLst>
          </p:cNvPr>
          <p:cNvSpPr txBox="1"/>
          <p:nvPr/>
        </p:nvSpPr>
        <p:spPr>
          <a:xfrm>
            <a:off x="6870700" y="4572000"/>
            <a:ext cx="34798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1A2E44"/>
                </a:solidFill>
                <a:latin typeface="Microsoft YaHei" panose="020B0503020204020204" pitchFamily="34" charset="-122"/>
              </a:rPr>
              <a:t>原因分析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86F09B6-3F76-7B6B-F720-D7B5A2EA4DAC}"/>
              </a:ext>
            </a:extLst>
          </p:cNvPr>
          <p:cNvSpPr txBox="1"/>
          <p:nvPr/>
        </p:nvSpPr>
        <p:spPr>
          <a:xfrm>
            <a:off x="6870700" y="4876800"/>
            <a:ext cx="34798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00">
                <a:solidFill>
                  <a:srgbClr val="333D4A"/>
                </a:solidFill>
                <a:latin typeface="Microsoft YaHei" panose="020B0503020204020204" pitchFamily="34" charset="-122"/>
              </a:rPr>
              <a:t>test2 </a:t>
            </a:r>
            <a:r>
              <a:rPr lang="zh-CN" altLang="en-US" sz="800">
                <a:solidFill>
                  <a:srgbClr val="333D4A"/>
                </a:solidFill>
                <a:latin typeface="Microsoft YaHei" panose="020B0503020204020204" pitchFamily="34" charset="-122"/>
              </a:rPr>
              <a:t>男生样本更多，边界附近男生更容易被判入女生区域。</a:t>
            </a:r>
          </a:p>
        </p:txBody>
      </p:sp>
    </p:spTree>
    <p:extLst>
      <p:ext uri="{BB962C8B-B14F-4D97-AF65-F5344CB8AC3E}">
        <p14:creationId xmlns:p14="http://schemas.microsoft.com/office/powerpoint/2010/main" val="20803934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7C1ABF8-17A7-ADA2-EC4E-3A43D3636EC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A8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平行四边形 2">
            <a:extLst>
              <a:ext uri="{FF2B5EF4-FFF2-40B4-BE49-F238E27FC236}">
                <a16:creationId xmlns:a16="http://schemas.microsoft.com/office/drawing/2014/main" id="{770A1780-DA3E-739D-4233-22D4668B6EDC}"/>
              </a:ext>
            </a:extLst>
          </p:cNvPr>
          <p:cNvSpPr/>
          <p:nvPr/>
        </p:nvSpPr>
        <p:spPr>
          <a:xfrm>
            <a:off x="7429500" y="-254000"/>
            <a:ext cx="5461000" cy="2032000"/>
          </a:xfrm>
          <a:prstGeom prst="parallelogram">
            <a:avLst>
              <a:gd name="adj" fmla="val 22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67025AD-1C52-92B6-1031-86681764A69F}"/>
              </a:ext>
            </a:extLst>
          </p:cNvPr>
          <p:cNvSpPr txBox="1"/>
          <p:nvPr/>
        </p:nvSpPr>
        <p:spPr>
          <a:xfrm>
            <a:off x="889000" y="1206500"/>
            <a:ext cx="1651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200" b="1">
                <a:solidFill>
                  <a:srgbClr val="D4A84B"/>
                </a:solidFill>
                <a:latin typeface="Microsoft YaHei" panose="020B0503020204020204" pitchFamily="34" charset="-122"/>
              </a:rPr>
              <a:t>04</a:t>
            </a:r>
            <a:endParaRPr lang="zh-CN" altLang="en-US" sz="2200" b="1">
              <a:solidFill>
                <a:srgbClr val="D4A84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646B633-3F19-EE4F-FA15-A618290AAABA}"/>
              </a:ext>
            </a:extLst>
          </p:cNvPr>
          <p:cNvSpPr txBox="1"/>
          <p:nvPr/>
        </p:nvSpPr>
        <p:spPr>
          <a:xfrm>
            <a:off x="889000" y="2095500"/>
            <a:ext cx="8636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3000" b="1">
                <a:solidFill>
                  <a:srgbClr val="FAFCFF"/>
                </a:solidFill>
                <a:latin typeface="Microsoft YaHei" panose="020B0503020204020204" pitchFamily="34" charset="-122"/>
              </a:rPr>
              <a:t>实验总结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C9D1665-D8F1-69D3-90AB-A6BDCFD18C72}"/>
              </a:ext>
            </a:extLst>
          </p:cNvPr>
          <p:cNvSpPr txBox="1"/>
          <p:nvPr/>
        </p:nvSpPr>
        <p:spPr>
          <a:xfrm>
            <a:off x="939800" y="2997200"/>
            <a:ext cx="8636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300">
                <a:solidFill>
                  <a:srgbClr val="D9ECFF"/>
                </a:solidFill>
                <a:latin typeface="Microsoft YaHei" panose="020B0503020204020204" pitchFamily="34" charset="-122"/>
              </a:rPr>
              <a:t>从结果回到模式识别理论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FA1A47E3-45AD-DC0B-CD0B-D00537B36CB4}"/>
              </a:ext>
            </a:extLst>
          </p:cNvPr>
          <p:cNvCxnSpPr/>
          <p:nvPr/>
        </p:nvCxnSpPr>
        <p:spPr>
          <a:xfrm>
            <a:off x="939800" y="3810000"/>
            <a:ext cx="2235200" cy="0"/>
          </a:xfrm>
          <a:prstGeom prst="line">
            <a:avLst/>
          </a:prstGeom>
          <a:ln w="508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8174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7ECA3D2-7DF5-2EB5-B7BE-0C350886A4E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平行四边形 2">
            <a:extLst>
              <a:ext uri="{FF2B5EF4-FFF2-40B4-BE49-F238E27FC236}">
                <a16:creationId xmlns:a16="http://schemas.microsoft.com/office/drawing/2014/main" id="{E570932A-65BF-21FE-0CB0-BB59E2DF1303}"/>
              </a:ext>
            </a:extLst>
          </p:cNvPr>
          <p:cNvSpPr/>
          <p:nvPr/>
        </p:nvSpPr>
        <p:spPr>
          <a:xfrm>
            <a:off x="-317500" y="-279400"/>
            <a:ext cx="13208000" cy="1041400"/>
          </a:xfrm>
          <a:prstGeom prst="parallelogram">
            <a:avLst>
              <a:gd name="adj" fmla="val 16000"/>
            </a:avLst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BA5067B9-E775-EB58-F785-40ED38AB9D97}"/>
              </a:ext>
            </a:extLst>
          </p:cNvPr>
          <p:cNvSpPr/>
          <p:nvPr/>
        </p:nvSpPr>
        <p:spPr>
          <a:xfrm>
            <a:off x="8953500" y="-101600"/>
            <a:ext cx="3937000" cy="939800"/>
          </a:xfrm>
          <a:prstGeom prst="parallelogram">
            <a:avLst/>
          </a:prstGeom>
          <a:solidFill>
            <a:srgbClr val="3A9BD9">
              <a:alpha val="80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F24C5E5-FFC4-DC58-F9B8-EB3FF50487F8}"/>
              </a:ext>
            </a:extLst>
          </p:cNvPr>
          <p:cNvSpPr/>
          <p:nvPr/>
        </p:nvSpPr>
        <p:spPr>
          <a:xfrm>
            <a:off x="660400" y="939800"/>
            <a:ext cx="1168400" cy="508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平行四边形 5">
            <a:extLst>
              <a:ext uri="{FF2B5EF4-FFF2-40B4-BE49-F238E27FC236}">
                <a16:creationId xmlns:a16="http://schemas.microsoft.com/office/drawing/2014/main" id="{E601ED2C-719C-D63E-4A35-087B5EA8202D}"/>
              </a:ext>
            </a:extLst>
          </p:cNvPr>
          <p:cNvSpPr/>
          <p:nvPr/>
        </p:nvSpPr>
        <p:spPr>
          <a:xfrm>
            <a:off x="-1143000" y="6350000"/>
            <a:ext cx="6604000" cy="584200"/>
          </a:xfrm>
          <a:prstGeom prst="parallelogram">
            <a:avLst>
              <a:gd name="adj" fmla="val 28000"/>
            </a:avLst>
          </a:prstGeom>
          <a:solidFill>
            <a:srgbClr val="E3F2F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124219C-4629-C394-3597-CC779BB49A6D}"/>
              </a:ext>
            </a:extLst>
          </p:cNvPr>
          <p:cNvSpPr txBox="1"/>
          <p:nvPr/>
        </p:nvSpPr>
        <p:spPr>
          <a:xfrm>
            <a:off x="736600" y="228600"/>
            <a:ext cx="4572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FAFCFF"/>
                </a:solidFill>
                <a:latin typeface="Microsoft YaHei" panose="020B0503020204020204" pitchFamily="34" charset="-122"/>
              </a:rPr>
              <a:t>SUMMARY</a:t>
            </a:r>
            <a:endParaRPr lang="zh-CN" altLang="en-US" sz="700" b="1">
              <a:solidFill>
                <a:srgbClr val="FAFC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C6BC3F5-0FAB-08C1-A8E1-79EFD641C05E}"/>
              </a:ext>
            </a:extLst>
          </p:cNvPr>
          <p:cNvSpPr txBox="1"/>
          <p:nvPr/>
        </p:nvSpPr>
        <p:spPr>
          <a:xfrm>
            <a:off x="736600" y="482600"/>
            <a:ext cx="8890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000" b="1">
                <a:solidFill>
                  <a:srgbClr val="FAFCFF"/>
                </a:solidFill>
                <a:latin typeface="Microsoft YaHei" panose="020B0503020204020204" pitchFamily="34" charset="-122"/>
              </a:rPr>
              <a:t>任务一核心结论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12C6B0F-DCE5-BB0D-A38E-DE0BFAA78DB0}"/>
              </a:ext>
            </a:extLst>
          </p:cNvPr>
          <p:cNvSpPr txBox="1"/>
          <p:nvPr/>
        </p:nvSpPr>
        <p:spPr>
          <a:xfrm>
            <a:off x="685800" y="6489700"/>
            <a:ext cx="4572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6B7B8C"/>
                </a:solidFill>
                <a:latin typeface="Microsoft YaHei" panose="020B0503020204020204" pitchFamily="34" charset="-122"/>
              </a:rPr>
              <a:t>模式识别课程实验一 </a:t>
            </a:r>
            <a:r>
              <a:rPr lang="en-US" altLang="zh-CN" sz="700">
                <a:solidFill>
                  <a:srgbClr val="6B7B8C"/>
                </a:solidFill>
                <a:latin typeface="Microsoft YaHei" panose="020B0503020204020204" pitchFamily="34" charset="-122"/>
              </a:rPr>
              <a:t>· Bayes </a:t>
            </a:r>
            <a:r>
              <a:rPr lang="zh-CN" altLang="en-US" sz="700">
                <a:solidFill>
                  <a:srgbClr val="6B7B8C"/>
                </a:solidFill>
                <a:latin typeface="Microsoft YaHei" panose="020B0503020204020204" pitchFamily="34" charset="-122"/>
              </a:rPr>
              <a:t>性别分类器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E3C14A2-B4F1-4470-1FE9-22E0811F5BF1}"/>
              </a:ext>
            </a:extLst>
          </p:cNvPr>
          <p:cNvSpPr txBox="1"/>
          <p:nvPr/>
        </p:nvSpPr>
        <p:spPr>
          <a:xfrm>
            <a:off x="11277600" y="6438900"/>
            <a:ext cx="4064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800" b="1">
                <a:solidFill>
                  <a:srgbClr val="006BB7"/>
                </a:solidFill>
                <a:latin typeface="Microsoft YaHei" panose="020B0503020204020204" pitchFamily="34" charset="-122"/>
              </a:rPr>
              <a:t>21</a:t>
            </a:r>
            <a:endParaRPr lang="zh-CN" altLang="en-US" sz="8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1EDA0B96-2F18-B8FF-CE6E-485B66A61E3F}"/>
              </a:ext>
            </a:extLst>
          </p:cNvPr>
          <p:cNvSpPr/>
          <p:nvPr/>
        </p:nvSpPr>
        <p:spPr>
          <a:xfrm>
            <a:off x="889000" y="1524000"/>
            <a:ext cx="3175000" cy="1066800"/>
          </a:xfrm>
          <a:prstGeom prst="roundRect">
            <a:avLst/>
          </a:prstGeom>
          <a:solidFill>
            <a:srgbClr val="FAFCFF"/>
          </a:solidFill>
          <a:ln w="10160">
            <a:solidFill>
              <a:srgbClr val="C9DD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1E666A5-0115-0746-FB37-6A5FFAE9EFE4}"/>
              </a:ext>
            </a:extLst>
          </p:cNvPr>
          <p:cNvSpPr/>
          <p:nvPr/>
        </p:nvSpPr>
        <p:spPr>
          <a:xfrm>
            <a:off x="889000" y="1524000"/>
            <a:ext cx="63500" cy="10668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18E62FC-129A-0C56-2FA1-7DC9872147EE}"/>
              </a:ext>
            </a:extLst>
          </p:cNvPr>
          <p:cNvSpPr txBox="1"/>
          <p:nvPr/>
        </p:nvSpPr>
        <p:spPr>
          <a:xfrm>
            <a:off x="1092200" y="1651000"/>
            <a:ext cx="28448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1A2E44"/>
                </a:solidFill>
                <a:latin typeface="Microsoft YaHei" panose="020B0503020204020204" pitchFamily="34" charset="-122"/>
              </a:rPr>
              <a:t>特征选择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834D3E7-7264-C6F8-3DBD-3E6EDF4BECFC}"/>
              </a:ext>
            </a:extLst>
          </p:cNvPr>
          <p:cNvSpPr txBox="1"/>
          <p:nvPr/>
        </p:nvSpPr>
        <p:spPr>
          <a:xfrm>
            <a:off x="1092200" y="1955800"/>
            <a:ext cx="28448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333D4A"/>
                </a:solidFill>
                <a:latin typeface="Microsoft YaHei" panose="020B0503020204020204" pitchFamily="34" charset="-122"/>
              </a:rPr>
              <a:t>身高单特征优于体重；身高</a:t>
            </a:r>
            <a:r>
              <a:rPr lang="en-US" altLang="zh-CN" sz="800">
                <a:solidFill>
                  <a:srgbClr val="333D4A"/>
                </a:solidFill>
                <a:latin typeface="Microsoft YaHei" panose="020B0503020204020204" pitchFamily="34" charset="-122"/>
              </a:rPr>
              <a:t>+</a:t>
            </a:r>
            <a:r>
              <a:rPr lang="zh-CN" altLang="en-US" sz="800">
                <a:solidFill>
                  <a:srgbClr val="333D4A"/>
                </a:solidFill>
                <a:latin typeface="Microsoft YaHei" panose="020B0503020204020204" pitchFamily="34" charset="-122"/>
              </a:rPr>
              <a:t>体重整体更稳定。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7EE07FD6-E6DB-3551-5796-2DDA32C58AC7}"/>
              </a:ext>
            </a:extLst>
          </p:cNvPr>
          <p:cNvSpPr/>
          <p:nvPr/>
        </p:nvSpPr>
        <p:spPr>
          <a:xfrm>
            <a:off x="4508500" y="1524000"/>
            <a:ext cx="3175000" cy="1066800"/>
          </a:xfrm>
          <a:prstGeom prst="roundRect">
            <a:avLst/>
          </a:prstGeom>
          <a:solidFill>
            <a:srgbClr val="FAFCFF"/>
          </a:solidFill>
          <a:ln w="10160">
            <a:solidFill>
              <a:srgbClr val="C9DD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0B0B3FA-D485-EA44-13CC-87A715FD2819}"/>
              </a:ext>
            </a:extLst>
          </p:cNvPr>
          <p:cNvSpPr/>
          <p:nvPr/>
        </p:nvSpPr>
        <p:spPr>
          <a:xfrm>
            <a:off x="4508500" y="1524000"/>
            <a:ext cx="63500" cy="1066800"/>
          </a:xfrm>
          <a:prstGeom prst="rect">
            <a:avLst/>
          </a:prstGeom>
          <a:solidFill>
            <a:srgbClr val="3A9B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99D9AA2-5887-D9CE-3CA1-D9AC71C8D4B2}"/>
              </a:ext>
            </a:extLst>
          </p:cNvPr>
          <p:cNvSpPr txBox="1"/>
          <p:nvPr/>
        </p:nvSpPr>
        <p:spPr>
          <a:xfrm>
            <a:off x="4711700" y="1651000"/>
            <a:ext cx="28448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1A2E44"/>
                </a:solidFill>
                <a:latin typeface="Microsoft YaHei" panose="020B0503020204020204" pitchFamily="34" charset="-122"/>
              </a:rPr>
              <a:t>模型假设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E32288A-9384-766E-9957-D9F4A4253137}"/>
              </a:ext>
            </a:extLst>
          </p:cNvPr>
          <p:cNvSpPr txBox="1"/>
          <p:nvPr/>
        </p:nvSpPr>
        <p:spPr>
          <a:xfrm>
            <a:off x="4711700" y="1955800"/>
            <a:ext cx="28448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333D4A"/>
                </a:solidFill>
                <a:latin typeface="Microsoft YaHei" panose="020B0503020204020204" pitchFamily="34" charset="-122"/>
              </a:rPr>
              <a:t>完整协方差表达力强，但对角协方差在 </a:t>
            </a:r>
            <a:r>
              <a:rPr lang="en-US" altLang="zh-CN" sz="800">
                <a:solidFill>
                  <a:srgbClr val="333D4A"/>
                </a:solidFill>
                <a:latin typeface="Microsoft YaHei" panose="020B0503020204020204" pitchFamily="34" charset="-122"/>
              </a:rPr>
              <a:t>test2 </a:t>
            </a:r>
            <a:r>
              <a:rPr lang="zh-CN" altLang="en-US" sz="800">
                <a:solidFill>
                  <a:srgbClr val="333D4A"/>
                </a:solidFill>
                <a:latin typeface="Microsoft YaHei" panose="020B0503020204020204" pitchFamily="34" charset="-122"/>
              </a:rPr>
              <a:t>上略好，说明小样本估计稳定性重要。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D729696D-BA7A-1661-3F51-C745A52CF279}"/>
              </a:ext>
            </a:extLst>
          </p:cNvPr>
          <p:cNvSpPr/>
          <p:nvPr/>
        </p:nvSpPr>
        <p:spPr>
          <a:xfrm>
            <a:off x="8128000" y="1524000"/>
            <a:ext cx="2921000" cy="1066800"/>
          </a:xfrm>
          <a:prstGeom prst="roundRect">
            <a:avLst/>
          </a:prstGeom>
          <a:solidFill>
            <a:srgbClr val="FAFCFF"/>
          </a:solidFill>
          <a:ln w="10160">
            <a:solidFill>
              <a:srgbClr val="C9DD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7424876-D10C-FD16-54CD-9036EEB843C8}"/>
              </a:ext>
            </a:extLst>
          </p:cNvPr>
          <p:cNvSpPr/>
          <p:nvPr/>
        </p:nvSpPr>
        <p:spPr>
          <a:xfrm>
            <a:off x="8128000" y="1524000"/>
            <a:ext cx="63500" cy="10668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0259C06-7D2A-ED79-48DB-2D4F6EBE8AA6}"/>
              </a:ext>
            </a:extLst>
          </p:cNvPr>
          <p:cNvSpPr txBox="1"/>
          <p:nvPr/>
        </p:nvSpPr>
        <p:spPr>
          <a:xfrm>
            <a:off x="8331200" y="1651000"/>
            <a:ext cx="25908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1A2E44"/>
                </a:solidFill>
                <a:latin typeface="Microsoft YaHei" panose="020B0503020204020204" pitchFamily="34" charset="-122"/>
              </a:rPr>
              <a:t>先验概率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9269490-D75C-9054-0D10-296F5D611341}"/>
              </a:ext>
            </a:extLst>
          </p:cNvPr>
          <p:cNvSpPr txBox="1"/>
          <p:nvPr/>
        </p:nvSpPr>
        <p:spPr>
          <a:xfrm>
            <a:off x="8331200" y="1955800"/>
            <a:ext cx="25908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333D4A"/>
                </a:solidFill>
                <a:latin typeface="Microsoft YaHei" panose="020B0503020204020204" pitchFamily="34" charset="-122"/>
              </a:rPr>
              <a:t>先验应符合真实分布或任务背景，设置不当会明显降低性能。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29DDACFF-5514-BC26-9B28-90EFE1FE1006}"/>
              </a:ext>
            </a:extLst>
          </p:cNvPr>
          <p:cNvSpPr/>
          <p:nvPr/>
        </p:nvSpPr>
        <p:spPr>
          <a:xfrm>
            <a:off x="2286000" y="3556000"/>
            <a:ext cx="3175000" cy="1066800"/>
          </a:xfrm>
          <a:prstGeom prst="roundRect">
            <a:avLst/>
          </a:prstGeom>
          <a:solidFill>
            <a:srgbClr val="FAFCFF"/>
          </a:solidFill>
          <a:ln w="10160">
            <a:solidFill>
              <a:srgbClr val="C9DD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0D07E5F-8B2B-6858-CEAA-C2A9162FC9AC}"/>
              </a:ext>
            </a:extLst>
          </p:cNvPr>
          <p:cNvSpPr/>
          <p:nvPr/>
        </p:nvSpPr>
        <p:spPr>
          <a:xfrm>
            <a:off x="2286000" y="3556000"/>
            <a:ext cx="63500" cy="1066800"/>
          </a:xfrm>
          <a:prstGeom prst="rect">
            <a:avLst/>
          </a:prstGeom>
          <a:solidFill>
            <a:srgbClr val="EA580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E4A47DDF-DB5A-1CF7-A522-C1F9EAA9DEE8}"/>
              </a:ext>
            </a:extLst>
          </p:cNvPr>
          <p:cNvSpPr txBox="1"/>
          <p:nvPr/>
        </p:nvSpPr>
        <p:spPr>
          <a:xfrm>
            <a:off x="2489200" y="3683000"/>
            <a:ext cx="28448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1A2E44"/>
                </a:solidFill>
                <a:latin typeface="Microsoft YaHei" panose="020B0503020204020204" pitchFamily="34" charset="-122"/>
              </a:rPr>
              <a:t>风险决策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CBCE931E-0E66-7567-F230-03FEE2ACCC5C}"/>
              </a:ext>
            </a:extLst>
          </p:cNvPr>
          <p:cNvSpPr txBox="1"/>
          <p:nvPr/>
        </p:nvSpPr>
        <p:spPr>
          <a:xfrm>
            <a:off x="2489200" y="3987800"/>
            <a:ext cx="28448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333D4A"/>
                </a:solidFill>
                <a:latin typeface="Microsoft YaHei" panose="020B0503020204020204" pitchFamily="34" charset="-122"/>
              </a:rPr>
              <a:t>最小风险 </a:t>
            </a:r>
            <a:r>
              <a:rPr lang="en-US" altLang="zh-CN" sz="800">
                <a:solidFill>
                  <a:srgbClr val="333D4A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800">
                <a:solidFill>
                  <a:srgbClr val="333D4A"/>
                </a:solidFill>
                <a:latin typeface="Microsoft YaHei" panose="020B0503020204020204" pitchFamily="34" charset="-122"/>
              </a:rPr>
              <a:t>体现不同错误代价下的分类器设计思想。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7B697906-D438-02D0-818A-D6F07E11FF74}"/>
              </a:ext>
            </a:extLst>
          </p:cNvPr>
          <p:cNvSpPr/>
          <p:nvPr/>
        </p:nvSpPr>
        <p:spPr>
          <a:xfrm>
            <a:off x="6667500" y="3556000"/>
            <a:ext cx="3175000" cy="1066800"/>
          </a:xfrm>
          <a:prstGeom prst="roundRect">
            <a:avLst/>
          </a:prstGeom>
          <a:solidFill>
            <a:srgbClr val="FAFCFF"/>
          </a:solidFill>
          <a:ln w="10160">
            <a:solidFill>
              <a:srgbClr val="C9DD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B017C69-EDF1-D048-E3FA-F7BF93625FFE}"/>
              </a:ext>
            </a:extLst>
          </p:cNvPr>
          <p:cNvSpPr/>
          <p:nvPr/>
        </p:nvSpPr>
        <p:spPr>
          <a:xfrm>
            <a:off x="6667500" y="3556000"/>
            <a:ext cx="63500" cy="10668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A3D06FD3-C47C-FE31-3939-D1ED0951F61E}"/>
              </a:ext>
            </a:extLst>
          </p:cNvPr>
          <p:cNvSpPr txBox="1"/>
          <p:nvPr/>
        </p:nvSpPr>
        <p:spPr>
          <a:xfrm>
            <a:off x="6870700" y="3683000"/>
            <a:ext cx="28448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1A2E44"/>
                </a:solidFill>
                <a:latin typeface="Microsoft YaHei" panose="020B0503020204020204" pitchFamily="34" charset="-122"/>
              </a:rPr>
              <a:t>非参数估计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33F84C38-7113-5686-10BE-6B54C9A0AC59}"/>
              </a:ext>
            </a:extLst>
          </p:cNvPr>
          <p:cNvSpPr txBox="1"/>
          <p:nvPr/>
        </p:nvSpPr>
        <p:spPr>
          <a:xfrm>
            <a:off x="6870700" y="3987800"/>
            <a:ext cx="28448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00">
                <a:solidFill>
                  <a:srgbClr val="333D4A"/>
                </a:solidFill>
                <a:latin typeface="Microsoft YaHei" panose="020B0503020204020204" pitchFamily="34" charset="-122"/>
              </a:rPr>
              <a:t>Parzen </a:t>
            </a:r>
            <a:r>
              <a:rPr lang="zh-CN" altLang="en-US" sz="800">
                <a:solidFill>
                  <a:srgbClr val="333D4A"/>
                </a:solidFill>
                <a:latin typeface="Microsoft YaHei" panose="020B0503020204020204" pitchFamily="34" charset="-122"/>
              </a:rPr>
              <a:t>和 </a:t>
            </a:r>
            <a:r>
              <a:rPr lang="en-US" altLang="zh-CN" sz="800">
                <a:solidFill>
                  <a:srgbClr val="333D4A"/>
                </a:solidFill>
                <a:latin typeface="Microsoft YaHei" panose="020B0503020204020204" pitchFamily="34" charset="-122"/>
              </a:rPr>
              <a:t>kNN </a:t>
            </a:r>
            <a:r>
              <a:rPr lang="zh-CN" altLang="en-US" sz="800">
                <a:solidFill>
                  <a:srgbClr val="333D4A"/>
                </a:solidFill>
                <a:latin typeface="Microsoft YaHei" panose="020B0503020204020204" pitchFamily="34" charset="-122"/>
              </a:rPr>
              <a:t>可作为参数模型的重要补充。</a:t>
            </a: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D80A9E65-4B65-9D33-2430-5760F019A885}"/>
              </a:ext>
            </a:extLst>
          </p:cNvPr>
          <p:cNvSpPr/>
          <p:nvPr/>
        </p:nvSpPr>
        <p:spPr>
          <a:xfrm>
            <a:off x="1397000" y="5461000"/>
            <a:ext cx="9398000" cy="533400"/>
          </a:xfrm>
          <a:prstGeom prst="roundRect">
            <a:avLst/>
          </a:prstGeom>
          <a:solidFill>
            <a:srgbClr val="E3F2FD"/>
          </a:solidFill>
          <a:ln w="10160">
            <a:solidFill>
              <a:srgbClr val="B6DD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57E4E63C-A354-3BFB-836B-D598EACD6608}"/>
              </a:ext>
            </a:extLst>
          </p:cNvPr>
          <p:cNvSpPr txBox="1"/>
          <p:nvPr/>
        </p:nvSpPr>
        <p:spPr>
          <a:xfrm>
            <a:off x="1625600" y="5626100"/>
            <a:ext cx="89408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100" b="1">
                <a:solidFill>
                  <a:srgbClr val="004A82"/>
                </a:solidFill>
                <a:latin typeface="Microsoft YaHei" panose="020B0503020204020204" pitchFamily="34" charset="-122"/>
              </a:rPr>
              <a:t>总体体会：</a:t>
            </a:r>
            <a:r>
              <a:rPr lang="en-US" altLang="zh-CN" sz="1100" b="1">
                <a:solidFill>
                  <a:srgbClr val="004A82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1100" b="1">
                <a:solidFill>
                  <a:srgbClr val="004A82"/>
                </a:solidFill>
                <a:latin typeface="Microsoft YaHei" panose="020B0503020204020204" pitchFamily="34" charset="-122"/>
              </a:rPr>
              <a:t>分类器把概率密度估计、先验知识和决策代价统一到一个清晰的理论框架中。</a:t>
            </a:r>
          </a:p>
        </p:txBody>
      </p:sp>
    </p:spTree>
    <p:extLst>
      <p:ext uri="{BB962C8B-B14F-4D97-AF65-F5344CB8AC3E}">
        <p14:creationId xmlns:p14="http://schemas.microsoft.com/office/powerpoint/2010/main" val="2782135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F1FD496-727F-7DC5-3E5D-4F4540E15C9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A8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平行四边形 2">
            <a:extLst>
              <a:ext uri="{FF2B5EF4-FFF2-40B4-BE49-F238E27FC236}">
                <a16:creationId xmlns:a16="http://schemas.microsoft.com/office/drawing/2014/main" id="{CE394097-DB0D-9AA6-2834-18354B25CB1E}"/>
              </a:ext>
            </a:extLst>
          </p:cNvPr>
          <p:cNvSpPr/>
          <p:nvPr/>
        </p:nvSpPr>
        <p:spPr>
          <a:xfrm>
            <a:off x="-1016000" y="4381500"/>
            <a:ext cx="6604000" cy="2921000"/>
          </a:xfrm>
          <a:prstGeom prst="parallelogram">
            <a:avLst>
              <a:gd name="adj" fmla="val 20000"/>
            </a:avLst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F999998-77E4-BDB1-C212-A58C479C3EC9}"/>
              </a:ext>
            </a:extLst>
          </p:cNvPr>
          <p:cNvSpPr txBox="1"/>
          <p:nvPr/>
        </p:nvSpPr>
        <p:spPr>
          <a:xfrm>
            <a:off x="990600" y="2413000"/>
            <a:ext cx="3810000" cy="61555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4000" b="1">
                <a:solidFill>
                  <a:srgbClr val="FAFCFF"/>
                </a:solidFill>
                <a:latin typeface="Microsoft YaHei" panose="020B0503020204020204" pitchFamily="34" charset="-122"/>
              </a:rPr>
              <a:t>谢谢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CE9CD5A-CFDD-8D10-2D03-65D6BC84F3D8}"/>
              </a:ext>
            </a:extLst>
          </p:cNvPr>
          <p:cNvSpPr txBox="1"/>
          <p:nvPr/>
        </p:nvSpPr>
        <p:spPr>
          <a:xfrm>
            <a:off x="1041400" y="3429000"/>
            <a:ext cx="7620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00">
                <a:solidFill>
                  <a:srgbClr val="D9ECFF"/>
                </a:solidFill>
                <a:latin typeface="Microsoft YaHei" panose="020B0503020204020204" pitchFamily="34" charset="-122"/>
              </a:rPr>
              <a:t>实验一学习完成，下一步可继续完善实验二。</a:t>
            </a: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D49C5C59-7045-473D-85B8-BD2ED374FEC2}"/>
              </a:ext>
            </a:extLst>
          </p:cNvPr>
          <p:cNvCxnSpPr/>
          <p:nvPr/>
        </p:nvCxnSpPr>
        <p:spPr>
          <a:xfrm>
            <a:off x="1041400" y="4140200"/>
            <a:ext cx="2451100" cy="0"/>
          </a:xfrm>
          <a:prstGeom prst="line">
            <a:avLst/>
          </a:prstGeom>
          <a:ln w="508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18594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2338</Words>
  <Application>Microsoft Office PowerPoint</Application>
  <PresentationFormat>自定义</PresentationFormat>
  <Paragraphs>409</Paragraphs>
  <Slides>27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2" baseType="lpstr">
      <vt:lpstr>等线</vt:lpstr>
      <vt:lpstr>等线 Light</vt:lpstr>
      <vt:lpstr>Microsoft YaHei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军 曹</dc:creator>
  <cp:lastModifiedBy>军 曹</cp:lastModifiedBy>
  <cp:revision>1</cp:revision>
  <dcterms:created xsi:type="dcterms:W3CDTF">2026-06-16T19:33:22Z</dcterms:created>
  <dcterms:modified xsi:type="dcterms:W3CDTF">2026-06-16T19:33:41Z</dcterms:modified>
</cp:coreProperties>
</file>