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43BA93-CA91-7B28-3DA4-6EED248053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E6FA04E-D8E9-66C9-9A85-B0A39D00AB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5E974D-A5BD-AC3C-9AB4-E5F16EBC8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9EC3-4FC1-4445-B4DE-79F9028CD53C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E931C7-DFAB-8A97-C0DE-5F969A452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93ACF1-81D3-516C-A1D4-91F767942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89DA-BF91-4CF9-BB84-D483FF495A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96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F3BA70-D7A2-943A-1A09-AAB78C49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B76C28-2E8D-3552-1BC4-BAB4F8048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6CEF2E-ACD0-D540-858E-7E4FD45A5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9EC3-4FC1-4445-B4DE-79F9028CD53C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D08061-72A7-1007-F621-03B967454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037DA-7443-9F12-8955-1B1E49383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89DA-BF91-4CF9-BB84-D483FF495A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0688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623DD-CB6E-28F3-072F-0155F8C3E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05F1FC-3888-953A-A801-8C80A1DDC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2F0457-3480-DDD7-6628-750DAFD1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9EC3-4FC1-4445-B4DE-79F9028CD53C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6C1FFD-8CF2-18E4-C184-817F49E9A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3BDADC-4CFA-5BBE-86BF-2E719FBEB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89DA-BF91-4CF9-BB84-D483FF495A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1324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C3E7AD-872D-B6F7-4296-5C567E6AC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124BD8-6BB2-7B99-298D-1F9F7878E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209A0D-CE20-5F00-50BE-ED3A4063F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3DA18C-44F4-7996-B4F8-0C0C299DF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9EC3-4FC1-4445-B4DE-79F9028CD53C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B33AA3-CE15-AC7E-700A-337E56F91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7F71E8-C122-187F-A813-C78CCFA3D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89DA-BF91-4CF9-BB84-D483FF495A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8104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D2F425-C551-D36D-CB4B-BEC589859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3FB4A5-B274-85D5-F7E9-985E56090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170516-8C04-B5EB-2CCD-0C4D943F46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427BC83-C8C0-2639-FB3E-9677855920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495BF91-EE70-1D0F-10D8-FC0A9D01A3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C9FF3B1-794E-EB26-1370-EE3797684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9EC3-4FC1-4445-B4DE-79F9028CD53C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88EC075-6D16-6D73-F60A-37F9DE99C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AA96822-3B58-7DB5-216D-3E9C4782C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89DA-BF91-4CF9-BB84-D483FF495A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9567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E1032D-6BF4-AB98-5D28-BD6DD53A8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88C53C3-B99C-E39F-9755-D974B9BE8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9EC3-4FC1-4445-B4DE-79F9028CD53C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7007A58-E70C-A739-B962-1321790F2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3AD80AB-2169-0018-2A4B-0F6512489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89DA-BF91-4CF9-BB84-D483FF495A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193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0F83CEC-C80F-DCAD-DBB8-664397904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9EC3-4FC1-4445-B4DE-79F9028CD53C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CA443D6-2AAA-7653-A046-A1F997A3D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4D6AB2-C2AE-4712-3BF3-18FA9560B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89DA-BF91-4CF9-BB84-D483FF495A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6672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E0326F-DE26-76F0-1C47-9638B4B9C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A76282-00E8-13A2-717F-A396E3617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5329917-F0D8-F868-868F-7349893E6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568C9B-E983-6923-9F21-F4383C794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9EC3-4FC1-4445-B4DE-79F9028CD53C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75B8A9-0343-F040-3412-BF918B0B3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32B07C-2B14-6BDA-4D4D-CE57BD1DE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89DA-BF91-4CF9-BB84-D483FF495A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115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1A75C7-BCF7-81C6-FC50-38BFD0041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F3513B5-0621-51D7-3A25-6E04B690E6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36ED37-5719-8754-753F-49B2BB59C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D8F0B8-C394-310E-C3CE-C6B35BAA7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9EC3-4FC1-4445-B4DE-79F9028CD53C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8AFFDA-37AA-9D14-7FAC-71C21C7A3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F81E4C-BAEA-9C58-15C8-17054BA40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89DA-BF91-4CF9-BB84-D483FF495A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8141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A9959B-9DE6-9C37-B37B-7154F9DC8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928068-90AF-DE16-F30E-09BABA5780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7008B5-52B7-1F99-FF7E-9DD995302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9EC3-4FC1-4445-B4DE-79F9028CD53C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25EFB1-35A2-02B8-8F3C-1372D03A5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AEB2F4-9904-70A6-337D-372359D73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89DA-BF91-4CF9-BB84-D483FF495A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415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E36701D-C109-E5F7-883C-5F8167119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ED2B69-1BF2-ECC9-1DCC-C7D8CFBCA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21E2E0-4682-0EDE-96F0-7FD46E830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39EC3-4FC1-4445-B4DE-79F9028CD53C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E50B2E-043A-1988-FB1D-815613C19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5213AA-FA7B-A3EB-ECF5-06F7E7131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A89DA-BF91-4CF9-BB84-D483FF495A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8963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6AD2479-BFA5-18FB-9194-59B339232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4B4795-903D-5A29-CBF3-A498F2DF2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5503FD-5E78-7D67-238F-BB3774DF0B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39EC3-4FC1-4445-B4DE-79F9028CD53C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55AA8C-9827-CFF9-5BF1-8EAA8DAC4B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7FFF05-EC79-1D59-B418-005AB86891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A89DA-BF91-4CF9-BB84-D483FF495A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66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62D7921-4AEA-CB06-5612-0C4CE1C257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A2EB46D9-88AF-D5C0-0CE0-066655D0F0C0}"/>
              </a:ext>
            </a:extLst>
          </p:cNvPr>
          <p:cNvSpPr/>
          <p:nvPr/>
        </p:nvSpPr>
        <p:spPr>
          <a:xfrm>
            <a:off x="-1016000" y="4381500"/>
            <a:ext cx="6794500" cy="28575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F7BE86D4-3178-F324-AC4D-AE2D1003F077}"/>
              </a:ext>
            </a:extLst>
          </p:cNvPr>
          <p:cNvSpPr/>
          <p:nvPr/>
        </p:nvSpPr>
        <p:spPr>
          <a:xfrm>
            <a:off x="8064500" y="-254000"/>
            <a:ext cx="5334000" cy="1968500"/>
          </a:xfrm>
          <a:prstGeom prst="parallelogram">
            <a:avLst>
              <a:gd name="adj" fmla="val 18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A19CF4-C7E0-4E1C-014D-06D09842BFCE}"/>
              </a:ext>
            </a:extLst>
          </p:cNvPr>
          <p:cNvSpPr txBox="1"/>
          <p:nvPr/>
        </p:nvSpPr>
        <p:spPr>
          <a:xfrm>
            <a:off x="914400" y="1422400"/>
            <a:ext cx="406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BFE8FF"/>
                </a:solidFill>
                <a:latin typeface="Microsoft YaHei" panose="020B0503020204020204" pitchFamily="34" charset="-122"/>
              </a:rPr>
              <a:t>PATTERN RECOGNITION</a:t>
            </a:r>
            <a:endParaRPr lang="zh-CN" altLang="en-US" sz="1000" b="1">
              <a:solidFill>
                <a:srgbClr val="BFE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CF91075-B5A4-6F10-13FB-4184B48900C2}"/>
              </a:ext>
            </a:extLst>
          </p:cNvPr>
          <p:cNvSpPr txBox="1"/>
          <p:nvPr/>
        </p:nvSpPr>
        <p:spPr>
          <a:xfrm>
            <a:off x="914400" y="2006600"/>
            <a:ext cx="7874000" cy="6771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4400" b="1">
                <a:solidFill>
                  <a:srgbClr val="FFFFFF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EA4C5CA-8001-59E1-AB79-91019F78837D}"/>
              </a:ext>
            </a:extLst>
          </p:cNvPr>
          <p:cNvSpPr txBox="1"/>
          <p:nvPr/>
        </p:nvSpPr>
        <p:spPr>
          <a:xfrm>
            <a:off x="965200" y="2921000"/>
            <a:ext cx="8763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分类器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· Fisher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判别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· K-L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变换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图像识别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聚类分析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D533F34-1B36-EFF2-D290-1CD6BBA2FB7F}"/>
              </a:ext>
            </a:extLst>
          </p:cNvPr>
          <p:cNvSpPr/>
          <p:nvPr/>
        </p:nvSpPr>
        <p:spPr>
          <a:xfrm>
            <a:off x="914400" y="4165600"/>
            <a:ext cx="2540000" cy="698500"/>
          </a:xfrm>
          <a:prstGeom prst="roundRect">
            <a:avLst/>
          </a:prstGeom>
          <a:solidFill>
            <a:srgbClr val="0E3556"/>
          </a:solidFill>
          <a:ln w="889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F9AC759-83F3-5BB1-16BF-43C2F9EBAD24}"/>
              </a:ext>
            </a:extLst>
          </p:cNvPr>
          <p:cNvSpPr/>
          <p:nvPr/>
        </p:nvSpPr>
        <p:spPr>
          <a:xfrm>
            <a:off x="914400" y="4165600"/>
            <a:ext cx="76200" cy="698500"/>
          </a:xfrm>
          <a:prstGeom prst="rect">
            <a:avLst/>
          </a:prstGeom>
          <a:solidFill>
            <a:srgbClr val="3A9B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A2E6C76-7C49-FA75-41E0-B54519043C65}"/>
              </a:ext>
            </a:extLst>
          </p:cNvPr>
          <p:cNvSpPr txBox="1"/>
          <p:nvPr/>
        </p:nvSpPr>
        <p:spPr>
          <a:xfrm>
            <a:off x="1117600" y="43180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D9ECFF"/>
                </a:solidFill>
                <a:latin typeface="Microsoft YaHei" panose="020B0503020204020204" pitchFamily="34" charset="-122"/>
              </a:rPr>
              <a:t>姓名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E5644E0-F35D-2E0B-6E65-8F04B8B9F639}"/>
              </a:ext>
            </a:extLst>
          </p:cNvPr>
          <p:cNvSpPr txBox="1"/>
          <p:nvPr/>
        </p:nvSpPr>
        <p:spPr>
          <a:xfrm>
            <a:off x="1117600" y="45974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FFFFFF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864B83D-2276-D470-F8A3-844A8429BEF1}"/>
              </a:ext>
            </a:extLst>
          </p:cNvPr>
          <p:cNvSpPr/>
          <p:nvPr/>
        </p:nvSpPr>
        <p:spPr>
          <a:xfrm>
            <a:off x="3924300" y="4165600"/>
            <a:ext cx="2540000" cy="698500"/>
          </a:xfrm>
          <a:prstGeom prst="roundRect">
            <a:avLst/>
          </a:prstGeom>
          <a:solidFill>
            <a:srgbClr val="0E3556"/>
          </a:solidFill>
          <a:ln w="889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EECF17C-D3B7-E7CE-6993-5F2A78DD46ED}"/>
              </a:ext>
            </a:extLst>
          </p:cNvPr>
          <p:cNvSpPr/>
          <p:nvPr/>
        </p:nvSpPr>
        <p:spPr>
          <a:xfrm>
            <a:off x="3924300" y="4165600"/>
            <a:ext cx="76200" cy="6985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61D588A-E45F-7250-02D5-7E05F7DCAC75}"/>
              </a:ext>
            </a:extLst>
          </p:cNvPr>
          <p:cNvSpPr txBox="1"/>
          <p:nvPr/>
        </p:nvSpPr>
        <p:spPr>
          <a:xfrm>
            <a:off x="4127500" y="43180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D9ECFF"/>
                </a:solidFill>
                <a:latin typeface="Microsoft YaHei" panose="020B0503020204020204" pitchFamily="34" charset="-122"/>
              </a:rPr>
              <a:t>学号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381C5DD-4FB3-EFDD-6BD4-F7CDD2DE01C0}"/>
              </a:ext>
            </a:extLst>
          </p:cNvPr>
          <p:cNvSpPr txBox="1"/>
          <p:nvPr/>
        </p:nvSpPr>
        <p:spPr>
          <a:xfrm>
            <a:off x="4127500" y="45974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FFFFFF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2D94489-0828-6EE2-442E-36EAC0A3CA41}"/>
              </a:ext>
            </a:extLst>
          </p:cNvPr>
          <p:cNvSpPr/>
          <p:nvPr/>
        </p:nvSpPr>
        <p:spPr>
          <a:xfrm>
            <a:off x="6934200" y="4165600"/>
            <a:ext cx="2540000" cy="698500"/>
          </a:xfrm>
          <a:prstGeom prst="roundRect">
            <a:avLst/>
          </a:prstGeom>
          <a:solidFill>
            <a:srgbClr val="0E3556"/>
          </a:solidFill>
          <a:ln w="889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AFA2BA5-D06F-0DCE-B927-0B21828D02E0}"/>
              </a:ext>
            </a:extLst>
          </p:cNvPr>
          <p:cNvSpPr/>
          <p:nvPr/>
        </p:nvSpPr>
        <p:spPr>
          <a:xfrm>
            <a:off x="6934200" y="4165600"/>
            <a:ext cx="76200" cy="6985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EF024F3-7DD1-102E-3DAE-CF8CBF953818}"/>
              </a:ext>
            </a:extLst>
          </p:cNvPr>
          <p:cNvSpPr txBox="1"/>
          <p:nvPr/>
        </p:nvSpPr>
        <p:spPr>
          <a:xfrm>
            <a:off x="7137400" y="43180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D9ECFF"/>
                </a:solidFill>
                <a:latin typeface="Microsoft YaHei" panose="020B0503020204020204" pitchFamily="34" charset="-122"/>
              </a:rPr>
              <a:t>班级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C2B5E68-D63A-7D5D-1C15-E93D7F202524}"/>
              </a:ext>
            </a:extLst>
          </p:cNvPr>
          <p:cNvSpPr txBox="1"/>
          <p:nvPr/>
        </p:nvSpPr>
        <p:spPr>
          <a:xfrm>
            <a:off x="7137400" y="45974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FFFFFF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</p:spTree>
    <p:extLst>
      <p:ext uri="{BB962C8B-B14F-4D97-AF65-F5344CB8AC3E}">
        <p14:creationId xmlns:p14="http://schemas.microsoft.com/office/powerpoint/2010/main" val="3251952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184E134-79D5-1569-D98A-42338C1140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F5F37F-7B5C-B718-6F14-B1425CA69CE0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C65B016-DFB8-647B-9448-3058B98172A1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63066E95-A2B9-C74A-F03F-53604F9BA423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A3A301-544A-9ED7-F3FA-4F07055D12EE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TALK ROADMAP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DC8C166-3531-4D3A-3707-84DC3015D085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汇报结构：从分类到聚类的完整方法链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4958FED-071A-1EA8-C5F2-F8D923954508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5D34611-BDE3-6C30-73EB-6224E2CE1797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2FCEC61-0C5A-2146-19BF-EAAF5E3694D1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BC5A0DB-1EA0-6FB9-0394-9A9E3BE2C60E}"/>
              </a:ext>
            </a:extLst>
          </p:cNvPr>
          <p:cNvSpPr/>
          <p:nvPr/>
        </p:nvSpPr>
        <p:spPr>
          <a:xfrm>
            <a:off x="711200" y="1498600"/>
            <a:ext cx="18415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0E96466-258B-1E6E-8FCF-1FFD24289435}"/>
              </a:ext>
            </a:extLst>
          </p:cNvPr>
          <p:cNvSpPr/>
          <p:nvPr/>
        </p:nvSpPr>
        <p:spPr>
          <a:xfrm>
            <a:off x="711200" y="1498600"/>
            <a:ext cx="76200" cy="1092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A456A42-03F2-751A-9C2C-1F8242FDC158}"/>
              </a:ext>
            </a:extLst>
          </p:cNvPr>
          <p:cNvSpPr txBox="1"/>
          <p:nvPr/>
        </p:nvSpPr>
        <p:spPr>
          <a:xfrm>
            <a:off x="9017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01 Bayes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20E1711-D3A8-B08D-0651-9FB3C2096259}"/>
              </a:ext>
            </a:extLst>
          </p:cNvPr>
          <p:cNvSpPr txBox="1"/>
          <p:nvPr/>
        </p:nvSpPr>
        <p:spPr>
          <a:xfrm>
            <a:off x="901700" y="1981200"/>
            <a:ext cx="153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概率密度估计与风险决策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4938790-06EA-6A51-26FC-87E1083217C3}"/>
              </a:ext>
            </a:extLst>
          </p:cNvPr>
          <p:cNvSpPr/>
          <p:nvPr/>
        </p:nvSpPr>
        <p:spPr>
          <a:xfrm>
            <a:off x="2971800" y="1498600"/>
            <a:ext cx="18415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83C8A08-2789-7154-01B2-5EE783A772E5}"/>
              </a:ext>
            </a:extLst>
          </p:cNvPr>
          <p:cNvSpPr/>
          <p:nvPr/>
        </p:nvSpPr>
        <p:spPr>
          <a:xfrm>
            <a:off x="2971800" y="1498600"/>
            <a:ext cx="76200" cy="1092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06BB099-FD39-B1CA-4AD0-10F6B6CD2CE5}"/>
              </a:ext>
            </a:extLst>
          </p:cNvPr>
          <p:cNvSpPr txBox="1"/>
          <p:nvPr/>
        </p:nvSpPr>
        <p:spPr>
          <a:xfrm>
            <a:off x="31623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02 Fisher/Parzen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C1825B5-96AF-413F-81DA-2D486AB8AF6C}"/>
              </a:ext>
            </a:extLst>
          </p:cNvPr>
          <p:cNvSpPr txBox="1"/>
          <p:nvPr/>
        </p:nvSpPr>
        <p:spPr>
          <a:xfrm>
            <a:off x="3162300" y="19812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非参数估计与直接判别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B86413B-095C-D8DD-1A92-B361B8C5EDAF}"/>
              </a:ext>
            </a:extLst>
          </p:cNvPr>
          <p:cNvSpPr/>
          <p:nvPr/>
        </p:nvSpPr>
        <p:spPr>
          <a:xfrm>
            <a:off x="5232400" y="1498600"/>
            <a:ext cx="18415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554AFFB-4B00-E95A-C836-05365BC67DE5}"/>
              </a:ext>
            </a:extLst>
          </p:cNvPr>
          <p:cNvSpPr/>
          <p:nvPr/>
        </p:nvSpPr>
        <p:spPr>
          <a:xfrm>
            <a:off x="5232400" y="1498600"/>
            <a:ext cx="76200" cy="1092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D1B6CBD-3DF2-C4AA-6AF4-99775F43875E}"/>
              </a:ext>
            </a:extLst>
          </p:cNvPr>
          <p:cNvSpPr txBox="1"/>
          <p:nvPr/>
        </p:nvSpPr>
        <p:spPr>
          <a:xfrm>
            <a:off x="54229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03 K-L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特征提取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05E0C86-4248-838D-8D7F-6DF925C494FE}"/>
              </a:ext>
            </a:extLst>
          </p:cNvPr>
          <p:cNvSpPr txBox="1"/>
          <p:nvPr/>
        </p:nvSpPr>
        <p:spPr>
          <a:xfrm>
            <a:off x="5422900" y="19812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协方差特征分解与降维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87EEA64-FE7B-E948-A345-0C162ACCEFC8}"/>
              </a:ext>
            </a:extLst>
          </p:cNvPr>
          <p:cNvSpPr/>
          <p:nvPr/>
        </p:nvSpPr>
        <p:spPr>
          <a:xfrm>
            <a:off x="7493000" y="1498600"/>
            <a:ext cx="18415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EBE1F89-D118-9606-4B14-554FD7A262F8}"/>
              </a:ext>
            </a:extLst>
          </p:cNvPr>
          <p:cNvSpPr/>
          <p:nvPr/>
        </p:nvSpPr>
        <p:spPr>
          <a:xfrm>
            <a:off x="7493000" y="1498600"/>
            <a:ext cx="76200" cy="1092200"/>
          </a:xfrm>
          <a:prstGeom prst="rect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D4F252C-8E4D-431C-E147-FB999B8F5A1A}"/>
              </a:ext>
            </a:extLst>
          </p:cNvPr>
          <p:cNvSpPr txBox="1"/>
          <p:nvPr/>
        </p:nvSpPr>
        <p:spPr>
          <a:xfrm>
            <a:off x="76835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04 K-L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图像应用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860E0D2-7BD5-71E4-7BC6-AB425597C275}"/>
              </a:ext>
            </a:extLst>
          </p:cNvPr>
          <p:cNvSpPr txBox="1"/>
          <p:nvPr/>
        </p:nvSpPr>
        <p:spPr>
          <a:xfrm>
            <a:off x="7683500" y="19812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高维图像压缩与识别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52E2AA06-9D7E-DFD4-74B8-E4A0847FE860}"/>
              </a:ext>
            </a:extLst>
          </p:cNvPr>
          <p:cNvSpPr/>
          <p:nvPr/>
        </p:nvSpPr>
        <p:spPr>
          <a:xfrm>
            <a:off x="9753600" y="1498600"/>
            <a:ext cx="18415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C822213-C29D-783E-604E-04BA9718DBB7}"/>
              </a:ext>
            </a:extLst>
          </p:cNvPr>
          <p:cNvSpPr/>
          <p:nvPr/>
        </p:nvSpPr>
        <p:spPr>
          <a:xfrm>
            <a:off x="9753600" y="1498600"/>
            <a:ext cx="76200" cy="1092200"/>
          </a:xfrm>
          <a:prstGeom prst="rect">
            <a:avLst/>
          </a:prstGeom>
          <a:solidFill>
            <a:srgbClr val="2B8A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1157568-B6E1-2C5D-E1F7-3E3E2B211167}"/>
              </a:ext>
            </a:extLst>
          </p:cNvPr>
          <p:cNvSpPr txBox="1"/>
          <p:nvPr/>
        </p:nvSpPr>
        <p:spPr>
          <a:xfrm>
            <a:off x="99441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05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聚类分析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348CBBE-E758-4301-C844-58604F3B47A0}"/>
              </a:ext>
            </a:extLst>
          </p:cNvPr>
          <p:cNvSpPr txBox="1"/>
          <p:nvPr/>
        </p:nvSpPr>
        <p:spPr>
          <a:xfrm>
            <a:off x="9944100" y="19812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无监督样本结构发现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5494FD6B-6C2B-168B-60A7-48F375801986}"/>
              </a:ext>
            </a:extLst>
          </p:cNvPr>
          <p:cNvSpPr/>
          <p:nvPr/>
        </p:nvSpPr>
        <p:spPr>
          <a:xfrm>
            <a:off x="965200" y="3810000"/>
            <a:ext cx="2159000" cy="990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DAF08EF-10E2-F673-8A4B-42A763EFEEDA}"/>
              </a:ext>
            </a:extLst>
          </p:cNvPr>
          <p:cNvSpPr/>
          <p:nvPr/>
        </p:nvSpPr>
        <p:spPr>
          <a:xfrm>
            <a:off x="965200" y="3810000"/>
            <a:ext cx="76200" cy="9906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4A084B4-98D6-9C66-3385-6C041D0E0BA5}"/>
              </a:ext>
            </a:extLst>
          </p:cNvPr>
          <p:cNvSpPr txBox="1"/>
          <p:nvPr/>
        </p:nvSpPr>
        <p:spPr>
          <a:xfrm>
            <a:off x="1155700" y="39370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理论知识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0219797-8ADC-E435-111F-61B37E2F31F3}"/>
              </a:ext>
            </a:extLst>
          </p:cNvPr>
          <p:cNvSpPr txBox="1"/>
          <p:nvPr/>
        </p:nvSpPr>
        <p:spPr>
          <a:xfrm>
            <a:off x="1155700" y="4292600"/>
            <a:ext cx="1854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先讲课程概念、公式和方法思想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2834889F-A600-CBE7-C8C2-90BB4D40A96A}"/>
              </a:ext>
            </a:extLst>
          </p:cNvPr>
          <p:cNvSpPr/>
          <p:nvPr/>
        </p:nvSpPr>
        <p:spPr>
          <a:xfrm>
            <a:off x="3530600" y="3810000"/>
            <a:ext cx="2159000" cy="990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6D30926-7427-AD95-69C3-E665E8E40418}"/>
              </a:ext>
            </a:extLst>
          </p:cNvPr>
          <p:cNvSpPr/>
          <p:nvPr/>
        </p:nvSpPr>
        <p:spPr>
          <a:xfrm>
            <a:off x="3530600" y="3810000"/>
            <a:ext cx="76200" cy="9906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CD7B294-FC3D-7E59-38E4-2625F00D4F90}"/>
              </a:ext>
            </a:extLst>
          </p:cNvPr>
          <p:cNvSpPr txBox="1"/>
          <p:nvPr/>
        </p:nvSpPr>
        <p:spPr>
          <a:xfrm>
            <a:off x="3721100" y="39370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实验设置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917FD7D-097F-1FE7-3305-1BEDB6B84371}"/>
              </a:ext>
            </a:extLst>
          </p:cNvPr>
          <p:cNvSpPr txBox="1"/>
          <p:nvPr/>
        </p:nvSpPr>
        <p:spPr>
          <a:xfrm>
            <a:off x="3721100" y="4292600"/>
            <a:ext cx="1854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说明数据、特征、模型参数和指标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0F3A420B-207E-D03B-96D6-D686972909C4}"/>
              </a:ext>
            </a:extLst>
          </p:cNvPr>
          <p:cNvSpPr/>
          <p:nvPr/>
        </p:nvSpPr>
        <p:spPr>
          <a:xfrm>
            <a:off x="6096000" y="3810000"/>
            <a:ext cx="2159000" cy="990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2C1CCFB-F9F3-0D50-75F3-F5DFBBD40AB2}"/>
              </a:ext>
            </a:extLst>
          </p:cNvPr>
          <p:cNvSpPr/>
          <p:nvPr/>
        </p:nvSpPr>
        <p:spPr>
          <a:xfrm>
            <a:off x="6096000" y="3810000"/>
            <a:ext cx="76200" cy="9906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6510587-F03F-FD6D-6FF7-772A7CF2ECE3}"/>
              </a:ext>
            </a:extLst>
          </p:cNvPr>
          <p:cNvSpPr txBox="1"/>
          <p:nvPr/>
        </p:nvSpPr>
        <p:spPr>
          <a:xfrm>
            <a:off x="6286500" y="39370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实验结果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F44C659-A006-1AE1-D6FB-15D239E2672C}"/>
              </a:ext>
            </a:extLst>
          </p:cNvPr>
          <p:cNvSpPr txBox="1"/>
          <p:nvPr/>
        </p:nvSpPr>
        <p:spPr>
          <a:xfrm>
            <a:off x="6286500" y="4292600"/>
            <a:ext cx="1854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展示准确率、错误率、混淆矩阵和图像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BC1DA8FF-24A8-EC85-E244-2A946397EB5A}"/>
              </a:ext>
            </a:extLst>
          </p:cNvPr>
          <p:cNvSpPr/>
          <p:nvPr/>
        </p:nvSpPr>
        <p:spPr>
          <a:xfrm>
            <a:off x="8661400" y="3810000"/>
            <a:ext cx="2159000" cy="990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19CB04D-CFE3-3728-2224-F9B4E257B7A0}"/>
              </a:ext>
            </a:extLst>
          </p:cNvPr>
          <p:cNvSpPr/>
          <p:nvPr/>
        </p:nvSpPr>
        <p:spPr>
          <a:xfrm>
            <a:off x="8661400" y="3810000"/>
            <a:ext cx="76200" cy="990600"/>
          </a:xfrm>
          <a:prstGeom prst="rect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A18A033-B44A-583B-80C8-5AEA1C9CBCB6}"/>
              </a:ext>
            </a:extLst>
          </p:cNvPr>
          <p:cNvSpPr txBox="1"/>
          <p:nvPr/>
        </p:nvSpPr>
        <p:spPr>
          <a:xfrm>
            <a:off x="8851900" y="39370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分析总结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F2195E89-75A8-8460-8BB3-3DB8BB086ACA}"/>
              </a:ext>
            </a:extLst>
          </p:cNvPr>
          <p:cNvSpPr txBox="1"/>
          <p:nvPr/>
        </p:nvSpPr>
        <p:spPr>
          <a:xfrm>
            <a:off x="8851900" y="4292600"/>
            <a:ext cx="1854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解释现象并联系课程理论</a:t>
            </a:r>
          </a:p>
        </p:txBody>
      </p:sp>
    </p:spTree>
    <p:extLst>
      <p:ext uri="{BB962C8B-B14F-4D97-AF65-F5344CB8AC3E}">
        <p14:creationId xmlns:p14="http://schemas.microsoft.com/office/powerpoint/2010/main" val="2082842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D3DB593-5B5E-F0E7-81E2-A97DA392C9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38B48EC-1AA1-C220-2175-D383C2A07682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E62CEAE2-CAC8-8E2B-C3B5-E0DAA4D7D853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4BFF5800-E580-A664-6668-648032DA450E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2D5EDCD-D56A-3B8B-4AAE-7133872E20D0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SOURCE &amp; SETUP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9D5F5EE-A5FF-B0A5-209A-B89391E05226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数据与实验环境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9961CC2-F694-EED8-2B0E-BF9C1100239A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C076D28-FE55-9224-12E2-41D0A93DCB64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7676C99-9081-4782-432B-491A5DC1F03F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8CE68F13-39E5-24D0-9135-160086E33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479470"/>
              </p:ext>
            </p:extLst>
          </p:nvPr>
        </p:nvGraphicFramePr>
        <p:xfrm>
          <a:off x="736600" y="1333500"/>
          <a:ext cx="5778500" cy="223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6167">
                  <a:extLst>
                    <a:ext uri="{9D8B030D-6E8A-4147-A177-3AD203B41FA5}">
                      <a16:colId xmlns:a16="http://schemas.microsoft.com/office/drawing/2014/main" val="1719125594"/>
                    </a:ext>
                  </a:extLst>
                </a:gridCol>
                <a:gridCol w="1926167">
                  <a:extLst>
                    <a:ext uri="{9D8B030D-6E8A-4147-A177-3AD203B41FA5}">
                      <a16:colId xmlns:a16="http://schemas.microsoft.com/office/drawing/2014/main" val="2068052952"/>
                    </a:ext>
                  </a:extLst>
                </a:gridCol>
                <a:gridCol w="1926167">
                  <a:extLst>
                    <a:ext uri="{9D8B030D-6E8A-4147-A177-3AD203B41FA5}">
                      <a16:colId xmlns:a16="http://schemas.microsoft.com/office/drawing/2014/main" val="2533747219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数据集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实验用途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规模</a:t>
                      </a:r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76407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FEMALE / MALE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实验一、二、三、五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女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+ 50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男训练样本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404466567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 / test2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分类器泛化测试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35 / 300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个测试样本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83317123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飞机图像数据集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实验四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16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2530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训练图，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636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测试图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088989527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ACFFF54E-B91C-8F11-CE3D-730DE91D5B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028162"/>
              </p:ext>
            </p:extLst>
          </p:nvPr>
        </p:nvGraphicFramePr>
        <p:xfrm>
          <a:off x="6921500" y="1333500"/>
          <a:ext cx="444500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647876063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2919273010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工具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作用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06586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Python 3.11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实验脚本运行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609100529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NumPy / SciPy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数值计算与矩阵运算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22662892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scikit-learn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、评估指标、分级聚类辅助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29702546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Matplotlib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分类边界、投影、聚类图输出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360314746"/>
                  </a:ext>
                </a:extLst>
              </a:tr>
            </a:tbl>
          </a:graphicData>
        </a:graphic>
      </p:graphicFrame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B3FA5E9-57C5-9665-B395-6810037717B7}"/>
              </a:ext>
            </a:extLst>
          </p:cNvPr>
          <p:cNvSpPr/>
          <p:nvPr/>
        </p:nvSpPr>
        <p:spPr>
          <a:xfrm>
            <a:off x="99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028D2BB-3E5A-DABA-F687-300F9D3DEFCF}"/>
              </a:ext>
            </a:extLst>
          </p:cNvPr>
          <p:cNvSpPr txBox="1"/>
          <p:nvPr/>
        </p:nvSpPr>
        <p:spPr>
          <a:xfrm>
            <a:off x="1143000" y="4597400"/>
            <a:ext cx="1752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Microsoft YaHei" panose="020B0503020204020204" pitchFamily="34" charset="-122"/>
              </a:rPr>
              <a:t>5</a:t>
            </a:r>
            <a:endParaRPr lang="zh-CN" altLang="en-US" sz="24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E912935-F01E-1214-C3C9-23224F20068A}"/>
              </a:ext>
            </a:extLst>
          </p:cNvPr>
          <p:cNvSpPr txBox="1"/>
          <p:nvPr/>
        </p:nvSpPr>
        <p:spPr>
          <a:xfrm>
            <a:off x="1143000" y="5003800"/>
            <a:ext cx="1752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已完成实验任务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4134203-0448-1365-BC30-0CA1513895FB}"/>
              </a:ext>
            </a:extLst>
          </p:cNvPr>
          <p:cNvSpPr/>
          <p:nvPr/>
        </p:nvSpPr>
        <p:spPr>
          <a:xfrm>
            <a:off x="353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CB17BCC-12B5-F2D2-E928-8DFACB05E634}"/>
              </a:ext>
            </a:extLst>
          </p:cNvPr>
          <p:cNvSpPr txBox="1"/>
          <p:nvPr/>
        </p:nvSpPr>
        <p:spPr>
          <a:xfrm>
            <a:off x="3683000" y="4597400"/>
            <a:ext cx="1752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Microsoft YaHei" panose="020B0503020204020204" pitchFamily="34" charset="-122"/>
              </a:rPr>
              <a:t>18</a:t>
            </a:r>
            <a:endParaRPr lang="zh-CN" altLang="en-US" sz="24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C351D70-CD0D-95A7-7657-9F394156C755}"/>
              </a:ext>
            </a:extLst>
          </p:cNvPr>
          <p:cNvSpPr txBox="1"/>
          <p:nvPr/>
        </p:nvSpPr>
        <p:spPr>
          <a:xfrm>
            <a:off x="3683000" y="5003800"/>
            <a:ext cx="1752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汇报中使用图表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BDA83C0-9F79-4C78-7425-1E9BC1096F29}"/>
              </a:ext>
            </a:extLst>
          </p:cNvPr>
          <p:cNvSpPr/>
          <p:nvPr/>
        </p:nvSpPr>
        <p:spPr>
          <a:xfrm>
            <a:off x="607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C03D842-FBFE-6A09-A8F8-29143628C9DB}"/>
              </a:ext>
            </a:extLst>
          </p:cNvPr>
          <p:cNvSpPr txBox="1"/>
          <p:nvPr/>
        </p:nvSpPr>
        <p:spPr>
          <a:xfrm>
            <a:off x="6223000" y="4597400"/>
            <a:ext cx="1752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Microsoft YaHei" panose="020B0503020204020204" pitchFamily="34" charset="-122"/>
              </a:rPr>
              <a:t>2D/1024D</a:t>
            </a:r>
            <a:endParaRPr lang="zh-CN" altLang="en-US" sz="24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AB6FA8E-3330-A778-686E-E644DC47F2E8}"/>
              </a:ext>
            </a:extLst>
          </p:cNvPr>
          <p:cNvSpPr txBox="1"/>
          <p:nvPr/>
        </p:nvSpPr>
        <p:spPr>
          <a:xfrm>
            <a:off x="6223000" y="5003800"/>
            <a:ext cx="1752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低维与图像高维特征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A2229D3-B86B-2571-1354-DA59EE4FF434}"/>
              </a:ext>
            </a:extLst>
          </p:cNvPr>
          <p:cNvSpPr/>
          <p:nvPr/>
        </p:nvSpPr>
        <p:spPr>
          <a:xfrm>
            <a:off x="861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ED0040E-EF24-2437-95E6-16B6BD7D8779}"/>
              </a:ext>
            </a:extLst>
          </p:cNvPr>
          <p:cNvSpPr txBox="1"/>
          <p:nvPr/>
        </p:nvSpPr>
        <p:spPr>
          <a:xfrm>
            <a:off x="8763000" y="4597400"/>
            <a:ext cx="1752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分类</a:t>
            </a:r>
            <a:r>
              <a:rPr lang="en-US" altLang="zh-CN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聚类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33CEBCC-1A43-61C0-C9C6-6E1BBFD2FE85}"/>
              </a:ext>
            </a:extLst>
          </p:cNvPr>
          <p:cNvSpPr txBox="1"/>
          <p:nvPr/>
        </p:nvSpPr>
        <p:spPr>
          <a:xfrm>
            <a:off x="8763000" y="5003800"/>
            <a:ext cx="1752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监督与无监督覆盖</a:t>
            </a:r>
          </a:p>
        </p:txBody>
      </p:sp>
    </p:spTree>
    <p:extLst>
      <p:ext uri="{BB962C8B-B14F-4D97-AF65-F5344CB8AC3E}">
        <p14:creationId xmlns:p14="http://schemas.microsoft.com/office/powerpoint/2010/main" val="497524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224EB7B-848D-30A9-3748-97CFFD087B1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8EBADB14-0BEE-9791-D972-01A044AFCE50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C1BF7F19-5EFE-80D4-7E21-A210FC442B00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E9A29CB-CE9D-FC68-DDE0-979CA619D907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8CCEF6-2DE1-30D8-B458-B95A54F85DE4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3AE18A-3F4D-9F46-1667-08DCAEE0C737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用身高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体重数据进行最小错误率与最小风险决策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8F52833-F10E-A34F-7E0B-0B505BEB6C0C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381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E9E565A-4BFB-E490-4754-336B7093D1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A80CDE3-4FBB-9FC6-3426-5C3D2C5503BB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5EEEB7B8-9158-D26B-7C64-DCE51332B201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DBFB859A-7A60-B898-0213-6785F5125158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A554F2-6F8A-3587-1415-D099941FCCCC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BAYES CLASSIFIER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7B38428-D69D-0A04-7B35-15548DDAB021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实验一理论：概率决策框架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DA074AE-CC6C-73A1-1FEB-842A8478AF47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D1D2562-9A97-2BE0-8360-4E01AC77DA42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822D95A-A00B-708C-1DCD-F7DD52282BC3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FE03AE3-E2AE-AD39-077E-7527B5001FAB}"/>
              </a:ext>
            </a:extLst>
          </p:cNvPr>
          <p:cNvSpPr/>
          <p:nvPr/>
        </p:nvSpPr>
        <p:spPr>
          <a:xfrm>
            <a:off x="736600" y="1371600"/>
            <a:ext cx="3302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EB2F4CA-8263-56CD-6992-AA3B53BF8011}"/>
              </a:ext>
            </a:extLst>
          </p:cNvPr>
          <p:cNvSpPr/>
          <p:nvPr/>
        </p:nvSpPr>
        <p:spPr>
          <a:xfrm>
            <a:off x="736600" y="1371600"/>
            <a:ext cx="76200" cy="1092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864DE4E-3203-03BD-AE4C-1B20129E9631}"/>
              </a:ext>
            </a:extLst>
          </p:cNvPr>
          <p:cNvSpPr txBox="1"/>
          <p:nvPr/>
        </p:nvSpPr>
        <p:spPr>
          <a:xfrm>
            <a:off x="9271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后验概率决策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69BF268-5778-D31C-4AFB-485A7E5BC1C0}"/>
              </a:ext>
            </a:extLst>
          </p:cNvPr>
          <p:cNvSpPr txBox="1"/>
          <p:nvPr/>
        </p:nvSpPr>
        <p:spPr>
          <a:xfrm>
            <a:off x="9271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选择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P(ωi|x)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最大的类别，本质是把观测特征映射到类别后验。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550402A-6598-7FAD-9AD7-C173261E2068}"/>
              </a:ext>
            </a:extLst>
          </p:cNvPr>
          <p:cNvSpPr/>
          <p:nvPr/>
        </p:nvSpPr>
        <p:spPr>
          <a:xfrm>
            <a:off x="4445000" y="1371600"/>
            <a:ext cx="3302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6F379B6-9F72-57A0-5502-1BEB6EF26DA1}"/>
              </a:ext>
            </a:extLst>
          </p:cNvPr>
          <p:cNvSpPr/>
          <p:nvPr/>
        </p:nvSpPr>
        <p:spPr>
          <a:xfrm>
            <a:off x="4445000" y="1371600"/>
            <a:ext cx="76200" cy="1092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46D040F-DCD8-AE88-4C2F-62CB262C8154}"/>
              </a:ext>
            </a:extLst>
          </p:cNvPr>
          <p:cNvSpPr txBox="1"/>
          <p:nvPr/>
        </p:nvSpPr>
        <p:spPr>
          <a:xfrm>
            <a:off x="46355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高斯参数估计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1759C56-7EEF-63CB-CE8B-2E118D6615A7}"/>
              </a:ext>
            </a:extLst>
          </p:cNvPr>
          <p:cNvSpPr txBox="1"/>
          <p:nvPr/>
        </p:nvSpPr>
        <p:spPr>
          <a:xfrm>
            <a:off x="46355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在正态假设下估计均值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μ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与协方差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Σ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，得到二次判别函数。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654154E-AC96-A5CD-FD3C-90D317795270}"/>
              </a:ext>
            </a:extLst>
          </p:cNvPr>
          <p:cNvSpPr/>
          <p:nvPr/>
        </p:nvSpPr>
        <p:spPr>
          <a:xfrm>
            <a:off x="8153400" y="1371600"/>
            <a:ext cx="2921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F43F54F-B188-D4A9-B603-636D6A2A6F41}"/>
              </a:ext>
            </a:extLst>
          </p:cNvPr>
          <p:cNvSpPr/>
          <p:nvPr/>
        </p:nvSpPr>
        <p:spPr>
          <a:xfrm>
            <a:off x="8153400" y="1371600"/>
            <a:ext cx="76200" cy="1092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CE62748-D0D6-522B-5822-975C3A166751}"/>
              </a:ext>
            </a:extLst>
          </p:cNvPr>
          <p:cNvSpPr txBox="1"/>
          <p:nvPr/>
        </p:nvSpPr>
        <p:spPr>
          <a:xfrm>
            <a:off x="8343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风险敏感决策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C71B92F-72DA-8CDC-10F1-9CDC655A847C}"/>
              </a:ext>
            </a:extLst>
          </p:cNvPr>
          <p:cNvSpPr txBox="1"/>
          <p:nvPr/>
        </p:nvSpPr>
        <p:spPr>
          <a:xfrm>
            <a:off x="8343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用损失表刻画不同错误代价，选择条件风险最小的动作。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1DDECC1-F198-E9ED-C816-39D7A849CE7D}"/>
              </a:ext>
            </a:extLst>
          </p:cNvPr>
          <p:cNvSpPr/>
          <p:nvPr/>
        </p:nvSpPr>
        <p:spPr>
          <a:xfrm>
            <a:off x="990600" y="3302000"/>
            <a:ext cx="10210800" cy="8890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9556DD9-3A78-94DB-C745-B96FBD272903}"/>
              </a:ext>
            </a:extLst>
          </p:cNvPr>
          <p:cNvSpPr txBox="1"/>
          <p:nvPr/>
        </p:nvSpPr>
        <p:spPr>
          <a:xfrm>
            <a:off x="1270000" y="36322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nn-NO" altLang="zh-CN" sz="2000" b="1">
                <a:solidFill>
                  <a:srgbClr val="006BB7"/>
                </a:solidFill>
                <a:latin typeface="Microsoft YaHei" panose="020B0503020204020204" pitchFamily="34" charset="-122"/>
              </a:rPr>
              <a:t>g_i(x) = -1/2 ln|Σ_i| - 1/2(x-μ_i)^TΣ_i^{-1}(x-μ_i) + ln P(ω_i)</a:t>
            </a:r>
            <a:endParaRPr lang="zh-CN" altLang="en-US" sz="20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83DA066-A4D9-5BA9-B08F-1D2801DD2694}"/>
              </a:ext>
            </a:extLst>
          </p:cNvPr>
          <p:cNvSpPr txBox="1"/>
          <p:nvPr/>
        </p:nvSpPr>
        <p:spPr>
          <a:xfrm>
            <a:off x="1016000" y="4851400"/>
            <a:ext cx="9906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课程相关：参数估计、先验概率、贝叶斯判别函数、最小风险决策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实验目的：观察特征、先验、协方差假设和风险表对分类性能的影响</a:t>
            </a:r>
          </a:p>
        </p:txBody>
      </p:sp>
    </p:spTree>
    <p:extLst>
      <p:ext uri="{BB962C8B-B14F-4D97-AF65-F5344CB8AC3E}">
        <p14:creationId xmlns:p14="http://schemas.microsoft.com/office/powerpoint/2010/main" val="2278544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8DAC702-EA01-396A-3A86-740187AA3C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C845994-1C08-2D4C-AC27-B7D1E4278DC8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E377649-49CA-7D57-F5E7-CF793A53C8B6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C9C8FC80-F819-F0D9-14BA-0F4A057E1D7C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291809B-1C02-7E69-F05A-538A8A101CB1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47AB01-3897-47D2-774C-9CF78C9720D8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实验一设置：数据、特征与实现流程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98EF419-F4D7-8CC9-E315-783185928A5F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931B6866-A223-C89B-32DE-06B29053CADF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DC9A9A3-2BC7-33AF-2AC2-D0D95D4CF805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2A19F2F-90B8-67E9-EBF3-1511492FC455}"/>
              </a:ext>
            </a:extLst>
          </p:cNvPr>
          <p:cNvSpPr/>
          <p:nvPr/>
        </p:nvSpPr>
        <p:spPr>
          <a:xfrm>
            <a:off x="889000" y="14986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D1254E7-9189-852F-B7BC-B6741B644666}"/>
              </a:ext>
            </a:extLst>
          </p:cNvPr>
          <p:cNvSpPr txBox="1"/>
          <p:nvPr/>
        </p:nvSpPr>
        <p:spPr>
          <a:xfrm>
            <a:off x="901700" y="15748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80F31E8-35C1-3827-042D-291FBFAE8887}"/>
              </a:ext>
            </a:extLst>
          </p:cNvPr>
          <p:cNvSpPr txBox="1"/>
          <p:nvPr/>
        </p:nvSpPr>
        <p:spPr>
          <a:xfrm>
            <a:off x="1422400" y="14605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读取数据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B0FC9B0-AA09-6ADF-965E-CFEB3C5B99C7}"/>
              </a:ext>
            </a:extLst>
          </p:cNvPr>
          <p:cNvSpPr txBox="1"/>
          <p:nvPr/>
        </p:nvSpPr>
        <p:spPr>
          <a:xfrm>
            <a:off x="1422400" y="17780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FEMALE/MALE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作为训练集；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test1/test2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作为测试集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9BFE2D2-21AF-9D56-325C-16E2C8D197A6}"/>
              </a:ext>
            </a:extLst>
          </p:cNvPr>
          <p:cNvSpPr/>
          <p:nvPr/>
        </p:nvSpPr>
        <p:spPr>
          <a:xfrm>
            <a:off x="889000" y="2514600"/>
            <a:ext cx="381000" cy="381000"/>
          </a:xfrm>
          <a:prstGeom prst="ellipse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3A52F87-3143-98BF-18B8-2DEB349C62D8}"/>
              </a:ext>
            </a:extLst>
          </p:cNvPr>
          <p:cNvSpPr txBox="1"/>
          <p:nvPr/>
        </p:nvSpPr>
        <p:spPr>
          <a:xfrm>
            <a:off x="901700" y="25908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1979CF1-F75A-958B-9813-B333A026F43F}"/>
              </a:ext>
            </a:extLst>
          </p:cNvPr>
          <p:cNvSpPr txBox="1"/>
          <p:nvPr/>
        </p:nvSpPr>
        <p:spPr>
          <a:xfrm>
            <a:off x="1422400" y="24765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选择特征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4EAD028-270F-479A-46A6-B96DFBC6AA9D}"/>
              </a:ext>
            </a:extLst>
          </p:cNvPr>
          <p:cNvSpPr txBox="1"/>
          <p:nvPr/>
        </p:nvSpPr>
        <p:spPr>
          <a:xfrm>
            <a:off x="1422400" y="27940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身高、体重、身高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体重三组对比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3C9802D9-E449-FDF9-3411-66BD6A7F4A20}"/>
              </a:ext>
            </a:extLst>
          </p:cNvPr>
          <p:cNvSpPr/>
          <p:nvPr/>
        </p:nvSpPr>
        <p:spPr>
          <a:xfrm>
            <a:off x="889000" y="35306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5C1267C-AE55-79A1-F589-2403E832363F}"/>
              </a:ext>
            </a:extLst>
          </p:cNvPr>
          <p:cNvSpPr txBox="1"/>
          <p:nvPr/>
        </p:nvSpPr>
        <p:spPr>
          <a:xfrm>
            <a:off x="901700" y="36068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8FB6806-6CAB-CD97-1AF6-C66A87C1D0DF}"/>
              </a:ext>
            </a:extLst>
          </p:cNvPr>
          <p:cNvSpPr txBox="1"/>
          <p:nvPr/>
        </p:nvSpPr>
        <p:spPr>
          <a:xfrm>
            <a:off x="1422400" y="34925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估计分布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D8049AD-2B38-437B-68FE-09C6E0397BE5}"/>
              </a:ext>
            </a:extLst>
          </p:cNvPr>
          <p:cNvSpPr txBox="1"/>
          <p:nvPr/>
        </p:nvSpPr>
        <p:spPr>
          <a:xfrm>
            <a:off x="1422400" y="38100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最大似然估计 </a:t>
            </a:r>
            <a:r>
              <a:rPr lang="el-GR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μ</a:t>
            </a:r>
            <a:r>
              <a:rPr lang="zh-CN" altLang="el-GR" sz="12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l-GR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σ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或 </a:t>
            </a:r>
            <a:r>
              <a:rPr lang="el-GR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Σ</a:t>
            </a:r>
            <a:endParaRPr lang="zh-CN" altLang="en-US" sz="12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644FF84B-449C-E779-EF7C-B06C505C505A}"/>
              </a:ext>
            </a:extLst>
          </p:cNvPr>
          <p:cNvSpPr/>
          <p:nvPr/>
        </p:nvSpPr>
        <p:spPr>
          <a:xfrm>
            <a:off x="889000" y="4546600"/>
            <a:ext cx="381000" cy="381000"/>
          </a:xfrm>
          <a:prstGeom prst="ellipse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41FA2CB-F471-689F-DF12-E9B5B763C972}"/>
              </a:ext>
            </a:extLst>
          </p:cNvPr>
          <p:cNvSpPr txBox="1"/>
          <p:nvPr/>
        </p:nvSpPr>
        <p:spPr>
          <a:xfrm>
            <a:off x="901700" y="46228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00EBACC-72A2-7E4D-01AF-15277F66816C}"/>
              </a:ext>
            </a:extLst>
          </p:cNvPr>
          <p:cNvSpPr txBox="1"/>
          <p:nvPr/>
        </p:nvSpPr>
        <p:spPr>
          <a:xfrm>
            <a:off x="1422400" y="45085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分类评估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1549984-9D90-9B08-DF8D-4EFDFBAB0F55}"/>
              </a:ext>
            </a:extLst>
          </p:cNvPr>
          <p:cNvSpPr txBox="1"/>
          <p:nvPr/>
        </p:nvSpPr>
        <p:spPr>
          <a:xfrm>
            <a:off x="1422400" y="48260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准确率、召回率、混淆矩阵、错误分析</a:t>
            </a: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1F37A12B-4C9C-C15A-C213-FF657D10A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296045"/>
              </p:ext>
            </p:extLst>
          </p:nvPr>
        </p:nvGraphicFramePr>
        <p:xfrm>
          <a:off x="5943600" y="1524000"/>
          <a:ext cx="4953000" cy="234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3746914412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4226525048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设置项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取值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214254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先验概率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0.5/0.5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0.75/0.25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0.9/0.1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9748966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协方差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完整协方差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对角协方差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4292470587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风险表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λ(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M|F)=2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l-GR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λ(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F|M)=1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7367382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非参数补充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窗、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559621249"/>
                  </a:ext>
                </a:extLst>
              </a:tr>
            </a:tbl>
          </a:graphicData>
        </a:graphic>
      </p:graphicFrame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407E885D-58BA-9971-3E21-991300DA8BC4}"/>
              </a:ext>
            </a:extLst>
          </p:cNvPr>
          <p:cNvSpPr/>
          <p:nvPr/>
        </p:nvSpPr>
        <p:spPr>
          <a:xfrm>
            <a:off x="6197600" y="4521200"/>
            <a:ext cx="4445000" cy="711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A6602A0-9C72-77BC-18B0-7090DAC93981}"/>
              </a:ext>
            </a:extLst>
          </p:cNvPr>
          <p:cNvSpPr/>
          <p:nvPr/>
        </p:nvSpPr>
        <p:spPr>
          <a:xfrm>
            <a:off x="6197600" y="4521200"/>
            <a:ext cx="76200" cy="711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76837BE-0159-23B6-58BF-9C6E588D69DA}"/>
              </a:ext>
            </a:extLst>
          </p:cNvPr>
          <p:cNvSpPr txBox="1"/>
          <p:nvPr/>
        </p:nvSpPr>
        <p:spPr>
          <a:xfrm>
            <a:off x="6388100" y="46482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实现要点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DD1B985-CBEB-BBEB-3538-A18103D55AD3}"/>
              </a:ext>
            </a:extLst>
          </p:cNvPr>
          <p:cNvSpPr txBox="1"/>
          <p:nvPr/>
        </p:nvSpPr>
        <p:spPr>
          <a:xfrm>
            <a:off x="6388100" y="5003800"/>
            <a:ext cx="414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所有分类器统一输出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train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test1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上的性能，便于横向比较。</a:t>
            </a:r>
          </a:p>
        </p:txBody>
      </p:sp>
    </p:spTree>
    <p:extLst>
      <p:ext uri="{BB962C8B-B14F-4D97-AF65-F5344CB8AC3E}">
        <p14:creationId xmlns:p14="http://schemas.microsoft.com/office/powerpoint/2010/main" val="1092991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9892090-FB6B-D0D9-B97C-F0EBE7F8EB7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DB92E7-8D56-96D9-5407-D376A1C3A2D0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19D3874-DE29-B367-C435-AAE6152F65CB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D787FE37-3EAB-A14A-1B25-5BD3EF664B3B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86DCBC7-9517-DCE5-600A-2486BD8A5336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RESULT VISUALS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1535C4C-76B0-C887-649E-DF19081ED578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实验一结果：数据分布与 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决策边界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8C4BA47-2803-DE0C-ECB8-1ED7F6BEC058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C88A45C-A8D9-8E67-998B-AFB3F4A6BD57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F2DDD79-593A-0BF6-883D-208C65338FBA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0ACDB48-9BEA-63C4-6DBC-B30B28821570}"/>
              </a:ext>
            </a:extLst>
          </p:cNvPr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0FA615F-0E39-249F-54E7-1FEDC20744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847782"/>
            <a:ext cx="4071811" cy="2908436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BF667EB-4C16-7637-D48C-9714A8C7F55F}"/>
              </a:ext>
            </a:extLst>
          </p:cNvPr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2D03213-AECF-9B26-340A-BEB78B929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5" y="1847782"/>
            <a:ext cx="4071811" cy="2908436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F7E5D69-A247-F978-BFE0-15BBB54333D5}"/>
              </a:ext>
            </a:extLst>
          </p:cNvPr>
          <p:cNvSpPr/>
          <p:nvPr/>
        </p:nvSpPr>
        <p:spPr>
          <a:xfrm>
            <a:off x="1016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55AACF9-33EF-4F0E-3C3A-31D598193044}"/>
              </a:ext>
            </a:extLst>
          </p:cNvPr>
          <p:cNvSpPr txBox="1"/>
          <p:nvPr/>
        </p:nvSpPr>
        <p:spPr>
          <a:xfrm>
            <a:off x="1168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Microsoft YaHei" panose="020B0503020204020204" pitchFamily="34" charset="-122"/>
              </a:rPr>
              <a:t>88.00%</a:t>
            </a:r>
            <a:endParaRPr lang="zh-CN" altLang="en-US" sz="24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533C60D-A303-F8B3-2171-1BB3B6220E82}"/>
              </a:ext>
            </a:extLst>
          </p:cNvPr>
          <p:cNvSpPr txBox="1"/>
          <p:nvPr/>
        </p:nvSpPr>
        <p:spPr>
          <a:xfrm>
            <a:off x="1168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二维 </a:t>
            </a:r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训练准确率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6B508E6-F621-095A-395E-93A1D4BDD9A8}"/>
              </a:ext>
            </a:extLst>
          </p:cNvPr>
          <p:cNvSpPr/>
          <p:nvPr/>
        </p:nvSpPr>
        <p:spPr>
          <a:xfrm>
            <a:off x="3302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D85ACB3-CC2A-580B-45DA-4477BAE11970}"/>
              </a:ext>
            </a:extLst>
          </p:cNvPr>
          <p:cNvSpPr txBox="1"/>
          <p:nvPr/>
        </p:nvSpPr>
        <p:spPr>
          <a:xfrm>
            <a:off x="3454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Microsoft YaHei" panose="020B0503020204020204" pitchFamily="34" charset="-122"/>
              </a:rPr>
              <a:t>97.14%</a:t>
            </a:r>
            <a:endParaRPr lang="zh-CN" altLang="en-US" sz="24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CF37AA9-5803-D183-4214-7E8B7B220A1E}"/>
              </a:ext>
            </a:extLst>
          </p:cNvPr>
          <p:cNvSpPr txBox="1"/>
          <p:nvPr/>
        </p:nvSpPr>
        <p:spPr>
          <a:xfrm>
            <a:off x="3454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test1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准确率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63D3A11-F97B-A898-493A-437EE95E35D8}"/>
              </a:ext>
            </a:extLst>
          </p:cNvPr>
          <p:cNvSpPr/>
          <p:nvPr/>
        </p:nvSpPr>
        <p:spPr>
          <a:xfrm>
            <a:off x="5588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01892AB-B034-F64D-B51B-8CB500B4CCE6}"/>
              </a:ext>
            </a:extLst>
          </p:cNvPr>
          <p:cNvSpPr txBox="1"/>
          <p:nvPr/>
        </p:nvSpPr>
        <p:spPr>
          <a:xfrm>
            <a:off x="5740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Microsoft YaHei" panose="020B0503020204020204" pitchFamily="34" charset="-122"/>
              </a:rPr>
              <a:t>89.33%</a:t>
            </a:r>
            <a:endParaRPr lang="zh-CN" altLang="en-US" sz="24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F5BDB0E-803A-E287-6B26-3A8E4EDB07FE}"/>
              </a:ext>
            </a:extLst>
          </p:cNvPr>
          <p:cNvSpPr txBox="1"/>
          <p:nvPr/>
        </p:nvSpPr>
        <p:spPr>
          <a:xfrm>
            <a:off x="5740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准确率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104B10A-5ABE-9043-435C-40A47802F627}"/>
              </a:ext>
            </a:extLst>
          </p:cNvPr>
          <p:cNvSpPr/>
          <p:nvPr/>
        </p:nvSpPr>
        <p:spPr>
          <a:xfrm>
            <a:off x="7874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E7F630F-EA36-C5C6-CF33-119C4E909CDC}"/>
              </a:ext>
            </a:extLst>
          </p:cNvPr>
          <p:cNvSpPr txBox="1"/>
          <p:nvPr/>
        </p:nvSpPr>
        <p:spPr>
          <a:xfrm>
            <a:off x="8026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90.33%</a:t>
            </a:r>
            <a:endParaRPr lang="zh-CN" altLang="en-US" sz="2400" b="1">
              <a:solidFill>
                <a:srgbClr val="2F80C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A8D1028-DE6E-CEBC-2107-26D24E51BF01}"/>
              </a:ext>
            </a:extLst>
          </p:cNvPr>
          <p:cNvSpPr txBox="1"/>
          <p:nvPr/>
        </p:nvSpPr>
        <p:spPr>
          <a:xfrm>
            <a:off x="8026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对角协方差 </a:t>
            </a:r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test2</a:t>
            </a:r>
            <a:endParaRPr lang="zh-CN" altLang="en-US" sz="1200">
              <a:solidFill>
                <a:srgbClr val="6B7F9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8056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AF58D5D-EA6D-4CD0-8AD1-29EAC3984B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5E537D9-FAAC-D8EF-07ED-35CFF35FF7A6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DEC005A4-73F7-F7E0-7165-C463BA8C613A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CA14B931-0A4D-4F48-FF81-882F00ECE2E3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E9180A-C8AD-41E3-DE87-B72BDE6F2524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ANALYSIS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C72FCE-C9D8-7579-65A2-5BEB4142BEA5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实验一分析：先验与风险改变决策偏向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4555C97-4EA4-422F-1160-D57783E1466F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95E68C9-5740-0D8B-FB9D-D29027AD90A8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D23B75-05D1-BD9D-8F20-696ADF598176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54D292F2-F75C-EBC6-395B-E31FC119FF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035747"/>
              </p:ext>
            </p:extLst>
          </p:nvPr>
        </p:nvGraphicFramePr>
        <p:xfrm>
          <a:off x="762000" y="1333500"/>
          <a:ext cx="6350000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500">
                  <a:extLst>
                    <a:ext uri="{9D8B030D-6E8A-4147-A177-3AD203B41FA5}">
                      <a16:colId xmlns:a16="http://schemas.microsoft.com/office/drawing/2014/main" val="3532592146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354569793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1299875840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39175007"/>
                    </a:ext>
                  </a:extLst>
                </a:gridCol>
              </a:tblGrid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108235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二维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完整协方差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816165860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二维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对角协方差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705871477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最小风险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94.29%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397344075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87.00%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256912533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kNN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k=5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361481433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5EF75A1-4156-E7C8-C0D0-ACCD549FCA22}"/>
              </a:ext>
            </a:extLst>
          </p:cNvPr>
          <p:cNvSpPr/>
          <p:nvPr/>
        </p:nvSpPr>
        <p:spPr>
          <a:xfrm>
            <a:off x="7848600" y="1333500"/>
            <a:ext cx="2794000" cy="241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E49FA80-F61A-709A-DD27-CB3472B434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917" y="1731129"/>
            <a:ext cx="1887366" cy="161774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C2C5BDD8-7BF2-F889-33E1-19E69B2EECFB}"/>
              </a:ext>
            </a:extLst>
          </p:cNvPr>
          <p:cNvSpPr txBox="1"/>
          <p:nvPr/>
        </p:nvSpPr>
        <p:spPr>
          <a:xfrm>
            <a:off x="914400" y="4445000"/>
            <a:ext cx="9906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身高和体重组合能利用互补信息，整体比单特征更稳定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中男生比例更高，若人为设置女生先验过大，会显著降低整体准确率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最小风险决策体现错误代价不同时的分类器设计思想</a:t>
            </a:r>
          </a:p>
        </p:txBody>
      </p:sp>
    </p:spTree>
    <p:extLst>
      <p:ext uri="{BB962C8B-B14F-4D97-AF65-F5344CB8AC3E}">
        <p14:creationId xmlns:p14="http://schemas.microsoft.com/office/powerpoint/2010/main" val="3716514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AAB0C92-51F7-9B60-07E9-6E7CE1EE5B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40BC51F8-7333-7683-D840-986DB9C1C06F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8267266B-AE7D-9DDC-CE88-7C6140B707C3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7DC2438-D2D2-3E3D-206A-7C03CFD017E4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4E75CE5-1543-1B9A-FF0E-D8C96409AC30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实验二：非参数估计与 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判别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03A5168-5BB2-B262-0A4E-B81A14D6261B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比较概率密度估计方法与直接设计线性分类器的方法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A333D2C-A087-17CD-5DFA-35632AA6CF3E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382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1E45DDF-4ED4-17E0-BD2F-96AB0DC1C0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1B0D52-DB60-B890-DE21-21DCEFF1ABCD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69165701-9FBD-9973-C04D-9BAE1B8334AC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79CE0494-5B0B-EBC6-C6D5-874A44B45D44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ED43AF-3E4D-EB25-624A-1CFD8E178EBC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NONPARAMETRIC &amp; LINEAR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339A73F-AB20-BDAA-4B2A-90323857FC40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实验二理论：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Parzen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与留一法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47C374A-3CB9-292A-EB53-2333C4A7ADD3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967BF109-8117-D0FA-1851-FFA96E7168EB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6D84005-783E-8496-FE8A-87F4BB5364A1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CF9658F-712A-2AE6-DA81-4F6D190FC5B0}"/>
              </a:ext>
            </a:extLst>
          </p:cNvPr>
          <p:cNvSpPr/>
          <p:nvPr/>
        </p:nvSpPr>
        <p:spPr>
          <a:xfrm>
            <a:off x="736600" y="1371600"/>
            <a:ext cx="3302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150FAA6-816C-666C-8044-27D955AED62E}"/>
              </a:ext>
            </a:extLst>
          </p:cNvPr>
          <p:cNvSpPr/>
          <p:nvPr/>
        </p:nvSpPr>
        <p:spPr>
          <a:xfrm>
            <a:off x="736600" y="13716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50938E3-392F-AF06-8662-721F53A6CEBE}"/>
              </a:ext>
            </a:extLst>
          </p:cNvPr>
          <p:cNvSpPr txBox="1"/>
          <p:nvPr/>
        </p:nvSpPr>
        <p:spPr>
          <a:xfrm>
            <a:off x="9271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Parzen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窗估计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6A55B6C-5BF3-862E-A6D7-3D6DA8E248A3}"/>
              </a:ext>
            </a:extLst>
          </p:cNvPr>
          <p:cNvSpPr txBox="1"/>
          <p:nvPr/>
        </p:nvSpPr>
        <p:spPr>
          <a:xfrm>
            <a:off x="9271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不预设概率密度形式，用高斯核叠加估计类别条件密度。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A8A701E-F7DA-37E7-3888-87C57F1BB373}"/>
              </a:ext>
            </a:extLst>
          </p:cNvPr>
          <p:cNvSpPr/>
          <p:nvPr/>
        </p:nvSpPr>
        <p:spPr>
          <a:xfrm>
            <a:off x="4445000" y="1371600"/>
            <a:ext cx="3302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9153F44-0C64-6D7B-0EB5-10C287CF7294}"/>
              </a:ext>
            </a:extLst>
          </p:cNvPr>
          <p:cNvSpPr/>
          <p:nvPr/>
        </p:nvSpPr>
        <p:spPr>
          <a:xfrm>
            <a:off x="4445000" y="13716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0618A5C-94C9-A732-7F45-CE799C2298DF}"/>
              </a:ext>
            </a:extLst>
          </p:cNvPr>
          <p:cNvSpPr txBox="1"/>
          <p:nvPr/>
        </p:nvSpPr>
        <p:spPr>
          <a:xfrm>
            <a:off x="46355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线性判别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93D6D0E-EDF6-EB23-518B-30F0A608F257}"/>
              </a:ext>
            </a:extLst>
          </p:cNvPr>
          <p:cNvSpPr txBox="1"/>
          <p:nvPr/>
        </p:nvSpPr>
        <p:spPr>
          <a:xfrm>
            <a:off x="46355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最大化类间离散度与类内离散度之比，得到线性投影方向。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04B5628-A03D-0409-6950-57943265D1CD}"/>
              </a:ext>
            </a:extLst>
          </p:cNvPr>
          <p:cNvSpPr/>
          <p:nvPr/>
        </p:nvSpPr>
        <p:spPr>
          <a:xfrm>
            <a:off x="8153400" y="1371600"/>
            <a:ext cx="2921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77C6A9C-C60D-8C99-6107-38AC4C374B8A}"/>
              </a:ext>
            </a:extLst>
          </p:cNvPr>
          <p:cNvSpPr/>
          <p:nvPr/>
        </p:nvSpPr>
        <p:spPr>
          <a:xfrm>
            <a:off x="8153400" y="1371600"/>
            <a:ext cx="76200" cy="1143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F74E552-E787-B2E2-D6E5-A546A712D42C}"/>
              </a:ext>
            </a:extLst>
          </p:cNvPr>
          <p:cNvSpPr txBox="1"/>
          <p:nvPr/>
        </p:nvSpPr>
        <p:spPr>
          <a:xfrm>
            <a:off x="8343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留一法估计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AC8169-BC2E-D9C5-BD7E-11698384F276}"/>
              </a:ext>
            </a:extLst>
          </p:cNvPr>
          <p:cNvSpPr txBox="1"/>
          <p:nvPr/>
        </p:nvSpPr>
        <p:spPr>
          <a:xfrm>
            <a:off x="8343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每次留出一个样本验证，适合小样本泛化误差估计。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BE3D9BB-E3DE-2100-7F71-3D8BB2B54772}"/>
              </a:ext>
            </a:extLst>
          </p:cNvPr>
          <p:cNvSpPr/>
          <p:nvPr/>
        </p:nvSpPr>
        <p:spPr>
          <a:xfrm>
            <a:off x="1143000" y="3302000"/>
            <a:ext cx="9906000" cy="787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1BEA73A-A524-1EE6-C8FD-00C5D58ED56C}"/>
              </a:ext>
            </a:extLst>
          </p:cNvPr>
          <p:cNvSpPr txBox="1"/>
          <p:nvPr/>
        </p:nvSpPr>
        <p:spPr>
          <a:xfrm>
            <a:off x="1397000" y="3581400"/>
            <a:ext cx="9398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l-PL" altLang="zh-CN" sz="2000" b="1">
                <a:solidFill>
                  <a:srgbClr val="0A7FCC"/>
                </a:solidFill>
                <a:latin typeface="Microsoft YaHei" panose="020B0503020204020204" pitchFamily="34" charset="-122"/>
              </a:rPr>
              <a:t>J(w)=wᵀS_b w / wᵀS_w w,    w=S_w⁻¹(μ₁-μ₂)</a:t>
            </a:r>
            <a:endParaRPr lang="zh-CN" altLang="en-US" sz="20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3CCF618-513A-3F39-A3E1-979CA9B357C1}"/>
              </a:ext>
            </a:extLst>
          </p:cNvPr>
          <p:cNvSpPr txBox="1"/>
          <p:nvPr/>
        </p:nvSpPr>
        <p:spPr>
          <a:xfrm>
            <a:off x="1016000" y="4851400"/>
            <a:ext cx="9906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课程重点：参数估计与非参数估计的差别；概率模型与判别模型的差别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实验问题：非参数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是否能达到高斯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的性能</a:t>
            </a:r>
          </a:p>
        </p:txBody>
      </p:sp>
    </p:spTree>
    <p:extLst>
      <p:ext uri="{BB962C8B-B14F-4D97-AF65-F5344CB8AC3E}">
        <p14:creationId xmlns:p14="http://schemas.microsoft.com/office/powerpoint/2010/main" val="2863919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B71E26E-D25A-BD89-1DFB-99D1FD0738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69EBB8-1DB6-5A92-4C38-72C253167D37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C7EF7B32-4448-EB5B-F529-0A85855067EF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0D7EAE72-D959-6006-B700-D762AEB7AAA8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339337C-5FCA-428B-05B3-0E3E926D646F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VISUAL COMPARISON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A652C61-DA87-A769-7001-97E2DFB2D791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实验二结果：线性边界与投影分布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06CDA7D-48EA-5C5D-3652-B324B3AABBC1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348FD68-8BB4-DB67-FEBE-A129F734C90E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BD412A-E7AC-E18C-0EDF-C2C4E4088358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5DBF12D-A1CB-0F65-9AE5-BD7F18F5FE95}"/>
              </a:ext>
            </a:extLst>
          </p:cNvPr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C390BB1-10B0-1CBF-2495-5F448C88D1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847782"/>
            <a:ext cx="4071811" cy="2908436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360A5FB-CDF8-EFA1-EF66-5172A29757E9}"/>
              </a:ext>
            </a:extLst>
          </p:cNvPr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63F1604A-A219-587B-CCB4-640C6998B5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4" y="2195178"/>
            <a:ext cx="4071812" cy="2213644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A2AF2DA-81FB-5B4F-1B9A-7F92FC98DA2C}"/>
              </a:ext>
            </a:extLst>
          </p:cNvPr>
          <p:cNvSpPr/>
          <p:nvPr/>
        </p:nvSpPr>
        <p:spPr>
          <a:xfrm>
            <a:off x="1016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EDAA7E4-DCD2-0246-987A-79A49FFF2C0A}"/>
              </a:ext>
            </a:extLst>
          </p:cNvPr>
          <p:cNvSpPr/>
          <p:nvPr/>
        </p:nvSpPr>
        <p:spPr>
          <a:xfrm>
            <a:off x="1016000" y="5461000"/>
            <a:ext cx="76200" cy="635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4EEB49A-3391-E824-FDE5-8F6B7CD7ADD0}"/>
              </a:ext>
            </a:extLst>
          </p:cNvPr>
          <p:cNvSpPr txBox="1"/>
          <p:nvPr/>
        </p:nvSpPr>
        <p:spPr>
          <a:xfrm>
            <a:off x="1206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观察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EDE32D9-61A7-0B74-C868-126061D2BB37}"/>
              </a:ext>
            </a:extLst>
          </p:cNvPr>
          <p:cNvSpPr txBox="1"/>
          <p:nvPr/>
        </p:nvSpPr>
        <p:spPr>
          <a:xfrm>
            <a:off x="1206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给出简单线性边界，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边界受密度估计影响。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F10A20D1-3041-6FB2-0C36-683B278150A7}"/>
              </a:ext>
            </a:extLst>
          </p:cNvPr>
          <p:cNvSpPr/>
          <p:nvPr/>
        </p:nvSpPr>
        <p:spPr>
          <a:xfrm>
            <a:off x="6604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6C63DB4-0EBE-6A9D-563B-DDF9F19860A8}"/>
              </a:ext>
            </a:extLst>
          </p:cNvPr>
          <p:cNvSpPr/>
          <p:nvPr/>
        </p:nvSpPr>
        <p:spPr>
          <a:xfrm>
            <a:off x="6604000" y="5461000"/>
            <a:ext cx="76200" cy="635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CE721DA-305E-2665-4F7E-74D6D6C92FB0}"/>
              </a:ext>
            </a:extLst>
          </p:cNvPr>
          <p:cNvSpPr txBox="1"/>
          <p:nvPr/>
        </p:nvSpPr>
        <p:spPr>
          <a:xfrm>
            <a:off x="6794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观察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1112CE3-4043-C39A-275E-2F8DAFEDFB96}"/>
              </a:ext>
            </a:extLst>
          </p:cNvPr>
          <p:cNvSpPr txBox="1"/>
          <p:nvPr/>
        </p:nvSpPr>
        <p:spPr>
          <a:xfrm>
            <a:off x="6794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投影后男女样本主体分离，但边界区域仍有重叠。</a:t>
            </a:r>
          </a:p>
        </p:txBody>
      </p:sp>
    </p:spTree>
    <p:extLst>
      <p:ext uri="{BB962C8B-B14F-4D97-AF65-F5344CB8AC3E}">
        <p14:creationId xmlns:p14="http://schemas.microsoft.com/office/powerpoint/2010/main" val="1641918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9EBE4EA-868A-6983-AF31-D3A424F3BF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6801337-A4D4-A7F7-ABEF-E510C46C60BD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AF651AE8-57BD-D503-2B6E-8CC628A6DE5E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6FBFD28A-F329-0667-0BAA-D2D179217126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6FAE059-8E25-CDA2-DFCB-E6EAACE39AE7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METRICS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F0A2B41-9973-F910-68BF-4D65CF8C6DFB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实验二结果：错误率对比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224FE4F-42AA-76CC-67F1-1F6014EE8718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D4F263B-6AE9-4515-FAAA-2AFB2F16AFC5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66A9EEE-5152-D8B3-7CB1-5C85A2EDC088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09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14E9D435-522F-AD82-216E-BC10660513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901814"/>
              </p:ext>
            </p:extLst>
          </p:nvPr>
        </p:nvGraphicFramePr>
        <p:xfrm>
          <a:off x="889000" y="1549400"/>
          <a:ext cx="10414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2465729522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3172486446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812387167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39869680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3436803727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训练错误率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 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错误率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 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错误率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留一法错误率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54925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Gaussian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2.86%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07806279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13.00%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2.86%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14.00%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14168419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Fisher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2.86%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13.00%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714214475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F64ECEAC-5E92-C02F-4E6F-DCA28BCE2F64}"/>
              </a:ext>
            </a:extLst>
          </p:cNvPr>
          <p:cNvSpPr txBox="1"/>
          <p:nvPr/>
        </p:nvSpPr>
        <p:spPr>
          <a:xfrm>
            <a:off x="1143000" y="41910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Microsoft YaHei" panose="020B0503020204020204" pitchFamily="34" charset="-122"/>
              </a:rPr>
              <a:t>Gaussian Bayes test2 acc.</a:t>
            </a:r>
            <a:endParaRPr lang="zh-CN" altLang="en-US" sz="7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E98ED3E-A95B-3338-3D3F-51FA7A200F1D}"/>
              </a:ext>
            </a:extLst>
          </p:cNvPr>
          <p:cNvSpPr/>
          <p:nvPr/>
        </p:nvSpPr>
        <p:spPr>
          <a:xfrm>
            <a:off x="3175000" y="42418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1235619-B2AC-4FDC-2E1D-F0663E5117F5}"/>
              </a:ext>
            </a:extLst>
          </p:cNvPr>
          <p:cNvSpPr/>
          <p:nvPr/>
        </p:nvSpPr>
        <p:spPr>
          <a:xfrm>
            <a:off x="3175000" y="4241800"/>
            <a:ext cx="1928635" cy="889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4865E5-800D-0F0E-FF5D-B5C90E9DA812}"/>
              </a:ext>
            </a:extLst>
          </p:cNvPr>
          <p:cNvSpPr txBox="1"/>
          <p:nvPr/>
        </p:nvSpPr>
        <p:spPr>
          <a:xfrm>
            <a:off x="5435600" y="41783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Microsoft YaHei" panose="020B0503020204020204" pitchFamily="34" charset="-122"/>
              </a:rPr>
              <a:t>89.33%</a:t>
            </a:r>
            <a:endParaRPr lang="zh-CN" altLang="en-US" sz="7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B635371-317C-D287-9944-FC08562989F3}"/>
              </a:ext>
            </a:extLst>
          </p:cNvPr>
          <p:cNvSpPr txBox="1"/>
          <p:nvPr/>
        </p:nvSpPr>
        <p:spPr>
          <a:xfrm>
            <a:off x="1143000" y="46355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Microsoft YaHei" panose="020B0503020204020204" pitchFamily="34" charset="-122"/>
              </a:rPr>
              <a:t>Parzen Bayes test2 acc.</a:t>
            </a:r>
            <a:endParaRPr lang="zh-CN" altLang="en-US" sz="7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5CF279A-4DE0-84AC-AC64-11F0B4B88CA7}"/>
              </a:ext>
            </a:extLst>
          </p:cNvPr>
          <p:cNvSpPr/>
          <p:nvPr/>
        </p:nvSpPr>
        <p:spPr>
          <a:xfrm>
            <a:off x="3175000" y="46863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D66475A-557E-B766-B211-B4D74F7F3A38}"/>
              </a:ext>
            </a:extLst>
          </p:cNvPr>
          <p:cNvSpPr/>
          <p:nvPr/>
        </p:nvSpPr>
        <p:spPr>
          <a:xfrm>
            <a:off x="3175000" y="4686300"/>
            <a:ext cx="1950225" cy="889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DA86D00-EA3E-69C4-2614-05214722BD98}"/>
              </a:ext>
            </a:extLst>
          </p:cNvPr>
          <p:cNvSpPr txBox="1"/>
          <p:nvPr/>
        </p:nvSpPr>
        <p:spPr>
          <a:xfrm>
            <a:off x="5435600" y="46228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Microsoft YaHei" panose="020B0503020204020204" pitchFamily="34" charset="-122"/>
              </a:rPr>
              <a:t>90.33%</a:t>
            </a:r>
            <a:endParaRPr lang="zh-CN" altLang="en-US" sz="7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CAC9531-D598-3E4F-F069-06AC7DFBB74E}"/>
              </a:ext>
            </a:extLst>
          </p:cNvPr>
          <p:cNvSpPr txBox="1"/>
          <p:nvPr/>
        </p:nvSpPr>
        <p:spPr>
          <a:xfrm>
            <a:off x="1143000" y="50800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Microsoft YaHei" panose="020B0503020204020204" pitchFamily="34" charset="-122"/>
              </a:rPr>
              <a:t>Fisher test2 acc.</a:t>
            </a:r>
            <a:endParaRPr lang="zh-CN" altLang="en-US" sz="7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4583BB7-796B-F40C-16A7-06333905F943}"/>
              </a:ext>
            </a:extLst>
          </p:cNvPr>
          <p:cNvSpPr/>
          <p:nvPr/>
        </p:nvSpPr>
        <p:spPr>
          <a:xfrm>
            <a:off x="3175000" y="51308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83B37C1-CE69-0666-492D-DF0384730023}"/>
              </a:ext>
            </a:extLst>
          </p:cNvPr>
          <p:cNvSpPr/>
          <p:nvPr/>
        </p:nvSpPr>
        <p:spPr>
          <a:xfrm>
            <a:off x="3175000" y="5130800"/>
            <a:ext cx="1950225" cy="889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F44CF7C-08B9-8241-EAED-578B0CADDD02}"/>
              </a:ext>
            </a:extLst>
          </p:cNvPr>
          <p:cNvSpPr txBox="1"/>
          <p:nvPr/>
        </p:nvSpPr>
        <p:spPr>
          <a:xfrm>
            <a:off x="5435600" y="50673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Microsoft YaHei" panose="020B0503020204020204" pitchFamily="34" charset="-122"/>
              </a:rPr>
              <a:t>90.33%</a:t>
            </a:r>
            <a:endParaRPr lang="zh-CN" altLang="en-US" sz="7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CA45E95-9DA1-22B6-A075-248C613FE7AF}"/>
              </a:ext>
            </a:extLst>
          </p:cNvPr>
          <p:cNvSpPr/>
          <p:nvPr/>
        </p:nvSpPr>
        <p:spPr>
          <a:xfrm>
            <a:off x="7048500" y="4064000"/>
            <a:ext cx="3810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4ABD229-706A-A122-851C-B58E723CC15E}"/>
              </a:ext>
            </a:extLst>
          </p:cNvPr>
          <p:cNvSpPr/>
          <p:nvPr/>
        </p:nvSpPr>
        <p:spPr>
          <a:xfrm>
            <a:off x="7048500" y="40640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F9C0EB4-60CC-340E-7F01-DAA2019F7060}"/>
              </a:ext>
            </a:extLst>
          </p:cNvPr>
          <p:cNvSpPr txBox="1"/>
          <p:nvPr/>
        </p:nvSpPr>
        <p:spPr>
          <a:xfrm>
            <a:off x="7239000" y="41910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结论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139E5E0-7AA7-4DA9-EC0D-49775AC4E252}"/>
              </a:ext>
            </a:extLst>
          </p:cNvPr>
          <p:cNvSpPr txBox="1"/>
          <p:nvPr/>
        </p:nvSpPr>
        <p:spPr>
          <a:xfrm>
            <a:off x="7239000" y="45466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三种方法表现接近。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用更简单的线性边界取得与非参数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相当的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准确率。</a:t>
            </a:r>
          </a:p>
        </p:txBody>
      </p:sp>
    </p:spTree>
    <p:extLst>
      <p:ext uri="{BB962C8B-B14F-4D97-AF65-F5344CB8AC3E}">
        <p14:creationId xmlns:p14="http://schemas.microsoft.com/office/powerpoint/2010/main" val="4006736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1015BC2-A23F-7726-EBC2-35525EF38E3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8C82350-3C04-0B3E-5F35-AA522EE9742C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46AD7FA7-F494-7018-984B-75239CABF8C2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AFF36CA3-87CF-9174-2A60-C58CE9772FBA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18A648-10AA-5C78-5CB5-6E943D9C7323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TAKEAWAYS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15BB97B-3493-1952-0949-09C439746411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实验二分析：模型复杂度与泛化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F487FC9-C755-C67B-04B4-CAEAC0C35A25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A634781-D8D4-622E-989F-8E308D39DC48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A8D3A1C-246A-582A-D8D2-F6E7554F1BCF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056E840-5B14-C763-8E53-B7E4FCED92F3}"/>
              </a:ext>
            </a:extLst>
          </p:cNvPr>
          <p:cNvSpPr/>
          <p:nvPr/>
        </p:nvSpPr>
        <p:spPr>
          <a:xfrm>
            <a:off x="889000" y="1587500"/>
            <a:ext cx="3111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2302A53-8226-0227-7B12-39F46FE81FD9}"/>
              </a:ext>
            </a:extLst>
          </p:cNvPr>
          <p:cNvSpPr/>
          <p:nvPr/>
        </p:nvSpPr>
        <p:spPr>
          <a:xfrm>
            <a:off x="889000" y="1587500"/>
            <a:ext cx="76200" cy="1270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1DFC950-0C8F-A8C5-41DF-006C72AF41C6}"/>
              </a:ext>
            </a:extLst>
          </p:cNvPr>
          <p:cNvSpPr txBox="1"/>
          <p:nvPr/>
        </p:nvSpPr>
        <p:spPr>
          <a:xfrm>
            <a:off x="1079500" y="17145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参数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Bayes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2EF72B3-AC76-4BCB-8B69-23B4596F5815}"/>
              </a:ext>
            </a:extLst>
          </p:cNvPr>
          <p:cNvSpPr txBox="1"/>
          <p:nvPr/>
        </p:nvSpPr>
        <p:spPr>
          <a:xfrm>
            <a:off x="1079500" y="20701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形式清晰、样本效率高，但依赖正态分布假设。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CDE3BEC-B671-FA0B-7D7B-08AE5338618A}"/>
              </a:ext>
            </a:extLst>
          </p:cNvPr>
          <p:cNvSpPr/>
          <p:nvPr/>
        </p:nvSpPr>
        <p:spPr>
          <a:xfrm>
            <a:off x="4572000" y="1587500"/>
            <a:ext cx="3111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54F03C-6DD5-4118-00B5-4CC9AEF6F274}"/>
              </a:ext>
            </a:extLst>
          </p:cNvPr>
          <p:cNvSpPr/>
          <p:nvPr/>
        </p:nvSpPr>
        <p:spPr>
          <a:xfrm>
            <a:off x="4572000" y="1587500"/>
            <a:ext cx="76200" cy="1270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C29247B-0358-97B2-99AF-CB276C393D8D}"/>
              </a:ext>
            </a:extLst>
          </p:cNvPr>
          <p:cNvSpPr txBox="1"/>
          <p:nvPr/>
        </p:nvSpPr>
        <p:spPr>
          <a:xfrm>
            <a:off x="4762500" y="17145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Parzen Bayes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301C81E-8132-C07A-C2A8-C51E8EE6E254}"/>
              </a:ext>
            </a:extLst>
          </p:cNvPr>
          <p:cNvSpPr txBox="1"/>
          <p:nvPr/>
        </p:nvSpPr>
        <p:spPr>
          <a:xfrm>
            <a:off x="4762500" y="20701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密度形式灵活，但窗口宽度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h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和样本规模影响明显。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EF0EE76-323B-4BE1-33E2-9B0CB5935C96}"/>
              </a:ext>
            </a:extLst>
          </p:cNvPr>
          <p:cNvSpPr/>
          <p:nvPr/>
        </p:nvSpPr>
        <p:spPr>
          <a:xfrm>
            <a:off x="8255000" y="1587500"/>
            <a:ext cx="2857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D0B8282-D8B2-9C5B-F878-A6BF2C784200}"/>
              </a:ext>
            </a:extLst>
          </p:cNvPr>
          <p:cNvSpPr/>
          <p:nvPr/>
        </p:nvSpPr>
        <p:spPr>
          <a:xfrm>
            <a:off x="8255000" y="1587500"/>
            <a:ext cx="76200" cy="1270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224C75-CBBF-9908-86A9-CA42EF25CA99}"/>
              </a:ext>
            </a:extLst>
          </p:cNvPr>
          <p:cNvSpPr txBox="1"/>
          <p:nvPr/>
        </p:nvSpPr>
        <p:spPr>
          <a:xfrm>
            <a:off x="8445500" y="1714500"/>
            <a:ext cx="2552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28EDC5C-787E-D6EE-4DA2-98C20E8C11C3}"/>
              </a:ext>
            </a:extLst>
          </p:cNvPr>
          <p:cNvSpPr txBox="1"/>
          <p:nvPr/>
        </p:nvSpPr>
        <p:spPr>
          <a:xfrm>
            <a:off x="8445500" y="2070100"/>
            <a:ext cx="2552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不估计密度，直接寻找判别方向，解释性强。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CE54BDA0-BDE1-C17F-A065-E8EC84F84BC5}"/>
              </a:ext>
            </a:extLst>
          </p:cNvPr>
          <p:cNvSpPr/>
          <p:nvPr/>
        </p:nvSpPr>
        <p:spPr>
          <a:xfrm>
            <a:off x="1143000" y="4000500"/>
            <a:ext cx="9906000" cy="889000"/>
          </a:xfrm>
          <a:prstGeom prst="roundRect">
            <a:avLst/>
          </a:prstGeom>
          <a:solidFill>
            <a:srgbClr val="FFF7E0"/>
          </a:solidFill>
          <a:ln w="889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93BF264-4639-BF18-1D58-88FF4DF7C58C}"/>
              </a:ext>
            </a:extLst>
          </p:cNvPr>
          <p:cNvSpPr txBox="1"/>
          <p:nvPr/>
        </p:nvSpPr>
        <p:spPr>
          <a:xfrm>
            <a:off x="1498600" y="4318000"/>
            <a:ext cx="9144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92400E"/>
                </a:solidFill>
                <a:latin typeface="Microsoft YaHei" panose="020B0503020204020204" pitchFamily="34" charset="-122"/>
              </a:rPr>
              <a:t>留一法结果与 </a:t>
            </a:r>
            <a:r>
              <a:rPr lang="en-US" altLang="zh-CN" sz="1600" b="1">
                <a:solidFill>
                  <a:srgbClr val="92400E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600" b="1">
                <a:solidFill>
                  <a:srgbClr val="92400E"/>
                </a:solidFill>
                <a:latin typeface="Microsoft YaHei" panose="020B0503020204020204" pitchFamily="34" charset="-122"/>
              </a:rPr>
              <a:t>错误率接近，说明它能在训练样本有限时给出较稳健的泛化误差估计。</a:t>
            </a:r>
          </a:p>
        </p:txBody>
      </p:sp>
    </p:spTree>
    <p:extLst>
      <p:ext uri="{BB962C8B-B14F-4D97-AF65-F5344CB8AC3E}">
        <p14:creationId xmlns:p14="http://schemas.microsoft.com/office/powerpoint/2010/main" val="680235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3509E99-5EED-568B-2CA1-BD7B100FA00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A233DD63-2568-ECE7-82DA-4AF658653273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AD481364-9C76-F490-3362-B04CE4EBD5C1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1943FBE-2A64-CD26-651D-3878C34B469B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C7CAB6B-8D5E-EE84-4006-0F417C45C0F9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实验三：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变换进行特征提取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57A775-4DB1-D779-F225-4BC6781E2735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从无监督主成分方向理解身高体重样本的主要变化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C341F21-2BC8-1E43-87DC-4C82E7592592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949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88ED4E1-26F0-A93E-2B92-A7AE92A4C0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6758DF9-9145-FE19-0744-56FCAC92BE7F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C87CB5DF-CF11-8524-C276-5F4E3AFDA259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56EB4C60-0707-D0BD-4C4C-77FE80ECCAE1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E09DB3-7734-3C75-8C74-50518DC73312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FEATURE EXTRACTION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BF74F6B-B2DA-9183-9DD6-43D130B465C1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实验三理论：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K-L/PCA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的差别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2F76013-3589-FC5F-DA97-E8B25C8924FE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FFE21ED2-6ECB-A142-18F1-F0AD3370691B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FFF949C-DADA-3AD5-AF83-E81A997E4601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11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496420C-5EA2-5F63-2CC8-FBDF198865AC}"/>
              </a:ext>
            </a:extLst>
          </p:cNvPr>
          <p:cNvSpPr/>
          <p:nvPr/>
        </p:nvSpPr>
        <p:spPr>
          <a:xfrm>
            <a:off x="8890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3A964B4-0308-9C1B-441E-2B072BA52357}"/>
              </a:ext>
            </a:extLst>
          </p:cNvPr>
          <p:cNvSpPr/>
          <p:nvPr/>
        </p:nvSpPr>
        <p:spPr>
          <a:xfrm>
            <a:off x="889000" y="14605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9EFE8DF-63F0-E484-C005-3B196736D611}"/>
              </a:ext>
            </a:extLst>
          </p:cNvPr>
          <p:cNvSpPr txBox="1"/>
          <p:nvPr/>
        </p:nvSpPr>
        <p:spPr>
          <a:xfrm>
            <a:off x="10795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K-L / PCA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7C6E541-2CA6-37F3-95D2-8B6D35ECDE4E}"/>
              </a:ext>
            </a:extLst>
          </p:cNvPr>
          <p:cNvSpPr txBox="1"/>
          <p:nvPr/>
        </p:nvSpPr>
        <p:spPr>
          <a:xfrm>
            <a:off x="10795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对协方差矩阵做特征分解，保留总体方差最大的方向。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1E33BCC-1756-D201-2CAA-8C98801A5B1D}"/>
              </a:ext>
            </a:extLst>
          </p:cNvPr>
          <p:cNvSpPr/>
          <p:nvPr/>
        </p:nvSpPr>
        <p:spPr>
          <a:xfrm>
            <a:off x="62865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2A59A2B-CA15-39DF-03D5-670ABE73E2E5}"/>
              </a:ext>
            </a:extLst>
          </p:cNvPr>
          <p:cNvSpPr/>
          <p:nvPr/>
        </p:nvSpPr>
        <p:spPr>
          <a:xfrm>
            <a:off x="6286500" y="14605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D2D0C4A-EE15-017F-4BC4-C79131BEBFFE}"/>
              </a:ext>
            </a:extLst>
          </p:cNvPr>
          <p:cNvSpPr txBox="1"/>
          <p:nvPr/>
        </p:nvSpPr>
        <p:spPr>
          <a:xfrm>
            <a:off x="64770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CD5F37D-C301-2638-1224-EB0E6B0CFFCC}"/>
              </a:ext>
            </a:extLst>
          </p:cNvPr>
          <p:cNvSpPr txBox="1"/>
          <p:nvPr/>
        </p:nvSpPr>
        <p:spPr>
          <a:xfrm>
            <a:off x="64770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利用类别标签，寻找最有利于分类的投影方向。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1BA4E6F-1B6E-E365-2143-40C2F2A6349E}"/>
              </a:ext>
            </a:extLst>
          </p:cNvPr>
          <p:cNvSpPr/>
          <p:nvPr/>
        </p:nvSpPr>
        <p:spPr>
          <a:xfrm>
            <a:off x="1270000" y="3365500"/>
            <a:ext cx="9652000" cy="7874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632BB44-3FF7-1E99-FDF5-F8FBBEE365E2}"/>
              </a:ext>
            </a:extLst>
          </p:cNvPr>
          <p:cNvSpPr txBox="1"/>
          <p:nvPr/>
        </p:nvSpPr>
        <p:spPr>
          <a:xfrm>
            <a:off x="1524000" y="3632200"/>
            <a:ext cx="9144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l-GR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uᵢ = </a:t>
            </a:r>
            <a:r>
              <a:rPr lang="el-GR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λ</a:t>
            </a:r>
            <a:r>
              <a:rPr lang="en-US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ᵢuᵢ,      zᵢ = uᵢᵀ(x-</a:t>
            </a:r>
            <a:r>
              <a:rPr lang="el-GR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μ)</a:t>
            </a:r>
            <a:endParaRPr lang="zh-CN" altLang="en-US" sz="22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77C21C2-171E-5242-97FA-C7BDF01DA957}"/>
              </a:ext>
            </a:extLst>
          </p:cNvPr>
          <p:cNvSpPr txBox="1"/>
          <p:nvPr/>
        </p:nvSpPr>
        <p:spPr>
          <a:xfrm>
            <a:off x="1016000" y="4826000"/>
            <a:ext cx="965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的目标是表示数据，不是直接优化分类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当最大方差方向与类别差异方向一致时，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也能得到较好分类效果</a:t>
            </a:r>
          </a:p>
        </p:txBody>
      </p:sp>
    </p:spTree>
    <p:extLst>
      <p:ext uri="{BB962C8B-B14F-4D97-AF65-F5344CB8AC3E}">
        <p14:creationId xmlns:p14="http://schemas.microsoft.com/office/powerpoint/2010/main" val="1517339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1B77489-DCC2-C977-21AD-39524FE30B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F9A875-47ED-8314-972F-2F9C4221728A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FCC38A6-FD37-972F-F509-B995962E235F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4BA67A14-EBA4-1BA7-16A3-E6D6570DE9C5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058B126-2B6B-7648-6719-1E996B847AB5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E5EED83-9AEE-346B-665D-CB56BE7A40D1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实验三设置：二维特征的主方向分析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124CA48-63AD-4527-99D0-552741C0D0DA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B55A4BA-1F27-CD00-D7D5-2F2EBB599B5F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FB1F620-3294-C4AB-DD7F-69F23DBD6C45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12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A5FBA17C-9F5B-A955-F353-E3ECC582E0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22434"/>
              </p:ext>
            </p:extLst>
          </p:nvPr>
        </p:nvGraphicFramePr>
        <p:xfrm>
          <a:off x="825500" y="1397000"/>
          <a:ext cx="4445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4061615734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2821732067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项目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数值</a:t>
                      </a:r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112384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FEMALE + MALE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，共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个训练样本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10358966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特征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身高、体重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796439806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第一主成分解释率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87.52%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765675656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PC1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(0.6269, 0.7791)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814198825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类均值方向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(0.6514, 0.7587)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290146618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312FF85-E579-5EEC-2FEF-F9D93AE54795}"/>
              </a:ext>
            </a:extLst>
          </p:cNvPr>
          <p:cNvSpPr/>
          <p:nvPr/>
        </p:nvSpPr>
        <p:spPr>
          <a:xfrm>
            <a:off x="5778500" y="1333500"/>
            <a:ext cx="5270500" cy="3937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21A32D3-B7EB-17CB-DA00-55320AE006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886" y="1811382"/>
            <a:ext cx="4173729" cy="2981235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E175402-BAF5-E0DD-6883-E075821B5B21}"/>
              </a:ext>
            </a:extLst>
          </p:cNvPr>
          <p:cNvSpPr/>
          <p:nvPr/>
        </p:nvSpPr>
        <p:spPr>
          <a:xfrm>
            <a:off x="1016000" y="4927600"/>
            <a:ext cx="4000500" cy="711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7596AB8-F9A5-0B92-CEB8-79D95735ABBC}"/>
              </a:ext>
            </a:extLst>
          </p:cNvPr>
          <p:cNvSpPr/>
          <p:nvPr/>
        </p:nvSpPr>
        <p:spPr>
          <a:xfrm>
            <a:off x="1016000" y="4927600"/>
            <a:ext cx="76200" cy="711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6EA43FE-B946-16A4-F1FB-1038C7EB3960}"/>
              </a:ext>
            </a:extLst>
          </p:cNvPr>
          <p:cNvSpPr txBox="1"/>
          <p:nvPr/>
        </p:nvSpPr>
        <p:spPr>
          <a:xfrm>
            <a:off x="1206500" y="5054600"/>
            <a:ext cx="3695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设置说明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34F7C5A-CB9B-52F3-66DE-CD1A2DBD9596}"/>
              </a:ext>
            </a:extLst>
          </p:cNvPr>
          <p:cNvSpPr txBox="1"/>
          <p:nvPr/>
        </p:nvSpPr>
        <p:spPr>
          <a:xfrm>
            <a:off x="1206500" y="5410200"/>
            <a:ext cx="3695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分别使用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第一主成分、类均值差方向、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进行分类比较。</a:t>
            </a:r>
          </a:p>
        </p:txBody>
      </p:sp>
    </p:spTree>
    <p:extLst>
      <p:ext uri="{BB962C8B-B14F-4D97-AF65-F5344CB8AC3E}">
        <p14:creationId xmlns:p14="http://schemas.microsoft.com/office/powerpoint/2010/main" val="3230226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DD6E5CA-61DF-2DF7-CF33-BC7B7D2049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375566C-CA36-9845-5B02-0BB92169A36B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846C0BC3-1B4A-B231-E81A-8F94603E8D83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6F7F54F4-65A6-830C-B6ED-2DC25C61CE03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D664D8-7541-8010-1811-234937EF2CA3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RESULTS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1312ED5-1B11-1D11-A1A4-CDB9C727E7B7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实验三结果：投影分布与分类性能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5521A96-F9DD-4C92-D488-030605229ACA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DCD7788-514D-DB28-A95E-06EEE90831BD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4C27FA2-2E3F-3CDE-428E-95D0F04751DD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208BA50-DBAB-EFDF-145B-A1A6D917AFB2}"/>
              </a:ext>
            </a:extLst>
          </p:cNvPr>
          <p:cNvSpPr/>
          <p:nvPr/>
        </p:nvSpPr>
        <p:spPr>
          <a:xfrm>
            <a:off x="825500" y="1397000"/>
            <a:ext cx="5207000" cy="3302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B57482B-C557-40DF-B924-454FC14722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094" y="1941178"/>
            <a:ext cx="4071812" cy="2213644"/>
          </a:xfrm>
          <a:prstGeom prst="rect">
            <a:avLst/>
          </a:prstGeom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FE13FFF4-1C0D-9A4B-D343-1B6F08F4A8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638266"/>
              </p:ext>
            </p:extLst>
          </p:nvPr>
        </p:nvGraphicFramePr>
        <p:xfrm>
          <a:off x="6540500" y="1549400"/>
          <a:ext cx="4826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500">
                  <a:extLst>
                    <a:ext uri="{9D8B030D-6E8A-4147-A177-3AD203B41FA5}">
                      <a16:colId xmlns:a16="http://schemas.microsoft.com/office/drawing/2014/main" val="3939440353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846762556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432747570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15992377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15855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K-L PCA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第一主成分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86.00%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422996695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类均值方向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86.00%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13599055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Fisher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55689054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Gaussian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20345674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A519F5E0-625C-E0DF-BCC0-4B62D022E907}"/>
              </a:ext>
            </a:extLst>
          </p:cNvPr>
          <p:cNvSpPr txBox="1"/>
          <p:nvPr/>
        </p:nvSpPr>
        <p:spPr>
          <a:xfrm>
            <a:off x="6667500" y="4318000"/>
            <a:ext cx="457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第一主成分已经能较好区分男女样本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在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上略优，体现监督判别方向的优势</a:t>
            </a:r>
          </a:p>
        </p:txBody>
      </p:sp>
    </p:spTree>
    <p:extLst>
      <p:ext uri="{BB962C8B-B14F-4D97-AF65-F5344CB8AC3E}">
        <p14:creationId xmlns:p14="http://schemas.microsoft.com/office/powerpoint/2010/main" val="2113734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A213A25-5081-4CBF-8781-34CB713722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7B5000A-D7B2-C9C9-1328-2A61AE02F555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036E78AD-DF7A-8FA5-3375-5F20F2FB196F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85E4A559-81D2-07AD-2663-F96AA71E6B33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5C785EB-7E55-534F-BFA8-561AAE98C282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TAKEAWAYS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022F49E-218B-E032-67D5-766D96B7DA50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实验三分析：最大方差不等于最佳分类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E0D6F58-4C89-30FE-229A-73EFF7B303EF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44A9C6F-E014-94D7-3672-8C4632FBA1C1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7F86EE-4DF3-85AF-8991-14CE2630A452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14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B650FD9-D950-EBDE-6D50-99FAE3066A92}"/>
              </a:ext>
            </a:extLst>
          </p:cNvPr>
          <p:cNvSpPr/>
          <p:nvPr/>
        </p:nvSpPr>
        <p:spPr>
          <a:xfrm>
            <a:off x="889000" y="1524000"/>
            <a:ext cx="3111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B1FCCDC-2132-1ED3-8F32-98A3AD6BA3FF}"/>
              </a:ext>
            </a:extLst>
          </p:cNvPr>
          <p:cNvSpPr/>
          <p:nvPr/>
        </p:nvSpPr>
        <p:spPr>
          <a:xfrm>
            <a:off x="889000" y="15240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1651018-474C-3695-7897-5CA1A2D17529}"/>
              </a:ext>
            </a:extLst>
          </p:cNvPr>
          <p:cNvSpPr txBox="1"/>
          <p:nvPr/>
        </p:nvSpPr>
        <p:spPr>
          <a:xfrm>
            <a:off x="1079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为什么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有效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BF19FF4-D2AD-BEB3-5CD5-11641F81BDB4}"/>
              </a:ext>
            </a:extLst>
          </p:cNvPr>
          <p:cNvSpPr txBox="1"/>
          <p:nvPr/>
        </p:nvSpPr>
        <p:spPr>
          <a:xfrm>
            <a:off x="1079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本数据中身高和体重的主要变化方向与性别差异方向接近。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DE3A93F-35C1-7BB9-AEB3-304D3406546A}"/>
              </a:ext>
            </a:extLst>
          </p:cNvPr>
          <p:cNvSpPr/>
          <p:nvPr/>
        </p:nvSpPr>
        <p:spPr>
          <a:xfrm>
            <a:off x="4572000" y="1524000"/>
            <a:ext cx="3111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F9F9E0A-20F1-148D-2481-550D7AFB5CE1}"/>
              </a:ext>
            </a:extLst>
          </p:cNvPr>
          <p:cNvSpPr/>
          <p:nvPr/>
        </p:nvSpPr>
        <p:spPr>
          <a:xfrm>
            <a:off x="4572000" y="15240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222DAD1-0213-7B65-AD62-11747CA25A1D}"/>
              </a:ext>
            </a:extLst>
          </p:cNvPr>
          <p:cNvSpPr txBox="1"/>
          <p:nvPr/>
        </p:nvSpPr>
        <p:spPr>
          <a:xfrm>
            <a:off x="4762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为什么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略优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8B368E2-52F9-F198-4EC4-C3527B3CB01B}"/>
              </a:ext>
            </a:extLst>
          </p:cNvPr>
          <p:cNvSpPr txBox="1"/>
          <p:nvPr/>
        </p:nvSpPr>
        <p:spPr>
          <a:xfrm>
            <a:off x="4762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直接利用类别标签，目标就是提高类别分离度。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6DAE658-37E5-CFD6-5A58-2786E5F88344}"/>
              </a:ext>
            </a:extLst>
          </p:cNvPr>
          <p:cNvSpPr/>
          <p:nvPr/>
        </p:nvSpPr>
        <p:spPr>
          <a:xfrm>
            <a:off x="8255000" y="1524000"/>
            <a:ext cx="2857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EDA1981-2520-EF2F-C0E8-70011D7BA580}"/>
              </a:ext>
            </a:extLst>
          </p:cNvPr>
          <p:cNvSpPr/>
          <p:nvPr/>
        </p:nvSpPr>
        <p:spPr>
          <a:xfrm>
            <a:off x="8255000" y="1524000"/>
            <a:ext cx="76200" cy="1143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E1F7DBF-C3AC-7E0D-0E02-49A74540D951}"/>
              </a:ext>
            </a:extLst>
          </p:cNvPr>
          <p:cNvSpPr txBox="1"/>
          <p:nvPr/>
        </p:nvSpPr>
        <p:spPr>
          <a:xfrm>
            <a:off x="8445500" y="1651000"/>
            <a:ext cx="2552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一般规律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1809D4C-336D-3E5F-DB71-5274B7121256}"/>
              </a:ext>
            </a:extLst>
          </p:cNvPr>
          <p:cNvSpPr txBox="1"/>
          <p:nvPr/>
        </p:nvSpPr>
        <p:spPr>
          <a:xfrm>
            <a:off x="8445500" y="2006600"/>
            <a:ext cx="2552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无监督降维需要和监督分类器共同评价。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CA8DC12-520A-5935-4ACE-0A25A9695F0A}"/>
              </a:ext>
            </a:extLst>
          </p:cNvPr>
          <p:cNvSpPr/>
          <p:nvPr/>
        </p:nvSpPr>
        <p:spPr>
          <a:xfrm>
            <a:off x="2032000" y="3429000"/>
            <a:ext cx="8128000" cy="228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FEDD89D2-5BBE-1FAE-1E46-43C6FFB90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979" y="3886445"/>
            <a:ext cx="2522041" cy="137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550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4F0AAB-F370-AA73-1F55-857AB8DAF8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E691E6C0-F9CB-B76C-6577-08CFEC67F7E4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06D2FC66-118A-6ACD-C6BD-0866D5C8A83D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458D39B-497F-744E-6A6A-BF13316ED737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58665B5-5A4B-D9D3-2950-7D764AE6F58A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实验四：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变换的图像识别应用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50F9487-899D-9C1B-4144-F459D985FAF5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把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K-L/PCA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从二维样本扩展到高维飞机图像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1B8BB9E-B13D-B535-ED49-757306581AA5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2331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4134697-3777-C992-C2EF-283E32486A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EAC8305-EA7E-A504-393A-A2A320BCE902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EC13E3E-CFDC-6091-1A8F-71620AE1C7BA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99EE888B-9551-34A0-B6FA-B076C7609495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3E882A-2038-D98B-BEAF-C00FF12E61E9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IMAGE RECOGNITION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AB11A5-797D-D86A-8D80-50A741C481D6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实验四理论：高维图像的低维表示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497B1AD-8BAF-DAD8-5B73-317C5AD14956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9D41927-EE6B-0097-0DC1-4C1886F05B8E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0B67CE4-229D-06FA-971A-6A3CD9B6656B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15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72EE53C-C5B4-058A-9B97-B764206961B5}"/>
              </a:ext>
            </a:extLst>
          </p:cNvPr>
          <p:cNvSpPr/>
          <p:nvPr/>
        </p:nvSpPr>
        <p:spPr>
          <a:xfrm>
            <a:off x="1016000" y="15240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62E8CD8-8FA6-CA9E-67BD-D8F7BC78F7A2}"/>
              </a:ext>
            </a:extLst>
          </p:cNvPr>
          <p:cNvSpPr txBox="1"/>
          <p:nvPr/>
        </p:nvSpPr>
        <p:spPr>
          <a:xfrm>
            <a:off x="1028700" y="1600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8DE6B6C-BD02-39DA-F28F-27215AED2B61}"/>
              </a:ext>
            </a:extLst>
          </p:cNvPr>
          <p:cNvSpPr txBox="1"/>
          <p:nvPr/>
        </p:nvSpPr>
        <p:spPr>
          <a:xfrm>
            <a:off x="1549400" y="1485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图像预处理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7BF7AB5-DA6F-EFC3-FCEC-DE752FEF50CF}"/>
              </a:ext>
            </a:extLst>
          </p:cNvPr>
          <p:cNvSpPr txBox="1"/>
          <p:nvPr/>
        </p:nvSpPr>
        <p:spPr>
          <a:xfrm>
            <a:off x="1549400" y="1803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灰度化、缩放到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32×32</a:t>
            </a:r>
            <a:endParaRPr lang="zh-CN" altLang="en-US" sz="12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560D565-95FA-B1FB-5673-9CA9A3798307}"/>
              </a:ext>
            </a:extLst>
          </p:cNvPr>
          <p:cNvSpPr/>
          <p:nvPr/>
        </p:nvSpPr>
        <p:spPr>
          <a:xfrm>
            <a:off x="1016000" y="2540000"/>
            <a:ext cx="381000" cy="381000"/>
          </a:xfrm>
          <a:prstGeom prst="ellipse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212D6E8-8622-D073-5089-795383D587A1}"/>
              </a:ext>
            </a:extLst>
          </p:cNvPr>
          <p:cNvSpPr txBox="1"/>
          <p:nvPr/>
        </p:nvSpPr>
        <p:spPr>
          <a:xfrm>
            <a:off x="1028700" y="2616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21CEE5C-4FDF-CE97-52A4-3B1308B8ABC2}"/>
              </a:ext>
            </a:extLst>
          </p:cNvPr>
          <p:cNvSpPr txBox="1"/>
          <p:nvPr/>
        </p:nvSpPr>
        <p:spPr>
          <a:xfrm>
            <a:off x="1549400" y="2501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向量化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A8BB415-8E0F-0306-F5EA-D42BF778285F}"/>
              </a:ext>
            </a:extLst>
          </p:cNvPr>
          <p:cNvSpPr txBox="1"/>
          <p:nvPr/>
        </p:nvSpPr>
        <p:spPr>
          <a:xfrm>
            <a:off x="1549400" y="2819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每张图像展开为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1024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维向量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5253FB45-9086-DC42-611A-36CE6C2045F8}"/>
              </a:ext>
            </a:extLst>
          </p:cNvPr>
          <p:cNvSpPr/>
          <p:nvPr/>
        </p:nvSpPr>
        <p:spPr>
          <a:xfrm>
            <a:off x="1016000" y="35560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F8899D3-1129-6C3F-9EEA-99B04565487B}"/>
              </a:ext>
            </a:extLst>
          </p:cNvPr>
          <p:cNvSpPr txBox="1"/>
          <p:nvPr/>
        </p:nvSpPr>
        <p:spPr>
          <a:xfrm>
            <a:off x="1028700" y="3632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162AE06-4745-3AEF-7412-267251B98809}"/>
              </a:ext>
            </a:extLst>
          </p:cNvPr>
          <p:cNvSpPr txBox="1"/>
          <p:nvPr/>
        </p:nvSpPr>
        <p:spPr>
          <a:xfrm>
            <a:off x="1549400" y="3517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降维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1F417F0-9568-3B02-E504-182C0F462325}"/>
              </a:ext>
            </a:extLst>
          </p:cNvPr>
          <p:cNvSpPr txBox="1"/>
          <p:nvPr/>
        </p:nvSpPr>
        <p:spPr>
          <a:xfrm>
            <a:off x="1549400" y="3835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提取前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k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个主成分作为图像特征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A32E39EA-5D03-CEB6-535F-373C1224BC21}"/>
              </a:ext>
            </a:extLst>
          </p:cNvPr>
          <p:cNvSpPr/>
          <p:nvPr/>
        </p:nvSpPr>
        <p:spPr>
          <a:xfrm>
            <a:off x="1016000" y="4572000"/>
            <a:ext cx="381000" cy="381000"/>
          </a:xfrm>
          <a:prstGeom prst="ellipse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CCC965B-89B3-767E-055F-FA0A3E3338CE}"/>
              </a:ext>
            </a:extLst>
          </p:cNvPr>
          <p:cNvSpPr txBox="1"/>
          <p:nvPr/>
        </p:nvSpPr>
        <p:spPr>
          <a:xfrm>
            <a:off x="1028700" y="4648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B8A1933-EFC9-6BDF-075D-0C721721FE9F}"/>
              </a:ext>
            </a:extLst>
          </p:cNvPr>
          <p:cNvSpPr txBox="1"/>
          <p:nvPr/>
        </p:nvSpPr>
        <p:spPr>
          <a:xfrm>
            <a:off x="1549400" y="4533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低维分类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EED8E78-71AF-CECC-D334-96CFF2C73D03}"/>
              </a:ext>
            </a:extLst>
          </p:cNvPr>
          <p:cNvSpPr txBox="1"/>
          <p:nvPr/>
        </p:nvSpPr>
        <p:spPr>
          <a:xfrm>
            <a:off x="1549400" y="4851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NearestCentroid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1NN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对比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935A9A3-A665-B28D-A670-A2DB4AC8B7CC}"/>
              </a:ext>
            </a:extLst>
          </p:cNvPr>
          <p:cNvSpPr/>
          <p:nvPr/>
        </p:nvSpPr>
        <p:spPr>
          <a:xfrm>
            <a:off x="6540500" y="1625600"/>
            <a:ext cx="4000500" cy="8636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2BC53D0-A897-7E35-469E-C6EE13C468A9}"/>
              </a:ext>
            </a:extLst>
          </p:cNvPr>
          <p:cNvSpPr txBox="1"/>
          <p:nvPr/>
        </p:nvSpPr>
        <p:spPr>
          <a:xfrm>
            <a:off x="6858000" y="1905000"/>
            <a:ext cx="33655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2200" b="1">
                <a:solidFill>
                  <a:srgbClr val="0A7FCC"/>
                </a:solidFill>
                <a:latin typeface="Microsoft YaHei" panose="020B0503020204020204" pitchFamily="34" charset="-122"/>
              </a:rPr>
              <a:t>z = U_kᵀ(x-</a:t>
            </a:r>
            <a:r>
              <a:rPr lang="el-GR" altLang="zh-CN" sz="2200" b="1">
                <a:solidFill>
                  <a:srgbClr val="0A7FCC"/>
                </a:solidFill>
                <a:latin typeface="Microsoft YaHei" panose="020B0503020204020204" pitchFamily="34" charset="-122"/>
              </a:rPr>
              <a:t>μ)</a:t>
            </a:r>
            <a:endParaRPr lang="zh-CN" altLang="en-US" sz="22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FD4D54AD-0136-A5E4-7227-C23FB836BC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577542"/>
              </p:ext>
            </p:extLst>
          </p:nvPr>
        </p:nvGraphicFramePr>
        <p:xfrm>
          <a:off x="6540500" y="3048000"/>
          <a:ext cx="400050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206481934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346501474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项目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设置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42568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类别数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16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83065367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2530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张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84245413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636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张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59315487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主成分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 / 16 / 32 / 64 / 128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866076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44641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2503F5D-64CC-B75F-58EE-EF04FED10F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3C3EDA-DEC7-1691-A8FB-AC0A5C63AEC1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FC80BF9E-1CE4-4763-03D8-90A58BD2F07A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CFC7D96C-7976-A357-BB47-68C273F1A01F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2A19BB9-A635-6573-3123-4AB1A32D0BBF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VISUAL RESULTS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3C837DE-D340-B905-C11C-AB9715FCD3DB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实验四结果：样本图像与 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主成分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3330E64-DD1E-897B-F26F-DAF331B3BBB0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E393ABF-1A63-13AA-6E1E-B7A9AA0A1BB0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06584B9-D12D-4EEA-D958-A27B9E08C8F4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16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BED3B94-FAC1-637F-16E8-9D7768CDC093}"/>
              </a:ext>
            </a:extLst>
          </p:cNvPr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92D02F3-27F6-46D2-16AD-867AE33D73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683" y="2454590"/>
            <a:ext cx="3562835" cy="1694821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C81F8C2-5CDB-61ED-2ADB-727E43021704}"/>
              </a:ext>
            </a:extLst>
          </p:cNvPr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A4D0971-8273-AA2D-27A2-A44F8097C4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482" y="2500362"/>
            <a:ext cx="3562836" cy="1603276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1B439B6-FA8E-DBE7-5299-69D3EB91BE14}"/>
              </a:ext>
            </a:extLst>
          </p:cNvPr>
          <p:cNvSpPr/>
          <p:nvPr/>
        </p:nvSpPr>
        <p:spPr>
          <a:xfrm>
            <a:off x="1016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FD8353A-7C35-6FCE-6DB3-936D761BEA4B}"/>
              </a:ext>
            </a:extLst>
          </p:cNvPr>
          <p:cNvSpPr txBox="1"/>
          <p:nvPr/>
        </p:nvSpPr>
        <p:spPr>
          <a:xfrm>
            <a:off x="1168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Microsoft YaHei" panose="020B0503020204020204" pitchFamily="34" charset="-122"/>
              </a:rPr>
              <a:t>1024→64</a:t>
            </a:r>
            <a:endParaRPr lang="zh-CN" altLang="en-US" sz="24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98DF0CF-873A-F3B2-150B-38696AB6DC14}"/>
              </a:ext>
            </a:extLst>
          </p:cNvPr>
          <p:cNvSpPr txBox="1"/>
          <p:nvPr/>
        </p:nvSpPr>
        <p:spPr>
          <a:xfrm>
            <a:off x="1168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维度压缩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1E9C8FF-B68C-0D00-9D1A-96303EE35AE7}"/>
              </a:ext>
            </a:extLst>
          </p:cNvPr>
          <p:cNvSpPr/>
          <p:nvPr/>
        </p:nvSpPr>
        <p:spPr>
          <a:xfrm>
            <a:off x="3302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371199D-FF45-0BDE-2267-7680B83534F5}"/>
              </a:ext>
            </a:extLst>
          </p:cNvPr>
          <p:cNvSpPr txBox="1"/>
          <p:nvPr/>
        </p:nvSpPr>
        <p:spPr>
          <a:xfrm>
            <a:off x="3454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Microsoft YaHei" panose="020B0503020204020204" pitchFamily="34" charset="-122"/>
              </a:rPr>
              <a:t>89.88%</a:t>
            </a:r>
            <a:endParaRPr lang="zh-CN" altLang="en-US" sz="24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38F9661-9E93-89D8-5779-4D3AAB4E9E85}"/>
              </a:ext>
            </a:extLst>
          </p:cNvPr>
          <p:cNvSpPr txBox="1"/>
          <p:nvPr/>
        </p:nvSpPr>
        <p:spPr>
          <a:xfrm>
            <a:off x="3454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64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维解释方差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A123288-699E-C32F-BEC0-84E7D292ECF5}"/>
              </a:ext>
            </a:extLst>
          </p:cNvPr>
          <p:cNvSpPr/>
          <p:nvPr/>
        </p:nvSpPr>
        <p:spPr>
          <a:xfrm>
            <a:off x="5588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1EB2A8C-CD33-9D73-DF5D-B14273BD400F}"/>
              </a:ext>
            </a:extLst>
          </p:cNvPr>
          <p:cNvSpPr txBox="1"/>
          <p:nvPr/>
        </p:nvSpPr>
        <p:spPr>
          <a:xfrm>
            <a:off x="5740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Microsoft YaHei" panose="020B0503020204020204" pitchFamily="34" charset="-122"/>
              </a:rPr>
              <a:t>16</a:t>
            </a:r>
            <a:endParaRPr lang="zh-CN" altLang="en-US" sz="24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571FEC6-D05E-011F-433E-DB3E5C25DC53}"/>
              </a:ext>
            </a:extLst>
          </p:cNvPr>
          <p:cNvSpPr txBox="1"/>
          <p:nvPr/>
        </p:nvSpPr>
        <p:spPr>
          <a:xfrm>
            <a:off x="5740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飞机类别数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628EA2A-C0D5-A654-EB87-AC0D7AABDCAE}"/>
              </a:ext>
            </a:extLst>
          </p:cNvPr>
          <p:cNvSpPr/>
          <p:nvPr/>
        </p:nvSpPr>
        <p:spPr>
          <a:xfrm>
            <a:off x="7874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7128158-4CFD-5994-EFF7-0DE3C7AD6A3F}"/>
              </a:ext>
            </a:extLst>
          </p:cNvPr>
          <p:cNvSpPr txBox="1"/>
          <p:nvPr/>
        </p:nvSpPr>
        <p:spPr>
          <a:xfrm>
            <a:off x="8026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636</a:t>
            </a:r>
            <a:endParaRPr lang="zh-CN" altLang="en-US" sz="2400" b="1">
              <a:solidFill>
                <a:srgbClr val="2F80C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3314F16-2812-CB98-BF9D-2B148F576B7F}"/>
              </a:ext>
            </a:extLst>
          </p:cNvPr>
          <p:cNvSpPr txBox="1"/>
          <p:nvPr/>
        </p:nvSpPr>
        <p:spPr>
          <a:xfrm>
            <a:off x="8026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测试图像数</a:t>
            </a:r>
          </a:p>
        </p:txBody>
      </p:sp>
    </p:spTree>
    <p:extLst>
      <p:ext uri="{BB962C8B-B14F-4D97-AF65-F5344CB8AC3E}">
        <p14:creationId xmlns:p14="http://schemas.microsoft.com/office/powerpoint/2010/main" val="10308609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0E8C0B2-F71C-FFE0-E492-0BE5DB205A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E76F5C-73CC-2B66-C7FE-37AAA080304D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44E19E46-4360-9570-76C2-7C7B235C7371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A75B1988-1CF8-FFC1-DDD5-0B629AE9B1B4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DEF227E-4C77-5DB1-51FC-C8AE7B9AD685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METRICS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5DD3F0-1DFE-ABBF-2533-725622226715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实验四结果：主成分数与识别准确率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19586A7-0C07-E001-2C12-22D17D50D421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6C47E8F-6C7F-74FA-19B6-741D50549898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9AFC2C1-2EA0-1E32-6EAB-FF34D19161A2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17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41CEF47-23CD-D4B5-EA85-30FE97C5FC11}"/>
              </a:ext>
            </a:extLst>
          </p:cNvPr>
          <p:cNvSpPr/>
          <p:nvPr/>
        </p:nvSpPr>
        <p:spPr>
          <a:xfrm>
            <a:off x="825500" y="1397000"/>
            <a:ext cx="5334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104563D-F85D-E1F0-ED76-68F5094FB6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046" y="1927279"/>
            <a:ext cx="4276908" cy="2749441"/>
          </a:xfrm>
          <a:prstGeom prst="rect">
            <a:avLst/>
          </a:prstGeom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18E4EAEF-7A0B-3603-88D1-FC9C29DBC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649785"/>
              </p:ext>
            </p:extLst>
          </p:nvPr>
        </p:nvGraphicFramePr>
        <p:xfrm>
          <a:off x="6667500" y="1587500"/>
          <a:ext cx="44450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1250">
                  <a:extLst>
                    <a:ext uri="{9D8B030D-6E8A-4147-A177-3AD203B41FA5}">
                      <a16:colId xmlns:a16="http://schemas.microsoft.com/office/drawing/2014/main" val="3488577762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1206627050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2029782085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99660398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主成分数</a:t>
                      </a: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测试集</a:t>
                      </a: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18707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质心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64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20.47%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19.97%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80247964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PCA+1NN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54.09%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60684902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PCA+1NN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64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53.93%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8216798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PCA+1NN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52.99%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540393903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A8E4A3CB-1DB1-C2BA-0593-EDF4D9303D19}"/>
              </a:ext>
            </a:extLst>
          </p:cNvPr>
          <p:cNvSpPr txBox="1"/>
          <p:nvPr/>
        </p:nvSpPr>
        <p:spPr>
          <a:xfrm>
            <a:off x="6794500" y="4318000"/>
            <a:ext cx="4318000" cy="91563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1NN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明显优于最近质心，说明飞机类别内部变化复杂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主成分数增加到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32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后收益变小，后续成分可能包含背景和噪声</a:t>
            </a:r>
          </a:p>
        </p:txBody>
      </p:sp>
    </p:spTree>
    <p:extLst>
      <p:ext uri="{BB962C8B-B14F-4D97-AF65-F5344CB8AC3E}">
        <p14:creationId xmlns:p14="http://schemas.microsoft.com/office/powerpoint/2010/main" val="12599908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16E99FB-D831-959E-AF63-00AA6784666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CAE919-9BA8-3D13-68C3-B4EBE083B473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E5778126-AF85-30FF-A957-F3BC4FD97A8E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C9A602D9-5EE7-51CD-44AF-BBD38BB5C907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A8F796D-5A36-652E-86C9-E66B467259AA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ANALYSIS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2E7E8DD-F8E5-A676-E278-5FEB55F99978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实验四分析：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能压缩，但不是完整识别方案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A7B3597-E133-CBAF-A717-E6F3540CDD91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9B4E4FC-FF3B-0802-E9AC-973CD8D8557A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6A198EA-0E07-D795-4C4F-719B5B78C111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18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A41ACA1-E8D8-158C-9414-5AC30CABFE5B}"/>
              </a:ext>
            </a:extLst>
          </p:cNvPr>
          <p:cNvSpPr/>
          <p:nvPr/>
        </p:nvSpPr>
        <p:spPr>
          <a:xfrm>
            <a:off x="952500" y="1397000"/>
            <a:ext cx="5334000" cy="3937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448EED4-569F-DFDC-7068-B61DBF9822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722" y="2248418"/>
            <a:ext cx="2637555" cy="2234164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4F5D9DD-B25E-A831-2A7E-C1FFB17BC105}"/>
              </a:ext>
            </a:extLst>
          </p:cNvPr>
          <p:cNvSpPr/>
          <p:nvPr/>
        </p:nvSpPr>
        <p:spPr>
          <a:xfrm>
            <a:off x="7048500" y="15240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59EDF42-8965-BBE8-E571-5778CDC3FCFA}"/>
              </a:ext>
            </a:extLst>
          </p:cNvPr>
          <p:cNvSpPr/>
          <p:nvPr/>
        </p:nvSpPr>
        <p:spPr>
          <a:xfrm>
            <a:off x="7048500" y="1524000"/>
            <a:ext cx="76200" cy="1016000"/>
          </a:xfrm>
          <a:prstGeom prst="rect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F04F904-0E79-C116-FC3D-E4F929F8442B}"/>
              </a:ext>
            </a:extLst>
          </p:cNvPr>
          <p:cNvSpPr txBox="1"/>
          <p:nvPr/>
        </p:nvSpPr>
        <p:spPr>
          <a:xfrm>
            <a:off x="7239000" y="16510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混淆原因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5F2B918-9C36-6CDF-19A8-CA26525280E9}"/>
              </a:ext>
            </a:extLst>
          </p:cNvPr>
          <p:cNvSpPr txBox="1"/>
          <p:nvPr/>
        </p:nvSpPr>
        <p:spPr>
          <a:xfrm>
            <a:off x="7239000" y="20066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低分辨率灰度图中，部分飞机外形相近，姿态和背景也会干扰。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B8CD580-7BE9-475B-B8F6-2BE7E61CF8F5}"/>
              </a:ext>
            </a:extLst>
          </p:cNvPr>
          <p:cNvSpPr/>
          <p:nvPr/>
        </p:nvSpPr>
        <p:spPr>
          <a:xfrm>
            <a:off x="7048500" y="29845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48F4EAB-6FAD-6407-CA43-98E9240D4E59}"/>
              </a:ext>
            </a:extLst>
          </p:cNvPr>
          <p:cNvSpPr/>
          <p:nvPr/>
        </p:nvSpPr>
        <p:spPr>
          <a:xfrm>
            <a:off x="7048500" y="2984500"/>
            <a:ext cx="76200" cy="1016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D1F0799-772A-CAA7-335C-FC069778FD79}"/>
              </a:ext>
            </a:extLst>
          </p:cNvPr>
          <p:cNvSpPr txBox="1"/>
          <p:nvPr/>
        </p:nvSpPr>
        <p:spPr>
          <a:xfrm>
            <a:off x="7239000" y="31115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方法局限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8DB7659-331F-AD3D-5BBF-3B1E8B537527}"/>
              </a:ext>
            </a:extLst>
          </p:cNvPr>
          <p:cNvSpPr txBox="1"/>
          <p:nvPr/>
        </p:nvSpPr>
        <p:spPr>
          <a:xfrm>
            <a:off x="7239000" y="34671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是无监督降维，优先保留总体方差，不保证保留最强判别信息。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D586A68-F2E3-7391-E32C-EF551F3289EA}"/>
              </a:ext>
            </a:extLst>
          </p:cNvPr>
          <p:cNvSpPr/>
          <p:nvPr/>
        </p:nvSpPr>
        <p:spPr>
          <a:xfrm>
            <a:off x="7048500" y="44450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6DFCA3C-3941-D562-767A-74F10224AD81}"/>
              </a:ext>
            </a:extLst>
          </p:cNvPr>
          <p:cNvSpPr/>
          <p:nvPr/>
        </p:nvSpPr>
        <p:spPr>
          <a:xfrm>
            <a:off x="7048500" y="4445000"/>
            <a:ext cx="762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C04E783-7778-3858-C4A1-6731AA26CEB0}"/>
              </a:ext>
            </a:extLst>
          </p:cNvPr>
          <p:cNvSpPr txBox="1"/>
          <p:nvPr/>
        </p:nvSpPr>
        <p:spPr>
          <a:xfrm>
            <a:off x="7239000" y="45720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改进方向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B9C0DAD-855A-67B1-9A44-AB4C7E6F8D23}"/>
              </a:ext>
            </a:extLst>
          </p:cNvPr>
          <p:cNvSpPr txBox="1"/>
          <p:nvPr/>
        </p:nvSpPr>
        <p:spPr>
          <a:xfrm>
            <a:off x="7239000" y="49276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可结合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HOG/SIFT/ORB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、数据增强或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CNN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提升识别性能。</a:t>
            </a:r>
          </a:p>
        </p:txBody>
      </p:sp>
    </p:spTree>
    <p:extLst>
      <p:ext uri="{BB962C8B-B14F-4D97-AF65-F5344CB8AC3E}">
        <p14:creationId xmlns:p14="http://schemas.microsoft.com/office/powerpoint/2010/main" val="30726769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1B66BF8-9F5C-DC0F-DEAE-FFD169AB17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3F9ECE0D-D6D0-AF7C-3D24-747A831979A0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F26FC08D-ABBF-36FA-DD01-EA094D68CD09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7D8F08-48EC-2836-643B-4BB9E974DC92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F4A85F2-CFB9-A41F-0C39-C14E25302212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实验五：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均值与分级聚类分析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A8531C7-9C4F-1C2E-18E2-FE73C5F740B7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不使用类别标签，观察身高体重样本的自然结构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B0CB634-9D45-10F2-AC59-FC91BCAB3408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46532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E696814-9338-6244-24E2-E695601E0F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F63C5E-9CD6-B7D9-83B3-F194F5FDC0C9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3D784800-EBCA-32C7-D8E4-062D644E501E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E0573562-5182-E9F6-4A28-D259B214FE2A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C3E5E1-B1A4-DCE6-9913-A9A2C3C181A5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CLUSTERING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3079FE8-C5C9-689E-080B-1F94521788A7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实验五理论：从监督分类到无监督聚类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4AAB053-1155-706A-34FC-39F35940113B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1A1647E-AD54-60B6-23CE-C41AEFC95394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80BE34B-19B5-9F23-5CEC-49A8F2598779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19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16D76B4-1C80-2C2D-6C9C-A85C74910C58}"/>
              </a:ext>
            </a:extLst>
          </p:cNvPr>
          <p:cNvSpPr/>
          <p:nvPr/>
        </p:nvSpPr>
        <p:spPr>
          <a:xfrm>
            <a:off x="8890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1CC1DBD-9A16-69E7-277F-FDF53E7B5143}"/>
              </a:ext>
            </a:extLst>
          </p:cNvPr>
          <p:cNvSpPr/>
          <p:nvPr/>
        </p:nvSpPr>
        <p:spPr>
          <a:xfrm>
            <a:off x="889000" y="14605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FC1822A-4677-92C5-B37C-706076835383}"/>
              </a:ext>
            </a:extLst>
          </p:cNvPr>
          <p:cNvSpPr txBox="1"/>
          <p:nvPr/>
        </p:nvSpPr>
        <p:spPr>
          <a:xfrm>
            <a:off x="10795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均值聚类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06C3351-FDA6-1193-7BCD-86F0F9642C20}"/>
              </a:ext>
            </a:extLst>
          </p:cNvPr>
          <p:cNvSpPr txBox="1"/>
          <p:nvPr/>
        </p:nvSpPr>
        <p:spPr>
          <a:xfrm>
            <a:off x="10795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独立编程实现，通过样本分配和中心更新最小化类内平方误差。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6E4AC10-A7F0-7DA2-F3F7-1FA46876EDFB}"/>
              </a:ext>
            </a:extLst>
          </p:cNvPr>
          <p:cNvSpPr/>
          <p:nvPr/>
        </p:nvSpPr>
        <p:spPr>
          <a:xfrm>
            <a:off x="62865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6A0696-6E08-B9DF-5022-94BFC444DA9A}"/>
              </a:ext>
            </a:extLst>
          </p:cNvPr>
          <p:cNvSpPr/>
          <p:nvPr/>
        </p:nvSpPr>
        <p:spPr>
          <a:xfrm>
            <a:off x="6286500" y="14605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3496BF9-1905-F30B-10AB-2E644FE843AC}"/>
              </a:ext>
            </a:extLst>
          </p:cNvPr>
          <p:cNvSpPr txBox="1"/>
          <p:nvPr/>
        </p:nvSpPr>
        <p:spPr>
          <a:xfrm>
            <a:off x="64770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分级聚类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9E7BF8D-8673-E0A6-EA15-87337FCD44F7}"/>
              </a:ext>
            </a:extLst>
          </p:cNvPr>
          <p:cNvSpPr txBox="1"/>
          <p:nvPr/>
        </p:nvSpPr>
        <p:spPr>
          <a:xfrm>
            <a:off x="64770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使用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Ward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方法形成层次结构，用树状图观察样本合并过程。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13D429F-D139-47EA-EC17-52363E1D47CC}"/>
              </a:ext>
            </a:extLst>
          </p:cNvPr>
          <p:cNvSpPr/>
          <p:nvPr/>
        </p:nvSpPr>
        <p:spPr>
          <a:xfrm>
            <a:off x="1270000" y="3365500"/>
            <a:ext cx="9652000" cy="7874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6B66630-E380-BA9F-BEAB-3F206622B413}"/>
              </a:ext>
            </a:extLst>
          </p:cNvPr>
          <p:cNvSpPr txBox="1"/>
          <p:nvPr/>
        </p:nvSpPr>
        <p:spPr>
          <a:xfrm>
            <a:off x="1524000" y="3632200"/>
            <a:ext cx="9144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J = </a:t>
            </a:r>
            <a:r>
              <a:rPr lang="el-GR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ⱼ </a:t>
            </a:r>
            <a:r>
              <a:rPr lang="el-GR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ₓ∈</a:t>
            </a:r>
            <a:r>
              <a:rPr lang="el-GR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ω</a:t>
            </a:r>
            <a:r>
              <a:rPr lang="en-US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ⱼ ||x - </a:t>
            </a:r>
            <a:r>
              <a:rPr lang="el-GR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μ</a:t>
            </a:r>
            <a:r>
              <a:rPr lang="en-US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ⱼ||²</a:t>
            </a:r>
            <a:endParaRPr lang="zh-CN" altLang="en-US" sz="22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F9C07A7-0565-E422-C4A5-61B5182552A7}"/>
              </a:ext>
            </a:extLst>
          </p:cNvPr>
          <p:cNvSpPr txBox="1"/>
          <p:nvPr/>
        </p:nvSpPr>
        <p:spPr>
          <a:xfrm>
            <a:off x="1016000" y="4826000"/>
            <a:ext cx="965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聚类不使用性别标签，评价时再与真实标签比较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特征标准化很重要，否则体重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身高尺度会影响距离计算</a:t>
            </a:r>
          </a:p>
        </p:txBody>
      </p:sp>
    </p:spTree>
    <p:extLst>
      <p:ext uri="{BB962C8B-B14F-4D97-AF65-F5344CB8AC3E}">
        <p14:creationId xmlns:p14="http://schemas.microsoft.com/office/powerpoint/2010/main" val="42526592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0CDA2EB-2877-1E57-4632-3A9419D5849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AD9056-C067-0970-9ED0-FCCE1B7DDA47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7FC5239F-0D48-8B3E-820E-87C4B2739CDC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EC669679-1C6C-B83A-46AC-550CA60357E9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B8440F-8DAB-1885-55CB-6D864468DF64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51F4093-F746-5308-5EC0-FBE0760F7C9E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实验五设置：两组数据与多种聚类数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FEA9CDB-222A-5D6F-4828-857126DC56AC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E1DFDB2-9942-457B-2887-384CB169D204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46D6DC-3BC4-1D11-C829-7A8C3537AB54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20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B42AE930-D40E-59B3-5152-5E240C049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117091"/>
              </p:ext>
            </p:extLst>
          </p:nvPr>
        </p:nvGraphicFramePr>
        <p:xfrm>
          <a:off x="889000" y="1397000"/>
          <a:ext cx="50800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3927040053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4108526051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设置项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20414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数据一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FEMALE + MALE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，共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个训练样本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48268977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数据二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 test2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，共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400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080785369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特征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身高、体重，先标准化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3824874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均值类别数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4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21134341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初始值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多个随机种子比较稳定性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888167538"/>
                  </a:ext>
                </a:extLst>
              </a:tr>
            </a:tbl>
          </a:graphicData>
        </a:graphic>
      </p:graphicFrame>
      <p:sp>
        <p:nvSpPr>
          <p:cNvPr id="12" name="椭圆 11">
            <a:extLst>
              <a:ext uri="{FF2B5EF4-FFF2-40B4-BE49-F238E27FC236}">
                <a16:creationId xmlns:a16="http://schemas.microsoft.com/office/drawing/2014/main" id="{5E5E3059-80F6-7A04-7E0B-E625F38BF32C}"/>
              </a:ext>
            </a:extLst>
          </p:cNvPr>
          <p:cNvSpPr/>
          <p:nvPr/>
        </p:nvSpPr>
        <p:spPr>
          <a:xfrm>
            <a:off x="6921500" y="15240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67716F7-7635-7E20-0B88-D3AF4F428A1C}"/>
              </a:ext>
            </a:extLst>
          </p:cNvPr>
          <p:cNvSpPr txBox="1"/>
          <p:nvPr/>
        </p:nvSpPr>
        <p:spPr>
          <a:xfrm>
            <a:off x="6934200" y="1600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0C5F5FE-C1C2-9B50-A2C6-ECAFEECC69E0}"/>
              </a:ext>
            </a:extLst>
          </p:cNvPr>
          <p:cNvSpPr txBox="1"/>
          <p:nvPr/>
        </p:nvSpPr>
        <p:spPr>
          <a:xfrm>
            <a:off x="7454900" y="1485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初始化中心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C7B516C-7A9C-217D-7D29-6F600FCEE410}"/>
              </a:ext>
            </a:extLst>
          </p:cNvPr>
          <p:cNvSpPr txBox="1"/>
          <p:nvPr/>
        </p:nvSpPr>
        <p:spPr>
          <a:xfrm>
            <a:off x="7454900" y="1803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随机选择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个中心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7AC0BBC5-202C-54FE-4A25-7BCC45DE9E94}"/>
              </a:ext>
            </a:extLst>
          </p:cNvPr>
          <p:cNvSpPr/>
          <p:nvPr/>
        </p:nvSpPr>
        <p:spPr>
          <a:xfrm>
            <a:off x="6921500" y="2540000"/>
            <a:ext cx="381000" cy="381000"/>
          </a:xfrm>
          <a:prstGeom prst="ellipse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235C9DE-57B9-CE6D-A7A1-97A2C44DD5D9}"/>
              </a:ext>
            </a:extLst>
          </p:cNvPr>
          <p:cNvSpPr txBox="1"/>
          <p:nvPr/>
        </p:nvSpPr>
        <p:spPr>
          <a:xfrm>
            <a:off x="6934200" y="2616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71EF4A2-83A4-C37A-3F9E-EF3270D0BE3E}"/>
              </a:ext>
            </a:extLst>
          </p:cNvPr>
          <p:cNvSpPr txBox="1"/>
          <p:nvPr/>
        </p:nvSpPr>
        <p:spPr>
          <a:xfrm>
            <a:off x="7454900" y="2501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样本分配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A2F45EA-8896-46BC-8C86-35DA979C5C4F}"/>
              </a:ext>
            </a:extLst>
          </p:cNvPr>
          <p:cNvSpPr txBox="1"/>
          <p:nvPr/>
        </p:nvSpPr>
        <p:spPr>
          <a:xfrm>
            <a:off x="7454900" y="2819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分配到最近中心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48EB169F-7054-D4D2-CFDD-C5F2E6CDEA47}"/>
              </a:ext>
            </a:extLst>
          </p:cNvPr>
          <p:cNvSpPr/>
          <p:nvPr/>
        </p:nvSpPr>
        <p:spPr>
          <a:xfrm>
            <a:off x="6921500" y="35560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2596CDB-9DD7-C354-3837-729C043EFEB2}"/>
              </a:ext>
            </a:extLst>
          </p:cNvPr>
          <p:cNvSpPr txBox="1"/>
          <p:nvPr/>
        </p:nvSpPr>
        <p:spPr>
          <a:xfrm>
            <a:off x="6934200" y="3632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87933CF-BD77-DBE9-7580-7777DED9AB1F}"/>
              </a:ext>
            </a:extLst>
          </p:cNvPr>
          <p:cNvSpPr txBox="1"/>
          <p:nvPr/>
        </p:nvSpPr>
        <p:spPr>
          <a:xfrm>
            <a:off x="7454900" y="3517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中心更新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10248AB-B367-CA57-2B12-287A34C9BF24}"/>
              </a:ext>
            </a:extLst>
          </p:cNvPr>
          <p:cNvSpPr txBox="1"/>
          <p:nvPr/>
        </p:nvSpPr>
        <p:spPr>
          <a:xfrm>
            <a:off x="7454900" y="3835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计算各簇均值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9248B070-27D0-C63B-BA56-4D6FB390C642}"/>
              </a:ext>
            </a:extLst>
          </p:cNvPr>
          <p:cNvSpPr/>
          <p:nvPr/>
        </p:nvSpPr>
        <p:spPr>
          <a:xfrm>
            <a:off x="6921500" y="4572000"/>
            <a:ext cx="381000" cy="381000"/>
          </a:xfrm>
          <a:prstGeom prst="ellipse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65C15AF-4869-7D82-4032-D01EBC82AE75}"/>
              </a:ext>
            </a:extLst>
          </p:cNvPr>
          <p:cNvSpPr txBox="1"/>
          <p:nvPr/>
        </p:nvSpPr>
        <p:spPr>
          <a:xfrm>
            <a:off x="6934200" y="4648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2FA66EE-FB56-5A3B-D80A-2D0E73754366}"/>
              </a:ext>
            </a:extLst>
          </p:cNvPr>
          <p:cNvSpPr txBox="1"/>
          <p:nvPr/>
        </p:nvSpPr>
        <p:spPr>
          <a:xfrm>
            <a:off x="7454900" y="4533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指标评估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14AEB34-EABC-B70F-D73B-401D80CB7810}"/>
              </a:ext>
            </a:extLst>
          </p:cNvPr>
          <p:cNvSpPr txBox="1"/>
          <p:nvPr/>
        </p:nvSpPr>
        <p:spPr>
          <a:xfrm>
            <a:off x="7454900" y="4851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SSE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、轮廓系数、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ARI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、匹配率</a:t>
            </a:r>
          </a:p>
        </p:txBody>
      </p:sp>
    </p:spTree>
    <p:extLst>
      <p:ext uri="{BB962C8B-B14F-4D97-AF65-F5344CB8AC3E}">
        <p14:creationId xmlns:p14="http://schemas.microsoft.com/office/powerpoint/2010/main" val="40834475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D9B42B7-3941-9893-DA92-674A6BD096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AA6903E-31FB-1EC5-D839-34790C6D9177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73A9165B-C67B-D3B7-87B9-55621FEAA09B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AE275F4C-A6A4-6530-3771-6CA805A0C534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CCD6488-510F-5687-D1F9-E431F1886E71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C-MEANS RESULTS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AC8BF87-88EE-9AF7-DBF4-0AC6B3E7F18D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实验五结果：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聚类与初始值影响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9A85F2C-2A51-51F3-B5B6-439FFF5D8EF5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8425376-EBA3-7ED9-6D68-65C82EF5044F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EEAD07D-07AD-AE9A-DCC3-607792DAEE3C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21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5363BCA-C56A-AAAA-BB6F-0255C0E617B7}"/>
              </a:ext>
            </a:extLst>
          </p:cNvPr>
          <p:cNvSpPr/>
          <p:nvPr/>
        </p:nvSpPr>
        <p:spPr>
          <a:xfrm>
            <a:off x="7366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8FC3E0F-3260-CDE5-441E-6E911A8CA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19" y="1817478"/>
            <a:ext cx="4067762" cy="2905544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19EB397-45C1-CF5C-696E-041870BD8DC0}"/>
              </a:ext>
            </a:extLst>
          </p:cNvPr>
          <p:cNvSpPr/>
          <p:nvPr/>
        </p:nvSpPr>
        <p:spPr>
          <a:xfrm>
            <a:off x="62484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C034E06-538D-9827-08A1-5808FEBA9C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5" y="1961454"/>
            <a:ext cx="4071811" cy="2617593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7CBB45C-792B-C50D-1A3C-DFF3ECF540C4}"/>
              </a:ext>
            </a:extLst>
          </p:cNvPr>
          <p:cNvSpPr/>
          <p:nvPr/>
        </p:nvSpPr>
        <p:spPr>
          <a:xfrm>
            <a:off x="1016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DB5876C-54CE-FAC4-D203-59A90CEA90B6}"/>
              </a:ext>
            </a:extLst>
          </p:cNvPr>
          <p:cNvSpPr txBox="1"/>
          <p:nvPr/>
        </p:nvSpPr>
        <p:spPr>
          <a:xfrm>
            <a:off x="1168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Microsoft YaHei" panose="020B0503020204020204" pitchFamily="34" charset="-122"/>
              </a:rPr>
              <a:t>85.00%</a:t>
            </a:r>
            <a:endParaRPr lang="zh-CN" altLang="en-US" sz="24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A170F14-A368-FAE1-A43C-5A39298F7466}"/>
              </a:ext>
            </a:extLst>
          </p:cNvPr>
          <p:cNvSpPr txBox="1"/>
          <p:nvPr/>
        </p:nvSpPr>
        <p:spPr>
          <a:xfrm>
            <a:off x="1168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训练集 </a:t>
            </a:r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匹配率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D17E3E0-EC6D-4EA3-5244-7F2814196C94}"/>
              </a:ext>
            </a:extLst>
          </p:cNvPr>
          <p:cNvSpPr/>
          <p:nvPr/>
        </p:nvSpPr>
        <p:spPr>
          <a:xfrm>
            <a:off x="3302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04653A3-CCE4-A1B1-7A99-8F15AEBA1C3D}"/>
              </a:ext>
            </a:extLst>
          </p:cNvPr>
          <p:cNvSpPr txBox="1"/>
          <p:nvPr/>
        </p:nvSpPr>
        <p:spPr>
          <a:xfrm>
            <a:off x="3454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Microsoft YaHei" panose="020B0503020204020204" pitchFamily="34" charset="-122"/>
              </a:rPr>
              <a:t>85-87%</a:t>
            </a:r>
            <a:endParaRPr lang="zh-CN" altLang="en-US" sz="24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6975CB7-8B27-BBE6-03B4-3285069C78CC}"/>
              </a:ext>
            </a:extLst>
          </p:cNvPr>
          <p:cNvSpPr txBox="1"/>
          <p:nvPr/>
        </p:nvSpPr>
        <p:spPr>
          <a:xfrm>
            <a:off x="3454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不同初始值波动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69DDEEF-53C2-F047-40F2-4172B7350E87}"/>
              </a:ext>
            </a:extLst>
          </p:cNvPr>
          <p:cNvSpPr/>
          <p:nvPr/>
        </p:nvSpPr>
        <p:spPr>
          <a:xfrm>
            <a:off x="5588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D3E55F6-F144-D0E7-EEAD-98AF68252C79}"/>
              </a:ext>
            </a:extLst>
          </p:cNvPr>
          <p:cNvSpPr txBox="1"/>
          <p:nvPr/>
        </p:nvSpPr>
        <p:spPr>
          <a:xfrm>
            <a:off x="5740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Microsoft YaHei" panose="020B0503020204020204" pitchFamily="34" charset="-122"/>
              </a:rPr>
              <a:t>0.5108</a:t>
            </a:r>
            <a:endParaRPr lang="zh-CN" altLang="en-US" sz="24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927EEFA-C824-2F93-BE14-FF7EF76FD369}"/>
              </a:ext>
            </a:extLst>
          </p:cNvPr>
          <p:cNvSpPr txBox="1"/>
          <p:nvPr/>
        </p:nvSpPr>
        <p:spPr>
          <a:xfrm>
            <a:off x="5740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轮廓系数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45CB7CA-D4D7-7121-C049-11B3247E7C92}"/>
              </a:ext>
            </a:extLst>
          </p:cNvPr>
          <p:cNvSpPr/>
          <p:nvPr/>
        </p:nvSpPr>
        <p:spPr>
          <a:xfrm>
            <a:off x="7874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5972CCF-0BD4-1818-E9F1-7A15AF40B679}"/>
              </a:ext>
            </a:extLst>
          </p:cNvPr>
          <p:cNvSpPr txBox="1"/>
          <p:nvPr/>
        </p:nvSpPr>
        <p:spPr>
          <a:xfrm>
            <a:off x="8026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0.4850</a:t>
            </a:r>
            <a:endParaRPr lang="zh-CN" altLang="en-US" sz="2400" b="1">
              <a:solidFill>
                <a:srgbClr val="2F80C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189339C-A500-A0B6-99A5-CC58DA5C5081}"/>
              </a:ext>
            </a:extLst>
          </p:cNvPr>
          <p:cNvSpPr txBox="1"/>
          <p:nvPr/>
        </p:nvSpPr>
        <p:spPr>
          <a:xfrm>
            <a:off x="8026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ARI</a:t>
            </a:r>
            <a:endParaRPr lang="zh-CN" altLang="en-US" sz="1200">
              <a:solidFill>
                <a:srgbClr val="6B7F9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99428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2B18B63-1909-FBBB-20F5-7CD95BDA29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8500117-5AEA-2829-D777-AD5A4012A51C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27EB00F5-C850-25D1-0202-F4B1666163C0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5D413067-C0D3-00CA-893A-A0BB348FCD08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90A379-FB6D-F29E-D024-8B594EE5DD2B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MODEL SELECTION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8A2E23-A294-2753-4C2B-11540172CA0C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实验五结果：类别数选择与分级聚类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3C01527-8E99-3758-9B88-501468A96656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3209D17-7C1A-9321-7133-6110D4E5724B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4BC33CA-93C3-B834-85F9-F547C9E2CAB7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22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8D7C47B-7DFA-CB39-44CF-A62E7A149635}"/>
              </a:ext>
            </a:extLst>
          </p:cNvPr>
          <p:cNvSpPr/>
          <p:nvPr/>
        </p:nvSpPr>
        <p:spPr>
          <a:xfrm>
            <a:off x="7366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4EC619D-DF41-CA23-BBD6-64BF062A22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961454"/>
            <a:ext cx="4071811" cy="2617593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D3C9B2D-5788-E3C0-3B8F-FC32DF38ABAE}"/>
              </a:ext>
            </a:extLst>
          </p:cNvPr>
          <p:cNvSpPr/>
          <p:nvPr/>
        </p:nvSpPr>
        <p:spPr>
          <a:xfrm>
            <a:off x="62484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6E8E95C-22B0-A844-D41C-024D7086A8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418" y="2424749"/>
            <a:ext cx="3166965" cy="1691003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75C5FDE-1ABA-9E48-DEE9-562BBB2C6FFE}"/>
              </a:ext>
            </a:extLst>
          </p:cNvPr>
          <p:cNvSpPr/>
          <p:nvPr/>
        </p:nvSpPr>
        <p:spPr>
          <a:xfrm>
            <a:off x="1016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246993E-6242-2BE5-BE24-1A20735E93D5}"/>
              </a:ext>
            </a:extLst>
          </p:cNvPr>
          <p:cNvSpPr/>
          <p:nvPr/>
        </p:nvSpPr>
        <p:spPr>
          <a:xfrm>
            <a:off x="1016000" y="5461000"/>
            <a:ext cx="76200" cy="635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88EB496-D353-D8AF-06F4-39A56478D0CD}"/>
              </a:ext>
            </a:extLst>
          </p:cNvPr>
          <p:cNvSpPr txBox="1"/>
          <p:nvPr/>
        </p:nvSpPr>
        <p:spPr>
          <a:xfrm>
            <a:off x="1206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类别数判断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507C081-A682-D14B-98C9-2DE617DD6F3F}"/>
              </a:ext>
            </a:extLst>
          </p:cNvPr>
          <p:cNvSpPr txBox="1"/>
          <p:nvPr/>
        </p:nvSpPr>
        <p:spPr>
          <a:xfrm>
            <a:off x="1206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SSE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随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增大下降，但轮廓系数在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最高，因此两类更合理。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EF5308D-63B0-E561-62FC-3E8DD2C69ADF}"/>
              </a:ext>
            </a:extLst>
          </p:cNvPr>
          <p:cNvSpPr/>
          <p:nvPr/>
        </p:nvSpPr>
        <p:spPr>
          <a:xfrm>
            <a:off x="6604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07B677F-3BA8-1030-80D4-B2731241F656}"/>
              </a:ext>
            </a:extLst>
          </p:cNvPr>
          <p:cNvSpPr/>
          <p:nvPr/>
        </p:nvSpPr>
        <p:spPr>
          <a:xfrm>
            <a:off x="6604000" y="5461000"/>
            <a:ext cx="76200" cy="635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B0101A3-1C7D-D038-F659-803594E0EF17}"/>
              </a:ext>
            </a:extLst>
          </p:cNvPr>
          <p:cNvSpPr txBox="1"/>
          <p:nvPr/>
        </p:nvSpPr>
        <p:spPr>
          <a:xfrm>
            <a:off x="6794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分级聚类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501DD5D-B56A-6844-6122-3CC71D348553}"/>
              </a:ext>
            </a:extLst>
          </p:cNvPr>
          <p:cNvSpPr txBox="1"/>
          <p:nvPr/>
        </p:nvSpPr>
        <p:spPr>
          <a:xfrm>
            <a:off x="6794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Ward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方法匹配率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81.00%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，略低于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均值，但能展示层次结构。</a:t>
            </a:r>
          </a:p>
        </p:txBody>
      </p:sp>
    </p:spTree>
    <p:extLst>
      <p:ext uri="{BB962C8B-B14F-4D97-AF65-F5344CB8AC3E}">
        <p14:creationId xmlns:p14="http://schemas.microsoft.com/office/powerpoint/2010/main" val="5446079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B6A161A-9286-4376-9375-B7A6DF164D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3340AE-4C03-3859-B658-7ABB30516FFD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665C4CEB-7AEB-28F3-1EDE-E584036A956E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0A8BF83F-BFDE-2DC9-CE11-ACAD2522C510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E4D89D6-66B9-7B4F-C7B0-15193A319BE2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COMBINED DATA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A41BB5F-63DF-481C-DFA8-0ED525B0B3DC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实验五分析：加入 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后结构保持但边界更复杂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2CE86A5-93CE-9018-540D-27EF08EF99AB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421A8CB-4727-2EC5-3BF4-CCC3D14FF06C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07F0BF0-F9E2-5F04-6302-0177905CF30E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23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D8023BE-F8C5-CC1E-2974-40AAEE62CC1D}"/>
              </a:ext>
            </a:extLst>
          </p:cNvPr>
          <p:cNvSpPr/>
          <p:nvPr/>
        </p:nvSpPr>
        <p:spPr>
          <a:xfrm>
            <a:off x="736600" y="1371600"/>
            <a:ext cx="5143500" cy="3492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73CC1FC-D6CC-4CEB-512E-1E74A5807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060" y="1860500"/>
            <a:ext cx="3520580" cy="25147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D8F9C64-B7F7-F8A9-3A70-998FD13DD032}"/>
              </a:ext>
            </a:extLst>
          </p:cNvPr>
          <p:cNvSpPr/>
          <p:nvPr/>
        </p:nvSpPr>
        <p:spPr>
          <a:xfrm>
            <a:off x="6324600" y="1371600"/>
            <a:ext cx="5143500" cy="3492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5083D01-9C51-79CF-F929-562AA9EFC9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774" y="1841408"/>
            <a:ext cx="3971152" cy="2552884"/>
          </a:xfrm>
          <a:prstGeom prst="rect">
            <a:avLst/>
          </a:prstGeom>
        </p:spPr>
      </p:pic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53BC276C-B6D4-7301-22E8-BD6BB2F22C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529659"/>
              </p:ext>
            </p:extLst>
          </p:nvPr>
        </p:nvGraphicFramePr>
        <p:xfrm>
          <a:off x="889000" y="5207000"/>
          <a:ext cx="10414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1805266082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210935658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1554552781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1293378569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92678537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轮廓系数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ARI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匹配率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83322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0.5108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0.4850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85.00%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99408156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Ward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0.5049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0.3789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81.00%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64962765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+test2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0.4850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0.4693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84.50%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33199853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+test2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Ward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0.4739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0.4172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82.50%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897233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42167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516A7F4-686B-5884-3769-89D105BD26F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7B4DFC-AB30-1C28-8D25-BDF5F3B0C9E2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7478A3CD-B00B-2E51-73FE-28429132E422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0577F7B5-4AC2-BFAF-2A36-290B0D52087F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FFAD187-4596-50B2-9C19-59426BDAF5B7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SYNTHESIS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3F1BC0-DDA5-2E5B-1D4B-FB50B65BF710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五个实验的横向总结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C3C067A-D8C6-6523-6D7F-1A3380B4AEA4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DB2DBE5-796B-1B74-660A-5FFDC377C537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6898BA4-743E-BA84-920A-80D7B6617E71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24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E015316F-2C30-1C25-A856-C67E63A19E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317614"/>
              </p:ext>
            </p:extLst>
          </p:nvPr>
        </p:nvGraphicFramePr>
        <p:xfrm>
          <a:off x="736600" y="1397000"/>
          <a:ext cx="10718800" cy="368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9700">
                  <a:extLst>
                    <a:ext uri="{9D8B030D-6E8A-4147-A177-3AD203B41FA5}">
                      <a16:colId xmlns:a16="http://schemas.microsoft.com/office/drawing/2014/main" val="2616364542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2528161413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330762307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14108127"/>
                    </a:ext>
                  </a:extLst>
                </a:gridCol>
              </a:tblGrid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课程知识点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监督信息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主要目标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750974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分类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后验概率、参数估计、风险决策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最小错误率或最小风险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904204571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Fisher / Parzen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非参数估计、线性判别、留一法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比较概率模型与直接判别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444662500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K-L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特征提取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、协方差特征分解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可不使用标签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降维与主方向分析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19613426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K-L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图像应用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高维图像特征压缩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验证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图像识别作用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724529380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聚类分析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均值、分级聚类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不使用标签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发现样本自然结构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923293812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FB22008-8E59-EF7A-9A9F-3A4BBD5E65AE}"/>
              </a:ext>
            </a:extLst>
          </p:cNvPr>
          <p:cNvSpPr/>
          <p:nvPr/>
        </p:nvSpPr>
        <p:spPr>
          <a:xfrm>
            <a:off x="1079500" y="5461000"/>
            <a:ext cx="10033000" cy="609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79EFB94-E31D-418B-AA5B-659A1A25FB90}"/>
              </a:ext>
            </a:extLst>
          </p:cNvPr>
          <p:cNvSpPr txBox="1"/>
          <p:nvPr/>
        </p:nvSpPr>
        <p:spPr>
          <a:xfrm>
            <a:off x="1397000" y="5664200"/>
            <a:ext cx="9398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主线：从概率决策到线性判别，从监督分类到无监督聚类，从低维特征到高维图像识别。</a:t>
            </a:r>
          </a:p>
        </p:txBody>
      </p:sp>
    </p:spTree>
    <p:extLst>
      <p:ext uri="{BB962C8B-B14F-4D97-AF65-F5344CB8AC3E}">
        <p14:creationId xmlns:p14="http://schemas.microsoft.com/office/powerpoint/2010/main" val="16060386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B514054-B8FF-F5E8-A853-758D4CF0C6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8C686F-AA07-E5D7-6E9F-ABEF10D75646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A1D78950-2B2E-17E5-D66C-96FB69DA3871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8E4B8877-78CA-C528-15C0-43CB53FAE77F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A75917D-9781-103F-DCA3-87E595F16CB5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CONCLUSION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17D8770-2818-2F60-0D1B-78363519964D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总体结论与汇报收束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CBEFAA8-AEA9-FF53-05B3-B99059F57EA1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642C445-B12D-C250-2D91-0695F3091CF2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74F64FC-8691-A408-B483-4FB62A3C073F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25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95EBAFC-55E1-713F-87E0-93933C0CB204}"/>
              </a:ext>
            </a:extLst>
          </p:cNvPr>
          <p:cNvSpPr/>
          <p:nvPr/>
        </p:nvSpPr>
        <p:spPr>
          <a:xfrm>
            <a:off x="889000" y="1524000"/>
            <a:ext cx="3111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CA0FAB2-A490-4602-69B4-9E3FE226097C}"/>
              </a:ext>
            </a:extLst>
          </p:cNvPr>
          <p:cNvSpPr/>
          <p:nvPr/>
        </p:nvSpPr>
        <p:spPr>
          <a:xfrm>
            <a:off x="889000" y="1524000"/>
            <a:ext cx="76200" cy="12065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F3403AB-5367-EF84-7851-D1606F9E1CC7}"/>
              </a:ext>
            </a:extLst>
          </p:cNvPr>
          <p:cNvSpPr txBox="1"/>
          <p:nvPr/>
        </p:nvSpPr>
        <p:spPr>
          <a:xfrm>
            <a:off x="1079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特征选择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7EEBD8-AF0D-B5E1-0DAA-241BAD6B309E}"/>
              </a:ext>
            </a:extLst>
          </p:cNvPr>
          <p:cNvSpPr txBox="1"/>
          <p:nvPr/>
        </p:nvSpPr>
        <p:spPr>
          <a:xfrm>
            <a:off x="1079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身高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体重比单特征更稳定；图像任务中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可压缩高维特征。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8EDE089-C50E-B6C9-A2F0-EF4F446D8190}"/>
              </a:ext>
            </a:extLst>
          </p:cNvPr>
          <p:cNvSpPr/>
          <p:nvPr/>
        </p:nvSpPr>
        <p:spPr>
          <a:xfrm>
            <a:off x="4572000" y="1524000"/>
            <a:ext cx="3111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B17ABC6-78F3-11DA-B61D-B7F41EC5C279}"/>
              </a:ext>
            </a:extLst>
          </p:cNvPr>
          <p:cNvSpPr/>
          <p:nvPr/>
        </p:nvSpPr>
        <p:spPr>
          <a:xfrm>
            <a:off x="4572000" y="1524000"/>
            <a:ext cx="76200" cy="12065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3C6A191-7D58-4653-B651-346A0E80C6AA}"/>
              </a:ext>
            </a:extLst>
          </p:cNvPr>
          <p:cNvSpPr txBox="1"/>
          <p:nvPr/>
        </p:nvSpPr>
        <p:spPr>
          <a:xfrm>
            <a:off x="4762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模型假设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DC5D37C-6668-4C3B-6F65-7A31439864A6}"/>
              </a:ext>
            </a:extLst>
          </p:cNvPr>
          <p:cNvSpPr txBox="1"/>
          <p:nvPr/>
        </p:nvSpPr>
        <p:spPr>
          <a:xfrm>
            <a:off x="4762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正态假设、窗口宽度、线性边界都会影响最终性能。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7D623C0-C55A-1DED-2899-9F780A201B91}"/>
              </a:ext>
            </a:extLst>
          </p:cNvPr>
          <p:cNvSpPr/>
          <p:nvPr/>
        </p:nvSpPr>
        <p:spPr>
          <a:xfrm>
            <a:off x="8255000" y="1524000"/>
            <a:ext cx="2857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84D6A51-7D98-C9B9-FEDA-3696CFA39D85}"/>
              </a:ext>
            </a:extLst>
          </p:cNvPr>
          <p:cNvSpPr/>
          <p:nvPr/>
        </p:nvSpPr>
        <p:spPr>
          <a:xfrm>
            <a:off x="8255000" y="1524000"/>
            <a:ext cx="76200" cy="12065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5EE43B1-85E9-113D-356E-09620645B7F1}"/>
              </a:ext>
            </a:extLst>
          </p:cNvPr>
          <p:cNvSpPr txBox="1"/>
          <p:nvPr/>
        </p:nvSpPr>
        <p:spPr>
          <a:xfrm>
            <a:off x="8445500" y="1651000"/>
            <a:ext cx="2552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评价指标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94ADFA8-4EF8-91C3-4574-307C43E80409}"/>
              </a:ext>
            </a:extLst>
          </p:cNvPr>
          <p:cNvSpPr txBox="1"/>
          <p:nvPr/>
        </p:nvSpPr>
        <p:spPr>
          <a:xfrm>
            <a:off x="8445500" y="2006600"/>
            <a:ext cx="2552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准确率、错误率、召回率、混淆矩阵和聚类指标需要综合分析。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D42CBC2-1651-E31B-3213-820AC0B39301}"/>
              </a:ext>
            </a:extLst>
          </p:cNvPr>
          <p:cNvSpPr/>
          <p:nvPr/>
        </p:nvSpPr>
        <p:spPr>
          <a:xfrm>
            <a:off x="1270000" y="3810000"/>
            <a:ext cx="9652000" cy="965200"/>
          </a:xfrm>
          <a:prstGeom prst="roundRect">
            <a:avLst/>
          </a:prstGeom>
          <a:solidFill>
            <a:srgbClr val="FFF7E0"/>
          </a:solidFill>
          <a:ln w="889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A52D759-2AB9-12CD-01F6-2EDC901DC117}"/>
              </a:ext>
            </a:extLst>
          </p:cNvPr>
          <p:cNvSpPr txBox="1"/>
          <p:nvPr/>
        </p:nvSpPr>
        <p:spPr>
          <a:xfrm>
            <a:off x="1587500" y="4140200"/>
            <a:ext cx="9017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92400E"/>
                </a:solidFill>
                <a:latin typeface="Microsoft YaHei" panose="020B0503020204020204" pitchFamily="34" charset="-122"/>
              </a:rPr>
              <a:t>核心体会：模式识别方法没有绝对最优，算法选择必须结合数据分布、任务目标和评价指标。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94D6019-7783-1986-86AF-6214E5166217}"/>
              </a:ext>
            </a:extLst>
          </p:cNvPr>
          <p:cNvSpPr txBox="1"/>
          <p:nvPr/>
        </p:nvSpPr>
        <p:spPr>
          <a:xfrm>
            <a:off x="1524000" y="5334000"/>
            <a:ext cx="9144000" cy="25135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强调概率决策，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强调判别方向，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强调表示与降维，聚类强调自然结构。</a:t>
            </a:r>
          </a:p>
        </p:txBody>
      </p:sp>
    </p:spTree>
    <p:extLst>
      <p:ext uri="{BB962C8B-B14F-4D97-AF65-F5344CB8AC3E}">
        <p14:creationId xmlns:p14="http://schemas.microsoft.com/office/powerpoint/2010/main" val="12719491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CE192AF-70B5-E325-C00C-99CCD92478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69EA395-93C6-26DA-B7A0-11E678A6E302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213949-432E-2167-3303-7431F91C3147}"/>
              </a:ext>
            </a:extLst>
          </p:cNvPr>
          <p:cNvSpPr/>
          <p:nvPr/>
        </p:nvSpPr>
        <p:spPr>
          <a:xfrm>
            <a:off x="203200" y="0"/>
            <a:ext cx="63500" cy="6858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48A118-F44D-14D5-862C-6D7C3305CD36}"/>
              </a:ext>
            </a:extLst>
          </p:cNvPr>
          <p:cNvSpPr txBox="1"/>
          <p:nvPr/>
        </p:nvSpPr>
        <p:spPr>
          <a:xfrm>
            <a:off x="889000" y="2514600"/>
            <a:ext cx="3810000" cy="7848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5100" b="1">
                <a:solidFill>
                  <a:srgbClr val="FFFFFF"/>
                </a:solidFill>
                <a:latin typeface="Microsoft YaHei" panose="020B0503020204020204" pitchFamily="34" charset="-122"/>
              </a:rPr>
              <a:t>谢谢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22113D-1BDF-9EFA-06B2-159CC97CA21C}"/>
              </a:ext>
            </a:extLst>
          </p:cNvPr>
          <p:cNvSpPr txBox="1"/>
          <p:nvPr/>
        </p:nvSpPr>
        <p:spPr>
          <a:xfrm>
            <a:off x="939800" y="3492500"/>
            <a:ext cx="5588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100">
                <a:solidFill>
                  <a:srgbClr val="CBD5E1"/>
                </a:solidFill>
                <a:latin typeface="Microsoft YaHei" panose="020B0503020204020204" pitchFamily="34" charset="-122"/>
              </a:rPr>
              <a:t>欢迎老师和同学批评指正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E72A6A6-7C57-92BE-6780-D375C9082C06}"/>
              </a:ext>
            </a:extLst>
          </p:cNvPr>
          <p:cNvCxnSpPr/>
          <p:nvPr/>
        </p:nvCxnSpPr>
        <p:spPr>
          <a:xfrm>
            <a:off x="939800" y="4140200"/>
            <a:ext cx="2362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672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2453</Words>
  <Application>Microsoft Office PowerPoint</Application>
  <PresentationFormat>自定义</PresentationFormat>
  <Paragraphs>499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7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军 曹</dc:creator>
  <cp:lastModifiedBy>军 曹</cp:lastModifiedBy>
  <cp:revision>1</cp:revision>
  <dcterms:created xsi:type="dcterms:W3CDTF">2026-06-16T19:48:07Z</dcterms:created>
  <dcterms:modified xsi:type="dcterms:W3CDTF">2026-06-16T19:48:31Z</dcterms:modified>
</cp:coreProperties>
</file>