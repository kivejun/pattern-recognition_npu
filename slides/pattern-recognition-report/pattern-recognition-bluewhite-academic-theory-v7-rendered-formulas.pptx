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D838B-1278-7BA2-8A81-3C940D724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1C1100-C057-981E-07C7-AD514F34B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D314E3-6713-9F45-62C9-8A3B6430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45061E-0509-FB9F-5AA5-1A2965D5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D0D66-DC05-EC77-705A-9C62A966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42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05DD4-70DA-457E-5163-82A47872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DC69A7-6D06-57D2-821E-0CC144E7C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3F2F3B-4BF6-AC34-FFB0-C25B82EC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09E895-A2E1-1D58-743C-493CDAD8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4BC1FD-B610-69BD-15F6-8BD0A40C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02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BBDDB-7319-84DE-B506-FDD5E21A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544AEA-982B-A0D6-00C1-7FA870EBC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C9571A-F903-B43C-7E1F-8E40457F2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D77B7-7918-4A3F-871F-34B8519A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CB137-FAE0-0A23-0FCC-896B6D2E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401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D45F5-4F98-CD17-57F0-ECAA751D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1EFE13-6913-D347-8D35-580A810E1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E64A5C-170C-437C-AD0A-3F13DADA5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67E07B-1966-1D83-6EC6-5F31C49D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9AEDFD-8A4E-D0D7-EEAE-13B3B1E0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2E8AFB-DEE3-73A1-7A4F-F6252FE0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85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F2A34-E9A5-F513-1281-6466B3B7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603DC2-55A1-5A50-756E-94900EB05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FDF837-2FA2-F368-DF06-437132A8D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25C3C7-8FEB-E9D7-83CF-C3D9F8D8D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5C706C-5591-6AD6-AA36-4EBD03C7F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15D39D-4D48-8729-18FF-26315CA3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C7F984-24C2-8C52-63FD-29A9BA8F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F03908-6029-6655-5831-DD7D64BF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102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F4534-B271-1BD3-44DB-569402056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860CA9-3D44-34F3-0693-E3500892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7E7C0F-ADA6-2E8F-DDDD-D0C1EE603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777356-D43B-1378-46A8-1217AF2E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70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E20CF7-EDA2-F14C-ABE2-8543C273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C26C39-5B0E-99A1-D259-D0D00776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4FD859-F70D-E585-6D8D-D44407ED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895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524E0-A722-4AA3-066B-1474F26B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7610FB-274E-952A-24A1-B8A2D4356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096C06-D42A-E5D7-E6E3-8DFEA84C9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096ADD-B62D-F131-1952-A70E9D95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4B33FD-3FBD-3515-CA27-4B26F9ACB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898A9-9A35-2457-D820-EBFC8343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33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03364-04D7-BFCA-8F7B-922EB71F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1AA9B6-A6E3-3C96-295C-D5F0F2419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3A2785-336A-0514-6644-789E0E12F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C4CA5D-F08C-4107-997A-23AC5132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289E2A-DFC5-0F6B-1F95-CEA2CC38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D28544-11DF-F3A0-DCEB-D2FB7C93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528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AC500-235B-DD97-FAC8-D50ECC949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7008AC-B6EE-1F9F-5B22-AFCA10280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4CB453-1F30-D2F2-3DCD-A35F781D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60E601-83D5-F394-B5E3-995132DC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526345-5505-E9BE-6BD6-043FFFE6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773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56E1B1-806F-94DF-991A-BDB86ADF0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36FCFD-95DE-E684-395F-40F7F0B9B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3FA412-28A7-ED68-B408-C2AD4AFF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659408-1F82-A0E2-219B-DA1747F83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A8D0E3-79AF-9432-F34B-7FCA675EF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24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8FBB0C-2EB4-AE43-4F8B-12C8EED9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902EB1-D49B-DEA9-E1B8-36257110B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72BB97-C27F-2476-AE7D-9E39BA087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F3358-B8CA-4908-B7A8-CC6DB6381947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F02DAC-BC06-20EB-97D8-67A3EF37D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E11964-4373-0CE5-5D59-061557D5A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70D0A-4FEB-4D5C-B236-0822A127B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41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B69C42E-7CDB-6EA4-DA92-09D3D91122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D336F3D0-EC3E-D48A-6760-EE4DF08AE500}"/>
              </a:ext>
            </a:extLst>
          </p:cNvPr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ACDC120-EC12-A868-D1F9-720CA82B9E80}"/>
              </a:ext>
            </a:extLst>
          </p:cNvPr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6852B2-56DE-FE95-A412-AFCC363C3E11}"/>
              </a:ext>
            </a:extLst>
          </p:cNvPr>
          <p:cNvSpPr txBox="1"/>
          <p:nvPr/>
        </p:nvSpPr>
        <p:spPr>
          <a:xfrm>
            <a:off x="914400" y="14224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FE8FF"/>
                </a:solidFill>
                <a:latin typeface="Microsoft YaHei" panose="020B0503020204020204" pitchFamily="34" charset="-122"/>
              </a:rPr>
              <a:t>PATTERN RECOGNITION</a:t>
            </a:r>
            <a:endParaRPr lang="zh-CN" altLang="en-US" sz="1000" b="1">
              <a:solidFill>
                <a:srgbClr val="BFE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383716-B20B-BEA7-20B9-272A70DB0ED1}"/>
              </a:ext>
            </a:extLst>
          </p:cNvPr>
          <p:cNvSpPr txBox="1"/>
          <p:nvPr/>
        </p:nvSpPr>
        <p:spPr>
          <a:xfrm>
            <a:off x="914400" y="2006600"/>
            <a:ext cx="7874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70A282-4CBE-08F2-87C9-9BD3E13AB039}"/>
              </a:ext>
            </a:extLst>
          </p:cNvPr>
          <p:cNvSpPr txBox="1"/>
          <p:nvPr/>
        </p:nvSpPr>
        <p:spPr>
          <a:xfrm>
            <a:off x="965200" y="2921000"/>
            <a:ext cx="876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分类器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Fisher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判别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K-L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变换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图像识别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9806891-9F49-87E4-10AE-6A216B3E719D}"/>
              </a:ext>
            </a:extLst>
          </p:cNvPr>
          <p:cNvSpPr/>
          <p:nvPr/>
        </p:nvSpPr>
        <p:spPr>
          <a:xfrm>
            <a:off x="9144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B0B9CB-B77B-CA7E-0CD0-4CBE644BC6E6}"/>
              </a:ext>
            </a:extLst>
          </p:cNvPr>
          <p:cNvSpPr/>
          <p:nvPr/>
        </p:nvSpPr>
        <p:spPr>
          <a:xfrm>
            <a:off x="914400" y="416560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1A6448-E8A3-7C9A-AA8C-9DD545B3E933}"/>
              </a:ext>
            </a:extLst>
          </p:cNvPr>
          <p:cNvSpPr txBox="1"/>
          <p:nvPr/>
        </p:nvSpPr>
        <p:spPr>
          <a:xfrm>
            <a:off x="11176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CA677-A08B-5176-8F46-3FF2A1EFB69B}"/>
              </a:ext>
            </a:extLst>
          </p:cNvPr>
          <p:cNvSpPr txBox="1"/>
          <p:nvPr/>
        </p:nvSpPr>
        <p:spPr>
          <a:xfrm>
            <a:off x="11176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FA50436-2025-F3B6-297B-B85EFC6CCE23}"/>
              </a:ext>
            </a:extLst>
          </p:cNvPr>
          <p:cNvSpPr/>
          <p:nvPr/>
        </p:nvSpPr>
        <p:spPr>
          <a:xfrm>
            <a:off x="39243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E604F8-3F5F-0B3B-8D1E-E6A464727A77}"/>
              </a:ext>
            </a:extLst>
          </p:cNvPr>
          <p:cNvSpPr/>
          <p:nvPr/>
        </p:nvSpPr>
        <p:spPr>
          <a:xfrm>
            <a:off x="3924300" y="4165600"/>
            <a:ext cx="76200" cy="698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77D557-1B99-3C82-4AC5-C5AA1B151F41}"/>
              </a:ext>
            </a:extLst>
          </p:cNvPr>
          <p:cNvSpPr txBox="1"/>
          <p:nvPr/>
        </p:nvSpPr>
        <p:spPr>
          <a:xfrm>
            <a:off x="41275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90E9A1-FABD-EB2D-85F1-56399A94900D}"/>
              </a:ext>
            </a:extLst>
          </p:cNvPr>
          <p:cNvSpPr txBox="1"/>
          <p:nvPr/>
        </p:nvSpPr>
        <p:spPr>
          <a:xfrm>
            <a:off x="41275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0FFB6B6-FF0D-0CBC-030E-8E45FE1D080D}"/>
              </a:ext>
            </a:extLst>
          </p:cNvPr>
          <p:cNvSpPr/>
          <p:nvPr/>
        </p:nvSpPr>
        <p:spPr>
          <a:xfrm>
            <a:off x="69342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D93FAE-66B0-AAA5-2FAD-2440C80A6446}"/>
              </a:ext>
            </a:extLst>
          </p:cNvPr>
          <p:cNvSpPr/>
          <p:nvPr/>
        </p:nvSpPr>
        <p:spPr>
          <a:xfrm>
            <a:off x="6934200" y="4165600"/>
            <a:ext cx="76200" cy="698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2D32243-F3E8-CBA3-4F86-66630247FBBC}"/>
              </a:ext>
            </a:extLst>
          </p:cNvPr>
          <p:cNvSpPr txBox="1"/>
          <p:nvPr/>
        </p:nvSpPr>
        <p:spPr>
          <a:xfrm>
            <a:off x="71374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5806E77-ABC1-7A4F-13CC-8DB7D299A40D}"/>
              </a:ext>
            </a:extLst>
          </p:cNvPr>
          <p:cNvSpPr txBox="1"/>
          <p:nvPr/>
        </p:nvSpPr>
        <p:spPr>
          <a:xfrm>
            <a:off x="71374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11321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B38D3D-D9B4-22FC-FB73-3BCE36A9B5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FBB35A-E0F3-3C7E-C1A3-0F1BBE6D8D4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29B0EED-71FD-F6F3-8B9D-23D4654DE82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AB9413A-89C0-DF16-7876-285EADB0716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A33940-4C5B-278A-63C4-1B7D2623BA7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TALK ROADMAP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CD3BAB-D655-3C17-1BDC-1B7852FC5A13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汇报结构：从分类到聚类的完整方法链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B3A3FE-620D-8CA9-08B2-1A514C89F91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4B2A39C-EBCB-D34D-6A9F-F4FDCF154FC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0EBFC4-A3E5-809E-EB29-ECBB75D7686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E0AA246-69E2-D2D5-70EF-8A2C47ABFDD3}"/>
              </a:ext>
            </a:extLst>
          </p:cNvPr>
          <p:cNvSpPr/>
          <p:nvPr/>
        </p:nvSpPr>
        <p:spPr>
          <a:xfrm>
            <a:off x="7112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2668CE-1AE6-40EC-D2EA-AAD34FE9E593}"/>
              </a:ext>
            </a:extLst>
          </p:cNvPr>
          <p:cNvSpPr/>
          <p:nvPr/>
        </p:nvSpPr>
        <p:spPr>
          <a:xfrm>
            <a:off x="711200" y="1498600"/>
            <a:ext cx="76200" cy="1168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E3F6DB-6DBA-7701-4E87-69CB6A1824C0}"/>
              </a:ext>
            </a:extLst>
          </p:cNvPr>
          <p:cNvSpPr txBox="1"/>
          <p:nvPr/>
        </p:nvSpPr>
        <p:spPr>
          <a:xfrm>
            <a:off x="9017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01 Bayes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E919E6F-F2C2-DA9F-F253-67E9893D1E82}"/>
              </a:ext>
            </a:extLst>
          </p:cNvPr>
          <p:cNvSpPr txBox="1"/>
          <p:nvPr/>
        </p:nvSpPr>
        <p:spPr>
          <a:xfrm>
            <a:off x="901700" y="1981200"/>
            <a:ext cx="153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概率密度估计与风险决策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9953E9D-FA8E-48F9-FF9C-31D48D8ED4C4}"/>
              </a:ext>
            </a:extLst>
          </p:cNvPr>
          <p:cNvSpPr/>
          <p:nvPr/>
        </p:nvSpPr>
        <p:spPr>
          <a:xfrm>
            <a:off x="29718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A93896-F168-3A47-27F8-9CE66376FD90}"/>
              </a:ext>
            </a:extLst>
          </p:cNvPr>
          <p:cNvSpPr/>
          <p:nvPr/>
        </p:nvSpPr>
        <p:spPr>
          <a:xfrm>
            <a:off x="2971800" y="1498600"/>
            <a:ext cx="76200" cy="1168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F88C037-C6B6-CAD4-7654-FB723A1BA3FD}"/>
              </a:ext>
            </a:extLst>
          </p:cNvPr>
          <p:cNvSpPr txBox="1"/>
          <p:nvPr/>
        </p:nvSpPr>
        <p:spPr>
          <a:xfrm>
            <a:off x="31623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02 Fisher/Parzen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2E47DA-E84A-C656-0C03-557C581C9927}"/>
              </a:ext>
            </a:extLst>
          </p:cNvPr>
          <p:cNvSpPr txBox="1"/>
          <p:nvPr/>
        </p:nvSpPr>
        <p:spPr>
          <a:xfrm>
            <a:off x="31623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非参数估计与直接判别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141824-3C42-3B7B-65FA-26FC4B2A7216}"/>
              </a:ext>
            </a:extLst>
          </p:cNvPr>
          <p:cNvSpPr/>
          <p:nvPr/>
        </p:nvSpPr>
        <p:spPr>
          <a:xfrm>
            <a:off x="52324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B074163-723D-06F6-184E-0319C2384E9D}"/>
              </a:ext>
            </a:extLst>
          </p:cNvPr>
          <p:cNvSpPr/>
          <p:nvPr/>
        </p:nvSpPr>
        <p:spPr>
          <a:xfrm>
            <a:off x="5232400" y="1498600"/>
            <a:ext cx="76200" cy="1168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6F7E69-1263-B130-054C-F3C7C128F176}"/>
              </a:ext>
            </a:extLst>
          </p:cNvPr>
          <p:cNvSpPr txBox="1"/>
          <p:nvPr/>
        </p:nvSpPr>
        <p:spPr>
          <a:xfrm>
            <a:off x="54229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03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特征提取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291AF2-78B0-EBFB-7735-E63A253043C7}"/>
              </a:ext>
            </a:extLst>
          </p:cNvPr>
          <p:cNvSpPr txBox="1"/>
          <p:nvPr/>
        </p:nvSpPr>
        <p:spPr>
          <a:xfrm>
            <a:off x="54229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协方差特征分解与降维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1692490-28C6-54D3-2C9D-4A90160A0C26}"/>
              </a:ext>
            </a:extLst>
          </p:cNvPr>
          <p:cNvSpPr/>
          <p:nvPr/>
        </p:nvSpPr>
        <p:spPr>
          <a:xfrm>
            <a:off x="74930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2ED498-EF3E-F4A4-D14D-5C7B297983D0}"/>
              </a:ext>
            </a:extLst>
          </p:cNvPr>
          <p:cNvSpPr/>
          <p:nvPr/>
        </p:nvSpPr>
        <p:spPr>
          <a:xfrm>
            <a:off x="7493000" y="1498600"/>
            <a:ext cx="76200" cy="1168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C256CCA-23D5-F617-75C4-81273C83C248}"/>
              </a:ext>
            </a:extLst>
          </p:cNvPr>
          <p:cNvSpPr txBox="1"/>
          <p:nvPr/>
        </p:nvSpPr>
        <p:spPr>
          <a:xfrm>
            <a:off x="76835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04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图像应用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7D62F2E-2132-31BB-ECCF-98BCFD7EBBDB}"/>
              </a:ext>
            </a:extLst>
          </p:cNvPr>
          <p:cNvSpPr txBox="1"/>
          <p:nvPr/>
        </p:nvSpPr>
        <p:spPr>
          <a:xfrm>
            <a:off x="76835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高维图像压缩与识别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D4EB4D4-D211-8B7A-A219-9BBD5032211D}"/>
              </a:ext>
            </a:extLst>
          </p:cNvPr>
          <p:cNvSpPr/>
          <p:nvPr/>
        </p:nvSpPr>
        <p:spPr>
          <a:xfrm>
            <a:off x="97536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D8E7223-8F84-572E-5B52-3628AA30C915}"/>
              </a:ext>
            </a:extLst>
          </p:cNvPr>
          <p:cNvSpPr/>
          <p:nvPr/>
        </p:nvSpPr>
        <p:spPr>
          <a:xfrm>
            <a:off x="9753600" y="1498600"/>
            <a:ext cx="76200" cy="1168400"/>
          </a:xfrm>
          <a:prstGeom prst="rect">
            <a:avLst/>
          </a:prstGeom>
          <a:solidFill>
            <a:srgbClr val="2B8A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7E23B49-F2D4-168A-5598-C0964929BB9E}"/>
              </a:ext>
            </a:extLst>
          </p:cNvPr>
          <p:cNvSpPr txBox="1"/>
          <p:nvPr/>
        </p:nvSpPr>
        <p:spPr>
          <a:xfrm>
            <a:off x="99441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45FCC53-B3A9-FC79-2C86-C2E908BD748E}"/>
              </a:ext>
            </a:extLst>
          </p:cNvPr>
          <p:cNvSpPr txBox="1"/>
          <p:nvPr/>
        </p:nvSpPr>
        <p:spPr>
          <a:xfrm>
            <a:off x="99441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无监督样本结构发现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2FC19BD-872C-C6FE-B2C3-0EDFDAA29C30}"/>
              </a:ext>
            </a:extLst>
          </p:cNvPr>
          <p:cNvSpPr/>
          <p:nvPr/>
        </p:nvSpPr>
        <p:spPr>
          <a:xfrm>
            <a:off x="1117600" y="3378200"/>
            <a:ext cx="99568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658DED0-0AFC-FB15-68A4-C51D803844CC}"/>
              </a:ext>
            </a:extLst>
          </p:cNvPr>
          <p:cNvSpPr txBox="1"/>
          <p:nvPr/>
        </p:nvSpPr>
        <p:spPr>
          <a:xfrm>
            <a:off x="1498600" y="3581400"/>
            <a:ext cx="9194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每个实验统一按照「理论知识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实验设置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实验结果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分析总结」的顺序展开，便于把算法原理和实验现象对应起来。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E56BCC1-9E41-6D43-3E9B-EB25A56CED7F}"/>
              </a:ext>
            </a:extLst>
          </p:cNvPr>
          <p:cNvSpPr/>
          <p:nvPr/>
        </p:nvSpPr>
        <p:spPr>
          <a:xfrm>
            <a:off x="9652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5BBD721-D463-559C-DAFA-BDE9861A14A3}"/>
              </a:ext>
            </a:extLst>
          </p:cNvPr>
          <p:cNvSpPr/>
          <p:nvPr/>
        </p:nvSpPr>
        <p:spPr>
          <a:xfrm>
            <a:off x="965200" y="4445000"/>
            <a:ext cx="76200" cy="1041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E497832-B73C-A993-CB92-CD75377B100C}"/>
              </a:ext>
            </a:extLst>
          </p:cNvPr>
          <p:cNvSpPr txBox="1"/>
          <p:nvPr/>
        </p:nvSpPr>
        <p:spPr>
          <a:xfrm>
            <a:off x="11557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理论知识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8F7186E-E816-7BD8-7117-82F55AC00E30}"/>
              </a:ext>
            </a:extLst>
          </p:cNvPr>
          <p:cNvSpPr txBox="1"/>
          <p:nvPr/>
        </p:nvSpPr>
        <p:spPr>
          <a:xfrm>
            <a:off x="11557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先讲课程概念、公式和方法思想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9E1B561-5C5F-7911-9FA1-68D0ABDEC361}"/>
              </a:ext>
            </a:extLst>
          </p:cNvPr>
          <p:cNvSpPr/>
          <p:nvPr/>
        </p:nvSpPr>
        <p:spPr>
          <a:xfrm>
            <a:off x="35306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AD0BF42-284C-3451-847A-5EC33FFB9F6C}"/>
              </a:ext>
            </a:extLst>
          </p:cNvPr>
          <p:cNvSpPr/>
          <p:nvPr/>
        </p:nvSpPr>
        <p:spPr>
          <a:xfrm>
            <a:off x="3530600" y="4445000"/>
            <a:ext cx="76200" cy="1041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9835B1C-FE29-ADEE-ABF0-91BF4099CF62}"/>
              </a:ext>
            </a:extLst>
          </p:cNvPr>
          <p:cNvSpPr txBox="1"/>
          <p:nvPr/>
        </p:nvSpPr>
        <p:spPr>
          <a:xfrm>
            <a:off x="37211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2C4B117-5FB4-0BD5-83D3-3A3FF2A1A87A}"/>
              </a:ext>
            </a:extLst>
          </p:cNvPr>
          <p:cNvSpPr txBox="1"/>
          <p:nvPr/>
        </p:nvSpPr>
        <p:spPr>
          <a:xfrm>
            <a:off x="37211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说明数据、特征、模型参数和指标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832B452-B076-72AB-6819-3C9829CE521B}"/>
              </a:ext>
            </a:extLst>
          </p:cNvPr>
          <p:cNvSpPr/>
          <p:nvPr/>
        </p:nvSpPr>
        <p:spPr>
          <a:xfrm>
            <a:off x="60960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04944FD-4BE0-D40D-BBE9-0D8F1753A4CA}"/>
              </a:ext>
            </a:extLst>
          </p:cNvPr>
          <p:cNvSpPr/>
          <p:nvPr/>
        </p:nvSpPr>
        <p:spPr>
          <a:xfrm>
            <a:off x="6096000" y="4445000"/>
            <a:ext cx="76200" cy="1041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2776EE8-B15C-C16E-5436-18D5B64D1757}"/>
              </a:ext>
            </a:extLst>
          </p:cNvPr>
          <p:cNvSpPr txBox="1"/>
          <p:nvPr/>
        </p:nvSpPr>
        <p:spPr>
          <a:xfrm>
            <a:off x="62865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16F4887-0B1E-2235-2899-6CB054360FA8}"/>
              </a:ext>
            </a:extLst>
          </p:cNvPr>
          <p:cNvSpPr txBox="1"/>
          <p:nvPr/>
        </p:nvSpPr>
        <p:spPr>
          <a:xfrm>
            <a:off x="62865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展示准确率、错误率、混淆矩阵和图像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0EFAD10-7C3B-CD98-5E23-4471EC695C94}"/>
              </a:ext>
            </a:extLst>
          </p:cNvPr>
          <p:cNvSpPr/>
          <p:nvPr/>
        </p:nvSpPr>
        <p:spPr>
          <a:xfrm>
            <a:off x="86614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09CCDA-AC20-BDE3-3628-DDC863A646BA}"/>
              </a:ext>
            </a:extLst>
          </p:cNvPr>
          <p:cNvSpPr/>
          <p:nvPr/>
        </p:nvSpPr>
        <p:spPr>
          <a:xfrm>
            <a:off x="8661400" y="4445000"/>
            <a:ext cx="76200" cy="1041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35B5342-B02E-188F-26F1-578EC5DA7C96}"/>
              </a:ext>
            </a:extLst>
          </p:cNvPr>
          <p:cNvSpPr txBox="1"/>
          <p:nvPr/>
        </p:nvSpPr>
        <p:spPr>
          <a:xfrm>
            <a:off x="88519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分析总结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78BDD01-DD32-D0AA-2D1E-F606B740C4FB}"/>
              </a:ext>
            </a:extLst>
          </p:cNvPr>
          <p:cNvSpPr txBox="1"/>
          <p:nvPr/>
        </p:nvSpPr>
        <p:spPr>
          <a:xfrm>
            <a:off x="8851900" y="49276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解释现象并联系课程理论</a:t>
            </a:r>
          </a:p>
        </p:txBody>
      </p:sp>
    </p:spTree>
    <p:extLst>
      <p:ext uri="{BB962C8B-B14F-4D97-AF65-F5344CB8AC3E}">
        <p14:creationId xmlns:p14="http://schemas.microsoft.com/office/powerpoint/2010/main" val="1815453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DB3716-B996-4D0D-49D8-BEAF9EF605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FFDE7F-3C75-73CB-5082-EFFB3F9D7A4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600FBDD-DE4E-E99F-0858-86A0C4BEEF4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A789904-B349-797E-BC1C-60E8B67A032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7697E8-AE0A-ED9B-E0AB-07466BE5111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SOURCE &amp; SETUP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A7740-1473-A53F-2005-BC800062156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数据与实验环境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39B4BC3-EAA2-94DF-4B82-2C2EC589F27C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C55DE6E-E3DE-F432-8A0B-6C66FD053FE5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87A99B-0158-7349-F9E9-3FB7EF1B5E8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904A2A1-0C7F-C4D7-E905-816CCC79F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222947"/>
              </p:ext>
            </p:extLst>
          </p:nvPr>
        </p:nvGraphicFramePr>
        <p:xfrm>
          <a:off x="736600" y="1333500"/>
          <a:ext cx="57785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574420399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2191676434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176593613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实验用途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规模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30592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/ MALE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实验一、二、三、五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0197716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/ 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分类器泛化测试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/ 300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个测试样本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43034792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飞机图像数据集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实验四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训练图，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测试图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98457307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2F23125-3D25-98FA-FCCD-617C8EC0B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98106"/>
              </p:ext>
            </p:extLst>
          </p:nvPr>
        </p:nvGraphicFramePr>
        <p:xfrm>
          <a:off x="6921500" y="1333500"/>
          <a:ext cx="4445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19067498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28110846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工具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65125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Python 3.11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实验脚本运行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06112486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NumPy / SciPy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数值计算与矩阵运算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83076135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scikit-learn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、评估指标、分级聚类辅助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6001064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Matplotlib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分类边界、投影、聚类图输出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798999884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D02A25C-4805-8173-751E-954133590F58}"/>
              </a:ext>
            </a:extLst>
          </p:cNvPr>
          <p:cNvSpPr/>
          <p:nvPr/>
        </p:nvSpPr>
        <p:spPr>
          <a:xfrm>
            <a:off x="99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5C45CE-3A62-490B-EBC8-067F7035F4FB}"/>
              </a:ext>
            </a:extLst>
          </p:cNvPr>
          <p:cNvSpPr txBox="1"/>
          <p:nvPr/>
        </p:nvSpPr>
        <p:spPr>
          <a:xfrm>
            <a:off x="114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0555E9-7B63-2E6B-618F-E01458D60958}"/>
              </a:ext>
            </a:extLst>
          </p:cNvPr>
          <p:cNvSpPr txBox="1"/>
          <p:nvPr/>
        </p:nvSpPr>
        <p:spPr>
          <a:xfrm>
            <a:off x="114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已完成实验任务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E9018C6-ADFD-6D36-6D0D-0CC4B2669672}"/>
              </a:ext>
            </a:extLst>
          </p:cNvPr>
          <p:cNvSpPr/>
          <p:nvPr/>
        </p:nvSpPr>
        <p:spPr>
          <a:xfrm>
            <a:off x="353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527C41-CC3A-3E65-7654-08CB86EA13F0}"/>
              </a:ext>
            </a:extLst>
          </p:cNvPr>
          <p:cNvSpPr txBox="1"/>
          <p:nvPr/>
        </p:nvSpPr>
        <p:spPr>
          <a:xfrm>
            <a:off x="368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2A2734-75AC-7DA4-71BB-801D50A74BA7}"/>
              </a:ext>
            </a:extLst>
          </p:cNvPr>
          <p:cNvSpPr txBox="1"/>
          <p:nvPr/>
        </p:nvSpPr>
        <p:spPr>
          <a:xfrm>
            <a:off x="368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汇报中使用图表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8B49EC2-4F71-ACAA-3C7F-6B8FEDF6FE3A}"/>
              </a:ext>
            </a:extLst>
          </p:cNvPr>
          <p:cNvSpPr/>
          <p:nvPr/>
        </p:nvSpPr>
        <p:spPr>
          <a:xfrm>
            <a:off x="607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BB066-08DB-BA89-3ABE-4231CDFB1833}"/>
              </a:ext>
            </a:extLst>
          </p:cNvPr>
          <p:cNvSpPr txBox="1"/>
          <p:nvPr/>
        </p:nvSpPr>
        <p:spPr>
          <a:xfrm>
            <a:off x="622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2D/1024D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B04172-1CC2-70C6-CA91-F8ADAD5A168F}"/>
              </a:ext>
            </a:extLst>
          </p:cNvPr>
          <p:cNvSpPr txBox="1"/>
          <p:nvPr/>
        </p:nvSpPr>
        <p:spPr>
          <a:xfrm>
            <a:off x="622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低维与图像高维特征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242C450-60AC-F148-C402-241784090226}"/>
              </a:ext>
            </a:extLst>
          </p:cNvPr>
          <p:cNvSpPr/>
          <p:nvPr/>
        </p:nvSpPr>
        <p:spPr>
          <a:xfrm>
            <a:off x="861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8171838-3992-E6B9-956C-8C44167BD3C5}"/>
              </a:ext>
            </a:extLst>
          </p:cNvPr>
          <p:cNvSpPr txBox="1"/>
          <p:nvPr/>
        </p:nvSpPr>
        <p:spPr>
          <a:xfrm>
            <a:off x="876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分类</a:t>
            </a:r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ADF84AE-0048-657C-E3B5-338D5E6E5E4D}"/>
              </a:ext>
            </a:extLst>
          </p:cNvPr>
          <p:cNvSpPr txBox="1"/>
          <p:nvPr/>
        </p:nvSpPr>
        <p:spPr>
          <a:xfrm>
            <a:off x="876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监督与无监督覆盖</a:t>
            </a:r>
          </a:p>
        </p:txBody>
      </p:sp>
    </p:spTree>
    <p:extLst>
      <p:ext uri="{BB962C8B-B14F-4D97-AF65-F5344CB8AC3E}">
        <p14:creationId xmlns:p14="http://schemas.microsoft.com/office/powerpoint/2010/main" val="343269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46C9164-64E3-B4D4-8943-2956E7BC43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3C3C4E65-C9FC-401F-C9F0-2A6D8DB00E6D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3A54F0A-4DA7-9D09-E8C0-B953C7F9B36F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6E1605-582A-CCD8-BAFA-BC8E9A4C06C7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BAB5D2-B4EC-302B-5D05-7CD02341E4B7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A8397D-39DF-6DA5-905F-37A8170C5010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用身高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体重数据进行最小错误率与最小风险决策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AC62273-DAD6-5D94-77C2-BF43DF7109AE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903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198AE5-410C-7D01-DF2E-A6F063590A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9E39BD-3EFA-63A3-F8A0-05FA0798CA5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A1E82FA-B485-62F8-7752-75653E8091F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1960A86-8DA9-8870-E3C9-DDE67E93726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CAEF6C-334B-609B-A693-13E32FABF70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624526-5C41-EBD6-86C8-D5F4EBAD908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实验一理论：概率决策框架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28844D-AB6E-C174-98F7-DEBD58FF0AD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2580680-7823-8F29-C5ED-8E7B040E4A4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6A450B-4249-46E0-E068-2F529D22776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D2D8AFB-66E2-AA60-BB54-0C67F631E2A5}"/>
              </a:ext>
            </a:extLst>
          </p:cNvPr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56383F-EB78-416F-4896-70D4F4DFD14F}"/>
              </a:ext>
            </a:extLst>
          </p:cNvPr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C56402-8D63-96BB-324A-0AF8D362B602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后验概率决策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8A5732-51EE-5538-31D5-856058B9AC1C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选择给定特征后最可能的类别，本质是把观测特征映射到类别后验。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A8844FF-FA92-BEA7-9AC1-4C35B4B277A3}"/>
              </a:ext>
            </a:extLst>
          </p:cNvPr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AE40AB-3505-FAC7-2992-A8DB80CF68D0}"/>
              </a:ext>
            </a:extLst>
          </p:cNvPr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41B763A-3C8C-2CA2-4262-0E4DA0DE32A4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高斯参数估计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EF6EB85-6DC5-3F23-EABB-17630D0CF780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在正态假设下估计均值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与协方差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，得到二次判别函数。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E7B54F9-26E1-7906-2E3A-CB710F83E46C}"/>
              </a:ext>
            </a:extLst>
          </p:cNvPr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4586E7-4F86-CC6C-F6A3-E43DF7EAD35E}"/>
              </a:ext>
            </a:extLst>
          </p:cNvPr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DC79BC-3558-542C-821C-1BE9FFF53CC8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风险敏感决策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EAB0FDC-026B-82FD-1C8C-CCFF80D57A36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用损失表刻画不同错误代价，选择条件风险最小的动作。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F4653E9-1B11-DC26-C25D-3FE7860B00B7}"/>
              </a:ext>
            </a:extLst>
          </p:cNvPr>
          <p:cNvSpPr/>
          <p:nvPr/>
        </p:nvSpPr>
        <p:spPr>
          <a:xfrm>
            <a:off x="990600" y="3200400"/>
            <a:ext cx="10210800" cy="1092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7E03BF1-E3C7-048D-5838-7C90E4A09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93" y="3398946"/>
            <a:ext cx="10721214" cy="695107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8A155DA-BE91-AAD9-145F-4F46775ADBE2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课程相关：参数估计、先验概率、贝叶斯判别函数、最小风险决策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实验目的：观察特征、先验、协方差假设和风险表对分类性能的影响</a:t>
            </a:r>
          </a:p>
        </p:txBody>
      </p:sp>
    </p:spTree>
    <p:extLst>
      <p:ext uri="{BB962C8B-B14F-4D97-AF65-F5344CB8AC3E}">
        <p14:creationId xmlns:p14="http://schemas.microsoft.com/office/powerpoint/2010/main" val="3187160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3FD2D28-E381-7005-1F18-F5ED661589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9F52F7-305E-9553-3F9C-B6A8C3FDBEB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89B75D2-B7F2-453D-005C-65A7B75AC0A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A702782-3AEF-91E8-DE27-1C64EB3BA15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75DCC1-1DA6-654E-1833-C504EAD1499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INTUITION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DC7C2E-62CC-8EA3-BD5B-39715C4DB23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实验一理论展开：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分类器到底在算什么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9E1D67A-93D0-518B-185A-379E065B255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3887855-5464-713B-F9A1-89891E93C7E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3EBE60-0D2F-B5F5-3B39-D8393A5F3D3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D2F0B84-FC7F-3813-0D8A-6DAA4881D3BB}"/>
              </a:ext>
            </a:extLst>
          </p:cNvPr>
          <p:cNvSpPr/>
          <p:nvPr/>
        </p:nvSpPr>
        <p:spPr>
          <a:xfrm>
            <a:off x="7366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17EA37-EDF3-CBD6-8616-0BADF4207437}"/>
              </a:ext>
            </a:extLst>
          </p:cNvPr>
          <p:cNvSpPr/>
          <p:nvPr/>
        </p:nvSpPr>
        <p:spPr>
          <a:xfrm>
            <a:off x="736600" y="1371600"/>
            <a:ext cx="76200" cy="13208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DB3F2D-DB14-08EA-2ABC-E702F520F64F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先看样本像谁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71529C-F5FD-E63F-571A-3DA4A170EA63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身高、体重是观测到的特征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。分类器先比较这个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在女生分布和男生分布中出现的可能性。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E597F5-008E-BE11-B2F0-9CC81D30207F}"/>
              </a:ext>
            </a:extLst>
          </p:cNvPr>
          <p:cNvSpPr/>
          <p:nvPr/>
        </p:nvSpPr>
        <p:spPr>
          <a:xfrm>
            <a:off x="45085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21176D-6446-8698-694E-3DCA103C3A77}"/>
              </a:ext>
            </a:extLst>
          </p:cNvPr>
          <p:cNvSpPr/>
          <p:nvPr/>
        </p:nvSpPr>
        <p:spPr>
          <a:xfrm>
            <a:off x="4508500" y="1371600"/>
            <a:ext cx="76200" cy="13208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2C6F18F-235A-DB8E-70E1-201CCB97C956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再考虑先验比例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642A52-998B-2B80-BB4A-ECD68D639FA4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如果测试集中男生更多，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P(M)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更大；同样的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可能更容易被判为男生。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1F0A561-4F9B-FF1B-F07A-AF5EAFA77448}"/>
              </a:ext>
            </a:extLst>
          </p:cNvPr>
          <p:cNvSpPr/>
          <p:nvPr/>
        </p:nvSpPr>
        <p:spPr>
          <a:xfrm>
            <a:off x="8280400" y="1371600"/>
            <a:ext cx="2921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42A5DA-F5F4-9E8C-AF1B-A1F6E66C5B93}"/>
              </a:ext>
            </a:extLst>
          </p:cNvPr>
          <p:cNvSpPr/>
          <p:nvPr/>
        </p:nvSpPr>
        <p:spPr>
          <a:xfrm>
            <a:off x="8280400" y="1371600"/>
            <a:ext cx="76200" cy="132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BB7A63-2534-8948-25C4-E2BE607FF797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最后选择后验最大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A68EDC-387A-D70D-6E61-1F10DE727D10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后验概率综合了类条件密度和先验概率，是做类别决策的直接依据。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B91B367-33A9-8A6B-03F8-2235C71A624C}"/>
              </a:ext>
            </a:extLst>
          </p:cNvPr>
          <p:cNvSpPr/>
          <p:nvPr/>
        </p:nvSpPr>
        <p:spPr>
          <a:xfrm>
            <a:off x="1041400" y="3327400"/>
            <a:ext cx="10109200" cy="863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4FEB5E95-C886-4068-A998-94BAEBBB4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458" y="3519720"/>
            <a:ext cx="2537084" cy="47896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6C0F6EA7-7EDA-C773-F71A-889A0553AC31}"/>
              </a:ext>
            </a:extLst>
          </p:cNvPr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类条件密度：某一类别内部的特征分布，例如女生身高体重大多集中在哪里。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先验概率：在看到特征之前，某一类本来出现的概率。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两类比较时，归一化项相同，实际只需要比较：密度乘以先验。</a:t>
            </a:r>
          </a:p>
        </p:txBody>
      </p:sp>
    </p:spTree>
    <p:extLst>
      <p:ext uri="{BB962C8B-B14F-4D97-AF65-F5344CB8AC3E}">
        <p14:creationId xmlns:p14="http://schemas.microsoft.com/office/powerpoint/2010/main" val="116805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B63269-503C-5153-F265-3087D7A5AC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4AC3F6-19B6-57E8-17C2-E51759DE068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BD164B8-E454-66AD-CAEE-884C21D6DB5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269F0675-8C9D-9290-9972-BE1864155D5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273F09-5F28-2E5B-9125-747014CD580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DISCRIMINANT FUNCTION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399AF4-4EC9-743E-12DF-763A26AC71A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实验一理论展开：为什么会出现曲线决策边界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F6FD85-3702-8233-B584-F53EAF24536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5A5AD52-12E1-8A11-4F99-DB556D3B0F6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8B4C66-8029-5C6D-3C3D-61565846B92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AFF1490-5A96-F6FF-AA2B-28F90E987FF7}"/>
              </a:ext>
            </a:extLst>
          </p:cNvPr>
          <p:cNvSpPr/>
          <p:nvPr/>
        </p:nvSpPr>
        <p:spPr>
          <a:xfrm>
            <a:off x="8636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30F38E-24F3-2CCD-8301-C1982D3A61DA}"/>
              </a:ext>
            </a:extLst>
          </p:cNvPr>
          <p:cNvSpPr/>
          <p:nvPr/>
        </p:nvSpPr>
        <p:spPr>
          <a:xfrm>
            <a:off x="863600" y="1498600"/>
            <a:ext cx="76200" cy="1244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6EF5A61-28D1-6E35-1F3C-F6B37FF6CBC5}"/>
              </a:ext>
            </a:extLst>
          </p:cNvPr>
          <p:cNvSpPr txBox="1"/>
          <p:nvPr/>
        </p:nvSpPr>
        <p:spPr>
          <a:xfrm>
            <a:off x="10541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一维特征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D2432FC-1DB2-B1E5-0D32-EA5B39AFC63C}"/>
              </a:ext>
            </a:extLst>
          </p:cNvPr>
          <p:cNvSpPr txBox="1"/>
          <p:nvPr/>
        </p:nvSpPr>
        <p:spPr>
          <a:xfrm>
            <a:off x="1054100" y="1981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只用身高或体重时，每个类别是一条正态曲线。两条曲线加上先验后，交点就是阈值。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0CDF956-BCDA-A259-03B9-D9A9D5CD4FA9}"/>
              </a:ext>
            </a:extLst>
          </p:cNvPr>
          <p:cNvSpPr/>
          <p:nvPr/>
        </p:nvSpPr>
        <p:spPr>
          <a:xfrm>
            <a:off x="45085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DE16BC-1B3E-FD21-AD0E-D87592D103D1}"/>
              </a:ext>
            </a:extLst>
          </p:cNvPr>
          <p:cNvSpPr/>
          <p:nvPr/>
        </p:nvSpPr>
        <p:spPr>
          <a:xfrm>
            <a:off x="4508500" y="1498600"/>
            <a:ext cx="76200" cy="12446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874E04-4ECA-20B4-EB36-AF6EFB94686C}"/>
              </a:ext>
            </a:extLst>
          </p:cNvPr>
          <p:cNvSpPr txBox="1"/>
          <p:nvPr/>
        </p:nvSpPr>
        <p:spPr>
          <a:xfrm>
            <a:off x="46990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二维特征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842948-CA04-BCD0-D313-3C7D1A83D784}"/>
              </a:ext>
            </a:extLst>
          </p:cNvPr>
          <p:cNvSpPr txBox="1"/>
          <p:nvPr/>
        </p:nvSpPr>
        <p:spPr>
          <a:xfrm>
            <a:off x="4699000" y="1981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同时使用身高和体重时，每个类别是二维高斯分布，等概率位置形成决策边界。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BED9219-23B5-6B81-556B-9255CC470ECB}"/>
              </a:ext>
            </a:extLst>
          </p:cNvPr>
          <p:cNvSpPr/>
          <p:nvPr/>
        </p:nvSpPr>
        <p:spPr>
          <a:xfrm>
            <a:off x="8153400" y="1498600"/>
            <a:ext cx="30226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C73EBC-01E2-922B-799F-4224269DAE65}"/>
              </a:ext>
            </a:extLst>
          </p:cNvPr>
          <p:cNvSpPr/>
          <p:nvPr/>
        </p:nvSpPr>
        <p:spPr>
          <a:xfrm>
            <a:off x="8153400" y="1498600"/>
            <a:ext cx="76200" cy="1244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DE1D70-5DA7-E0E0-5DAE-BC7073D76339}"/>
              </a:ext>
            </a:extLst>
          </p:cNvPr>
          <p:cNvSpPr txBox="1"/>
          <p:nvPr/>
        </p:nvSpPr>
        <p:spPr>
          <a:xfrm>
            <a:off x="8343900" y="1625600"/>
            <a:ext cx="2717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协方差的作用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4F9786-2EB0-FD7F-A6F7-4D32AEE23B47}"/>
              </a:ext>
            </a:extLst>
          </p:cNvPr>
          <p:cNvSpPr txBox="1"/>
          <p:nvPr/>
        </p:nvSpPr>
        <p:spPr>
          <a:xfrm>
            <a:off x="8343900" y="1981200"/>
            <a:ext cx="27178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完整协方差会描述身高和体重的相关性，因此边界可以弯曲；对角协方差会更简化。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2FDF2C1-02A1-1B33-FB29-EF1615D1DF97}"/>
              </a:ext>
            </a:extLst>
          </p:cNvPr>
          <p:cNvSpPr/>
          <p:nvPr/>
        </p:nvSpPr>
        <p:spPr>
          <a:xfrm>
            <a:off x="1016000" y="3479800"/>
            <a:ext cx="10160000" cy="889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25392BC-5F9D-F581-71D9-C24A396AE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26" y="3527823"/>
            <a:ext cx="11584749" cy="79295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3D9AAE0-8CD5-0C1A-237A-61AAB0B7A10E}"/>
              </a:ext>
            </a:extLst>
          </p:cNvPr>
          <p:cNvSpPr txBox="1"/>
          <p:nvPr/>
        </p:nvSpPr>
        <p:spPr>
          <a:xfrm>
            <a:off x="11176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决策边界本质上是两类判别函数相等的位置。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边界附近的样本最容易被错分，因为它们同时像两个类别。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中男生样本更多，先验设置会明显影响边界向哪一侧移动。</a:t>
            </a:r>
          </a:p>
        </p:txBody>
      </p:sp>
    </p:spTree>
    <p:extLst>
      <p:ext uri="{BB962C8B-B14F-4D97-AF65-F5344CB8AC3E}">
        <p14:creationId xmlns:p14="http://schemas.microsoft.com/office/powerpoint/2010/main" val="205557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72973CE-03CF-FC2B-A17E-C84568BFC0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E25312-DB34-ACCF-08F9-DDFA868242F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290CFF0-2F34-5148-0A88-E4CEAECD1BF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7FDF0B5-4C92-F780-5673-7229FCBA842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7DF68B-C52B-1106-79B6-4751C5E75C4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6C72CC-183B-562F-62B4-5380A5DE57D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实验一设置：数据、特征与实现流程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A004267-95B3-76BC-7538-7F22D3730AE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66474B1-9209-A298-772A-052A76DBA94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7B78CB-65B1-E50F-CBA2-C840437C156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F9B429A-C0AE-69A8-8169-8585A1D350CC}"/>
              </a:ext>
            </a:extLst>
          </p:cNvPr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D26FD6-852E-1122-712B-11565E0FAE91}"/>
              </a:ext>
            </a:extLst>
          </p:cNvPr>
          <p:cNvSpPr txBox="1"/>
          <p:nvPr/>
        </p:nvSpPr>
        <p:spPr>
          <a:xfrm>
            <a:off x="901700" y="1574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5C3835-DD59-2811-044F-410817A175ED}"/>
              </a:ext>
            </a:extLst>
          </p:cNvPr>
          <p:cNvSpPr txBox="1"/>
          <p:nvPr/>
        </p:nvSpPr>
        <p:spPr>
          <a:xfrm>
            <a:off x="1422400" y="1460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ECCD34-4674-2311-51DE-A6C2B6E23C76}"/>
              </a:ext>
            </a:extLst>
          </p:cNvPr>
          <p:cNvSpPr txBox="1"/>
          <p:nvPr/>
        </p:nvSpPr>
        <p:spPr>
          <a:xfrm>
            <a:off x="1422400" y="1778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FEMALE/MALE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作为训练集；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test1/test2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作为测试集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DA3920E-B4C4-E5EA-4A61-98FF25EA9D9E}"/>
              </a:ext>
            </a:extLst>
          </p:cNvPr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DE58758-E7FB-793A-AA0A-090ED681C65D}"/>
              </a:ext>
            </a:extLst>
          </p:cNvPr>
          <p:cNvSpPr txBox="1"/>
          <p:nvPr/>
        </p:nvSpPr>
        <p:spPr>
          <a:xfrm>
            <a:off x="901700" y="2590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F5E0A9F-16C0-42EE-698B-49352BF9E4AD}"/>
              </a:ext>
            </a:extLst>
          </p:cNvPr>
          <p:cNvSpPr txBox="1"/>
          <p:nvPr/>
        </p:nvSpPr>
        <p:spPr>
          <a:xfrm>
            <a:off x="1422400" y="2476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7CAECC-5329-82BF-1658-3FAECF16E897}"/>
              </a:ext>
            </a:extLst>
          </p:cNvPr>
          <p:cNvSpPr txBox="1"/>
          <p:nvPr/>
        </p:nvSpPr>
        <p:spPr>
          <a:xfrm>
            <a:off x="1422400" y="2794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身高、体重、身高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体重三组对比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41672D3-BEB5-4A44-9521-970D0EAD841C}"/>
              </a:ext>
            </a:extLst>
          </p:cNvPr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0B06CE-AA7C-0438-1433-3CC2F77D4FF9}"/>
              </a:ext>
            </a:extLst>
          </p:cNvPr>
          <p:cNvSpPr txBox="1"/>
          <p:nvPr/>
        </p:nvSpPr>
        <p:spPr>
          <a:xfrm>
            <a:off x="901700" y="3606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E51C79-B91E-EAFD-B857-AAEEE42F0CAB}"/>
              </a:ext>
            </a:extLst>
          </p:cNvPr>
          <p:cNvSpPr txBox="1"/>
          <p:nvPr/>
        </p:nvSpPr>
        <p:spPr>
          <a:xfrm>
            <a:off x="1422400" y="3492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估计分布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74E35D-EFBF-8B18-C429-CF95F6BAF06D}"/>
              </a:ext>
            </a:extLst>
          </p:cNvPr>
          <p:cNvSpPr txBox="1"/>
          <p:nvPr/>
        </p:nvSpPr>
        <p:spPr>
          <a:xfrm>
            <a:off x="1422400" y="3810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最大似然估计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</a:t>
            </a:r>
            <a:r>
              <a:rPr lang="zh-CN" altLang="el-GR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或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5FDB2E1-5188-9A37-C2A1-EC8B83464E81}"/>
              </a:ext>
            </a:extLst>
          </p:cNvPr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D6FF345-5A07-7A1C-C407-213F53D1C120}"/>
              </a:ext>
            </a:extLst>
          </p:cNvPr>
          <p:cNvSpPr txBox="1"/>
          <p:nvPr/>
        </p:nvSpPr>
        <p:spPr>
          <a:xfrm>
            <a:off x="901700" y="4622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033A31C-7659-1C9A-4265-31EE21ECEE76}"/>
              </a:ext>
            </a:extLst>
          </p:cNvPr>
          <p:cNvSpPr txBox="1"/>
          <p:nvPr/>
        </p:nvSpPr>
        <p:spPr>
          <a:xfrm>
            <a:off x="1422400" y="4508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272DEF8-8C9D-D705-604E-618CFCE0A173}"/>
              </a:ext>
            </a:extLst>
          </p:cNvPr>
          <p:cNvSpPr txBox="1"/>
          <p:nvPr/>
        </p:nvSpPr>
        <p:spPr>
          <a:xfrm>
            <a:off x="1422400" y="4826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准确率、召回率、混淆矩阵、错误分析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CEA0EC49-368B-ACF3-A841-4B11FF52E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82631"/>
              </p:ext>
            </p:extLst>
          </p:nvPr>
        </p:nvGraphicFramePr>
        <p:xfrm>
          <a:off x="5943600" y="1524000"/>
          <a:ext cx="4953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83708413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826575947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7040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先验概率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0.5/0.5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0.75/0.25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0.9/0.1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62614918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01504279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风险表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3854983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非参数补充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89635248"/>
                  </a:ext>
                </a:extLst>
              </a:tr>
            </a:tbl>
          </a:graphicData>
        </a:graphic>
      </p:graphicFrame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71C3CC7-1295-8E68-604E-6102D03F1536}"/>
              </a:ext>
            </a:extLst>
          </p:cNvPr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D9D0145-3743-FA39-FB61-39F6B6CE84EA}"/>
              </a:ext>
            </a:extLst>
          </p:cNvPr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9C85464-C773-AC57-2CE0-D7E159508D3D}"/>
              </a:ext>
            </a:extLst>
          </p:cNvPr>
          <p:cNvSpPr txBox="1"/>
          <p:nvPr/>
        </p:nvSpPr>
        <p:spPr>
          <a:xfrm>
            <a:off x="6388100" y="46482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实现要点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FE616BA-6231-67D7-0662-2CCD021FF039}"/>
              </a:ext>
            </a:extLst>
          </p:cNvPr>
          <p:cNvSpPr txBox="1"/>
          <p:nvPr/>
        </p:nvSpPr>
        <p:spPr>
          <a:xfrm>
            <a:off x="6388100" y="5003800"/>
            <a:ext cx="414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所有分类器统一输出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train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上的性能，便于横向比较。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1869818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F9D187-4458-905E-B2DB-EFE129DA4D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70D0E1-4216-C5A8-BE54-4A7FA99914D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D2B1813-5CFA-4BF8-958C-B8FDBDE8B39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FCAB95E-1EA8-35EA-059C-FB66C0FF30B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B97F59-AD36-D2A4-B217-BDFBFF9A186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 VISUALS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211CD1-AD1D-E85A-4059-16B7AE4741E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实验一结果：数据分布与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1CE7A8B-08B1-3708-04A8-41EE8F0ED1A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6C869B7-521E-8352-3278-B593243E1E1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07CF91-DD97-6E54-3F0D-28E95BE8138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37DA4CA-75DE-9806-9D8E-F8EFEEEE91DF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79E5E26-5811-5CBB-E0CB-35AEAF1FD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BA2CEC8-FAC1-CCA8-8136-C11F10076455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5C6413C-DC9B-2C53-B6F3-9362260DE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402D6C6-1FCB-C57D-49FA-F5ED564AD98B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1CDD4B3-B8D8-41E6-6812-DDCC512923EB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88.00%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F1217BF-A20E-D3D8-835B-BEFD89FE0B37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训练准确率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04C7C46-AFFB-46AE-5FCF-36C38FB6319A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792A21-C468-B4DC-EFB1-62D75A5984D0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97.14%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990852-450F-93BA-55B5-7AF9CDA9A1E4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676657B-AA8D-7716-799F-62C3DCCCDEC1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5C0CAC-5A57-6247-52B7-7BDFEF225436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AE49D1-034D-9A58-412D-F98A097BDB9E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6A1B4D7-DDA5-67FD-7F82-74B9D4FFF0DD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19534D-BC8B-087F-B0CC-C5C773F4C58A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65EBF95-8962-10CB-7609-E046CFEBA48A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对角协方差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3137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298600-3EAB-2F22-8688-FA24ACFF46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A7CB05-F1D2-BAFF-FBDD-5B2DE38A950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3BAA5EB-DCEA-0E7F-1236-DB017E44422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CA399C0-EA55-811D-0D84-08FC929A67C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D203B2-0AE1-0713-285D-D1CB1F21662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115973-E67D-A53A-EE10-BDC93EAAEC8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实验一分析：先验与风险改变决策偏向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EEBE2D8-CB7E-C079-97A9-F17DA7E9BC5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DDE6902-9E77-8392-644B-70607EFF777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70FCB8-C4EA-501D-22C3-16B0AD16AD6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432E76B-015D-EEDF-D89D-3E3728633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65226"/>
              </p:ext>
            </p:extLst>
          </p:nvPr>
        </p:nvGraphicFramePr>
        <p:xfrm>
          <a:off x="762000" y="1333500"/>
          <a:ext cx="6350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1732478948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58579334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158634258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4215254068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782014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78356028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079703436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40825765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49902755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1780122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9A8D459-E866-2414-67A9-0907310DBE3D}"/>
              </a:ext>
            </a:extLst>
          </p:cNvPr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F2B9E28-E9E1-06C5-B17D-C1F9A1E22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FBE6A33-3392-0413-370E-C34FF97C6D5D}"/>
              </a:ext>
            </a:extLst>
          </p:cNvPr>
          <p:cNvSpPr txBox="1"/>
          <p:nvPr/>
        </p:nvSpPr>
        <p:spPr>
          <a:xfrm>
            <a:off x="914400" y="4445000"/>
            <a:ext cx="9906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身高和体重组合能利用互补信息，整体比单特征更稳定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中男生比例更高，若人为设置女生先验过大，会显著降低整体准确率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最小风险决策体现错误代价不同时的分类器设计思想</a:t>
            </a:r>
          </a:p>
        </p:txBody>
      </p:sp>
    </p:spTree>
    <p:extLst>
      <p:ext uri="{BB962C8B-B14F-4D97-AF65-F5344CB8AC3E}">
        <p14:creationId xmlns:p14="http://schemas.microsoft.com/office/powerpoint/2010/main" val="1791393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345776-AB97-01DE-5CC2-5649E54C7E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A4E2ADA7-C087-519D-E558-C1E309C72D87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41D24BF-ECD7-77DE-6065-CC2D7E9D85DB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A8D6CF-C388-7E27-4E91-2ED0BCF91B9D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0ABA5D-7098-3094-F1FE-A64124218647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实验二：非参数估计与 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判别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3D07FA-CA12-B0C1-33F9-4D717275F666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比较概率密度估计方法与直接设计线性分类器的方法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6C5E6B3-CDAB-8406-BB55-7D0C114A88DF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677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69A2C3-5A5D-BEB5-5BEC-563BDA4C7A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22B91D-32DA-EBE6-C2A7-1C080612486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04E35EA-7DC3-C20C-154E-39E1AD8FDE4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B714817-8534-E65F-9C59-1075E39E2CD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9DDA63-2BF8-F62C-EBE5-73471151BBD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9BAE52-803F-90FF-9762-C17EDE6D779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与留一法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EE27408-B370-8B5A-129C-3CAFF547196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1A26F1C-A69F-841E-8F33-8B91280EFC7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5CA2BE-3CA2-84C2-3B74-D433D3B2857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DE6A7F9-91CF-C7BB-7963-217306C15217}"/>
              </a:ext>
            </a:extLst>
          </p:cNvPr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562912-E4E1-8406-6760-E3FC0FEA9535}"/>
              </a:ext>
            </a:extLst>
          </p:cNvPr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179C83-7F4D-0602-6DF5-3CD4DC94D8EC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窗估计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1AB19A-EC64-3C83-57B9-CA9060361A86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不预设概率密度形式，用高斯核叠加估计类别条件密度。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2E1D52-D8BC-A51D-0DF9-4E6ED4087A20}"/>
              </a:ext>
            </a:extLst>
          </p:cNvPr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5671D3-1D83-DC92-6D30-E1497812742D}"/>
              </a:ext>
            </a:extLst>
          </p:cNvPr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4AD40F5-A51C-3522-90C4-9331E67C8583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线性判别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2C525D-3791-730C-E4D2-F8C8010F66D5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最大化类间离散度与类内离散度之比，得到线性投影方向。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7498A70-5054-101D-54B5-1C8420788F6A}"/>
              </a:ext>
            </a:extLst>
          </p:cNvPr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E22554-9FFA-8AB0-9FE6-1E15F4B81009}"/>
              </a:ext>
            </a:extLst>
          </p:cNvPr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18AD7C2-68E5-2253-9FDA-EE633CC07B76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留一法估计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3DB86E0-8CDF-54EE-C73C-D5E8FF4B76B6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每次留出一个样本验证，适合小样本泛化误差估计。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7E49B59-DDB6-9526-2093-A8E451F7BB44}"/>
              </a:ext>
            </a:extLst>
          </p:cNvPr>
          <p:cNvSpPr/>
          <p:nvPr/>
        </p:nvSpPr>
        <p:spPr>
          <a:xfrm>
            <a:off x="1143000" y="3251200"/>
            <a:ext cx="9906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11B6791-D5A7-7C15-1160-7F133D96A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415" y="3425932"/>
            <a:ext cx="5053171" cy="56493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969D4A5-BEA1-CB6B-4A46-7592B1E8FACE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课程重点：参数估计与非参数估计的差别；概率模型与判别模型的差别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实验问题：非参数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是否能达到高斯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的性能</a:t>
            </a:r>
          </a:p>
        </p:txBody>
      </p:sp>
    </p:spTree>
    <p:extLst>
      <p:ext uri="{BB962C8B-B14F-4D97-AF65-F5344CB8AC3E}">
        <p14:creationId xmlns:p14="http://schemas.microsoft.com/office/powerpoint/2010/main" val="160333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12FDA65-6C85-0390-7A4E-48B1831B2F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7EB1EE-57A4-F597-CE33-91DD8AD5C18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C8BE996-13E6-3FA2-B750-5EFA84BAE75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5417DDA-446D-A147-5719-561BB4D127E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5D1D76-600D-77ED-1F8C-27F514F3DEA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METHOD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D29B13-A8FF-7521-3EDD-A0C00932EA6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实验二理论展开：密度估计和直接判别的区别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46E181E-82FD-03F8-923F-3634281E84A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161626D-2319-50D5-E5CB-C20757F201D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A142B-521F-6AF6-7AA5-8589A078602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999EB3-D983-6F06-79A5-7373BEEAFDF1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24BBB6-CCA6-1FD2-6B84-15C1D2C261DE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E1C980-D631-3812-B3F3-2FA5F10304B2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F4DFAD-E0C5-24A9-D661-1C37E062EC65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先假设数据服从某种分布，例如正态分布，再估计少量参数。优点是稳定，缺点是假设可能不准。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84FA87A-6CAC-F82D-1AED-59875E7CF77A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DB0C50-27F5-D5D9-F17F-F20463F214FA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349598-CF50-D7EE-3D75-7312527A6E1E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非参数估计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9F8052-172B-463C-0F1E-659825A784BC}"/>
              </a:ext>
            </a:extLst>
          </p:cNvPr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不强行指定密度形状，而是让训练样本本身决定分布外形。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窗可以看作给每个样本放一个小核。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13627D4-F3E4-5619-E133-F574A787EBC0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FC3108-5956-90E6-322F-3B704AD15014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BD7C3F-4DB4-344A-4735-052219B7E799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直接判别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2B06AF-B0FB-7253-E185-7446869341B3}"/>
              </a:ext>
            </a:extLst>
          </p:cNvPr>
          <p:cNvSpPr txBox="1"/>
          <p:nvPr/>
        </p:nvSpPr>
        <p:spPr>
          <a:xfrm>
            <a:off x="8470900" y="1854200"/>
            <a:ext cx="2616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不估计概率密度，而是直接找一条投影轴，让两类均值尽量远、类内尽量集中。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B6301A6-101A-5E09-4D86-E235A2CC271C}"/>
              </a:ext>
            </a:extLst>
          </p:cNvPr>
          <p:cNvSpPr/>
          <p:nvPr/>
        </p:nvSpPr>
        <p:spPr>
          <a:xfrm>
            <a:off x="1168400" y="3429000"/>
            <a:ext cx="45212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EE3E0F-DB86-733F-6452-29A8E66E02C5}"/>
              </a:ext>
            </a:extLst>
          </p:cNvPr>
          <p:cNvSpPr txBox="1"/>
          <p:nvPr/>
        </p:nvSpPr>
        <p:spPr>
          <a:xfrm>
            <a:off x="1473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：用样本堆出类别密度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C48556D-9766-5D50-2B81-4C61296161A1}"/>
              </a:ext>
            </a:extLst>
          </p:cNvPr>
          <p:cNvSpPr txBox="1"/>
          <p:nvPr/>
        </p:nvSpPr>
        <p:spPr>
          <a:xfrm>
            <a:off x="1473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窗口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小：密度起伏大，容易过拟合；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大：密度过平滑，细节会丢失。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3494FC3-4D03-22F5-E6EF-D34392A45C8F}"/>
              </a:ext>
            </a:extLst>
          </p:cNvPr>
          <p:cNvSpPr/>
          <p:nvPr/>
        </p:nvSpPr>
        <p:spPr>
          <a:xfrm>
            <a:off x="6502400" y="3429000"/>
            <a:ext cx="45212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2307E3-62B5-E336-C314-2959AC727336}"/>
              </a:ext>
            </a:extLst>
          </p:cNvPr>
          <p:cNvSpPr txBox="1"/>
          <p:nvPr/>
        </p:nvSpPr>
        <p:spPr>
          <a:xfrm>
            <a:off x="6807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Fisher</a:t>
            </a:r>
            <a:r>
              <a:rPr lang="zh-CN" altLang="en-US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：用投影方向分开类别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C2658DA-C2B5-D2B3-EDE5-FE9A37CD4F2C}"/>
              </a:ext>
            </a:extLst>
          </p:cNvPr>
          <p:cNvSpPr txBox="1"/>
          <p:nvPr/>
        </p:nvSpPr>
        <p:spPr>
          <a:xfrm>
            <a:off x="6807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它关心的不是密度形状，而是投影后一维空间里两类是否容易用阈值分开。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D9FAE4-E78C-0A35-6CEF-4FD2F8E9B2EB}"/>
              </a:ext>
            </a:extLst>
          </p:cNvPr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本实验用同一组身高体重特征比较三类思想：高斯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如果三者性能接近，说明这个数据集的类别结构比较简单，线性边界已经足够有效。</a:t>
            </a:r>
          </a:p>
        </p:txBody>
      </p:sp>
    </p:spTree>
    <p:extLst>
      <p:ext uri="{BB962C8B-B14F-4D97-AF65-F5344CB8AC3E}">
        <p14:creationId xmlns:p14="http://schemas.microsoft.com/office/powerpoint/2010/main" val="1667101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FAC64A-0355-A0C7-37DF-62FCAB67A8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036E21-D86E-7C1A-5443-11062861EEC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5268EF3-793B-31E4-3442-A12F6030B40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9E9649D-B296-DEE7-7EAF-35D7E647BAB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00F75-9556-5C09-940D-95912B5CE39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ECA832-19F8-7683-F5D9-221DBAE0EBA4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实验二结果：线性边界与投影分布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56C71FE-0C6B-7D7B-0AFA-C607DDC54DD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5D38038-FEF0-B1E6-8076-FA4B9A2FFFF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D97BEA-86CC-07CE-4587-070758DFD686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D803FC2-A70A-CDA5-1715-763762053275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4CAC745-2752-C644-BF1E-E2BF3DA1A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2217B8A-E6EC-48F8-9999-ADDAF5AF805C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19C989F-BF42-9267-5969-16FB4F8DC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B1FEC5C-EF37-C166-84F1-A3848EC6B262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B3EBCA9-6DFF-1DAA-03AF-4BA89218DFB9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EE9736-2A2E-2E6B-B3B0-B947F52A4D43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AE53F2-CDD1-1740-879D-ED483FA6C470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给出简单线性边界，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边界受密度估计影响。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A891C00-0B4A-7097-7D8B-DB12446B86EA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A0205DC-17D2-831D-359B-594E0E361C7B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8643E6-8C73-3EAD-1054-888C18C96689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622D16-59F9-A13A-B426-E2608DCBDE32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投影后男女样本主体分离，但边界区域仍有重叠。</a:t>
            </a:r>
          </a:p>
        </p:txBody>
      </p:sp>
    </p:spTree>
    <p:extLst>
      <p:ext uri="{BB962C8B-B14F-4D97-AF65-F5344CB8AC3E}">
        <p14:creationId xmlns:p14="http://schemas.microsoft.com/office/powerpoint/2010/main" val="2809152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6A1AFD3-1D26-0AFA-8A40-4082E898F7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39932E-C2AB-1114-B45F-629E5E30C58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158B5A4-E57B-DDFC-ACE7-224CCAB3E61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A2346B6-E40D-18F7-987F-8298C191894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671259-A278-E13A-5AA1-CB574122F5B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C0EB74-59F7-3F9E-A637-B9E4C764D00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实验二结果：错误率对比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FADD1FE-D67B-C8CE-9EEA-0A3F356750A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0F8729D-568B-160F-6BBC-0C36A4B8BEB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0334E5-B049-8F9A-EE78-B229EBAEB54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B5AC501-D89D-AFAA-2C83-27A4483E2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716362"/>
              </p:ext>
            </p:extLst>
          </p:nvPr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143735667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70684764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73050644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549659015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532449830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留一法错误率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5652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11131601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38328615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641574170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86C280B-058D-683E-0B4A-16AA92D87C2C}"/>
              </a:ext>
            </a:extLst>
          </p:cNvPr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866781-95E7-DA14-63CF-E8E008B29A3C}"/>
              </a:ext>
            </a:extLst>
          </p:cNvPr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295EC6-A144-59F8-03D2-3342EE8E4382}"/>
              </a:ext>
            </a:extLst>
          </p:cNvPr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184D71-B45F-DB8D-76AC-19C22961FE2F}"/>
              </a:ext>
            </a:extLst>
          </p:cNvPr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4F9CAE3-1AE5-938B-A4CF-33548CFD6B22}"/>
              </a:ext>
            </a:extLst>
          </p:cNvPr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CE2733-B732-6F33-5F97-07E76082D0E4}"/>
              </a:ext>
            </a:extLst>
          </p:cNvPr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A80D29-BC42-E045-2DE6-E0D85C878BC7}"/>
              </a:ext>
            </a:extLst>
          </p:cNvPr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50A9383-0515-A357-68EC-650E12124098}"/>
              </a:ext>
            </a:extLst>
          </p:cNvPr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BD2522E-A3AA-DC45-787E-E9A5EB39D1F2}"/>
              </a:ext>
            </a:extLst>
          </p:cNvPr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B02E00-8C86-29C1-D5D1-1337B04AEEE2}"/>
              </a:ext>
            </a:extLst>
          </p:cNvPr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11CE7D-4543-1CFD-BEB9-506AEAF5BD5A}"/>
              </a:ext>
            </a:extLst>
          </p:cNvPr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AB9D25-9DBC-DB77-6128-F438C2B44C58}"/>
              </a:ext>
            </a:extLst>
          </p:cNvPr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DA6A152-A8D4-AB2A-39C8-499A854F62E4}"/>
              </a:ext>
            </a:extLst>
          </p:cNvPr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4B28455-1EE2-E3BD-D9EF-8F3D9C3BFF86}"/>
              </a:ext>
            </a:extLst>
          </p:cNvPr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C1665E3-9399-80D3-A545-A02ECC9F1C08}"/>
              </a:ext>
            </a:extLst>
          </p:cNvPr>
          <p:cNvSpPr txBox="1"/>
          <p:nvPr/>
        </p:nvSpPr>
        <p:spPr>
          <a:xfrm>
            <a:off x="7239000" y="419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8418E3-911F-061A-DC65-92FCBB2DA5D2}"/>
              </a:ext>
            </a:extLst>
          </p:cNvPr>
          <p:cNvSpPr txBox="1"/>
          <p:nvPr/>
        </p:nvSpPr>
        <p:spPr>
          <a:xfrm>
            <a:off x="7239000" y="454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三种方法表现接近。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用更简单的线性边界取得与非参数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相当的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准确率。</a:t>
            </a:r>
          </a:p>
        </p:txBody>
      </p:sp>
    </p:spTree>
    <p:extLst>
      <p:ext uri="{BB962C8B-B14F-4D97-AF65-F5344CB8AC3E}">
        <p14:creationId xmlns:p14="http://schemas.microsoft.com/office/powerpoint/2010/main" val="1671030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3BB075E-E34B-4215-0D0B-A82291BE3D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39BC39-A4C9-DA1E-CFC0-9AE7C04D306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D8DB5EB-B294-B70B-3CF0-A91F6DC051B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BE2C9AB-9E3E-C6DE-2D91-92D85C248B9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D7B9C1-9586-B8E3-AAC3-25DD4BE84E6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946C35-6B44-BC79-5A42-60A1A2313B6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实验二分析：模型复杂度与泛化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EA43116-F724-6F0D-82A8-5978231AADE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FB7D6C7-BDC9-5929-3D44-68303F37DC7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176D28-7573-FB3A-5FF2-13304EEFEECC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5172044-8A7E-4DEF-398A-8AB6B4FBFAB2}"/>
              </a:ext>
            </a:extLst>
          </p:cNvPr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C2480-5106-7580-A698-DA6AC6E6B551}"/>
              </a:ext>
            </a:extLst>
          </p:cNvPr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BDCBC1-4A6A-5EAF-B590-F242C06C2912}"/>
              </a:ext>
            </a:extLst>
          </p:cNvPr>
          <p:cNvSpPr txBox="1"/>
          <p:nvPr/>
        </p:nvSpPr>
        <p:spPr>
          <a:xfrm>
            <a:off x="1079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1EC8D49-6989-8C28-AA26-A27B0C9523D3}"/>
              </a:ext>
            </a:extLst>
          </p:cNvPr>
          <p:cNvSpPr txBox="1"/>
          <p:nvPr/>
        </p:nvSpPr>
        <p:spPr>
          <a:xfrm>
            <a:off x="1079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形式清晰、样本效率高，但依赖正态分布假设。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91BF080-9B60-E73F-CFFA-D08B3688B9F2}"/>
              </a:ext>
            </a:extLst>
          </p:cNvPr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66E81E-C1FC-B0AF-8398-8AEE6E4B8467}"/>
              </a:ext>
            </a:extLst>
          </p:cNvPr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2BC848-3D08-997D-A7F5-7D2084A6C0E2}"/>
              </a:ext>
            </a:extLst>
          </p:cNvPr>
          <p:cNvSpPr txBox="1"/>
          <p:nvPr/>
        </p:nvSpPr>
        <p:spPr>
          <a:xfrm>
            <a:off x="4762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FC55BF-835C-5FF9-FB60-5FE4468C53A8}"/>
              </a:ext>
            </a:extLst>
          </p:cNvPr>
          <p:cNvSpPr txBox="1"/>
          <p:nvPr/>
        </p:nvSpPr>
        <p:spPr>
          <a:xfrm>
            <a:off x="4762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密度形式灵活，但窗口宽度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和样本规模影响明显。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3D05B15-C8D0-7DAE-8C56-86381FCC7173}"/>
              </a:ext>
            </a:extLst>
          </p:cNvPr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036109-B080-FBAC-84AD-C582EBC815BA}"/>
              </a:ext>
            </a:extLst>
          </p:cNvPr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0A74FC-0528-A1A0-276F-5792B3496805}"/>
              </a:ext>
            </a:extLst>
          </p:cNvPr>
          <p:cNvSpPr txBox="1"/>
          <p:nvPr/>
        </p:nvSpPr>
        <p:spPr>
          <a:xfrm>
            <a:off x="8445500" y="17145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5C0E8B4-ED45-DCD0-1BC7-5B73C0095592}"/>
              </a:ext>
            </a:extLst>
          </p:cNvPr>
          <p:cNvSpPr txBox="1"/>
          <p:nvPr/>
        </p:nvSpPr>
        <p:spPr>
          <a:xfrm>
            <a:off x="8445500" y="20701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不估计密度，直接寻找判别方向，解释性强。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42064C5-9F56-7945-D10F-35FE79E64895}"/>
              </a:ext>
            </a:extLst>
          </p:cNvPr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F627A33-02EF-D2B6-827A-DAE8B3125004}"/>
              </a:ext>
            </a:extLst>
          </p:cNvPr>
          <p:cNvSpPr txBox="1"/>
          <p:nvPr/>
        </p:nvSpPr>
        <p:spPr>
          <a:xfrm>
            <a:off x="1498600" y="43180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留一法结果与 </a:t>
            </a:r>
            <a:r>
              <a:rPr lang="en-US" altLang="zh-CN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错误率接近，说明它能在训练样本有限时给出较稳健的泛化误差估计。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2821620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9EA1A6-A315-4D4A-17BA-F067132DB4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346A1A4A-5175-5E43-9DFB-7F56E28753DA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6341B14-91CD-1F8B-D1A1-E31D7EEC17E8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8FA948-F1E4-76CE-39B0-D0426D0E6DD8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C7A122-A0F3-1E2C-F19D-9E420EA93AC6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变换进行特征提取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1B72AD-CE0A-8BA0-5D2F-A4D39888DE0E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从无监督主成分方向理解身高体重样本的主要变化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F413489-F130-B34E-B339-A99AC4E310E9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612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EED9D7-4F4A-0F8A-7419-0CB87316D5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1F651-0410-965C-B0A4-C9C25365448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6031328-B6E2-D1B2-F43F-F9660AB6A16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B8D532F-BD6A-2B1A-3A25-218D95B717A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F84216-EB7A-1EF5-3F41-F88AB957ACD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AB14AE-5011-DE62-2A34-D1F8C186E44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的差别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C0D3BEE-0465-4503-B49F-7883F9496E0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EF94ED3-5D68-4837-6977-48000BC355A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F631D0-1971-ED59-E33C-144BB2F83AEC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79E9D1C-E45E-D395-30AE-58D29C43F9F3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E696F5-7EE0-1E71-A37D-2770FC991D43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373599-8616-8DA2-9D0D-D275075CC9DC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/ PCA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598C7E-51A0-3D1E-B1E7-6FD7AFBF2FEB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对协方差矩阵做特征分解，保留总体方差最大的方向。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AF764CE-D243-9F26-B4AE-8A57D4A0C83D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64BAB6-0EE5-DC5D-8CFC-B1039D1A58ED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4F5A349-F252-49EF-25E7-A6399E53DB60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EF40B2-BCBF-D67E-A8EC-F7422447F981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利用类别标签，寻找最有利于分类的投影方向。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1C149EA-654B-457C-DB70-A482FD146931}"/>
              </a:ext>
            </a:extLst>
          </p:cNvPr>
          <p:cNvSpPr/>
          <p:nvPr/>
        </p:nvSpPr>
        <p:spPr>
          <a:xfrm>
            <a:off x="1270000" y="3276600"/>
            <a:ext cx="9652000" cy="990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5F0EF6B-28B1-3AE7-3F50-BEF8A356F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137" y="3348117"/>
            <a:ext cx="8007725" cy="84756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F126BC67-0EAF-6B6F-96B0-4E625C93BCDB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的目标是表示数据，不是直接优化分类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当最大方差方向与类别差异方向一致时，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也能得到较好分类效果</a:t>
            </a:r>
          </a:p>
        </p:txBody>
      </p:sp>
    </p:spTree>
    <p:extLst>
      <p:ext uri="{BB962C8B-B14F-4D97-AF65-F5344CB8AC3E}">
        <p14:creationId xmlns:p14="http://schemas.microsoft.com/office/powerpoint/2010/main" val="69155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39A66F-B1F8-AA2C-82EC-7C03116722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885F71-F1F1-788B-0D89-2EE35E39CDC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4426AB7-69D7-F241-BF48-BCF64DB856E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8FD1C53-192B-F446-07FC-3393B3ACB86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DD44AE-429E-81C3-5644-B30C8626517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PCA INTUITION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772611-9D9F-51B5-C206-98C2F8ED3B5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实验三理论展开：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变换怎样提取新特征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098CCB3-2978-4530-7C51-B6F9AC6C6E4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8D6BAB1-EACC-15D6-DFB3-521DCCCBEA5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AFD75E-3750-B256-B909-9B7726CD2AE0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C99D670-0E8E-F5F8-B9FE-CE9C51B9C9A2}"/>
              </a:ext>
            </a:extLst>
          </p:cNvPr>
          <p:cNvSpPr/>
          <p:nvPr/>
        </p:nvSpPr>
        <p:spPr>
          <a:xfrm>
            <a:off x="7366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2392F0-EA78-F6F4-437F-5F14F9C011C2}"/>
              </a:ext>
            </a:extLst>
          </p:cNvPr>
          <p:cNvSpPr/>
          <p:nvPr/>
        </p:nvSpPr>
        <p:spPr>
          <a:xfrm>
            <a:off x="736600" y="1371600"/>
            <a:ext cx="76200" cy="1295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61443A-7133-CB08-DFB3-A76754C5F77C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找数据中心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701024-E993-9BAD-B3BA-72527B59AAD4}"/>
              </a:ext>
            </a:extLst>
          </p:cNvPr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先计算所有样本的平均向量，把样本平移到以均值为中心，关注相对变化。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9B77E02-6782-B9C1-5B93-F5B036D3985A}"/>
              </a:ext>
            </a:extLst>
          </p:cNvPr>
          <p:cNvSpPr/>
          <p:nvPr/>
        </p:nvSpPr>
        <p:spPr>
          <a:xfrm>
            <a:off x="45085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70AE99-2361-DF0D-52D3-696E3250EA9F}"/>
              </a:ext>
            </a:extLst>
          </p:cNvPr>
          <p:cNvSpPr/>
          <p:nvPr/>
        </p:nvSpPr>
        <p:spPr>
          <a:xfrm>
            <a:off x="4508500" y="1371600"/>
            <a:ext cx="76200" cy="1295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35AB9D8-B5BE-896C-C42E-74FB4410475C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找变化方向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7F6F54-B164-5DDC-6A6E-418A779AD067}"/>
              </a:ext>
            </a:extLst>
          </p:cNvPr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协方差矩阵描述两个特征如何共同变化。特征向量给出新坐标轴，特征值表示该方向上变化有多大。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9B662FE-71BA-3D83-01FE-3EE1EFAE9A3D}"/>
              </a:ext>
            </a:extLst>
          </p:cNvPr>
          <p:cNvSpPr/>
          <p:nvPr/>
        </p:nvSpPr>
        <p:spPr>
          <a:xfrm>
            <a:off x="8280400" y="1371600"/>
            <a:ext cx="2921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031A5D-1FFF-F62A-1CA2-EE2AD2A69543}"/>
              </a:ext>
            </a:extLst>
          </p:cNvPr>
          <p:cNvSpPr/>
          <p:nvPr/>
        </p:nvSpPr>
        <p:spPr>
          <a:xfrm>
            <a:off x="8280400" y="1371600"/>
            <a:ext cx="76200" cy="1295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18EE01-D876-12E2-D3B7-0883087C09A7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投影降维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B9317F-7F60-D85D-FAF1-E78711A5A93C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把样本投影到最大特征值对应的方向，就得到保留主要变化的一维新特征。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34EDBD8-B700-AE04-0403-F55BB86AE67C}"/>
              </a:ext>
            </a:extLst>
          </p:cNvPr>
          <p:cNvSpPr/>
          <p:nvPr/>
        </p:nvSpPr>
        <p:spPr>
          <a:xfrm>
            <a:off x="1016000" y="3276600"/>
            <a:ext cx="10160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BB7F930-F648-9EE4-A177-2303BACDEB0F}"/>
              </a:ext>
            </a:extLst>
          </p:cNvPr>
          <p:cNvSpPr txBox="1"/>
          <p:nvPr/>
        </p:nvSpPr>
        <p:spPr>
          <a:xfrm>
            <a:off x="1422400" y="35814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通俗理解：</a:t>
            </a:r>
            <a:r>
              <a:rPr lang="en-US" altLang="zh-CN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像是在散点图上找一根尺子，让样本沿这根尺子的展开范围最大。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C58ACCC-636C-B824-9C3D-618D78108C70}"/>
              </a:ext>
            </a:extLst>
          </p:cNvPr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如果男女样本主要沿这根尺子分开，那么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第一主成分就能用于分类。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如果最大变化来自身高体重以外的因素，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可能保留了方差，却没有保留判别信息。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所以实验三要把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、类均值方向、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放在一起比较。</a:t>
            </a:r>
          </a:p>
        </p:txBody>
      </p:sp>
    </p:spTree>
    <p:extLst>
      <p:ext uri="{BB962C8B-B14F-4D97-AF65-F5344CB8AC3E}">
        <p14:creationId xmlns:p14="http://schemas.microsoft.com/office/powerpoint/2010/main" val="3587291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7FB72E-9B73-109D-8898-19BBE010AB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CBC189-0285-CDC8-FE50-0374247D4AB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22772D6-01A3-AEC5-AD9B-31C171CD31ED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FDFB673-C0B2-D025-4AD6-76E0AC148E2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07E4B3-F812-79DE-8670-B3278B29875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2D9E82-68FE-6A39-CC0D-5FA40F9CEC3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实验三设置：二维特征的主方向分析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9F31AAB-F14D-E891-930E-312DF00E83D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695E610-A99B-7EE0-337A-2F69FB08D6C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26BD4B-A414-C05D-1C86-516F1FFE561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12BF2190-3C1D-F08B-F679-4865D64B8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199903"/>
              </p:ext>
            </p:extLst>
          </p:nvPr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3674454383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947448068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73761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2696430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99895884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第一主成分解释率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87.52%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05539934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(0.6269, 0.7791)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600035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(0.6514, 0.7587)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949399728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FDCE03-A891-8841-35D4-84F395B199F5}"/>
              </a:ext>
            </a:extLst>
          </p:cNvPr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3AE3544-59EC-371B-4075-783FB0253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9CB99B4-DE60-B8A5-7C8C-94B39046747D}"/>
              </a:ext>
            </a:extLst>
          </p:cNvPr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E9FCC4-7FBE-6D6C-6BF7-544002AA4A86}"/>
              </a:ext>
            </a:extLst>
          </p:cNvPr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369D76-215E-24B4-6E38-FE84D041805B}"/>
              </a:ext>
            </a:extLst>
          </p:cNvPr>
          <p:cNvSpPr txBox="1"/>
          <p:nvPr/>
        </p:nvSpPr>
        <p:spPr>
          <a:xfrm>
            <a:off x="1206500" y="5054600"/>
            <a:ext cx="3695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设置说明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2479B6-BCD8-861C-B404-CBF22C8ABFCE}"/>
              </a:ext>
            </a:extLst>
          </p:cNvPr>
          <p:cNvSpPr txBox="1"/>
          <p:nvPr/>
        </p:nvSpPr>
        <p:spPr>
          <a:xfrm>
            <a:off x="1206500" y="5410200"/>
            <a:ext cx="3695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分别使用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第一主成分、类均值差方向、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进行分类比较。</a:t>
            </a:r>
          </a:p>
        </p:txBody>
      </p:sp>
    </p:spTree>
    <p:extLst>
      <p:ext uri="{BB962C8B-B14F-4D97-AF65-F5344CB8AC3E}">
        <p14:creationId xmlns:p14="http://schemas.microsoft.com/office/powerpoint/2010/main" val="2818381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8B12E8-D391-BB0B-51F2-C974789A73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DA33D9-B030-C341-F939-62248B7984F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306B660-211E-574F-02FE-43237368D17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8110B02-6F6A-2705-D42B-FA12EFE576C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9DD649-C81D-9176-4685-2EE9EDF0267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01DF7D-A69F-EDDC-F587-DA38C5DF0A53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实验三结果：投影分布与分类性能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0416F5C-4473-018B-AC85-08078FE2C50C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617EE45-256D-6333-650D-0793690A1AA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CEA64C-D870-2ED8-DD4C-DBDE236D108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0E34156-7ABD-610B-A74F-439ECF564010}"/>
              </a:ext>
            </a:extLst>
          </p:cNvPr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702FCE4-E492-F3A6-E15C-FABDD092B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8BA9DE7-8103-8F35-6056-6267C4924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916770"/>
              </p:ext>
            </p:extLst>
          </p:nvPr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9539799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62738243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35604583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732349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2011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5070065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575489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84220982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34092296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C72EE2B6-4D1E-FA05-8E10-86C8771A04D1}"/>
              </a:ext>
            </a:extLst>
          </p:cNvPr>
          <p:cNvSpPr txBox="1"/>
          <p:nvPr/>
        </p:nvSpPr>
        <p:spPr>
          <a:xfrm>
            <a:off x="6667500" y="4318000"/>
            <a:ext cx="457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第一主成分已经能较好区分男女样本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上略优，体现监督判别方向的优势</a:t>
            </a:r>
          </a:p>
        </p:txBody>
      </p:sp>
    </p:spTree>
    <p:extLst>
      <p:ext uri="{BB962C8B-B14F-4D97-AF65-F5344CB8AC3E}">
        <p14:creationId xmlns:p14="http://schemas.microsoft.com/office/powerpoint/2010/main" val="1455393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E499198-2E3A-FCAB-78C1-94164F4019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873F44-058F-A099-68A3-61826EAE4FB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4EF292E-FB1A-22F3-F79B-096BEB82943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161B9C8-A95D-8574-1F06-AF7CC4279E6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5B7D68-5753-EA95-5656-3BB1033B1D3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8DA9B2-6369-1548-245A-217DC37227D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实验三分析：最大方差不等于最佳分类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E5D67A7-D16D-DE97-25FB-C16B323B150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2B5C634-39BF-DF11-6AD7-5923F573FAE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3B83DA-D56B-DD89-DB6D-A9F4482E96E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DE02DF0-CB88-E874-625C-A227590D191A}"/>
              </a:ext>
            </a:extLst>
          </p:cNvPr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AB1457-81E3-3D4B-3803-94F138FFA7E4}"/>
              </a:ext>
            </a:extLst>
          </p:cNvPr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3A6317-C201-281E-7B40-01E47F2CC163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有效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9B8A4A-5EE5-FE7F-9B6C-93726A83EEFE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本数据中身高和体重的主要变化方向与性别差异方向接近。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4A5AD69-AB0D-4D7D-D974-4A61BB9F373C}"/>
              </a:ext>
            </a:extLst>
          </p:cNvPr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2219E8-BF34-1F57-D3CD-8E2C8FD1F6C3}"/>
              </a:ext>
            </a:extLst>
          </p:cNvPr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7772FB-D0C9-58A6-2077-11CBA0E08429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略优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7161AB-C3C2-19D3-56A4-C7DA9D0DC686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直接利用类别标签，目标就是提高类别分离度。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01A45F8-3B16-A52C-6707-5D39EE6CFFE3}"/>
              </a:ext>
            </a:extLst>
          </p:cNvPr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3F9ED5-8527-9AEE-51E2-DEF371D28137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8838FD-1A29-6E39-B6ED-ACFB60E8DC19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一般规律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C83603-2F16-43A9-D9BA-DB2D14DF2B11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无监督降维需要和监督分类器共同评价。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14C0D6F-CF7F-A6C0-913E-95C494E575C3}"/>
              </a:ext>
            </a:extLst>
          </p:cNvPr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AFF6293-A377-7113-B9D7-017F7F383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93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172D61-ED97-28B7-8F27-8D17FB8332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7302E3C-C22B-1867-2B4C-FAA165B4EFC8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0DC3688-B8F2-6CD9-52E4-EF27E56BACD8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1FDF88-26B9-C71D-27D6-C7D429591CD1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E5DC47-398A-F6CD-A25B-1F0AF7A2BC9B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变换的图像识别应用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1ABE49-CC6C-15D5-61CF-A0EB4AF3645C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从二维样本扩展到高维飞机图像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0195EE7-912C-F116-4779-B15F65D7E814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698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E9C49A2-3986-CB2B-97C3-13A2104CCD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8C4475-6CB3-42F8-D0BE-9C22F76B375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9510541-164B-4A4D-1CB8-76268981FBD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3E4AEE7-7E94-61DA-7294-350345B02D4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15DE90-023B-44A0-67AC-CBBA8EE8E5C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0C9169-AD56-CBA6-0D69-F44C3FF424E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实验四理论：高维图像的低维表示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0F0B7C5-8AB2-CE44-6133-E8C6A4D0B90C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2499D47-A570-032F-32AF-BE2FFFDE8E6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3A420F-1E3D-F300-0531-9F9CF2D06B8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63879AC-CE2E-B9B3-BCFC-D0B5C3A1729E}"/>
              </a:ext>
            </a:extLst>
          </p:cNvPr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85F398-8CB6-28A5-5446-84BCD92A2D4B}"/>
              </a:ext>
            </a:extLst>
          </p:cNvPr>
          <p:cNvSpPr txBox="1"/>
          <p:nvPr/>
        </p:nvSpPr>
        <p:spPr>
          <a:xfrm>
            <a:off x="10287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AFCECE-2B8C-15D1-8AAC-667C2521DB13}"/>
              </a:ext>
            </a:extLst>
          </p:cNvPr>
          <p:cNvSpPr txBox="1"/>
          <p:nvPr/>
        </p:nvSpPr>
        <p:spPr>
          <a:xfrm>
            <a:off x="15494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图像预处理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A0487A2-1190-8C12-8539-0730F8D8EAEE}"/>
              </a:ext>
            </a:extLst>
          </p:cNvPr>
          <p:cNvSpPr txBox="1"/>
          <p:nvPr/>
        </p:nvSpPr>
        <p:spPr>
          <a:xfrm>
            <a:off x="15494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灰度化、缩放到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4EAC59D-FE12-9877-87FD-5E37F6886B47}"/>
              </a:ext>
            </a:extLst>
          </p:cNvPr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203DE5-399B-A1D0-F5CC-A5129142EB4D}"/>
              </a:ext>
            </a:extLst>
          </p:cNvPr>
          <p:cNvSpPr txBox="1"/>
          <p:nvPr/>
        </p:nvSpPr>
        <p:spPr>
          <a:xfrm>
            <a:off x="10287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E12D6A1-B987-CBFC-4796-21AA999D8C94}"/>
              </a:ext>
            </a:extLst>
          </p:cNvPr>
          <p:cNvSpPr txBox="1"/>
          <p:nvPr/>
        </p:nvSpPr>
        <p:spPr>
          <a:xfrm>
            <a:off x="15494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向量化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F6B40A-9492-DDCD-B783-998EF211853B}"/>
              </a:ext>
            </a:extLst>
          </p:cNvPr>
          <p:cNvSpPr txBox="1"/>
          <p:nvPr/>
        </p:nvSpPr>
        <p:spPr>
          <a:xfrm>
            <a:off x="15494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每张图像展开为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维向量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044AC5A-F925-4C49-7B5B-B29D6FAAE2F9}"/>
              </a:ext>
            </a:extLst>
          </p:cNvPr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13E56E-2326-930F-CFF9-8F6BA1397D5C}"/>
              </a:ext>
            </a:extLst>
          </p:cNvPr>
          <p:cNvSpPr txBox="1"/>
          <p:nvPr/>
        </p:nvSpPr>
        <p:spPr>
          <a:xfrm>
            <a:off x="10287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1B4ADF-FD0E-2B58-E7AD-A26ADB83748B}"/>
              </a:ext>
            </a:extLst>
          </p:cNvPr>
          <p:cNvSpPr txBox="1"/>
          <p:nvPr/>
        </p:nvSpPr>
        <p:spPr>
          <a:xfrm>
            <a:off x="15494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29006D-6AC2-F403-C99E-8EC480244F71}"/>
              </a:ext>
            </a:extLst>
          </p:cNvPr>
          <p:cNvSpPr txBox="1"/>
          <p:nvPr/>
        </p:nvSpPr>
        <p:spPr>
          <a:xfrm>
            <a:off x="15494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提取前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个主成分作为图像特征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1CD4793-66ED-493F-00DD-A559B0D0F84D}"/>
              </a:ext>
            </a:extLst>
          </p:cNvPr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53095B-4FDD-E996-2540-7BB81A625811}"/>
              </a:ext>
            </a:extLst>
          </p:cNvPr>
          <p:cNvSpPr txBox="1"/>
          <p:nvPr/>
        </p:nvSpPr>
        <p:spPr>
          <a:xfrm>
            <a:off x="10287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A6EA236-D89D-E501-4040-1D2ABDAF998A}"/>
              </a:ext>
            </a:extLst>
          </p:cNvPr>
          <p:cNvSpPr txBox="1"/>
          <p:nvPr/>
        </p:nvSpPr>
        <p:spPr>
          <a:xfrm>
            <a:off x="15494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低维分类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8336BFD-77A0-0FFC-99F7-3A14DD16E4CC}"/>
              </a:ext>
            </a:extLst>
          </p:cNvPr>
          <p:cNvSpPr txBox="1"/>
          <p:nvPr/>
        </p:nvSpPr>
        <p:spPr>
          <a:xfrm>
            <a:off x="15494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NearestCentroid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06ABCEE-60C7-062D-DF61-6B8BA2EB2BF2}"/>
              </a:ext>
            </a:extLst>
          </p:cNvPr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9E55619-1787-DB62-AA79-6107E12D5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621" y="1794851"/>
            <a:ext cx="2394259" cy="525099"/>
          </a:xfrm>
          <a:prstGeom prst="rect">
            <a:avLst/>
          </a:prstGeom>
        </p:spPr>
      </p:pic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56A7459A-DDD0-4122-7A0F-9949AADEC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399342"/>
              </p:ext>
            </p:extLst>
          </p:nvPr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159361426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1273934796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91343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77380884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80027765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0105534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 / 16 / 32 / 64 / 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96478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57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DE92352-25C4-8E81-E58C-E2DD2137AA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84B580-B6DA-8125-4A65-C3B2D42BEDB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9650449-17E2-07E9-B65D-98FA62B4D15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2F9C73A-6F52-5AAF-79C0-2DA153D58C3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B95FC3-7AD2-7A9D-3FED-B4D7B6B3541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HIGH-DIMENSIONAL FEATURES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2968EF-3BC4-A2E4-5251-24EA2AAEE62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实验四理论展开：为什么图像识别需要降维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4C43524-51DE-382F-C8B7-16A3E0A4F50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CA7ED30-A7FE-E9D9-212E-46C35C45EE6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90227A-3358-04A8-7937-BF9DB355BC7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85F588D-1D95-D47E-F9E5-773A892D0BD3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805CF6-F387-A579-FDAD-2B5B6F695968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D6D026-7CDF-3EEF-647E-1D83B12E7854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维数高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27A457-E167-F6E1-3A4D-637530374E95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灰度图展开后就是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维。维数越高，距离计算越容易受噪声和无关背景影响。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4DF8434-4334-A355-0EEB-286E22B7F615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E6FEA6-68AA-3132-1124-7EF9FACF5649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0199DA3-E572-6F1B-EA3A-B3DDF218EFAB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样本有限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1CA1290-FCC5-5A30-E448-107555B0E033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虽然有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2530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张训练图，但相对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维特征仍不算充分，直接分类容易过拟合。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81CED75-8BC6-F93B-7D9F-CC48090E91B5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C3F17B-58F3-64B6-63F6-18E19E137043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C264C2-A6B3-F0E7-A5FF-7C2ADCA83EA9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ABAD87C-2E9A-1558-DC4B-2F018F490878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用较少主成分表示图像，把共同轮廓、明暗结构等主要变化保留下来。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D1D767C-23C7-56F8-C9EE-656F2EE7F5EC}"/>
              </a:ext>
            </a:extLst>
          </p:cNvPr>
          <p:cNvSpPr/>
          <p:nvPr/>
        </p:nvSpPr>
        <p:spPr>
          <a:xfrm>
            <a:off x="1092200" y="3429000"/>
            <a:ext cx="10033000" cy="965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4F7D2C-8517-31D1-CD65-65054648873C}"/>
              </a:ext>
            </a:extLst>
          </p:cNvPr>
          <p:cNvSpPr txBox="1"/>
          <p:nvPr/>
        </p:nvSpPr>
        <p:spPr>
          <a:xfrm>
            <a:off x="1422400" y="37592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从二维身高体重到 </a:t>
            </a:r>
            <a:r>
              <a:rPr lang="en-US" altLang="zh-CN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维图像，本质仍是寻找更适合分类的特征表示。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E2652B-26D3-BE87-C9BF-935F0A3165B1}"/>
              </a:ext>
            </a:extLst>
          </p:cNvPr>
          <p:cNvSpPr txBox="1"/>
          <p:nvPr/>
        </p:nvSpPr>
        <p:spPr>
          <a:xfrm>
            <a:off x="11430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主成分可以看作一组基础图像模式，原图像由这些模式加权组合得到。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保留太少主成分会丢失类别细节；保留太多主成分又可能引入背景和噪声。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因此实验四考察不同主成分数下的识别准确率。</a:t>
            </a:r>
          </a:p>
        </p:txBody>
      </p:sp>
    </p:spTree>
    <p:extLst>
      <p:ext uri="{BB962C8B-B14F-4D97-AF65-F5344CB8AC3E}">
        <p14:creationId xmlns:p14="http://schemas.microsoft.com/office/powerpoint/2010/main" val="766507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A78A70-8B63-18D2-B891-A1AC882ED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A9FDD2-503B-556D-887F-88F7A711638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A85F27E-7E26-4268-50BE-CC0ECFD3179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8D2732D-E0CA-D9D8-EDB5-D69B0D5BDE1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3A1D8F-485D-0564-D4F8-BC6297FD232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BCF8CE-3A3D-C8B1-2528-C354428CF65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实验四结果：样本图像与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主成分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3B815F0-1EF6-AE81-6C35-27524E5CE17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8199033-83F5-1DB9-3E79-B95C3B7B6A2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581C64-B659-E9D6-D3CC-56B71CEC79FC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F046C66-4B71-96B8-CFE8-81F47FA55399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E0911FC-9E0F-B7D0-AFB5-479E50A14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B908143-3F97-68C9-88D3-B30422691C5E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EB94436-3B56-E336-3CB5-137753961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AECCFD-E473-48A6-1A1F-03831B6C32EF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7B6517C-E88B-255A-CD50-B102DC6B318D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1024→64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3902E81-CAC8-C37A-5FFC-665A6CCEC2D6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维度压缩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4AA5AA1-E9D4-7463-568E-4F3DD2AA41C8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18F006-F3C9-F95A-95EC-71392ED31953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89.88%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B24A66-725E-1A86-D968-6EB2D8D74C59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64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维解释方差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C3D97F0-A95B-67CA-0DCE-4CEAF81F9590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56B7F4-8C8F-0C82-FE4C-F6BFB816D0E8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78DE9-A090-115F-1520-28B1DC33E891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飞机类别数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8681640-E782-E741-D4ED-009036B4FE86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C48199-6817-CAF5-0E83-C74079D64A80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636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CF4C4D9-3F8A-2D45-92B4-8D59A120910E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测试图像数</a:t>
            </a:r>
          </a:p>
        </p:txBody>
      </p:sp>
    </p:spTree>
    <p:extLst>
      <p:ext uri="{BB962C8B-B14F-4D97-AF65-F5344CB8AC3E}">
        <p14:creationId xmlns:p14="http://schemas.microsoft.com/office/powerpoint/2010/main" val="3933476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A08680-0B4D-A5EB-41CA-4E318CA9BF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B6C669-C507-0FD2-DD21-31BF1E54CCD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DF53DA0-48D6-608A-A55B-D78BAA2C141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B446716-7989-5857-E122-33069608AD7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252DBE-E113-E9AA-32DD-D9F54435268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863223-983E-45EA-ADFC-38FFE5F7EEE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实验四结果：主成分数与识别准确率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A1F0AB6-4E6B-7FAD-B29A-DC5B5FEF633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55339E3-A970-90DB-8319-6CBD3335F1E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96AD80-BDA6-4615-0F76-D869AEA4799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DF1B97-A3B0-449B-8548-476CB20983C4}"/>
              </a:ext>
            </a:extLst>
          </p:cNvPr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CC3D2CE-F3EC-DAA7-C44A-296F22371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3509C12-A2D6-AF35-A492-9A2823C15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155506"/>
              </p:ext>
            </p:extLst>
          </p:nvPr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3311234477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09686986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4292603413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316251837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主成分数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60509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质心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20.47%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19.97%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88513451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54.09%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58530816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53.93%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75627005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52.99%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04923411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9590AAD3-2188-06C0-7213-6734A8407F73}"/>
              </a:ext>
            </a:extLst>
          </p:cNvPr>
          <p:cNvSpPr txBox="1"/>
          <p:nvPr/>
        </p:nvSpPr>
        <p:spPr>
          <a:xfrm>
            <a:off x="6794500" y="4318000"/>
            <a:ext cx="4318000" cy="9156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明显优于最近质心，说明飞机类别内部变化复杂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主成分数增加到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后收益变小，后续成分可能包含背景和噪声</a:t>
            </a:r>
          </a:p>
        </p:txBody>
      </p:sp>
    </p:spTree>
    <p:extLst>
      <p:ext uri="{BB962C8B-B14F-4D97-AF65-F5344CB8AC3E}">
        <p14:creationId xmlns:p14="http://schemas.microsoft.com/office/powerpoint/2010/main" val="3949502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BAA0DA-1C59-C1A0-5D9E-B17030AA1F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FCD27E-5173-BCF7-EBDA-FEC906DED61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B337B1C-DDFC-6E28-8687-161D8998119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2EFC5A84-F727-C5B9-B125-99E502CBB420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72C24E-9AC5-3CED-8D2D-17199E8CC72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A6CAA-59E4-5C87-905B-4FB8C7FC1E5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实验四分析：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能压缩，但不是完整识别方案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ABC1BCE-4B65-4D70-63E5-4520B3D5417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11CDFD8-A573-A544-180E-2D9B7B3CC12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DA5A38-9DE9-4219-67D7-BA0336F7509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5148F33-0FF0-3E77-D32A-C9BEAD77E926}"/>
              </a:ext>
            </a:extLst>
          </p:cNvPr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BCDA4A7-67C2-7FD3-FB8E-2774458FC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E82042-B366-458D-7101-E1E81CAF0F3C}"/>
              </a:ext>
            </a:extLst>
          </p:cNvPr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D421CE-FACE-EDE7-EB26-F8FC8836D567}"/>
              </a:ext>
            </a:extLst>
          </p:cNvPr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3A27E0-F082-952C-DDF9-6924BACE1330}"/>
              </a:ext>
            </a:extLst>
          </p:cNvPr>
          <p:cNvSpPr txBox="1"/>
          <p:nvPr/>
        </p:nvSpPr>
        <p:spPr>
          <a:xfrm>
            <a:off x="7239000" y="165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混淆原因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1B8393-ABAD-F40A-35C2-9D4920DC17F1}"/>
              </a:ext>
            </a:extLst>
          </p:cNvPr>
          <p:cNvSpPr txBox="1"/>
          <p:nvPr/>
        </p:nvSpPr>
        <p:spPr>
          <a:xfrm>
            <a:off x="7239000" y="200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低分辨率灰度图中，部分飞机外形相近，姿态和背景也会干扰。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352D65-1643-F194-DEB6-2472999BA6A0}"/>
              </a:ext>
            </a:extLst>
          </p:cNvPr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2510F6-4828-8226-C9B2-E379DF7D66E3}"/>
              </a:ext>
            </a:extLst>
          </p:cNvPr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C0AC1D-B705-AD9C-4FEE-96D3626EC320}"/>
              </a:ext>
            </a:extLst>
          </p:cNvPr>
          <p:cNvSpPr txBox="1"/>
          <p:nvPr/>
        </p:nvSpPr>
        <p:spPr>
          <a:xfrm>
            <a:off x="7239000" y="31115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方法局限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DF8069-8BFA-E2CC-900D-13B6E63E992D}"/>
              </a:ext>
            </a:extLst>
          </p:cNvPr>
          <p:cNvSpPr txBox="1"/>
          <p:nvPr/>
        </p:nvSpPr>
        <p:spPr>
          <a:xfrm>
            <a:off x="7239000" y="34671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是无监督降维，优先保留总体方差，不保证保留最强判别信息。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2B0D5E6-2F36-59AA-2E63-922849F5FB5A}"/>
              </a:ext>
            </a:extLst>
          </p:cNvPr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AE5EF5-DCD5-7316-A4DF-5981CF1FB9CC}"/>
              </a:ext>
            </a:extLst>
          </p:cNvPr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DA04475-78E4-5601-B366-0E8D46D3D479}"/>
              </a:ext>
            </a:extLst>
          </p:cNvPr>
          <p:cNvSpPr txBox="1"/>
          <p:nvPr/>
        </p:nvSpPr>
        <p:spPr>
          <a:xfrm>
            <a:off x="7239000" y="4572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改进方向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FE57D6-6971-80AE-0217-CBFB31B14251}"/>
              </a:ext>
            </a:extLst>
          </p:cNvPr>
          <p:cNvSpPr txBox="1"/>
          <p:nvPr/>
        </p:nvSpPr>
        <p:spPr>
          <a:xfrm>
            <a:off x="7239000" y="4927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可结合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HOG/SIFT/ORB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、数据增强或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提升识别性能。</a:t>
            </a:r>
          </a:p>
        </p:txBody>
      </p:sp>
    </p:spTree>
    <p:extLst>
      <p:ext uri="{BB962C8B-B14F-4D97-AF65-F5344CB8AC3E}">
        <p14:creationId xmlns:p14="http://schemas.microsoft.com/office/powerpoint/2010/main" val="2866601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AB68E6-453A-DB1C-2D4D-A293258959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33C77C22-6336-602B-3F98-1E830FD5EF8A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497EBD8-E608-E7A5-AF42-9711CE888BAA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551FE4-156F-9EC5-00A4-EAA27F431C8C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86AE90-FBF0-CAD6-3027-9138F59607B1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均值与分级聚类分析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777E08-B5B7-8884-354F-FE39590F96C4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不使用类别标签，观察身高体重样本的自然结构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D108563-0F7A-C6CC-5071-005BDCA88E22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706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E4076B-7E09-2477-0837-52291EDD36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5478F8-07AF-390D-5EF0-3778FB37904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BFFB7DA-3C75-5C09-1CA5-BA7D5EDB3B9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B26B37C-CB40-1FAD-B752-93CEFB86656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BFE498-9A4A-FCC7-395D-526DE32F93B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9E6A6C-12C9-CB4A-F281-67315BA8E11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实验五理论：从监督分类到无监督聚类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C5A4902-01AE-40C7-30B5-17C9C97FB5A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459736A-D9B2-5D30-D07D-2DF8D8F99BC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46AF74-EFC2-BFC1-5298-035CDABBFF0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F3E9FA-2A4B-6C27-AD6A-D8104DDECC3F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2C0B28-9E67-D6D3-DAFF-E04F8AE80AE5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2176A-6267-6785-F71C-B547B31B9FA6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均值聚类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E32CCF-282F-01B4-7053-E9D23611C41A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独立编程实现，通过样本分配和中心更新最小化类内平方误差。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57A1FD2-06DE-B089-89E0-6E66D6AB0C3B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FFFD68-1A7E-20EF-F6EC-35F477A29ECC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47E64A9-FF01-1963-BE96-21C7E9C2773B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A7096AD-36FA-4873-7599-8C7629041FB2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方法形成层次结构，用树状图观察样本合并过程。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672451-BF2A-CB3B-84AE-ED18CCBEA9DD}"/>
              </a:ext>
            </a:extLst>
          </p:cNvPr>
          <p:cNvSpPr/>
          <p:nvPr/>
        </p:nvSpPr>
        <p:spPr>
          <a:xfrm>
            <a:off x="1270000" y="3276600"/>
            <a:ext cx="9652000" cy="990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B4AFB26-991D-C887-1557-8EB157DC8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645" y="3510272"/>
            <a:ext cx="1988710" cy="52325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569289B-A7AA-41FA-A654-A7CEA41000B3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聚类不使用性别标签，评价时再与真实标签比较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特征标准化很重要，否则体重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身高尺度会影响距离计算</a:t>
            </a:r>
          </a:p>
        </p:txBody>
      </p:sp>
    </p:spTree>
    <p:extLst>
      <p:ext uri="{BB962C8B-B14F-4D97-AF65-F5344CB8AC3E}">
        <p14:creationId xmlns:p14="http://schemas.microsoft.com/office/powerpoint/2010/main" val="4016932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BEEB6EA-942D-3DB8-56EA-B74B019EF3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1D8E7F-37B5-21E2-ED4E-DEC6ECC10F3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CA652BF-B157-9ADC-CB1F-4799CBBE927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F58B4C2-FE3D-F8FD-5974-63658572AC0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D48536-1A70-BB05-0A57-8E309228185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UNSUPERVISED LEARNING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13CCF6-9EF8-35CD-8353-7B7D86D0544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实验五理论展开：聚类如何判断样本自然结构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35B5CA6-250D-0119-A4FC-4B5DDC19678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9F1453B-309C-D775-DF83-6F72E5751E9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F15560-94BF-CF5E-F26E-E0BA24F1E23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DAB577-D3F6-BBDE-646F-3854EA0E97F7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39F873-74E7-B3AB-6613-9D8D47A6C229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7F53D9-A5D4-AE85-D092-DEBEBAC7CE21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没有标签参与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5F6ABB-ABB3-F209-A49C-7E98A7704C24}"/>
              </a:ext>
            </a:extLst>
          </p:cNvPr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聚类阶段不知道样本是男生还是女生，只根据身高体重距离把相似样本放到一起。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CE0C11F-001F-4D63-9F75-C95D83707834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B36733-CF6E-8841-816B-6740E2A2CCC4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09C3E4D-053C-EAB4-1752-A390E6EB76A9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均值思想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E1F9EB-17A9-9ABF-A153-166822C93D29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反复执行两步：先按最近中心分组，再用每组均值更新中心，直到中心基本不变。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484564A-652E-7097-1043-40E0A14350E7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281C0B-EF3C-7038-0D3E-0C73F3028161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F1C5E0-2FF9-F6BA-A5BE-3AE7F8C7F047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分级聚类思想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2B3C79-7B84-D2AA-20C3-1CA491715993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从单个样本或小簇开始逐步合并，形成树状结构，可以观察样本相似性的层次。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4A2A8A8-EB03-9A77-475F-DB9126490FB7}"/>
              </a:ext>
            </a:extLst>
          </p:cNvPr>
          <p:cNvSpPr/>
          <p:nvPr/>
        </p:nvSpPr>
        <p:spPr>
          <a:xfrm>
            <a:off x="965200" y="3429000"/>
            <a:ext cx="48260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D10F006-B5AC-1118-0C5F-91F1BAC2F5C6}"/>
              </a:ext>
            </a:extLst>
          </p:cNvPr>
          <p:cNvSpPr txBox="1"/>
          <p:nvPr/>
        </p:nvSpPr>
        <p:spPr>
          <a:xfrm>
            <a:off x="1270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：簇内越紧凑，数值越小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B3E101-DA01-9D7A-94DD-45FD2F4D1F8E}"/>
              </a:ext>
            </a:extLst>
          </p:cNvPr>
          <p:cNvSpPr txBox="1"/>
          <p:nvPr/>
        </p:nvSpPr>
        <p:spPr>
          <a:xfrm>
            <a:off x="1270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但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越大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通常越小，所以不能只看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，还要结合轮廓系数。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B14C0D1-6E69-5D3C-7B65-EA3BFDBB3A93}"/>
              </a:ext>
            </a:extLst>
          </p:cNvPr>
          <p:cNvSpPr/>
          <p:nvPr/>
        </p:nvSpPr>
        <p:spPr>
          <a:xfrm>
            <a:off x="6426200" y="3429000"/>
            <a:ext cx="48260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29BE9D0-3BC5-4E43-F8B4-7A23447DFC93}"/>
              </a:ext>
            </a:extLst>
          </p:cNvPr>
          <p:cNvSpPr txBox="1"/>
          <p:nvPr/>
        </p:nvSpPr>
        <p:spPr>
          <a:xfrm>
            <a:off x="6731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轮廓系数：簇内近、簇间远更好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7FE4528-632F-E563-D34D-0C9BB717AE4F}"/>
              </a:ext>
            </a:extLst>
          </p:cNvPr>
          <p:cNvSpPr txBox="1"/>
          <p:nvPr/>
        </p:nvSpPr>
        <p:spPr>
          <a:xfrm>
            <a:off x="6731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和匹配率用于把聚类结果与真实性别标签作事后比较，评价自然结构是否对应类别。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F08F617-BB8B-AC12-4CC3-2179B45B5314}"/>
              </a:ext>
            </a:extLst>
          </p:cNvPr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本实验重点不是训练分类器，而是观察数据本身是否天然形成两团。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的轮廓系数较高且匹配率较好，说明性别差异确实反映在身高体重结构中。</a:t>
            </a:r>
          </a:p>
        </p:txBody>
      </p:sp>
    </p:spTree>
    <p:extLst>
      <p:ext uri="{BB962C8B-B14F-4D97-AF65-F5344CB8AC3E}">
        <p14:creationId xmlns:p14="http://schemas.microsoft.com/office/powerpoint/2010/main" val="2124778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39C29EB-E8A4-7D87-C3EC-D107302E3E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B2C7DC-9D0F-51C9-8E23-84B546094DE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74351AA-A76C-23BB-9A8B-92DA3503180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296CC1F-41A7-78BC-361F-61B417607AE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924D0C-6246-81E6-27B8-7140646862C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BCA4C9-BC62-175B-3C4F-A2627BD204C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实验五设置：两组数据与多种聚类数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9CA2C70-65DE-CCDB-C74E-0CFA70BBF3A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A1E15AB-A8FF-7F0F-E4DC-08617D61F95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C810CA-273A-84C2-7860-DA387BA4E5EC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8DF0CF4-7A20-8C42-B0CE-49F15E0D8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350472"/>
              </p:ext>
            </p:extLst>
          </p:nvPr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10176516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52005657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55512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数据一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006936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数据二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test2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7333600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身高、体重，先标准化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4134379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68253592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初始值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多个随机种子比较稳定性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30939772"/>
                  </a:ext>
                </a:extLst>
              </a:tr>
            </a:tbl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95E94679-C1B1-9046-400F-3E04C19F895E}"/>
              </a:ext>
            </a:extLst>
          </p:cNvPr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CEBEC7-3D3A-609B-6442-45F695C08D73}"/>
              </a:ext>
            </a:extLst>
          </p:cNvPr>
          <p:cNvSpPr txBox="1"/>
          <p:nvPr/>
        </p:nvSpPr>
        <p:spPr>
          <a:xfrm>
            <a:off x="69342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85AB07-32A7-1362-3775-95E623AA1804}"/>
              </a:ext>
            </a:extLst>
          </p:cNvPr>
          <p:cNvSpPr txBox="1"/>
          <p:nvPr/>
        </p:nvSpPr>
        <p:spPr>
          <a:xfrm>
            <a:off x="74549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初始化中心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9DC9B1-9F42-9428-7629-76EB603CDAC3}"/>
              </a:ext>
            </a:extLst>
          </p:cNvPr>
          <p:cNvSpPr txBox="1"/>
          <p:nvPr/>
        </p:nvSpPr>
        <p:spPr>
          <a:xfrm>
            <a:off x="74549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随机选择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个中心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36140F9-EC9E-98F8-08CB-2DFD38EAD943}"/>
              </a:ext>
            </a:extLst>
          </p:cNvPr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BB08B7-341C-85CD-46CF-048C0AED71D3}"/>
              </a:ext>
            </a:extLst>
          </p:cNvPr>
          <p:cNvSpPr txBox="1"/>
          <p:nvPr/>
        </p:nvSpPr>
        <p:spPr>
          <a:xfrm>
            <a:off x="69342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37E414-D958-DB68-22BA-6C8D34BBC33F}"/>
              </a:ext>
            </a:extLst>
          </p:cNvPr>
          <p:cNvSpPr txBox="1"/>
          <p:nvPr/>
        </p:nvSpPr>
        <p:spPr>
          <a:xfrm>
            <a:off x="74549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样本分配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AF96EE-E624-E8AC-3CA5-6ACD6698B725}"/>
              </a:ext>
            </a:extLst>
          </p:cNvPr>
          <p:cNvSpPr txBox="1"/>
          <p:nvPr/>
        </p:nvSpPr>
        <p:spPr>
          <a:xfrm>
            <a:off x="74549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分配到最近中心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FA35B2B-AFD0-1319-077C-565A766CCAB3}"/>
              </a:ext>
            </a:extLst>
          </p:cNvPr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B9C14C-6713-C734-F46E-5D62F355A996}"/>
              </a:ext>
            </a:extLst>
          </p:cNvPr>
          <p:cNvSpPr txBox="1"/>
          <p:nvPr/>
        </p:nvSpPr>
        <p:spPr>
          <a:xfrm>
            <a:off x="69342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EE4627-9B8C-B143-36DB-AE5ECC5EEE61}"/>
              </a:ext>
            </a:extLst>
          </p:cNvPr>
          <p:cNvSpPr txBox="1"/>
          <p:nvPr/>
        </p:nvSpPr>
        <p:spPr>
          <a:xfrm>
            <a:off x="74549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中心更新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A20CFE-C889-8151-83C9-97737EA0761E}"/>
              </a:ext>
            </a:extLst>
          </p:cNvPr>
          <p:cNvSpPr txBox="1"/>
          <p:nvPr/>
        </p:nvSpPr>
        <p:spPr>
          <a:xfrm>
            <a:off x="74549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计算各簇均值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3C52CDD-7F03-105C-4214-19AAF20D7EC9}"/>
              </a:ext>
            </a:extLst>
          </p:cNvPr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19726A1-6BC2-9BA6-B7D7-6375170A731E}"/>
              </a:ext>
            </a:extLst>
          </p:cNvPr>
          <p:cNvSpPr txBox="1"/>
          <p:nvPr/>
        </p:nvSpPr>
        <p:spPr>
          <a:xfrm>
            <a:off x="69342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22BBBC2-3E01-8328-4706-5CF5688ABEFF}"/>
              </a:ext>
            </a:extLst>
          </p:cNvPr>
          <p:cNvSpPr txBox="1"/>
          <p:nvPr/>
        </p:nvSpPr>
        <p:spPr>
          <a:xfrm>
            <a:off x="74549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指标评估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1CC119D-5E28-FCD0-E19D-298E18C777A0}"/>
              </a:ext>
            </a:extLst>
          </p:cNvPr>
          <p:cNvSpPr txBox="1"/>
          <p:nvPr/>
        </p:nvSpPr>
        <p:spPr>
          <a:xfrm>
            <a:off x="74549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、轮廓系数、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、匹配率</a:t>
            </a:r>
          </a:p>
        </p:txBody>
      </p:sp>
    </p:spTree>
    <p:extLst>
      <p:ext uri="{BB962C8B-B14F-4D97-AF65-F5344CB8AC3E}">
        <p14:creationId xmlns:p14="http://schemas.microsoft.com/office/powerpoint/2010/main" val="3567448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24679FF-C34A-2DB9-FC53-A962F64B06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B1A83-2535-CD47-BC98-9F9085176C5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07722F1-DD8F-845E-B3E8-3261183F33D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DE886B8-3301-94D4-4BD0-10366F00462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75AF7F-4C6E-E66B-3231-7E8FAD5E7EB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D76E1C-2DF2-388A-733B-EF169DD998C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聚类与初始值影响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73EBC7-81BC-02FF-FF7B-40F3162BC96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B8AA7D9-67E0-6A21-EB0E-27BEAF52CB1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915BC3-C9EA-D8F6-26E6-3BEDAD0D641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5045AA0-6625-14E9-E59A-4F650F5F136D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ED6CE81-5ACD-C3B0-98A5-C782E3447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C96AFF4-DF96-F986-A328-7DA0BAEC2D52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D20284E-2B01-05F0-99C0-F5A55AD1E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B4A7684-7D26-16A8-CD38-A96F55677C33}"/>
              </a:ext>
            </a:extLst>
          </p:cNvPr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5BDD92-8445-CA09-A865-DA489FA553E3}"/>
              </a:ext>
            </a:extLst>
          </p:cNvPr>
          <p:cNvSpPr txBox="1"/>
          <p:nvPr/>
        </p:nvSpPr>
        <p:spPr>
          <a:xfrm>
            <a:off x="1168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85.00%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689F27A-F375-BAD1-5A67-92FBD36A554B}"/>
              </a:ext>
            </a:extLst>
          </p:cNvPr>
          <p:cNvSpPr txBox="1"/>
          <p:nvPr/>
        </p:nvSpPr>
        <p:spPr>
          <a:xfrm>
            <a:off x="1168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训练集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匹配率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3521718-5445-3064-D06E-B898E9880604}"/>
              </a:ext>
            </a:extLst>
          </p:cNvPr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595994-7FA5-7DF2-627F-B2062D139C48}"/>
              </a:ext>
            </a:extLst>
          </p:cNvPr>
          <p:cNvSpPr txBox="1"/>
          <p:nvPr/>
        </p:nvSpPr>
        <p:spPr>
          <a:xfrm>
            <a:off x="3454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85-87%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50EAF6-217F-5B34-4C57-A57AFA6A0D85}"/>
              </a:ext>
            </a:extLst>
          </p:cNvPr>
          <p:cNvSpPr txBox="1"/>
          <p:nvPr/>
        </p:nvSpPr>
        <p:spPr>
          <a:xfrm>
            <a:off x="3454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不同初始值波动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5A025AE-B9B7-89E2-98DE-7EF4634698D8}"/>
              </a:ext>
            </a:extLst>
          </p:cNvPr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B3246C4-DFCD-B12F-0154-02FFDED24351}"/>
              </a:ext>
            </a:extLst>
          </p:cNvPr>
          <p:cNvSpPr txBox="1"/>
          <p:nvPr/>
        </p:nvSpPr>
        <p:spPr>
          <a:xfrm>
            <a:off x="5740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0.5108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4C9466B-F59E-70ED-2B1A-D101F09C201C}"/>
              </a:ext>
            </a:extLst>
          </p:cNvPr>
          <p:cNvSpPr txBox="1"/>
          <p:nvPr/>
        </p:nvSpPr>
        <p:spPr>
          <a:xfrm>
            <a:off x="5740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轮廓系数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F83CB24-E377-35A3-9A47-2D311AF9A945}"/>
              </a:ext>
            </a:extLst>
          </p:cNvPr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B228831-5638-A542-CDDB-60926641D63B}"/>
              </a:ext>
            </a:extLst>
          </p:cNvPr>
          <p:cNvSpPr txBox="1"/>
          <p:nvPr/>
        </p:nvSpPr>
        <p:spPr>
          <a:xfrm>
            <a:off x="8026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0.4850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B297DD9-A26B-9EF8-1D10-5AD00FD87F1B}"/>
              </a:ext>
            </a:extLst>
          </p:cNvPr>
          <p:cNvSpPr txBox="1"/>
          <p:nvPr/>
        </p:nvSpPr>
        <p:spPr>
          <a:xfrm>
            <a:off x="8026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ARI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781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D70162-651C-9F05-F6FD-15682D9058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1CDC38-9CA6-9901-48C3-92535537E4D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728CC24-E57B-D118-E32E-C63F9ABF52E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219621C1-BF66-4941-CF6F-1B4F7B773D6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568C26-E30C-C17C-14AB-8C33D2D7010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F54DD0-E6F5-C4B8-CA22-AA731B40F3F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实验五结果：类别数选择与分级聚类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1C346C1-4039-2368-1874-1C8536B4E48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B68FF62-52CC-6FCE-A94D-ADE9BF342C3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D7AF31-DCCE-F18E-A0E5-5A0B75D25C2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40ED174-EAD0-24C6-FE3F-E135F669FF92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A0BE791-09A5-3D3A-40F2-9C96BA6E7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9EB770-E5C9-3F6C-E3A2-E6A598A27CED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99BAC6B-8AF7-4422-F2EF-B2CF937B1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E183FBD-A50F-DD56-5F9E-3AE06DC0D768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DFB6B9-DF24-1297-8C7B-16DD83DBAB20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C6DCA84-F3B1-F480-340D-AD772E295AE5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类别数判断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A9FEF2-DA5B-BD04-E6C7-E153691EB5E5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增大下降，但轮廓系数在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最高，因此两类更合理。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D563F67-CD16-0B3E-DF84-788D7C2003AE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63BF33-C28F-4778-C5AB-A98920BC36E0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D5F0D4-60CA-F490-0890-4E2C3A1D3853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750C6D-DA3C-F696-BEAC-D06B81E5084E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方法匹配率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81.00%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，略低于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均值，但能展示层次结构。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36570557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F65549-7009-F9C7-C583-B4AC1FC851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95ACF6-51ED-3EF0-9856-E39461A0D99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2CBA2AC-7378-747A-7F51-642FECFD42D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A65EC9D-C74D-96BD-1F99-E49A4BDA71E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8CDFC5-A1BC-5613-F65F-86C2F861372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8DB526-C50E-DEBE-9BE6-F0B279B9489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实验五分析：加入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后结构保持但边界更复杂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39A839E-6D04-97A3-30EC-9021590097C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5BC52BE-0227-4797-254A-5E1E80F2565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EE42CD-04F4-5978-5905-483B9B906A2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BD73D14-2395-2295-52AD-ADC5E3AA15E5}"/>
              </a:ext>
            </a:extLst>
          </p:cNvPr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23EAE7D-A102-11FE-4CDB-8DE42FEFF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8CAC15D-591C-F566-E06B-EF1794D74290}"/>
              </a:ext>
            </a:extLst>
          </p:cNvPr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BE23E53-4897-265F-0218-EC646FE35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B2C0B2D-B986-590E-ACA2-D3D22DD09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272374"/>
              </p:ext>
            </p:extLst>
          </p:nvPr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376982138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614447683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600659019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46312948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71105233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轮廓系数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ARI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匹配率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0986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0.5108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943973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0.5049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0.3789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81.00%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0486466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0.4693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016219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0.4739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0.4172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319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422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D0A898-1C39-5995-F15E-13CB1F4FAD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3E7919-BE03-F723-CB61-2D26A7F418A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CEBE603-733E-5BF5-E3DA-E772E590F3E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55F5236-AD1D-A8A8-7312-990AC4585BF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80D04D-332E-5842-030F-CEC40FC6CCE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DE918D-745C-6606-6CD2-EAD0CF933D5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五个实验的横向总结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D5CD550-04BB-14FF-4957-B0F339B3199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5090677-4692-A4A8-A64A-84B7D925ED4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E0E7A1-3998-89B1-4A8E-1B0FEB39BEE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30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411CCD9-6C2B-1F1F-BAF7-9C00D0A66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944082"/>
              </p:ext>
            </p:extLst>
          </p:nvPr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1969025677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932798703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147541544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457627907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课程知识点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监督信息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主要目标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936313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后验概率、参数估计、风险决策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最小错误率或最小风险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69428798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 / Parzen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非参数估计、线性判别、留一法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比较概率模型与直接判别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62774708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特征提取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、协方差特征分解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降维与主方向分析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220923212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图像应用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高维图像特征压缩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验证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图像识别作用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1264430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聚类分析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均值、分级聚类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发现样本自然结构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692962324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329EC5A-3F5C-A7BF-67CE-91C308A15114}"/>
              </a:ext>
            </a:extLst>
          </p:cNvPr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80CA9A-E866-1A9D-8D48-E41136A298DB}"/>
              </a:ext>
            </a:extLst>
          </p:cNvPr>
          <p:cNvSpPr txBox="1"/>
          <p:nvPr/>
        </p:nvSpPr>
        <p:spPr>
          <a:xfrm>
            <a:off x="1397000" y="5664200"/>
            <a:ext cx="939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主线：从概率决策到线性判别，从监督分类到无监督聚类，从低维特征到高维图像识别。</a:t>
            </a:r>
          </a:p>
        </p:txBody>
      </p:sp>
    </p:spTree>
    <p:extLst>
      <p:ext uri="{BB962C8B-B14F-4D97-AF65-F5344CB8AC3E}">
        <p14:creationId xmlns:p14="http://schemas.microsoft.com/office/powerpoint/2010/main" val="3749436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8D5DDF-75CF-1F89-8DEE-8200D0DF59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B1006C-9897-6C28-EB43-5FDC859D373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ED87C0F-5EF4-4D11-22D3-78EF420AE41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56E54D8-87C8-B901-0F59-04A90323BC5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00495C-6DB5-FE8F-0142-140C1D25675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BA886D-BC43-89A4-7B2A-488E5BB5F9E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总体结论与汇报收束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3F5103D-0EE1-0A18-FD28-C1FF06A2969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195516E-F5E7-38A1-0CFE-A3D4CE900FF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A5CF44-0597-497B-F33F-81816192A67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31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C57B962-C15F-9B3F-01F9-607381754DE4}"/>
              </a:ext>
            </a:extLst>
          </p:cNvPr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F76F01-8230-ACCA-C085-2D9E656B201A}"/>
              </a:ext>
            </a:extLst>
          </p:cNvPr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9A536EF-5309-1869-AED8-EE759934CB02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937EB7-36B5-43BB-A9C2-DCF03ED4A9CF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体重比单特征更稳定；图像任务中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可压缩高维特征。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AEEC406-0ABA-C85B-9258-4AE077924957}"/>
              </a:ext>
            </a:extLst>
          </p:cNvPr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1E35E3-DC4A-5FD0-62A9-1D6E2C93BB31}"/>
              </a:ext>
            </a:extLst>
          </p:cNvPr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B57C86-1063-0E2C-51F2-AD027E8218E4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0FCB37-2229-5A4C-EA3F-D2CD31F3CC7F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正态假设、窗口宽度、线性边界都会影响最终性能。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DF7CF2A-16FC-614B-B957-2E0FC8ACA70A}"/>
              </a:ext>
            </a:extLst>
          </p:cNvPr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BF3398-519A-761B-B50B-A77B377976AC}"/>
              </a:ext>
            </a:extLst>
          </p:cNvPr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4FEC30-8FFE-478D-E2ED-C3D1B65AF6EC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7706BD2-66FC-8758-EAB6-22DBA4CB7CD3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准确率、错误率、召回率、混淆矩阵和聚类指标需要综合分析。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BF85064-53DE-3FEA-6324-D0F24E2DA19A}"/>
              </a:ext>
            </a:extLst>
          </p:cNvPr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5C5EE4D-B57B-8831-6364-BCF88313D9BF}"/>
              </a:ext>
            </a:extLst>
          </p:cNvPr>
          <p:cNvSpPr txBox="1"/>
          <p:nvPr/>
        </p:nvSpPr>
        <p:spPr>
          <a:xfrm>
            <a:off x="1587500" y="4140200"/>
            <a:ext cx="901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92400E"/>
                </a:solidFill>
                <a:latin typeface="Microsoft YaHei" panose="020B0503020204020204" pitchFamily="34" charset="-122"/>
              </a:rPr>
              <a:t>核心体会：模式识别方法没有绝对最优，算法选择必须结合数据分布、任务目标和评价指标。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6D69697-D331-DF26-4D7C-1A10836D3EB1}"/>
              </a:ext>
            </a:extLst>
          </p:cNvPr>
          <p:cNvSpPr txBox="1"/>
          <p:nvPr/>
        </p:nvSpPr>
        <p:spPr>
          <a:xfrm>
            <a:off x="1498600" y="5181600"/>
            <a:ext cx="9271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强调概率决策，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强调判别方向，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强调表示与降维，聚类强调自然结构。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同一数据集上，不同模型的差异主要来自特征表示、概率假设、判别边界和评价目标。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实验设计需要同时报告设置、指标和图形结果，才能解释模型为什么有效或失效。</a:t>
            </a:r>
          </a:p>
        </p:txBody>
      </p:sp>
    </p:spTree>
    <p:extLst>
      <p:ext uri="{BB962C8B-B14F-4D97-AF65-F5344CB8AC3E}">
        <p14:creationId xmlns:p14="http://schemas.microsoft.com/office/powerpoint/2010/main" val="3380210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6EE768-1556-6685-A9FA-EBDDCC133C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5A39C5-259A-3BB1-BD75-2CA410053F27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76AC47-52D6-8034-AB01-B2A907CC049E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3877F8-064E-03AC-E898-B584425BC3D2}"/>
              </a:ext>
            </a:extLst>
          </p:cNvPr>
          <p:cNvSpPr txBox="1"/>
          <p:nvPr/>
        </p:nvSpPr>
        <p:spPr>
          <a:xfrm>
            <a:off x="889000" y="2514600"/>
            <a:ext cx="3810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51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38F1C3-3860-FF9E-F221-52F397DCB986}"/>
              </a:ext>
            </a:extLst>
          </p:cNvPr>
          <p:cNvSpPr txBox="1"/>
          <p:nvPr/>
        </p:nvSpPr>
        <p:spPr>
          <a:xfrm>
            <a:off x="939800" y="3492500"/>
            <a:ext cx="558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CBD5E1"/>
                </a:solidFill>
                <a:latin typeface="Microsoft YaHei" panose="020B0503020204020204" pitchFamily="34" charset="-122"/>
              </a:rPr>
              <a:t>欢迎老师和同学批评指正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8C8ACB0-A564-E3F6-7AAA-4A0757DF4EF3}"/>
              </a:ext>
            </a:extLst>
          </p:cNvPr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366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3499</Words>
  <Application>Microsoft Office PowerPoint</Application>
  <PresentationFormat>自定义</PresentationFormat>
  <Paragraphs>583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2026-06-16T20:16:24Z</dcterms:created>
  <dcterms:modified xsi:type="dcterms:W3CDTF">2026-06-16T20:16:54Z</dcterms:modified>
</cp:coreProperties>
</file>