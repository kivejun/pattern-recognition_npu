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4A09AB-5968-FB36-ABC2-73ABAB8D5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D14F8D-7CE6-C38F-3B0C-126E2869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668E8E-FA56-0BDB-F3F5-81A1C73A6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2E6A-1D62-4EBF-9DF3-5565D0CBE9B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E97B9A-094A-5E6E-CEF1-043DA6EB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6CF3F0-A6A4-96E4-0181-DB648AE43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6B78-CFF4-41C6-ACCA-CBE597C1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807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60FDC-1658-926D-A82C-0A001A81F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7DBA72-4151-80C9-B5D9-3894D3443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E63D42-1B41-6371-63B8-506DEEFB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2E6A-1D62-4EBF-9DF3-5565D0CBE9B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90E670-AE1B-74DB-AF3D-B94AB6129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459160-A5B0-B7C1-6223-854C1F529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6B78-CFF4-41C6-ACCA-CBE597C1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487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7D744-A08C-0F26-6F59-183065E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9D646C-6913-3DFE-A4DE-6B93FCA43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16FE50-39AA-4D14-A587-7E7B71AF7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2E6A-1D62-4EBF-9DF3-5565D0CBE9B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0D6AEE-F6A7-A958-FC55-551E10449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3B12C4-3A81-8DCD-EEE9-85357411A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6B78-CFF4-41C6-ACCA-CBE597C1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45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2A834B-3922-A991-0F16-6887DC895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B593C4-A9DB-7D87-93D8-7B5FAC2AC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1646F1-BE67-B0E4-7764-272F40853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7ECBCC-AE91-759B-3C46-E1BDEFCFE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2E6A-1D62-4EBF-9DF3-5565D0CBE9B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DDAED6-F051-DC7B-1A1F-B7326ABBA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D8C454-0B68-ECF4-74BC-5219E720F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6B78-CFF4-41C6-ACCA-CBE597C1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526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A11719-A9FC-9971-5B83-A436BE92C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7ABBB2-C95B-C875-4E74-3B44BA078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858EC3-62B3-4EE1-37E3-545111BB1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A9E060-7964-1C44-358D-1FC261146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BFF8457-F536-8B9D-FD02-92275EB08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DF9FCBF-FCE8-A9D3-AFCF-6B2F22364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2E6A-1D62-4EBF-9DF3-5565D0CBE9B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2AF3A9-7573-6144-4C02-1BBA86E0B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4B5C1D-0E42-AD2E-137C-33F392AD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6B78-CFF4-41C6-ACCA-CBE597C1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06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C8E3B-FAD3-534F-F75C-AB7D0C7D9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2C28A3-2F41-DEC0-2B5C-AF0CA6EE4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2E6A-1D62-4EBF-9DF3-5565D0CBE9B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950AEB-4D29-D63A-5012-B6AF61982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056646-1837-329E-B4A4-85E6296F0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6B78-CFF4-41C6-ACCA-CBE597C1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62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331D56-4C77-2237-06C7-8E9417431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2E6A-1D62-4EBF-9DF3-5565D0CBE9B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670D4D-2ECA-BF41-987D-811DE924B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9868E6-AAE1-2489-7374-24CAFEE07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6B78-CFF4-41C6-ACCA-CBE597C1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72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E6AC6-7313-129B-968D-7839758AC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572700-A83A-7223-46A7-4A984E110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BEFE4D-2AC4-C551-C58B-D6E58978D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893767-70B4-454C-19F4-56F81E2C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2E6A-1D62-4EBF-9DF3-5565D0CBE9B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D99F7B-56E4-5371-6268-E1FF98820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6092FB-6550-5011-2EB1-C50C2EBA1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6B78-CFF4-41C6-ACCA-CBE597C1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1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466EF-7349-556E-F518-5D3668FCD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56C71F5-425F-0235-6174-6B7B1C69D5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83D358-F5B3-A346-2E41-9F97C95D3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9583E4-6635-DAB7-1EA5-0B0686F6B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2E6A-1D62-4EBF-9DF3-5565D0CBE9B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1A03A2-EE3E-901C-F197-494ADF3CA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CC3168-33EE-1FC6-35FC-255F25B0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6B78-CFF4-41C6-ACCA-CBE597C1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034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10D83-E52E-A045-7137-50DD586F9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3D7ED9-2566-A412-9C2D-71CA96164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C63079-A237-909B-6621-A14FFE3B1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2E6A-1D62-4EBF-9DF3-5565D0CBE9B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43B89D-E53B-A73C-C9DD-4DF6BB1C3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776351-FE51-8983-DE36-F558B9FB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6B78-CFF4-41C6-ACCA-CBE597C1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19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F3145B-FD65-BB7E-F822-ED58BC3CBF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30ABFA-CD47-AA7F-968D-BB70CE9B5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1FDBE2-AD02-99FA-ACFF-12AEA1617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2E6A-1D62-4EBF-9DF3-5565D0CBE9B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45C278-B719-648A-FC34-A4B0988F6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FB2C1A-7154-7824-ACE9-D8CB2CCE3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6B78-CFF4-41C6-ACCA-CBE597C1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520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E5E9EC-A58C-7C7B-3AC5-B03F6083E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CD23E7-F73D-45CB-429E-A12EC45B7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B4004A-5722-6FE3-61A1-1F60F41A5F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62E6A-1D62-4EBF-9DF3-5565D0CBE9B0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016F8F-58F7-FB79-34D9-73250FD31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B251DF-086D-7632-8A37-0EE1E9041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96B78-CFF4-41C6-ACCA-CBE597C1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329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F1F76E6-E5BB-8E28-76CC-0919B5190B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0C8B977D-F760-6FF3-C896-6318C5FC9B94}"/>
              </a:ext>
            </a:extLst>
          </p:cNvPr>
          <p:cNvSpPr/>
          <p:nvPr/>
        </p:nvSpPr>
        <p:spPr>
          <a:xfrm>
            <a:off x="-1016000" y="4381500"/>
            <a:ext cx="6794500" cy="28575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6AC24FD-00D7-30EA-31BD-C4A8CA956714}"/>
              </a:ext>
            </a:extLst>
          </p:cNvPr>
          <p:cNvSpPr/>
          <p:nvPr/>
        </p:nvSpPr>
        <p:spPr>
          <a:xfrm>
            <a:off x="8064500" y="-254000"/>
            <a:ext cx="5334000" cy="1968500"/>
          </a:xfrm>
          <a:prstGeom prst="parallelogram">
            <a:avLst>
              <a:gd name="adj" fmla="val 18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5CF32A-75C3-0744-BACB-46DB14F188AE}"/>
              </a:ext>
            </a:extLst>
          </p:cNvPr>
          <p:cNvSpPr txBox="1"/>
          <p:nvPr/>
        </p:nvSpPr>
        <p:spPr>
          <a:xfrm>
            <a:off x="914400" y="1422400"/>
            <a:ext cx="406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BFE8FF"/>
                </a:solidFill>
                <a:latin typeface="Microsoft YaHei" panose="020B0503020204020204" pitchFamily="34" charset="-122"/>
              </a:rPr>
              <a:t>PATTERN RECOGNITION</a:t>
            </a:r>
            <a:endParaRPr lang="zh-CN" altLang="en-US" sz="1000" b="1">
              <a:solidFill>
                <a:srgbClr val="BFE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B06BA4-CBC6-9B2D-48EC-3A96ED32CCC7}"/>
              </a:ext>
            </a:extLst>
          </p:cNvPr>
          <p:cNvSpPr txBox="1"/>
          <p:nvPr/>
        </p:nvSpPr>
        <p:spPr>
          <a:xfrm>
            <a:off x="914400" y="2006600"/>
            <a:ext cx="7874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4400" b="1">
                <a:solidFill>
                  <a:srgbClr val="FFFFFF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DC9E47-DAA1-E453-C98F-0138C4AC12A4}"/>
              </a:ext>
            </a:extLst>
          </p:cNvPr>
          <p:cNvSpPr txBox="1"/>
          <p:nvPr/>
        </p:nvSpPr>
        <p:spPr>
          <a:xfrm>
            <a:off x="965200" y="2921000"/>
            <a:ext cx="876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分类器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Fisher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判别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K-L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变换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图像识别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685883D-788A-2A38-A7B5-95D5DFBC9FAD}"/>
              </a:ext>
            </a:extLst>
          </p:cNvPr>
          <p:cNvSpPr/>
          <p:nvPr/>
        </p:nvSpPr>
        <p:spPr>
          <a:xfrm>
            <a:off x="9144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C9B70C-11B3-889F-6F7D-DDB44A70AFF2}"/>
              </a:ext>
            </a:extLst>
          </p:cNvPr>
          <p:cNvSpPr/>
          <p:nvPr/>
        </p:nvSpPr>
        <p:spPr>
          <a:xfrm>
            <a:off x="914400" y="4165600"/>
            <a:ext cx="76200" cy="6985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5BF2D84-F063-88AA-729F-9877233D9BB7}"/>
              </a:ext>
            </a:extLst>
          </p:cNvPr>
          <p:cNvSpPr txBox="1"/>
          <p:nvPr/>
        </p:nvSpPr>
        <p:spPr>
          <a:xfrm>
            <a:off x="11176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姓名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4118F7-6C1F-6496-8119-174BBBEB2CA3}"/>
              </a:ext>
            </a:extLst>
          </p:cNvPr>
          <p:cNvSpPr txBox="1"/>
          <p:nvPr/>
        </p:nvSpPr>
        <p:spPr>
          <a:xfrm>
            <a:off x="11176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AA237DD-E0E0-47FD-8663-068BB6A8FF2A}"/>
              </a:ext>
            </a:extLst>
          </p:cNvPr>
          <p:cNvSpPr/>
          <p:nvPr/>
        </p:nvSpPr>
        <p:spPr>
          <a:xfrm>
            <a:off x="39243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5E6E66-6712-6CAB-7E91-881F06C68A9B}"/>
              </a:ext>
            </a:extLst>
          </p:cNvPr>
          <p:cNvSpPr/>
          <p:nvPr/>
        </p:nvSpPr>
        <p:spPr>
          <a:xfrm>
            <a:off x="3924300" y="4165600"/>
            <a:ext cx="76200" cy="698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28EE17-9F16-83FD-A890-F39A0E6B1C6F}"/>
              </a:ext>
            </a:extLst>
          </p:cNvPr>
          <p:cNvSpPr txBox="1"/>
          <p:nvPr/>
        </p:nvSpPr>
        <p:spPr>
          <a:xfrm>
            <a:off x="41275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学号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742B65C-80F2-D307-6BB7-2D5D938AF4FB}"/>
              </a:ext>
            </a:extLst>
          </p:cNvPr>
          <p:cNvSpPr txBox="1"/>
          <p:nvPr/>
        </p:nvSpPr>
        <p:spPr>
          <a:xfrm>
            <a:off x="41275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4F66757-80A2-A34A-8FDF-7947BF811172}"/>
              </a:ext>
            </a:extLst>
          </p:cNvPr>
          <p:cNvSpPr/>
          <p:nvPr/>
        </p:nvSpPr>
        <p:spPr>
          <a:xfrm>
            <a:off x="69342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4EAE1FE-9DC0-D427-0BA5-163ABD56F0B6}"/>
              </a:ext>
            </a:extLst>
          </p:cNvPr>
          <p:cNvSpPr/>
          <p:nvPr/>
        </p:nvSpPr>
        <p:spPr>
          <a:xfrm>
            <a:off x="6934200" y="4165600"/>
            <a:ext cx="76200" cy="698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C0ECA68-EDF4-7B53-7E05-7F80B8B91648}"/>
              </a:ext>
            </a:extLst>
          </p:cNvPr>
          <p:cNvSpPr txBox="1"/>
          <p:nvPr/>
        </p:nvSpPr>
        <p:spPr>
          <a:xfrm>
            <a:off x="71374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班级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80638CA-6F05-F629-E757-E268A1C23F25}"/>
              </a:ext>
            </a:extLst>
          </p:cNvPr>
          <p:cNvSpPr txBox="1"/>
          <p:nvPr/>
        </p:nvSpPr>
        <p:spPr>
          <a:xfrm>
            <a:off x="71374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</p:spTree>
    <p:extLst>
      <p:ext uri="{BB962C8B-B14F-4D97-AF65-F5344CB8AC3E}">
        <p14:creationId xmlns:p14="http://schemas.microsoft.com/office/powerpoint/2010/main" val="412053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6574588-B7B4-009E-22A3-8DD3719A7A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33C833-AC8F-39DC-3E6A-4CF501C7B933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A169078-6C32-BE7F-2B45-266F3D75AC0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D4359A4-3944-8625-6BFF-EA7D9920BE2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E594DB-FBEB-DFD2-4564-BF507E6FDAD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TALK ROADMAP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3C2F19-1874-98BE-F2EB-3737AF0022B4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汇报结构：从分类到聚类的完整方法链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B970327-258E-FC0D-05BB-F922C3AE1B5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B18BC34-F86E-BD78-1F45-11B3930DE913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1DC482-A904-2364-48AE-6C8397C8ACF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91BD386-F22A-B00F-FAA7-8D4E64573DB3}"/>
              </a:ext>
            </a:extLst>
          </p:cNvPr>
          <p:cNvSpPr/>
          <p:nvPr/>
        </p:nvSpPr>
        <p:spPr>
          <a:xfrm>
            <a:off x="7112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EB9E39-777C-87E2-62B9-C35821004179}"/>
              </a:ext>
            </a:extLst>
          </p:cNvPr>
          <p:cNvSpPr/>
          <p:nvPr/>
        </p:nvSpPr>
        <p:spPr>
          <a:xfrm>
            <a:off x="711200" y="1498600"/>
            <a:ext cx="76200" cy="1168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9B6F66-BA64-4354-7699-C25849B75C68}"/>
              </a:ext>
            </a:extLst>
          </p:cNvPr>
          <p:cNvSpPr txBox="1"/>
          <p:nvPr/>
        </p:nvSpPr>
        <p:spPr>
          <a:xfrm>
            <a:off x="9017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01 Bayes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BCF56C9-4C65-47F8-BC33-F349FED5C173}"/>
              </a:ext>
            </a:extLst>
          </p:cNvPr>
          <p:cNvSpPr txBox="1"/>
          <p:nvPr/>
        </p:nvSpPr>
        <p:spPr>
          <a:xfrm>
            <a:off x="901700" y="1981200"/>
            <a:ext cx="153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概率密度估计与风险决策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946CFC2-3902-2AE8-0579-99B416FB1160}"/>
              </a:ext>
            </a:extLst>
          </p:cNvPr>
          <p:cNvSpPr/>
          <p:nvPr/>
        </p:nvSpPr>
        <p:spPr>
          <a:xfrm>
            <a:off x="29718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8E5B23-24D6-1EAF-5DB1-B3E8259CFF00}"/>
              </a:ext>
            </a:extLst>
          </p:cNvPr>
          <p:cNvSpPr/>
          <p:nvPr/>
        </p:nvSpPr>
        <p:spPr>
          <a:xfrm>
            <a:off x="2971800" y="1498600"/>
            <a:ext cx="76200" cy="1168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E60A4CF-7C7D-CC1D-4287-9DEBD6050204}"/>
              </a:ext>
            </a:extLst>
          </p:cNvPr>
          <p:cNvSpPr txBox="1"/>
          <p:nvPr/>
        </p:nvSpPr>
        <p:spPr>
          <a:xfrm>
            <a:off x="31623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02 Fisher/Parzen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F48FF1E-5A2D-F78A-7053-9365F18BE0C1}"/>
              </a:ext>
            </a:extLst>
          </p:cNvPr>
          <p:cNvSpPr txBox="1"/>
          <p:nvPr/>
        </p:nvSpPr>
        <p:spPr>
          <a:xfrm>
            <a:off x="31623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非参数估计与直接判别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51C4C65-102D-FBA1-34D3-BF9013F2196A}"/>
              </a:ext>
            </a:extLst>
          </p:cNvPr>
          <p:cNvSpPr/>
          <p:nvPr/>
        </p:nvSpPr>
        <p:spPr>
          <a:xfrm>
            <a:off x="52324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312A70-0E3F-0815-3499-310DA769D931}"/>
              </a:ext>
            </a:extLst>
          </p:cNvPr>
          <p:cNvSpPr/>
          <p:nvPr/>
        </p:nvSpPr>
        <p:spPr>
          <a:xfrm>
            <a:off x="5232400" y="1498600"/>
            <a:ext cx="76200" cy="1168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3E6542-4979-22EE-AFD1-BAAD3B5D7766}"/>
              </a:ext>
            </a:extLst>
          </p:cNvPr>
          <p:cNvSpPr txBox="1"/>
          <p:nvPr/>
        </p:nvSpPr>
        <p:spPr>
          <a:xfrm>
            <a:off x="54229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03 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特征提取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3C0D730-A830-C37F-CEA6-08ED88F944A8}"/>
              </a:ext>
            </a:extLst>
          </p:cNvPr>
          <p:cNvSpPr txBox="1"/>
          <p:nvPr/>
        </p:nvSpPr>
        <p:spPr>
          <a:xfrm>
            <a:off x="54229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协方差特征分解与降维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EE541DA-86FD-B51F-7719-07DB00B92C5E}"/>
              </a:ext>
            </a:extLst>
          </p:cNvPr>
          <p:cNvSpPr/>
          <p:nvPr/>
        </p:nvSpPr>
        <p:spPr>
          <a:xfrm>
            <a:off x="74930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B37EFEA-181D-D5FC-5EE6-239A143D649E}"/>
              </a:ext>
            </a:extLst>
          </p:cNvPr>
          <p:cNvSpPr/>
          <p:nvPr/>
        </p:nvSpPr>
        <p:spPr>
          <a:xfrm>
            <a:off x="7493000" y="1498600"/>
            <a:ext cx="76200" cy="11684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E1EA26E-6DDB-5C13-849C-87A1E227F559}"/>
              </a:ext>
            </a:extLst>
          </p:cNvPr>
          <p:cNvSpPr txBox="1"/>
          <p:nvPr/>
        </p:nvSpPr>
        <p:spPr>
          <a:xfrm>
            <a:off x="76835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04 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图像应用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8BCFFD6-AC4D-551E-E439-2FDDA4FFA2F0}"/>
              </a:ext>
            </a:extLst>
          </p:cNvPr>
          <p:cNvSpPr txBox="1"/>
          <p:nvPr/>
        </p:nvSpPr>
        <p:spPr>
          <a:xfrm>
            <a:off x="76835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高维图像压缩与识别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10F9D4F-832D-CD4E-3340-CAD62E03E3F0}"/>
              </a:ext>
            </a:extLst>
          </p:cNvPr>
          <p:cNvSpPr/>
          <p:nvPr/>
        </p:nvSpPr>
        <p:spPr>
          <a:xfrm>
            <a:off x="97536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68FBFBB-A881-4810-598C-52156DBF9F00}"/>
              </a:ext>
            </a:extLst>
          </p:cNvPr>
          <p:cNvSpPr/>
          <p:nvPr/>
        </p:nvSpPr>
        <p:spPr>
          <a:xfrm>
            <a:off x="9753600" y="1498600"/>
            <a:ext cx="76200" cy="1168400"/>
          </a:xfrm>
          <a:prstGeom prst="rect">
            <a:avLst/>
          </a:prstGeom>
          <a:solidFill>
            <a:srgbClr val="2B8A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6CFFAFE-C74D-9121-ECAE-1376D3CA80DC}"/>
              </a:ext>
            </a:extLst>
          </p:cNvPr>
          <p:cNvSpPr txBox="1"/>
          <p:nvPr/>
        </p:nvSpPr>
        <p:spPr>
          <a:xfrm>
            <a:off x="99441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B0CC1F8-EB45-48F7-A4FC-24AE425E727A}"/>
              </a:ext>
            </a:extLst>
          </p:cNvPr>
          <p:cNvSpPr txBox="1"/>
          <p:nvPr/>
        </p:nvSpPr>
        <p:spPr>
          <a:xfrm>
            <a:off x="99441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无监督样本结构发现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CBBCC74-1C97-28D9-91AD-8FF716A9696F}"/>
              </a:ext>
            </a:extLst>
          </p:cNvPr>
          <p:cNvSpPr/>
          <p:nvPr/>
        </p:nvSpPr>
        <p:spPr>
          <a:xfrm>
            <a:off x="1117600" y="3378200"/>
            <a:ext cx="9956800" cy="609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1B1BE0-E2A2-1320-4821-7ADDB46E7AFE}"/>
              </a:ext>
            </a:extLst>
          </p:cNvPr>
          <p:cNvSpPr txBox="1"/>
          <p:nvPr/>
        </p:nvSpPr>
        <p:spPr>
          <a:xfrm>
            <a:off x="1498600" y="3581400"/>
            <a:ext cx="9194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每个实验统一按照「理论知识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实验设置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实验结果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分析总结」的顺序展开，便于把算法原理和实验现象对应起来。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E5DB30D-C919-8570-8113-63347324F89F}"/>
              </a:ext>
            </a:extLst>
          </p:cNvPr>
          <p:cNvSpPr/>
          <p:nvPr/>
        </p:nvSpPr>
        <p:spPr>
          <a:xfrm>
            <a:off x="9652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365BC8C-1C7F-FD91-605B-0E085CB04AB6}"/>
              </a:ext>
            </a:extLst>
          </p:cNvPr>
          <p:cNvSpPr/>
          <p:nvPr/>
        </p:nvSpPr>
        <p:spPr>
          <a:xfrm>
            <a:off x="965200" y="4445000"/>
            <a:ext cx="76200" cy="1041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BF42D3E-5728-74B5-5571-DAC0016B00AE}"/>
              </a:ext>
            </a:extLst>
          </p:cNvPr>
          <p:cNvSpPr txBox="1"/>
          <p:nvPr/>
        </p:nvSpPr>
        <p:spPr>
          <a:xfrm>
            <a:off x="11557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理论知识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F472B31-25B8-E85F-CEFE-BBEF6E3B6369}"/>
              </a:ext>
            </a:extLst>
          </p:cNvPr>
          <p:cNvSpPr txBox="1"/>
          <p:nvPr/>
        </p:nvSpPr>
        <p:spPr>
          <a:xfrm>
            <a:off x="11557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先讲课程概念、公式和方法思想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2698D3D-7827-EA32-B1A5-7F4CCDCD3369}"/>
              </a:ext>
            </a:extLst>
          </p:cNvPr>
          <p:cNvSpPr/>
          <p:nvPr/>
        </p:nvSpPr>
        <p:spPr>
          <a:xfrm>
            <a:off x="35306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DE261BE-4AAB-ABD3-2DEC-5ECA6E97AA27}"/>
              </a:ext>
            </a:extLst>
          </p:cNvPr>
          <p:cNvSpPr/>
          <p:nvPr/>
        </p:nvSpPr>
        <p:spPr>
          <a:xfrm>
            <a:off x="3530600" y="4445000"/>
            <a:ext cx="76200" cy="1041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AC1EB0C-DC8C-7A0F-9B2F-A4951EF697CA}"/>
              </a:ext>
            </a:extLst>
          </p:cNvPr>
          <p:cNvSpPr txBox="1"/>
          <p:nvPr/>
        </p:nvSpPr>
        <p:spPr>
          <a:xfrm>
            <a:off x="37211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实验设置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FF83B4A-5B01-C554-36AF-BD73800A62B7}"/>
              </a:ext>
            </a:extLst>
          </p:cNvPr>
          <p:cNvSpPr txBox="1"/>
          <p:nvPr/>
        </p:nvSpPr>
        <p:spPr>
          <a:xfrm>
            <a:off x="37211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说明数据、特征、模型参数和指标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7E1172B5-2071-CCA9-7840-A90CBED8F0DA}"/>
              </a:ext>
            </a:extLst>
          </p:cNvPr>
          <p:cNvSpPr/>
          <p:nvPr/>
        </p:nvSpPr>
        <p:spPr>
          <a:xfrm>
            <a:off x="60960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C8EBD4A-1CD5-D80A-F20B-2541754E0DE0}"/>
              </a:ext>
            </a:extLst>
          </p:cNvPr>
          <p:cNvSpPr/>
          <p:nvPr/>
        </p:nvSpPr>
        <p:spPr>
          <a:xfrm>
            <a:off x="6096000" y="4445000"/>
            <a:ext cx="76200" cy="1041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397BCC9-9046-B802-4A9C-590A2829E322}"/>
              </a:ext>
            </a:extLst>
          </p:cNvPr>
          <p:cNvSpPr txBox="1"/>
          <p:nvPr/>
        </p:nvSpPr>
        <p:spPr>
          <a:xfrm>
            <a:off x="62865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实验结果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B15FAC5-2528-C6A8-8C59-2426DC0757A3}"/>
              </a:ext>
            </a:extLst>
          </p:cNvPr>
          <p:cNvSpPr txBox="1"/>
          <p:nvPr/>
        </p:nvSpPr>
        <p:spPr>
          <a:xfrm>
            <a:off x="62865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展示准确率、错误率、混淆矩阵和图像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17084770-C188-1A6B-C9DE-3CE7E7E49259}"/>
              </a:ext>
            </a:extLst>
          </p:cNvPr>
          <p:cNvSpPr/>
          <p:nvPr/>
        </p:nvSpPr>
        <p:spPr>
          <a:xfrm>
            <a:off x="86614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7BD49D4-6DF6-90E6-3B46-694EFC8E6F5B}"/>
              </a:ext>
            </a:extLst>
          </p:cNvPr>
          <p:cNvSpPr/>
          <p:nvPr/>
        </p:nvSpPr>
        <p:spPr>
          <a:xfrm>
            <a:off x="8661400" y="4445000"/>
            <a:ext cx="76200" cy="10414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AD3A949-9489-37EC-98A5-F428518073BD}"/>
              </a:ext>
            </a:extLst>
          </p:cNvPr>
          <p:cNvSpPr txBox="1"/>
          <p:nvPr/>
        </p:nvSpPr>
        <p:spPr>
          <a:xfrm>
            <a:off x="88519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分析总结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AD2090F-E35F-4DAF-A5E1-05F0D9D77E87}"/>
              </a:ext>
            </a:extLst>
          </p:cNvPr>
          <p:cNvSpPr txBox="1"/>
          <p:nvPr/>
        </p:nvSpPr>
        <p:spPr>
          <a:xfrm>
            <a:off x="8851900" y="4927600"/>
            <a:ext cx="1854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解释现象并联系课程理论</a:t>
            </a:r>
          </a:p>
        </p:txBody>
      </p:sp>
    </p:spTree>
    <p:extLst>
      <p:ext uri="{BB962C8B-B14F-4D97-AF65-F5344CB8AC3E}">
        <p14:creationId xmlns:p14="http://schemas.microsoft.com/office/powerpoint/2010/main" val="1532534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FE193D0-7924-729D-3C7B-599CD76FAF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81644D-DB11-4CB3-C83F-CECCCEBD809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9AC7978-AB5E-EE79-CBD9-D9E71306020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E0D7C41-DC6B-E788-15B9-1167558F0BD5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494417-F43C-B352-02E2-D08FCFD7748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SOURCE &amp; SETUP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F29066-A5CB-2DBC-798A-17DC359FBFFB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数据与实验环境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1189FD5-4315-0B58-56AE-719A030AAC48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3F43B4D-600F-A95B-1A85-59E6AB996679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A35071-2764-2CBF-F071-EBCC85D83F4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B2B9F2E-458E-C3EA-500A-0BE011D32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189821"/>
              </p:ext>
            </p:extLst>
          </p:nvPr>
        </p:nvGraphicFramePr>
        <p:xfrm>
          <a:off x="736600" y="1333500"/>
          <a:ext cx="57785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167">
                  <a:extLst>
                    <a:ext uri="{9D8B030D-6E8A-4147-A177-3AD203B41FA5}">
                      <a16:colId xmlns:a16="http://schemas.microsoft.com/office/drawing/2014/main" val="2477493228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1281508719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265649683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实验用途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规模</a:t>
                      </a: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39322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/ MALE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实验一、二、三、五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+ 50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26520288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/ 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分类器泛化测试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35 / 300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个测试样本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26169476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飞机图像数据集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实验四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训练图，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测试图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422830421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01633213-E54A-5FEA-F7A5-932AC0EE5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777573"/>
              </p:ext>
            </p:extLst>
          </p:nvPr>
        </p:nvGraphicFramePr>
        <p:xfrm>
          <a:off x="6921500" y="1333500"/>
          <a:ext cx="44450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282129031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32747224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工具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2705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Python 3.11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实验脚本运行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95425737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NumPy / SciPy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数值计算与矩阵运算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09450242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scikit-learn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、评估指标、分级聚类辅助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65514805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Matplotlib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分类边界、投影、聚类图输出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687276788"/>
                  </a:ext>
                </a:extLst>
              </a:tr>
            </a:tbl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6F6024F-8ACD-2CE3-CED9-6F87A9F55097}"/>
              </a:ext>
            </a:extLst>
          </p:cNvPr>
          <p:cNvSpPr/>
          <p:nvPr/>
        </p:nvSpPr>
        <p:spPr>
          <a:xfrm>
            <a:off x="99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A65F1A-C4A4-7428-A9DA-0B74AD2BA8CB}"/>
              </a:ext>
            </a:extLst>
          </p:cNvPr>
          <p:cNvSpPr txBox="1"/>
          <p:nvPr/>
        </p:nvSpPr>
        <p:spPr>
          <a:xfrm>
            <a:off x="114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5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609ACE-F871-58B8-5669-6B63BFD01612}"/>
              </a:ext>
            </a:extLst>
          </p:cNvPr>
          <p:cNvSpPr txBox="1"/>
          <p:nvPr/>
        </p:nvSpPr>
        <p:spPr>
          <a:xfrm>
            <a:off x="114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已完成实验任务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0804B32-A12B-4BD1-A4F1-E16872ED0EA5}"/>
              </a:ext>
            </a:extLst>
          </p:cNvPr>
          <p:cNvSpPr/>
          <p:nvPr/>
        </p:nvSpPr>
        <p:spPr>
          <a:xfrm>
            <a:off x="353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49453DC-BE55-71F6-0D21-177FA17FA13B}"/>
              </a:ext>
            </a:extLst>
          </p:cNvPr>
          <p:cNvSpPr txBox="1"/>
          <p:nvPr/>
        </p:nvSpPr>
        <p:spPr>
          <a:xfrm>
            <a:off x="368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41912FB-088B-67C9-47CA-E5BE31912F11}"/>
              </a:ext>
            </a:extLst>
          </p:cNvPr>
          <p:cNvSpPr txBox="1"/>
          <p:nvPr/>
        </p:nvSpPr>
        <p:spPr>
          <a:xfrm>
            <a:off x="368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汇报中使用图表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81874B7-A8B8-A8D4-FD9E-6A73C6A52DEF}"/>
              </a:ext>
            </a:extLst>
          </p:cNvPr>
          <p:cNvSpPr/>
          <p:nvPr/>
        </p:nvSpPr>
        <p:spPr>
          <a:xfrm>
            <a:off x="607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080B06B-B511-840B-52A4-A4CC705B72C7}"/>
              </a:ext>
            </a:extLst>
          </p:cNvPr>
          <p:cNvSpPr txBox="1"/>
          <p:nvPr/>
        </p:nvSpPr>
        <p:spPr>
          <a:xfrm>
            <a:off x="622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2D/1024D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F2C089C-535C-7291-983B-0490A1BC9367}"/>
              </a:ext>
            </a:extLst>
          </p:cNvPr>
          <p:cNvSpPr txBox="1"/>
          <p:nvPr/>
        </p:nvSpPr>
        <p:spPr>
          <a:xfrm>
            <a:off x="622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低维与图像高维特征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D0858A4-2548-3D83-5480-C0B0745FF5F6}"/>
              </a:ext>
            </a:extLst>
          </p:cNvPr>
          <p:cNvSpPr/>
          <p:nvPr/>
        </p:nvSpPr>
        <p:spPr>
          <a:xfrm>
            <a:off x="861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B527787-21AF-81C3-D30A-A5B08D3FAF97}"/>
              </a:ext>
            </a:extLst>
          </p:cNvPr>
          <p:cNvSpPr txBox="1"/>
          <p:nvPr/>
        </p:nvSpPr>
        <p:spPr>
          <a:xfrm>
            <a:off x="876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分类</a:t>
            </a:r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129544F-EC0F-FAE8-E5AD-250AB7EEF5F5}"/>
              </a:ext>
            </a:extLst>
          </p:cNvPr>
          <p:cNvSpPr txBox="1"/>
          <p:nvPr/>
        </p:nvSpPr>
        <p:spPr>
          <a:xfrm>
            <a:off x="876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监督与无监督覆盖</a:t>
            </a:r>
          </a:p>
        </p:txBody>
      </p:sp>
    </p:spTree>
    <p:extLst>
      <p:ext uri="{BB962C8B-B14F-4D97-AF65-F5344CB8AC3E}">
        <p14:creationId xmlns:p14="http://schemas.microsoft.com/office/powerpoint/2010/main" val="1099794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6BD5195-7A0C-978E-BF88-502E1583A7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9C68E471-B052-68A1-E97A-5946B30D09F5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3AD658A-2A5A-BF26-2C22-B58B752B3646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773DDA-C7AC-1813-770E-13995F195E0A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1865F1-A5AB-D782-3493-9D8F47F1F0D7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1A86B7-7209-67C1-1541-43BC63CDA25B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用身高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体重数据进行最小错误率与最小风险决策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642F37F-A8BC-40BA-7AA4-29F4DF3CF1BD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721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2816B1-3209-1948-C664-1495698495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9C2941-D8D0-227F-0209-D0CD0AB58DDE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7CD680B-FEF4-EB46-B34A-0748966A7D7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84567D7D-69B8-715E-5FA8-55B9731454A5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357A5D-FB4C-451C-04A7-42CF338EEE9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BAYES CLASSIFIER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223BF8-D601-5CA6-F62E-37C50920688F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实验一理论：概率决策框架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9568634-1D67-DBA0-D7E6-D5423BE26BB5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97C6AE9-AC3A-EA2E-BFA2-7DE031BEFCA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C928F3-EE62-E67A-7955-60490B47C3F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132846D-C151-A961-035C-6CA6780B018D}"/>
              </a:ext>
            </a:extLst>
          </p:cNvPr>
          <p:cNvSpPr/>
          <p:nvPr/>
        </p:nvSpPr>
        <p:spPr>
          <a:xfrm>
            <a:off x="7366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1F1AE4-C0FB-CB8D-69A3-A22AB0CDEFA2}"/>
              </a:ext>
            </a:extLst>
          </p:cNvPr>
          <p:cNvSpPr/>
          <p:nvPr/>
        </p:nvSpPr>
        <p:spPr>
          <a:xfrm>
            <a:off x="736600" y="1371600"/>
            <a:ext cx="76200" cy="1092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38C01E5-F6A2-D91D-8CA1-FEA967CBB2E9}"/>
              </a:ext>
            </a:extLst>
          </p:cNvPr>
          <p:cNvSpPr txBox="1"/>
          <p:nvPr/>
        </p:nvSpPr>
        <p:spPr>
          <a:xfrm>
            <a:off x="9271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后验概率决策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8794D7F-0F24-86EC-FFB4-82D52132FA45}"/>
              </a:ext>
            </a:extLst>
          </p:cNvPr>
          <p:cNvSpPr txBox="1"/>
          <p:nvPr/>
        </p:nvSpPr>
        <p:spPr>
          <a:xfrm>
            <a:off x="9271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选择给定特征后最可能的类别，本质是把观测特征映射到类别后验。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12D781-FDF2-746D-4854-9A2FC4F2FC92}"/>
              </a:ext>
            </a:extLst>
          </p:cNvPr>
          <p:cNvSpPr/>
          <p:nvPr/>
        </p:nvSpPr>
        <p:spPr>
          <a:xfrm>
            <a:off x="44450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213EFC-F049-3D8F-D140-2646A81774C3}"/>
              </a:ext>
            </a:extLst>
          </p:cNvPr>
          <p:cNvSpPr/>
          <p:nvPr/>
        </p:nvSpPr>
        <p:spPr>
          <a:xfrm>
            <a:off x="4445000" y="1371600"/>
            <a:ext cx="76200" cy="1092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4766DC-5EDB-559F-65AE-C843D9B61AE1}"/>
              </a:ext>
            </a:extLst>
          </p:cNvPr>
          <p:cNvSpPr txBox="1"/>
          <p:nvPr/>
        </p:nvSpPr>
        <p:spPr>
          <a:xfrm>
            <a:off x="46355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高斯参数估计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535E93A-F117-7E03-8FA1-D5BA3D299171}"/>
              </a:ext>
            </a:extLst>
          </p:cNvPr>
          <p:cNvSpPr txBox="1"/>
          <p:nvPr/>
        </p:nvSpPr>
        <p:spPr>
          <a:xfrm>
            <a:off x="46355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在正态假设下估计均值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μ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与协方差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，得到二次判别函数。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C133144-FDAD-CE2C-C0E5-0AE8DFAABF79}"/>
              </a:ext>
            </a:extLst>
          </p:cNvPr>
          <p:cNvSpPr/>
          <p:nvPr/>
        </p:nvSpPr>
        <p:spPr>
          <a:xfrm>
            <a:off x="8153400" y="1371600"/>
            <a:ext cx="2921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1E6A987-6054-0E1B-E115-A701CBA7A113}"/>
              </a:ext>
            </a:extLst>
          </p:cNvPr>
          <p:cNvSpPr/>
          <p:nvPr/>
        </p:nvSpPr>
        <p:spPr>
          <a:xfrm>
            <a:off x="8153400" y="1371600"/>
            <a:ext cx="76200" cy="1092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9C5C7D-8CE1-4852-25D3-B01FE72B6AC8}"/>
              </a:ext>
            </a:extLst>
          </p:cNvPr>
          <p:cNvSpPr txBox="1"/>
          <p:nvPr/>
        </p:nvSpPr>
        <p:spPr>
          <a:xfrm>
            <a:off x="8343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风险敏感决策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E51433-F868-A1FF-E40E-450F8D93BE85}"/>
              </a:ext>
            </a:extLst>
          </p:cNvPr>
          <p:cNvSpPr txBox="1"/>
          <p:nvPr/>
        </p:nvSpPr>
        <p:spPr>
          <a:xfrm>
            <a:off x="8343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用损失表刻画不同错误代价，选择条件风险最小的动作。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41BE72E-90A6-56EE-478A-ED41DCA365F5}"/>
              </a:ext>
            </a:extLst>
          </p:cNvPr>
          <p:cNvSpPr/>
          <p:nvPr/>
        </p:nvSpPr>
        <p:spPr>
          <a:xfrm>
            <a:off x="990600" y="3200400"/>
            <a:ext cx="10210800" cy="10922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BA77F1CB-618F-F247-E7FC-EEBA6ECF6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2309" y="3165895"/>
            <a:ext cx="13176617" cy="1161211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94068183-B4DD-F600-3FDB-8888F415E506}"/>
              </a:ext>
            </a:extLst>
          </p:cNvPr>
          <p:cNvSpPr txBox="1"/>
          <p:nvPr/>
        </p:nvSpPr>
        <p:spPr>
          <a:xfrm>
            <a:off x="1016000" y="4851400"/>
            <a:ext cx="9906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课程相关：参数估计、先验概率、贝叶斯判别函数、最小风险决策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实验目的：观察特征、先验、协方差假设和风险表对分类性能的影响</a:t>
            </a:r>
          </a:p>
        </p:txBody>
      </p:sp>
    </p:spTree>
    <p:extLst>
      <p:ext uri="{BB962C8B-B14F-4D97-AF65-F5344CB8AC3E}">
        <p14:creationId xmlns:p14="http://schemas.microsoft.com/office/powerpoint/2010/main" val="1885056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B47997-EA75-4C2A-D952-5822D0A664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973D47-46D9-A047-B3E6-E3865276D28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0B818E9-FED5-C08B-CA88-AF752B640B9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8EA88C4F-08EC-7341-0B84-09C57FBF161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DEC82D-D7EC-F04B-E617-ADD5035CEA4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BAYES INTUITION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00BE9A-A32D-A954-65A5-53713F76C0DA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实验一理论展开：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分类器到底在算什么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FD784E1-13DE-4E86-18DE-C8098E8A7682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73E7B77-5D90-1D18-83E5-BFB04CAEAAE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B1153E-4F4F-3417-859F-D36518AF8DCA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6E1F28F-6CFF-40F7-E719-4A99EA7F811E}"/>
              </a:ext>
            </a:extLst>
          </p:cNvPr>
          <p:cNvSpPr/>
          <p:nvPr/>
        </p:nvSpPr>
        <p:spPr>
          <a:xfrm>
            <a:off x="736600" y="1371600"/>
            <a:ext cx="3175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004E5B-12C7-4A49-F59C-78ED251125CD}"/>
              </a:ext>
            </a:extLst>
          </p:cNvPr>
          <p:cNvSpPr/>
          <p:nvPr/>
        </p:nvSpPr>
        <p:spPr>
          <a:xfrm>
            <a:off x="736600" y="1371600"/>
            <a:ext cx="76200" cy="13208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FA54A4-F703-1427-2790-AA10E8D4C334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先看样本像谁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AB2365-9513-C1BF-BA26-5C75608603C7}"/>
              </a:ext>
            </a:extLst>
          </p:cNvPr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身高、体重是观测到的特征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x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。分类器先比较这个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在女生分布和男生分布中出现的可能性。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A92FB07-55DF-147F-17DD-8773DCEA099F}"/>
              </a:ext>
            </a:extLst>
          </p:cNvPr>
          <p:cNvSpPr/>
          <p:nvPr/>
        </p:nvSpPr>
        <p:spPr>
          <a:xfrm>
            <a:off x="4508500" y="1371600"/>
            <a:ext cx="3175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B81288-6493-4233-8829-9A8B22177B76}"/>
              </a:ext>
            </a:extLst>
          </p:cNvPr>
          <p:cNvSpPr/>
          <p:nvPr/>
        </p:nvSpPr>
        <p:spPr>
          <a:xfrm>
            <a:off x="4508500" y="1371600"/>
            <a:ext cx="76200" cy="13208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6115EFB-E344-3FAE-AC95-2B3A3A05DEC8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再考虑先验比例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0827AC-038E-4B34-DD3D-552472133143}"/>
              </a:ext>
            </a:extLst>
          </p:cNvPr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如果测试集中男生更多，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P(M)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更大；同样的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可能更容易被判为男生。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17E939C-E7A2-7AAB-A9D2-E737E05211C0}"/>
              </a:ext>
            </a:extLst>
          </p:cNvPr>
          <p:cNvSpPr/>
          <p:nvPr/>
        </p:nvSpPr>
        <p:spPr>
          <a:xfrm>
            <a:off x="8280400" y="1371600"/>
            <a:ext cx="2921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44E30D-ED75-6A84-810A-45B32E94C78C}"/>
              </a:ext>
            </a:extLst>
          </p:cNvPr>
          <p:cNvSpPr/>
          <p:nvPr/>
        </p:nvSpPr>
        <p:spPr>
          <a:xfrm>
            <a:off x="8280400" y="1371600"/>
            <a:ext cx="76200" cy="132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1E704B-9FFB-F049-37EC-02C4D873E549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最后选择后验最大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499E6F4-5432-37C7-EDE7-A2BADDF16A5D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后验概率综合了类条件密度和先验概率，是做类别决策的直接依据。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9CBC479-F96C-5B80-A227-2AC799E71B40}"/>
              </a:ext>
            </a:extLst>
          </p:cNvPr>
          <p:cNvSpPr/>
          <p:nvPr/>
        </p:nvSpPr>
        <p:spPr>
          <a:xfrm>
            <a:off x="1041400" y="3327400"/>
            <a:ext cx="10109200" cy="863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877529F-B5A0-8AD9-12F2-D38764CE8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458" y="3519720"/>
            <a:ext cx="2537084" cy="47896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812AB68D-2D93-9DE2-DB0A-D16EAAF13865}"/>
              </a:ext>
            </a:extLst>
          </p:cNvPr>
          <p:cNvSpPr txBox="1"/>
          <p:nvPr/>
        </p:nvSpPr>
        <p:spPr>
          <a:xfrm>
            <a:off x="1143000" y="48260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类条件密度：某一类别内部的特征分布，例如女生身高体重大多集中在哪里。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先验概率：在看到特征之前，某一类本来出现的概率。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两类比较时，归一化项相同，实际只需要比较：密度乘以先验。</a:t>
            </a:r>
          </a:p>
        </p:txBody>
      </p:sp>
    </p:spTree>
    <p:extLst>
      <p:ext uri="{BB962C8B-B14F-4D97-AF65-F5344CB8AC3E}">
        <p14:creationId xmlns:p14="http://schemas.microsoft.com/office/powerpoint/2010/main" val="3485253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98228AD-E8F3-3D15-3D98-3FE3D9CF0A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D7D269-19E9-A67F-1B1A-978E70107AE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0296228-9805-3875-D34F-AC2356739DB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94DD8AB-46D2-FC06-BDAD-199DA737AC9C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B8603B-DF2B-17E4-6282-EC7234CF229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DISCRIMINANT FUNCTION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A7FADA-56AA-B946-9A15-89E15195804D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实验一理论展开：为什么会出现曲线决策边界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1A56297-DF73-B06F-34D0-93EA035C9C36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39E3249-FD68-EB5E-E9B9-5369D63FADF5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5994007-30FE-AE79-5E8D-D6FFDEC9C37B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31AB037-4786-0C3B-89B9-20E54159A78B}"/>
              </a:ext>
            </a:extLst>
          </p:cNvPr>
          <p:cNvSpPr/>
          <p:nvPr/>
        </p:nvSpPr>
        <p:spPr>
          <a:xfrm>
            <a:off x="863600" y="1498600"/>
            <a:ext cx="31750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6A5DC6-EB59-2F2E-B237-EEADD882D938}"/>
              </a:ext>
            </a:extLst>
          </p:cNvPr>
          <p:cNvSpPr/>
          <p:nvPr/>
        </p:nvSpPr>
        <p:spPr>
          <a:xfrm>
            <a:off x="863600" y="1498600"/>
            <a:ext cx="76200" cy="12446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A1CF567-69C8-C198-1CFB-15ECD27845B6}"/>
              </a:ext>
            </a:extLst>
          </p:cNvPr>
          <p:cNvSpPr txBox="1"/>
          <p:nvPr/>
        </p:nvSpPr>
        <p:spPr>
          <a:xfrm>
            <a:off x="1054100" y="1625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一维特征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2841E4B-F62D-F3FD-5212-91505CB5FFCE}"/>
              </a:ext>
            </a:extLst>
          </p:cNvPr>
          <p:cNvSpPr txBox="1"/>
          <p:nvPr/>
        </p:nvSpPr>
        <p:spPr>
          <a:xfrm>
            <a:off x="1054100" y="1981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只用身高或体重时，每个类别是一条正态曲线。两条曲线加上先验后，交点就是阈值。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A825C40-52A7-E80A-1DC8-E3796636044A}"/>
              </a:ext>
            </a:extLst>
          </p:cNvPr>
          <p:cNvSpPr/>
          <p:nvPr/>
        </p:nvSpPr>
        <p:spPr>
          <a:xfrm>
            <a:off x="4508500" y="1498600"/>
            <a:ext cx="31750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4916AD-9161-71A3-4AA5-070CF3091E2B}"/>
              </a:ext>
            </a:extLst>
          </p:cNvPr>
          <p:cNvSpPr/>
          <p:nvPr/>
        </p:nvSpPr>
        <p:spPr>
          <a:xfrm>
            <a:off x="4508500" y="1498600"/>
            <a:ext cx="76200" cy="12446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96FA2DE-2CE9-5A79-2F4E-8C1222D3F38C}"/>
              </a:ext>
            </a:extLst>
          </p:cNvPr>
          <p:cNvSpPr txBox="1"/>
          <p:nvPr/>
        </p:nvSpPr>
        <p:spPr>
          <a:xfrm>
            <a:off x="4699000" y="1625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二维特征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C4303F6-2179-BC92-DB35-CDEAF4DF5989}"/>
              </a:ext>
            </a:extLst>
          </p:cNvPr>
          <p:cNvSpPr txBox="1"/>
          <p:nvPr/>
        </p:nvSpPr>
        <p:spPr>
          <a:xfrm>
            <a:off x="4699000" y="1981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同时使用身高和体重时，每个类别是二维高斯分布，等概率位置形成决策边界。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50A474C-5297-BC34-B201-50625C5C2859}"/>
              </a:ext>
            </a:extLst>
          </p:cNvPr>
          <p:cNvSpPr/>
          <p:nvPr/>
        </p:nvSpPr>
        <p:spPr>
          <a:xfrm>
            <a:off x="8153400" y="1498600"/>
            <a:ext cx="30226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7A7009-1187-4779-C6B3-D78DA0418D22}"/>
              </a:ext>
            </a:extLst>
          </p:cNvPr>
          <p:cNvSpPr/>
          <p:nvPr/>
        </p:nvSpPr>
        <p:spPr>
          <a:xfrm>
            <a:off x="8153400" y="1498600"/>
            <a:ext cx="76200" cy="12446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35F20A-F68B-DFA7-03C4-96BDA14D8A13}"/>
              </a:ext>
            </a:extLst>
          </p:cNvPr>
          <p:cNvSpPr txBox="1"/>
          <p:nvPr/>
        </p:nvSpPr>
        <p:spPr>
          <a:xfrm>
            <a:off x="8343900" y="1625600"/>
            <a:ext cx="2717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协方差的作用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5733B06-C9B5-5932-292A-ED880D69CA14}"/>
              </a:ext>
            </a:extLst>
          </p:cNvPr>
          <p:cNvSpPr txBox="1"/>
          <p:nvPr/>
        </p:nvSpPr>
        <p:spPr>
          <a:xfrm>
            <a:off x="8343900" y="1981200"/>
            <a:ext cx="27178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完整协方差会描述身高和体重的相关性，因此边界可以弯曲；对角协方差会更简化。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4D3A2F7-904E-0B60-4C64-EF240281E22C}"/>
              </a:ext>
            </a:extLst>
          </p:cNvPr>
          <p:cNvSpPr/>
          <p:nvPr/>
        </p:nvSpPr>
        <p:spPr>
          <a:xfrm>
            <a:off x="1016000" y="3479800"/>
            <a:ext cx="10160000" cy="8890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5F0CD0E8-ED53-6C8B-958D-B129ABDF0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26" y="3527823"/>
            <a:ext cx="11584749" cy="792955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54193F9D-A21E-41E1-8612-D08DD199B8EB}"/>
              </a:ext>
            </a:extLst>
          </p:cNvPr>
          <p:cNvSpPr txBox="1"/>
          <p:nvPr/>
        </p:nvSpPr>
        <p:spPr>
          <a:xfrm>
            <a:off x="1117600" y="49022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决策边界本质上是两类判别函数相等的位置。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边界附近的样本最容易被错分，因为它们同时像两个类别。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本实验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中男生样本更多，先验设置会明显影响边界向哪一侧移动。</a:t>
            </a:r>
          </a:p>
        </p:txBody>
      </p:sp>
    </p:spTree>
    <p:extLst>
      <p:ext uri="{BB962C8B-B14F-4D97-AF65-F5344CB8AC3E}">
        <p14:creationId xmlns:p14="http://schemas.microsoft.com/office/powerpoint/2010/main" val="3993890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542436E-2536-3C1E-7350-BAFF121980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6CC762-DAFC-BAD8-A379-9B7794A9166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8C8AB2C-542B-2249-800E-4464FF2A2A91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8A5F0001-EBA0-20E4-D356-4B567CE725B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F84236-9B53-7A04-846D-CB3C41C84B8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89DF2B-1B68-6CFD-8CF6-95C031A8E5EF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实验一设置：数据、特征与实现流程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3309BB1-7C69-AF89-332D-6F9E4FA9A292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C06AA12-F6FD-ABF5-1F04-949E497C9667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74E6E1-482F-F47F-CFC7-31A7ADD92FC4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94E051F-C35E-090B-DE22-B1CEBA0006B4}"/>
              </a:ext>
            </a:extLst>
          </p:cNvPr>
          <p:cNvSpPr/>
          <p:nvPr/>
        </p:nvSpPr>
        <p:spPr>
          <a:xfrm>
            <a:off x="889000" y="14986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F5E6C5C-41A4-1084-F99E-F58A109055A7}"/>
              </a:ext>
            </a:extLst>
          </p:cNvPr>
          <p:cNvSpPr txBox="1"/>
          <p:nvPr/>
        </p:nvSpPr>
        <p:spPr>
          <a:xfrm>
            <a:off x="901700" y="1574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5EBF0DB-D50C-2A43-DF13-D456343ED232}"/>
              </a:ext>
            </a:extLst>
          </p:cNvPr>
          <p:cNvSpPr txBox="1"/>
          <p:nvPr/>
        </p:nvSpPr>
        <p:spPr>
          <a:xfrm>
            <a:off x="1422400" y="1460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读取数据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754C185-E796-6BD1-C8B2-83E5D944509D}"/>
              </a:ext>
            </a:extLst>
          </p:cNvPr>
          <p:cNvSpPr txBox="1"/>
          <p:nvPr/>
        </p:nvSpPr>
        <p:spPr>
          <a:xfrm>
            <a:off x="1422400" y="1778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FEMALE/MALE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作为训练集；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test1/test2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作为测试集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2BA61D5-6C7A-D6BD-1491-9059A2E6ED39}"/>
              </a:ext>
            </a:extLst>
          </p:cNvPr>
          <p:cNvSpPr/>
          <p:nvPr/>
        </p:nvSpPr>
        <p:spPr>
          <a:xfrm>
            <a:off x="889000" y="25146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AFDB490-0417-8042-2661-DFF9D7D67B2E}"/>
              </a:ext>
            </a:extLst>
          </p:cNvPr>
          <p:cNvSpPr txBox="1"/>
          <p:nvPr/>
        </p:nvSpPr>
        <p:spPr>
          <a:xfrm>
            <a:off x="901700" y="2590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3E4CF9-88CC-C59B-B280-7467B8926153}"/>
              </a:ext>
            </a:extLst>
          </p:cNvPr>
          <p:cNvSpPr txBox="1"/>
          <p:nvPr/>
        </p:nvSpPr>
        <p:spPr>
          <a:xfrm>
            <a:off x="1422400" y="2476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选择特征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B3C2888-7A65-2A4D-87EF-218A1BC67EA3}"/>
              </a:ext>
            </a:extLst>
          </p:cNvPr>
          <p:cNvSpPr txBox="1"/>
          <p:nvPr/>
        </p:nvSpPr>
        <p:spPr>
          <a:xfrm>
            <a:off x="1422400" y="2794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身高、体重、身高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体重三组对比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2CBDEC9E-0AD5-220A-CAD3-3AE18D5FF78D}"/>
              </a:ext>
            </a:extLst>
          </p:cNvPr>
          <p:cNvSpPr/>
          <p:nvPr/>
        </p:nvSpPr>
        <p:spPr>
          <a:xfrm>
            <a:off x="889000" y="35306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F01D8E9-4A06-7C74-9C36-48EF31933D2C}"/>
              </a:ext>
            </a:extLst>
          </p:cNvPr>
          <p:cNvSpPr txBox="1"/>
          <p:nvPr/>
        </p:nvSpPr>
        <p:spPr>
          <a:xfrm>
            <a:off x="901700" y="3606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006DE89-6CCC-260D-EAB8-4810C92C6B32}"/>
              </a:ext>
            </a:extLst>
          </p:cNvPr>
          <p:cNvSpPr txBox="1"/>
          <p:nvPr/>
        </p:nvSpPr>
        <p:spPr>
          <a:xfrm>
            <a:off x="1422400" y="3492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估计分布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E6EA88-EFD3-F27B-6DC5-302F19B75318}"/>
              </a:ext>
            </a:extLst>
          </p:cNvPr>
          <p:cNvSpPr txBox="1"/>
          <p:nvPr/>
        </p:nvSpPr>
        <p:spPr>
          <a:xfrm>
            <a:off x="1422400" y="3810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最大似然估计 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μ</a:t>
            </a:r>
            <a:r>
              <a:rPr lang="zh-CN" altLang="el-GR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或 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endParaRPr lang="zh-CN" altLang="en-US" sz="12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44737D21-AD99-6DA2-E114-3D0985D31B46}"/>
              </a:ext>
            </a:extLst>
          </p:cNvPr>
          <p:cNvSpPr/>
          <p:nvPr/>
        </p:nvSpPr>
        <p:spPr>
          <a:xfrm>
            <a:off x="889000" y="45466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AAF6DB2-9BAE-5DB4-AA46-E05B424ED604}"/>
              </a:ext>
            </a:extLst>
          </p:cNvPr>
          <p:cNvSpPr txBox="1"/>
          <p:nvPr/>
        </p:nvSpPr>
        <p:spPr>
          <a:xfrm>
            <a:off x="901700" y="4622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F4F5605-6C2E-B302-930D-09F099AFDC15}"/>
              </a:ext>
            </a:extLst>
          </p:cNvPr>
          <p:cNvSpPr txBox="1"/>
          <p:nvPr/>
        </p:nvSpPr>
        <p:spPr>
          <a:xfrm>
            <a:off x="1422400" y="4508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分类评估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F7DBA6B-821B-ED28-599A-CED8301AEAEB}"/>
              </a:ext>
            </a:extLst>
          </p:cNvPr>
          <p:cNvSpPr txBox="1"/>
          <p:nvPr/>
        </p:nvSpPr>
        <p:spPr>
          <a:xfrm>
            <a:off x="1422400" y="4826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准确率、召回率、混淆矩阵、错误分析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F4E31FD4-4CA0-A718-671A-5DE783A69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145506"/>
              </p:ext>
            </p:extLst>
          </p:nvPr>
        </p:nvGraphicFramePr>
        <p:xfrm>
          <a:off x="5943600" y="1524000"/>
          <a:ext cx="4953000" cy="234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603056866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290448883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取值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17285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先验概率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0.5/0.5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0.75/0.25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0.9/0.1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47537452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89072504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风险表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M|F)=2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F|M)=1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82334878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非参数补充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窗、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788819737"/>
                  </a:ext>
                </a:extLst>
              </a:tr>
            </a:tbl>
          </a:graphicData>
        </a:graphic>
      </p:graphicFrame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CB65C22-FBAE-25B3-A5B0-7944C0AA7AA1}"/>
              </a:ext>
            </a:extLst>
          </p:cNvPr>
          <p:cNvSpPr/>
          <p:nvPr/>
        </p:nvSpPr>
        <p:spPr>
          <a:xfrm>
            <a:off x="6197600" y="4521200"/>
            <a:ext cx="44450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581FB75-A988-F4FF-141A-8BBDFC41C393}"/>
              </a:ext>
            </a:extLst>
          </p:cNvPr>
          <p:cNvSpPr/>
          <p:nvPr/>
        </p:nvSpPr>
        <p:spPr>
          <a:xfrm>
            <a:off x="6197600" y="45212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8220F6A-5EB8-2E42-900D-54FEBF409052}"/>
              </a:ext>
            </a:extLst>
          </p:cNvPr>
          <p:cNvSpPr txBox="1"/>
          <p:nvPr/>
        </p:nvSpPr>
        <p:spPr>
          <a:xfrm>
            <a:off x="6388100" y="46482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实现要点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B1172DE-FD52-DED7-CA8A-CD6D05460CEA}"/>
              </a:ext>
            </a:extLst>
          </p:cNvPr>
          <p:cNvSpPr txBox="1"/>
          <p:nvPr/>
        </p:nvSpPr>
        <p:spPr>
          <a:xfrm>
            <a:off x="6388100" y="5003800"/>
            <a:ext cx="414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所有分类器统一输出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train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test1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上的性能，便于横向比较。</a:t>
            </a:r>
          </a:p>
        </p:txBody>
      </p:sp>
    </p:spTree>
    <p:extLst>
      <p:ext uri="{BB962C8B-B14F-4D97-AF65-F5344CB8AC3E}">
        <p14:creationId xmlns:p14="http://schemas.microsoft.com/office/powerpoint/2010/main" val="2927647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30DF9CF-AE36-FCB4-8810-CEECDBB604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299AF9-465E-D400-AA95-F2CFDA0B331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F7D2B2AA-9E2D-3AD7-0FD6-8A42249999D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91BB517B-C2D1-AF4A-4637-48FCB89FAD91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5924DE-3D65-3D19-A710-5C35E151A10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 VISUALS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6E5CA2-C9E7-E174-56F3-7AD5451B6892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实验一结果：数据分布与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决策边界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4FA4DEA-73E7-BFF5-2335-1A3D42F0ED3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64BD7D2-1314-3E04-5E5A-79DB8E28C15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5194887-16AE-9360-399F-761009161EAA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DD27275-517F-E23B-5B50-917A745591F2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36476D6-F30F-F02A-200F-C2D66C2B5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9BE9065-688B-1341-FC76-4C627F007B57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232A529-350D-2E8B-004D-872FCABCE2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847782"/>
            <a:ext cx="4071811" cy="290843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7093197-92F4-EE01-36A7-CA5CF96FD278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2BE53F0-541C-58D7-603A-F9266D4A1C37}"/>
              </a:ext>
            </a:extLst>
          </p:cNvPr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88.00%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5E77596-27B2-3EC4-60F2-68527710EFE3}"/>
              </a:ext>
            </a:extLst>
          </p:cNvPr>
          <p:cNvSpPr txBox="1"/>
          <p:nvPr/>
        </p:nvSpPr>
        <p:spPr>
          <a:xfrm>
            <a:off x="1168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二维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训练准确率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C198587-D4D8-C3D4-E217-688EB325579D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9F68DB-DB12-F375-A4A4-16ED8ED3B9E1}"/>
              </a:ext>
            </a:extLst>
          </p:cNvPr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97.14%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87F7BF9-F4AE-9FF7-649B-A0B0B18D5486}"/>
              </a:ext>
            </a:extLst>
          </p:cNvPr>
          <p:cNvSpPr txBox="1"/>
          <p:nvPr/>
        </p:nvSpPr>
        <p:spPr>
          <a:xfrm>
            <a:off x="3454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test1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8B550B2-8427-0B7A-BED4-FEA4D19DF3A3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7E7130C-2304-AB38-BAE5-7A5158400117}"/>
              </a:ext>
            </a:extLst>
          </p:cNvPr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A2E7EF2-BB73-4F82-A6FB-8903FB097901}"/>
              </a:ext>
            </a:extLst>
          </p:cNvPr>
          <p:cNvSpPr txBox="1"/>
          <p:nvPr/>
        </p:nvSpPr>
        <p:spPr>
          <a:xfrm>
            <a:off x="5740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1F27681-0321-B5B3-76F8-63168220431B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9F27F-4E7A-C087-7B88-8BAA45BC365A}"/>
              </a:ext>
            </a:extLst>
          </p:cNvPr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C8B111E-5590-BB26-3CE9-DFA50AF9116D}"/>
              </a:ext>
            </a:extLst>
          </p:cNvPr>
          <p:cNvSpPr txBox="1"/>
          <p:nvPr/>
        </p:nvSpPr>
        <p:spPr>
          <a:xfrm>
            <a:off x="8026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对角协方差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test2</a:t>
            </a:r>
            <a:endParaRPr lang="zh-CN" altLang="en-US" sz="12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2187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E96EC82-7D8D-4961-C1BE-B22E10ED6F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7539E0-04EE-5C3B-C30F-B665A1F21108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C2D645E-02F4-3DE1-3937-1C6050EB3916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EE3C8F3F-8643-E38B-03A3-6C00365554D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05EA54-2E63-B931-E25E-CD5E0470851A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FB316A3-9E33-EA9E-E364-DC06B80BF085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实验一分析：先验与风险改变决策偏向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CAF7254-2584-1376-00DB-60E8EB9FB078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6C4CADA-E1DD-4817-DD41-DD1C2198E9A7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4718C3-702A-9BBC-601E-FECCA7107749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520028F-7F9E-F5B9-162D-871E5DF4F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280475"/>
              </p:ext>
            </p:extLst>
          </p:nvPr>
        </p:nvGraphicFramePr>
        <p:xfrm>
          <a:off x="762000" y="1333500"/>
          <a:ext cx="63500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144338887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753151986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25296725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149536787"/>
                    </a:ext>
                  </a:extLst>
                </a:gridCol>
              </a:tblGrid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056613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177160126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578167665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最小风险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73080580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167298480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k=5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826329493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9CF199B-C572-64FF-6093-841ED49B08AB}"/>
              </a:ext>
            </a:extLst>
          </p:cNvPr>
          <p:cNvSpPr/>
          <p:nvPr/>
        </p:nvSpPr>
        <p:spPr>
          <a:xfrm>
            <a:off x="7848600" y="1333500"/>
            <a:ext cx="2794000" cy="241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118011F-85E5-E23D-C8D8-58D26EEFD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917" y="1731129"/>
            <a:ext cx="1887366" cy="161774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5D82ED5-A4C8-4872-8AC2-1710DF291A37}"/>
              </a:ext>
            </a:extLst>
          </p:cNvPr>
          <p:cNvSpPr txBox="1"/>
          <p:nvPr/>
        </p:nvSpPr>
        <p:spPr>
          <a:xfrm>
            <a:off x="914400" y="4445000"/>
            <a:ext cx="9906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身高和体重组合能利用互补信息，整体比单特征更稳定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中男生比例更高，若人为设置女生先验过大，会显著降低整体准确率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最小风险决策体现错误代价不同时的分类器设计思想</a:t>
            </a:r>
          </a:p>
        </p:txBody>
      </p:sp>
    </p:spTree>
    <p:extLst>
      <p:ext uri="{BB962C8B-B14F-4D97-AF65-F5344CB8AC3E}">
        <p14:creationId xmlns:p14="http://schemas.microsoft.com/office/powerpoint/2010/main" val="1972628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DD58BE6-4C1E-C8BD-68D6-B096EA9EA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08058010-D2AA-9319-9051-ED438ACFCF67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B25128B-595D-E082-2D86-895C7CE4EA04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45DDB4-B596-B8AC-613A-99E5F73F3328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5E0EE9F-A776-8305-339E-AAF6EEB331C8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实验二：非参数估计与 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判别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CF0782-8C7D-D8B8-C01A-E37EC2D37ABC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比较概率密度估计方法与直接设计线性分类器的方法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0001831-1BF8-EA0C-5305-8B865D476D42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889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5640BB9-D2FF-AA92-BA67-40B5256C1C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58A4EC-179D-0AD1-7AF6-1CAE5574D688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C9418FE-B879-39BB-D028-006DE26CD93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504E53F-D6EE-B88D-D4B7-58D3749CBF4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BDCBE7-4CFE-EFBE-0DAF-70411898500E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NONPARAMETRIC &amp; LINEAR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3E4D50-07EC-CE33-2C77-B36F12C91E25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实验二理论：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Parzen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与留一法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5A4321F-0823-7B29-421D-2F1F968C25E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E750F52-EBBC-627F-3D09-FE3EB774274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BE514C-BBBC-A89B-B55E-8785973D532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09C05EF-51E7-5B9D-A485-E9CA423AF902}"/>
              </a:ext>
            </a:extLst>
          </p:cNvPr>
          <p:cNvSpPr/>
          <p:nvPr/>
        </p:nvSpPr>
        <p:spPr>
          <a:xfrm>
            <a:off x="7366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918114-89F0-49C6-8314-3A9A01C30FBF}"/>
              </a:ext>
            </a:extLst>
          </p:cNvPr>
          <p:cNvSpPr/>
          <p:nvPr/>
        </p:nvSpPr>
        <p:spPr>
          <a:xfrm>
            <a:off x="736600" y="13716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A9296CC-9201-E114-EA67-2CC67E71D485}"/>
              </a:ext>
            </a:extLst>
          </p:cNvPr>
          <p:cNvSpPr txBox="1"/>
          <p:nvPr/>
        </p:nvSpPr>
        <p:spPr>
          <a:xfrm>
            <a:off x="9271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窗估计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C5F086-FFA7-9896-7811-0AAF38FF638A}"/>
              </a:ext>
            </a:extLst>
          </p:cNvPr>
          <p:cNvSpPr txBox="1"/>
          <p:nvPr/>
        </p:nvSpPr>
        <p:spPr>
          <a:xfrm>
            <a:off x="9271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不预设概率密度形式，用高斯核叠加估计类别条件密度。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4971C63-B6BD-EE76-BDB6-8DDE5552D5CD}"/>
              </a:ext>
            </a:extLst>
          </p:cNvPr>
          <p:cNvSpPr/>
          <p:nvPr/>
        </p:nvSpPr>
        <p:spPr>
          <a:xfrm>
            <a:off x="44450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0176E4-EA5F-1587-7C11-7833F698AD0C}"/>
              </a:ext>
            </a:extLst>
          </p:cNvPr>
          <p:cNvSpPr/>
          <p:nvPr/>
        </p:nvSpPr>
        <p:spPr>
          <a:xfrm>
            <a:off x="4445000" y="13716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29F048-EEB2-AE16-D356-9C8290313A13}"/>
              </a:ext>
            </a:extLst>
          </p:cNvPr>
          <p:cNvSpPr txBox="1"/>
          <p:nvPr/>
        </p:nvSpPr>
        <p:spPr>
          <a:xfrm>
            <a:off x="46355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线性判别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5E3D1D3-DA7C-7F56-9576-C7E5368EB754}"/>
              </a:ext>
            </a:extLst>
          </p:cNvPr>
          <p:cNvSpPr txBox="1"/>
          <p:nvPr/>
        </p:nvSpPr>
        <p:spPr>
          <a:xfrm>
            <a:off x="46355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最大化类间离散度与类内离散度之比，得到线性投影方向。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81A4921-8F9E-624F-710E-A893B9538C9E}"/>
              </a:ext>
            </a:extLst>
          </p:cNvPr>
          <p:cNvSpPr/>
          <p:nvPr/>
        </p:nvSpPr>
        <p:spPr>
          <a:xfrm>
            <a:off x="8153400" y="1371600"/>
            <a:ext cx="2921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532433C-65B2-C4A1-707F-11CF5412AA8A}"/>
              </a:ext>
            </a:extLst>
          </p:cNvPr>
          <p:cNvSpPr/>
          <p:nvPr/>
        </p:nvSpPr>
        <p:spPr>
          <a:xfrm>
            <a:off x="8153400" y="13716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B3F9276-3E4A-303E-1DCD-1ABB26E12799}"/>
              </a:ext>
            </a:extLst>
          </p:cNvPr>
          <p:cNvSpPr txBox="1"/>
          <p:nvPr/>
        </p:nvSpPr>
        <p:spPr>
          <a:xfrm>
            <a:off x="8343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留一法估计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07EF42-DF38-78F5-D296-A920CC4666BA}"/>
              </a:ext>
            </a:extLst>
          </p:cNvPr>
          <p:cNvSpPr txBox="1"/>
          <p:nvPr/>
        </p:nvSpPr>
        <p:spPr>
          <a:xfrm>
            <a:off x="8343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每次留出一个样本验证，适合小样本泛化误差估计。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B44C1B2-1CC2-0245-7CF2-15BB02D59C42}"/>
              </a:ext>
            </a:extLst>
          </p:cNvPr>
          <p:cNvSpPr/>
          <p:nvPr/>
        </p:nvSpPr>
        <p:spPr>
          <a:xfrm>
            <a:off x="1143000" y="3251200"/>
            <a:ext cx="9906000" cy="914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2AFE5918-523B-A976-88F3-CA0F523AC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415" y="3425932"/>
            <a:ext cx="5053171" cy="564936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0D4D2879-9661-7937-EC16-D46A7ADEA76D}"/>
              </a:ext>
            </a:extLst>
          </p:cNvPr>
          <p:cNvSpPr txBox="1"/>
          <p:nvPr/>
        </p:nvSpPr>
        <p:spPr>
          <a:xfrm>
            <a:off x="1016000" y="4851400"/>
            <a:ext cx="9906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课程重点：参数估计与非参数估计的差别；概率模型与判别模型的差别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实验问题：非参数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是否能达到高斯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的性能</a:t>
            </a:r>
          </a:p>
        </p:txBody>
      </p:sp>
    </p:spTree>
    <p:extLst>
      <p:ext uri="{BB962C8B-B14F-4D97-AF65-F5344CB8AC3E}">
        <p14:creationId xmlns:p14="http://schemas.microsoft.com/office/powerpoint/2010/main" val="846542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F7C12B-FAF9-32E4-0F77-D0A7DBD91F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D67E4A-F8B5-7265-89A2-0701E4ECD62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CA66DF9-5AC4-388B-0FF2-458C3B1FB93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65A861A-9AFA-D151-02D8-E989DE6E7CB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7D5903-4B55-E58B-F7E6-88B4AED8191A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METHOD COMPARISON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3CE406-76F3-93C8-38F6-388E30E7466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实验二理论展开：密度估计和直接判别的区别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4E1F205-93EB-B060-1F09-01B955FA23ED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4729D4C-FCB0-86FE-E42A-555C3831421E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3A3565-30F9-B86B-C31F-D3F77843CA4C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6549C29-1B9B-E76A-8F76-B1F6352D3917}"/>
              </a:ext>
            </a:extLst>
          </p:cNvPr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45AE4C-C12C-0645-48B7-9D9E3B8527BD}"/>
              </a:ext>
            </a:extLst>
          </p:cNvPr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31D541-6C5B-B75E-A98A-3F94DB3507D7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参数估计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C1DB447-3A2E-FBDC-F5FD-B05E7007E7FE}"/>
              </a:ext>
            </a:extLst>
          </p:cNvPr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先假设数据服从某种分布，例如正态分布，再估计少量参数。优点是稳定，缺点是假设可能不准。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23AAF80-9C53-1370-FDC7-B216014ED272}"/>
              </a:ext>
            </a:extLst>
          </p:cNvPr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FD6FE3-CC96-32F9-168E-CF6E4CA155B8}"/>
              </a:ext>
            </a:extLst>
          </p:cNvPr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C8CB4DB-7410-1F6E-881B-6D9188F933EA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非参数估计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CC0EE00-884D-1DBE-1F64-515B047874AB}"/>
              </a:ext>
            </a:extLst>
          </p:cNvPr>
          <p:cNvSpPr txBox="1"/>
          <p:nvPr/>
        </p:nvSpPr>
        <p:spPr>
          <a:xfrm>
            <a:off x="46990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不强行指定密度形状，而是让训练样本本身决定分布外形。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窗可以看作给每个样本放一个小核。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BA7832C-B805-F508-EB65-905C07C58432}"/>
              </a:ext>
            </a:extLst>
          </p:cNvPr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6D51E54-41BE-D72D-1981-F1E13FFDEB6E}"/>
              </a:ext>
            </a:extLst>
          </p:cNvPr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F185820-C5CD-9779-F979-B65301062ED1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直接判别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F4ED5F-1425-AEF8-324F-3F16396B2AE6}"/>
              </a:ext>
            </a:extLst>
          </p:cNvPr>
          <p:cNvSpPr txBox="1"/>
          <p:nvPr/>
        </p:nvSpPr>
        <p:spPr>
          <a:xfrm>
            <a:off x="8470900" y="1854200"/>
            <a:ext cx="2616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不估计概率密度，而是直接找一条投影轴，让两类均值尽量远、类内尽量集中。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8E4951F-48A6-F7DF-F0B5-E8979EB7FBAE}"/>
              </a:ext>
            </a:extLst>
          </p:cNvPr>
          <p:cNvSpPr/>
          <p:nvPr/>
        </p:nvSpPr>
        <p:spPr>
          <a:xfrm>
            <a:off x="1168400" y="3429000"/>
            <a:ext cx="4521200" cy="1168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0DDAA6D-2E4B-A55E-58FA-014D04D06FAA}"/>
              </a:ext>
            </a:extLst>
          </p:cNvPr>
          <p:cNvSpPr txBox="1"/>
          <p:nvPr/>
        </p:nvSpPr>
        <p:spPr>
          <a:xfrm>
            <a:off x="1473200" y="3708400"/>
            <a:ext cx="393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Parzen</a:t>
            </a:r>
            <a:r>
              <a:rPr lang="zh-CN" altLang="en-US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：用样本堆出类别密度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26D8867-158D-17A1-A3FB-224A9DC234F6}"/>
              </a:ext>
            </a:extLst>
          </p:cNvPr>
          <p:cNvSpPr txBox="1"/>
          <p:nvPr/>
        </p:nvSpPr>
        <p:spPr>
          <a:xfrm>
            <a:off x="1473200" y="4089400"/>
            <a:ext cx="381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窗口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小：密度起伏大，容易过拟合；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大：密度过平滑，细节会丢失。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57CB1E8-6C25-E382-9777-8ABF6EB3D52D}"/>
              </a:ext>
            </a:extLst>
          </p:cNvPr>
          <p:cNvSpPr/>
          <p:nvPr/>
        </p:nvSpPr>
        <p:spPr>
          <a:xfrm>
            <a:off x="6502400" y="3429000"/>
            <a:ext cx="4521200" cy="1168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AC89324-439E-6EE7-9345-F909BEEA18AB}"/>
              </a:ext>
            </a:extLst>
          </p:cNvPr>
          <p:cNvSpPr txBox="1"/>
          <p:nvPr/>
        </p:nvSpPr>
        <p:spPr>
          <a:xfrm>
            <a:off x="6807200" y="3708400"/>
            <a:ext cx="393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Fisher</a:t>
            </a:r>
            <a:r>
              <a:rPr lang="zh-CN" altLang="en-US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：用投影方向分开类别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C0153E4-AE6F-FA7F-E884-46DC6A25E063}"/>
              </a:ext>
            </a:extLst>
          </p:cNvPr>
          <p:cNvSpPr txBox="1"/>
          <p:nvPr/>
        </p:nvSpPr>
        <p:spPr>
          <a:xfrm>
            <a:off x="6807200" y="4089400"/>
            <a:ext cx="381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它关心的不是密度形状，而是投影后一维空间里两类是否容易用阈值分开。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B010E7A-BD4C-81B8-D09D-35F5582B6D41}"/>
              </a:ext>
            </a:extLst>
          </p:cNvPr>
          <p:cNvSpPr txBox="1"/>
          <p:nvPr/>
        </p:nvSpPr>
        <p:spPr>
          <a:xfrm>
            <a:off x="1117600" y="50546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本实验用同一组身高体重特征比较三类思想：高斯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Parzen Bayes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如果三者性能接近，说明这个数据集的类别结构比较简单，线性边界已经足够有效。</a:t>
            </a:r>
          </a:p>
        </p:txBody>
      </p:sp>
    </p:spTree>
    <p:extLst>
      <p:ext uri="{BB962C8B-B14F-4D97-AF65-F5344CB8AC3E}">
        <p14:creationId xmlns:p14="http://schemas.microsoft.com/office/powerpoint/2010/main" val="1223793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1CA755F-373E-9894-9B28-B068249414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A7EEBD-04EE-B294-27F7-7D7DDF62FA93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7DDF61F-8C8F-5E79-A416-7F2E12D085D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46918F1F-7BFE-7C1F-74EF-5810DE3AF93F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EA1CA7-4735-AC7E-641F-3F871043E81C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COMPARISON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B572AC-D7F6-0514-167E-4050D006531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实验二结果：线性边界与投影分布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5CED9D0-E9A6-0624-DA17-502D3D14F2C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6B91751-A69F-B97B-EE92-7992384E46E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DAC071-AEC0-6643-C168-BCC2B1B57D89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2F8F0C3-44CE-3745-1C74-513BDB1B3247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1CD5B66-92CA-7565-EBB1-4D55F1156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D6C965-6604-DE0C-9571-754D3DBD96A7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A3DD58D-021A-07A8-E3B2-C39EA97C3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4" y="2195178"/>
            <a:ext cx="4071812" cy="2213644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97DC420-3719-8A71-90FF-264350D8E54E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A35C68-2CFD-C3B1-E24A-72585C933EBF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1859B2F-9DA5-1D83-1B78-114C9E8EFEDA}"/>
              </a:ext>
            </a:extLst>
          </p:cNvPr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DFD2F8E-B12A-5132-A402-D1FBBDD9856D}"/>
              </a:ext>
            </a:extLst>
          </p:cNvPr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给出简单线性边界，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边界受密度估计影响。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6F75830-71C1-729D-3848-5559F3A23D4D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9CA83EA-294C-1D83-FCC9-D9F928E15FD8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440344-73DC-E139-8C27-876EAC17B537}"/>
              </a:ext>
            </a:extLst>
          </p:cNvPr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94B4E96-6174-2361-3B28-A9920731C166}"/>
              </a:ext>
            </a:extLst>
          </p:cNvPr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投影后男女样本主体分离，但边界区域仍有重叠。</a:t>
            </a:r>
          </a:p>
        </p:txBody>
      </p:sp>
    </p:spTree>
    <p:extLst>
      <p:ext uri="{BB962C8B-B14F-4D97-AF65-F5344CB8AC3E}">
        <p14:creationId xmlns:p14="http://schemas.microsoft.com/office/powerpoint/2010/main" val="2693307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AEBF52F-32FC-FA8D-7767-4DDB7FE25A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94B5C1-5F01-FA56-21B1-B589B0AA0B4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54C4A2C-6A97-00A7-0A76-5EBCF0524198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AC323E53-63D0-6453-CBF2-D2C3ABD496C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9911CD-7EEB-BDE2-76BD-A46BD74F1343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1DAF22-322F-FF0A-2B8E-44BBE26D28A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实验二结果：错误率对比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658DA30-3C3B-2E02-6CF2-B059D87C28DC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2BE119E-C0ED-C020-C7F0-B3ED734C7793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6F832-6BE2-67C9-E021-367849172BC3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C2F0663-A440-1187-1DC4-2AEEB403B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606905"/>
              </p:ext>
            </p:extLst>
          </p:nvPr>
        </p:nvGraphicFramePr>
        <p:xfrm>
          <a:off x="889000" y="1549400"/>
          <a:ext cx="1041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730488557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223385797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119353002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13400114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467375847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留一法错误率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48191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57925799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14.00%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2231275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819714286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1B238F76-F453-9C3F-C78C-690EDB85C468}"/>
              </a:ext>
            </a:extLst>
          </p:cNvPr>
          <p:cNvSpPr txBox="1"/>
          <p:nvPr/>
        </p:nvSpPr>
        <p:spPr>
          <a:xfrm>
            <a:off x="1143000" y="4191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Gaussian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946725-0648-61B4-1971-64EF79CEDA01}"/>
              </a:ext>
            </a:extLst>
          </p:cNvPr>
          <p:cNvSpPr/>
          <p:nvPr/>
        </p:nvSpPr>
        <p:spPr>
          <a:xfrm>
            <a:off x="3175000" y="4241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97D085-5AE2-E4F2-5238-7035F20A4C08}"/>
              </a:ext>
            </a:extLst>
          </p:cNvPr>
          <p:cNvSpPr/>
          <p:nvPr/>
        </p:nvSpPr>
        <p:spPr>
          <a:xfrm>
            <a:off x="3175000" y="4241800"/>
            <a:ext cx="1928635" cy="889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5888F3-B654-66C4-3EAB-BD7BE94CB902}"/>
              </a:ext>
            </a:extLst>
          </p:cNvPr>
          <p:cNvSpPr txBox="1"/>
          <p:nvPr/>
        </p:nvSpPr>
        <p:spPr>
          <a:xfrm>
            <a:off x="5435600" y="4178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B7649B7-6A3A-D311-12D5-2699A25CF7FF}"/>
              </a:ext>
            </a:extLst>
          </p:cNvPr>
          <p:cNvSpPr txBox="1"/>
          <p:nvPr/>
        </p:nvSpPr>
        <p:spPr>
          <a:xfrm>
            <a:off x="1143000" y="46355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Parzen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932DCA8-B18B-900E-7D42-1751B86ED420}"/>
              </a:ext>
            </a:extLst>
          </p:cNvPr>
          <p:cNvSpPr/>
          <p:nvPr/>
        </p:nvSpPr>
        <p:spPr>
          <a:xfrm>
            <a:off x="3175000" y="46863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704D358-4F52-347E-3BE7-153F7CBE2364}"/>
              </a:ext>
            </a:extLst>
          </p:cNvPr>
          <p:cNvSpPr/>
          <p:nvPr/>
        </p:nvSpPr>
        <p:spPr>
          <a:xfrm>
            <a:off x="3175000" y="4686300"/>
            <a:ext cx="1950225" cy="889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8836DF5-E1AF-C2D5-F75E-E7E8E7BCC0CC}"/>
              </a:ext>
            </a:extLst>
          </p:cNvPr>
          <p:cNvSpPr txBox="1"/>
          <p:nvPr/>
        </p:nvSpPr>
        <p:spPr>
          <a:xfrm>
            <a:off x="5435600" y="46228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176443-CBA1-F36E-192F-470541ADBED7}"/>
              </a:ext>
            </a:extLst>
          </p:cNvPr>
          <p:cNvSpPr txBox="1"/>
          <p:nvPr/>
        </p:nvSpPr>
        <p:spPr>
          <a:xfrm>
            <a:off x="1143000" y="5080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Fisher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9DADA9-BA7D-66D5-1F76-AA28D3EC28B0}"/>
              </a:ext>
            </a:extLst>
          </p:cNvPr>
          <p:cNvSpPr/>
          <p:nvPr/>
        </p:nvSpPr>
        <p:spPr>
          <a:xfrm>
            <a:off x="3175000" y="5130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C047D9-2287-9FC8-22D9-82236E3C08DE}"/>
              </a:ext>
            </a:extLst>
          </p:cNvPr>
          <p:cNvSpPr/>
          <p:nvPr/>
        </p:nvSpPr>
        <p:spPr>
          <a:xfrm>
            <a:off x="3175000" y="5130800"/>
            <a:ext cx="1950225" cy="889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A4C51F8-3F81-AF24-F52D-4D1EEADD3B41}"/>
              </a:ext>
            </a:extLst>
          </p:cNvPr>
          <p:cNvSpPr txBox="1"/>
          <p:nvPr/>
        </p:nvSpPr>
        <p:spPr>
          <a:xfrm>
            <a:off x="5435600" y="5067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C6975CF-F6A5-CCD3-22E8-517F49CF0F34}"/>
              </a:ext>
            </a:extLst>
          </p:cNvPr>
          <p:cNvSpPr/>
          <p:nvPr/>
        </p:nvSpPr>
        <p:spPr>
          <a:xfrm>
            <a:off x="7048500" y="4064000"/>
            <a:ext cx="3810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62BF7E5-3B9E-8653-54A6-F82C3AE1D887}"/>
              </a:ext>
            </a:extLst>
          </p:cNvPr>
          <p:cNvSpPr/>
          <p:nvPr/>
        </p:nvSpPr>
        <p:spPr>
          <a:xfrm>
            <a:off x="7048500" y="406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777335C-2D60-DAAA-AACC-3A27CBC88D07}"/>
              </a:ext>
            </a:extLst>
          </p:cNvPr>
          <p:cNvSpPr txBox="1"/>
          <p:nvPr/>
        </p:nvSpPr>
        <p:spPr>
          <a:xfrm>
            <a:off x="7239000" y="419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0E6F9EB-5E78-BB06-CF08-1FF3065EF8EE}"/>
              </a:ext>
            </a:extLst>
          </p:cNvPr>
          <p:cNvSpPr txBox="1"/>
          <p:nvPr/>
        </p:nvSpPr>
        <p:spPr>
          <a:xfrm>
            <a:off x="7239000" y="454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三种方法表现接近。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用更简单的线性边界取得与非参数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相当的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准确率。</a:t>
            </a:r>
          </a:p>
        </p:txBody>
      </p:sp>
    </p:spTree>
    <p:extLst>
      <p:ext uri="{BB962C8B-B14F-4D97-AF65-F5344CB8AC3E}">
        <p14:creationId xmlns:p14="http://schemas.microsoft.com/office/powerpoint/2010/main" val="1923915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D20E26E-0D2E-9340-9153-2E7B09D0A9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A9A3F2-1F1A-8C4E-A809-88880361D4C7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BABCDE2-994E-9E46-9B97-E0B0B837BF7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CCBF20F7-6B95-A2E2-0940-E40DCA11F5B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A9EF91-68DB-9128-35D1-0EB89A5D3533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C828EE-D0E9-45D0-DEEF-E8DEBB129235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实验二分析：模型复杂度与泛化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D425651-07BF-967B-453C-883FF7D91D58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42511CF-78FA-D1BE-DC64-03BFD7ABE2A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5A363F-0ADF-47DF-C32E-01848B9FB2C5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C9F7551-082C-330F-FE51-558275D73FE3}"/>
              </a:ext>
            </a:extLst>
          </p:cNvPr>
          <p:cNvSpPr/>
          <p:nvPr/>
        </p:nvSpPr>
        <p:spPr>
          <a:xfrm>
            <a:off x="889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7E5ABE-0948-6FDC-F098-A52EB9D2BE97}"/>
              </a:ext>
            </a:extLst>
          </p:cNvPr>
          <p:cNvSpPr/>
          <p:nvPr/>
        </p:nvSpPr>
        <p:spPr>
          <a:xfrm>
            <a:off x="889000" y="1587500"/>
            <a:ext cx="76200" cy="1270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D5EC0B-060B-8F08-0E51-AE11E42D9375}"/>
              </a:ext>
            </a:extLst>
          </p:cNvPr>
          <p:cNvSpPr txBox="1"/>
          <p:nvPr/>
        </p:nvSpPr>
        <p:spPr>
          <a:xfrm>
            <a:off x="1079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参数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Bayes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E6609EC-BA4A-8864-E8E6-D361BDC0D070}"/>
              </a:ext>
            </a:extLst>
          </p:cNvPr>
          <p:cNvSpPr txBox="1"/>
          <p:nvPr/>
        </p:nvSpPr>
        <p:spPr>
          <a:xfrm>
            <a:off x="1079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形式清晰、样本效率高，但依赖正态分布假设。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F3D93D4-C140-926B-C69F-FD675531C65A}"/>
              </a:ext>
            </a:extLst>
          </p:cNvPr>
          <p:cNvSpPr/>
          <p:nvPr/>
        </p:nvSpPr>
        <p:spPr>
          <a:xfrm>
            <a:off x="4572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B684913-450D-820E-D639-E5ACAC128AF7}"/>
              </a:ext>
            </a:extLst>
          </p:cNvPr>
          <p:cNvSpPr/>
          <p:nvPr/>
        </p:nvSpPr>
        <p:spPr>
          <a:xfrm>
            <a:off x="4572000" y="1587500"/>
            <a:ext cx="76200" cy="1270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C42BD5-6730-114E-6B5B-A68FA25B0244}"/>
              </a:ext>
            </a:extLst>
          </p:cNvPr>
          <p:cNvSpPr txBox="1"/>
          <p:nvPr/>
        </p:nvSpPr>
        <p:spPr>
          <a:xfrm>
            <a:off x="4762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Bayes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C3AD0FB-28BD-5EBE-E985-9CCA302104FC}"/>
              </a:ext>
            </a:extLst>
          </p:cNvPr>
          <p:cNvSpPr txBox="1"/>
          <p:nvPr/>
        </p:nvSpPr>
        <p:spPr>
          <a:xfrm>
            <a:off x="4762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密度形式灵活，但窗口宽度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和样本规模影响明显。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0FF0DBF-B4C9-FF77-621D-8D59973A69D7}"/>
              </a:ext>
            </a:extLst>
          </p:cNvPr>
          <p:cNvSpPr/>
          <p:nvPr/>
        </p:nvSpPr>
        <p:spPr>
          <a:xfrm>
            <a:off x="8255000" y="1587500"/>
            <a:ext cx="2857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F998E68-4ABC-33F2-C794-3A9D716B39BD}"/>
              </a:ext>
            </a:extLst>
          </p:cNvPr>
          <p:cNvSpPr/>
          <p:nvPr/>
        </p:nvSpPr>
        <p:spPr>
          <a:xfrm>
            <a:off x="8255000" y="1587500"/>
            <a:ext cx="76200" cy="1270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F466B5-6DA2-9D23-F9AE-3B458D2FD4FF}"/>
              </a:ext>
            </a:extLst>
          </p:cNvPr>
          <p:cNvSpPr txBox="1"/>
          <p:nvPr/>
        </p:nvSpPr>
        <p:spPr>
          <a:xfrm>
            <a:off x="8445500" y="17145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7839E92-8357-72F9-DF24-9A6F2C6F03D4}"/>
              </a:ext>
            </a:extLst>
          </p:cNvPr>
          <p:cNvSpPr txBox="1"/>
          <p:nvPr/>
        </p:nvSpPr>
        <p:spPr>
          <a:xfrm>
            <a:off x="8445500" y="20701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不估计密度，直接寻找判别方向，解释性强。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DAE260-25A2-7573-6271-CEDA7DF2B24E}"/>
              </a:ext>
            </a:extLst>
          </p:cNvPr>
          <p:cNvSpPr/>
          <p:nvPr/>
        </p:nvSpPr>
        <p:spPr>
          <a:xfrm>
            <a:off x="1143000" y="4000500"/>
            <a:ext cx="9906000" cy="8890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20F5318-8167-0283-0846-0166B4968F7A}"/>
              </a:ext>
            </a:extLst>
          </p:cNvPr>
          <p:cNvSpPr txBox="1"/>
          <p:nvPr/>
        </p:nvSpPr>
        <p:spPr>
          <a:xfrm>
            <a:off x="1498600" y="4318000"/>
            <a:ext cx="914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留一法结果与 </a:t>
            </a:r>
            <a:r>
              <a:rPr lang="en-US" altLang="zh-CN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错误率接近，说明它能在训练样本有限时给出较稳健的泛化误差估计。</a:t>
            </a:r>
          </a:p>
        </p:txBody>
      </p:sp>
    </p:spTree>
    <p:extLst>
      <p:ext uri="{BB962C8B-B14F-4D97-AF65-F5344CB8AC3E}">
        <p14:creationId xmlns:p14="http://schemas.microsoft.com/office/powerpoint/2010/main" val="887603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BD218D0-EC1C-132F-BEC2-16568FD684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3F8751F1-0F29-405A-1B41-A71ACC621219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BE9A36E-2F5B-78F6-11DC-7C54B4FDEE98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DF3F28-9AEE-1F28-167C-19AFB98B70C3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41E5EB-1401-5FFF-1D82-30E6A5171A5F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变换进行特征提取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391D857-8D7A-8357-D2DB-1BF20610E2E0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从无监督主成分方向理解身高体重样本的主要变化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EF19B2C-975F-DA69-B1E3-7D51D0DA21AE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823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BDB7B93-0F49-5AF2-7BA0-9074872B62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7ED546-95C6-EB0F-785D-B824882A86CE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928156B-796B-CB85-140A-ECF1F390C485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05A4533-0BD3-2CA2-C680-817B6E13C270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1CC752-A680-88E7-7063-951A8F58F5B1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FEATURE EXTRACTION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9FD530-91FA-E385-D4DD-0D68E8EC6941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实验三理论：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的差别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E2F1662-3CA3-3AA6-DD11-2949A1638DE6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E144E9C-4636-E43D-0376-7735AC40129E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252B939-15AF-D75D-8902-38391E50D985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51A95E5-4ECD-FA44-A20A-8003DB737C17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BF4CAE-6227-7730-D803-FA8F5D57A9F4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51033C5-E166-14F7-E612-A81BC504D9B7}"/>
              </a:ext>
            </a:extLst>
          </p:cNvPr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K-L / PCA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4204EDA-DB43-4403-0520-8D1C89630C3B}"/>
              </a:ext>
            </a:extLst>
          </p:cNvPr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对协方差矩阵做特征分解，保留总体方差最大的方向。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595F8F8-F134-8D15-B465-4B1D856EF972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3AF70C-9475-532E-4648-6D215917983E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94AB3B0-06B1-CBD0-D687-F29EA8AC4401}"/>
              </a:ext>
            </a:extLst>
          </p:cNvPr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9285495-8C74-2BEA-B635-CC6C7CD3AFB8}"/>
              </a:ext>
            </a:extLst>
          </p:cNvPr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利用类别标签，寻找最有利于分类的投影方向。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2584663-5753-AD83-5780-2D2C5A036AFC}"/>
              </a:ext>
            </a:extLst>
          </p:cNvPr>
          <p:cNvSpPr/>
          <p:nvPr/>
        </p:nvSpPr>
        <p:spPr>
          <a:xfrm>
            <a:off x="1270000" y="3276600"/>
            <a:ext cx="9652000" cy="990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AA03486-67F7-4FCD-5E46-BD4EFAE94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137" y="3348117"/>
            <a:ext cx="8007725" cy="847565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C4681030-B9F4-3266-FFE9-9033616D0FF1}"/>
              </a:ext>
            </a:extLst>
          </p:cNvPr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的目标是表示数据，不是直接优化分类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当最大方差方向与类别差异方向一致时，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也能得到较好分类效果</a:t>
            </a:r>
          </a:p>
        </p:txBody>
      </p:sp>
    </p:spTree>
    <p:extLst>
      <p:ext uri="{BB962C8B-B14F-4D97-AF65-F5344CB8AC3E}">
        <p14:creationId xmlns:p14="http://schemas.microsoft.com/office/powerpoint/2010/main" val="3520821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388319-432E-6006-F811-1353558F3C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E4BA5E-4E63-8F4E-176E-714470D78F94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109757B-5328-FE20-17E7-CA86DCC49C3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30FFD17-F211-2CDB-3AAC-BE642ABD1F30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168678-0C66-AB51-8BDC-33E4229EAC6E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PCA INTUITION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203DEA-2754-1EE6-AA37-43AEA3AAFD0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实验三理论展开：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变换怎样提取新特征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4100567-196F-39AF-69F3-B7009749B86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4E910FE-821B-1707-80AB-E48A20776F26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ABDF403-0383-1D84-96D5-D51FE8B34BC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EC58B3B-2539-28BF-5FA6-FD89F8D156BF}"/>
              </a:ext>
            </a:extLst>
          </p:cNvPr>
          <p:cNvSpPr/>
          <p:nvPr/>
        </p:nvSpPr>
        <p:spPr>
          <a:xfrm>
            <a:off x="736600" y="1371600"/>
            <a:ext cx="3175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1DB231-A455-BA05-094E-65C64B3EF21C}"/>
              </a:ext>
            </a:extLst>
          </p:cNvPr>
          <p:cNvSpPr/>
          <p:nvPr/>
        </p:nvSpPr>
        <p:spPr>
          <a:xfrm>
            <a:off x="736600" y="1371600"/>
            <a:ext cx="76200" cy="1295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331C8F-01B8-C288-AC38-C8F3EDF92ED6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找数据中心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35D0EA-EF14-1A4D-EF8A-AA292555CD14}"/>
              </a:ext>
            </a:extLst>
          </p:cNvPr>
          <p:cNvSpPr txBox="1"/>
          <p:nvPr/>
        </p:nvSpPr>
        <p:spPr>
          <a:xfrm>
            <a:off x="9271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先计算所有样本的平均向量，把样本平移到以均值为中心，关注相对变化。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8FD1F19-0A96-1E25-69FA-8E6EB5A54FD9}"/>
              </a:ext>
            </a:extLst>
          </p:cNvPr>
          <p:cNvSpPr/>
          <p:nvPr/>
        </p:nvSpPr>
        <p:spPr>
          <a:xfrm>
            <a:off x="4508500" y="1371600"/>
            <a:ext cx="3175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E7613DB-D339-6228-D695-7943AE005C9F}"/>
              </a:ext>
            </a:extLst>
          </p:cNvPr>
          <p:cNvSpPr/>
          <p:nvPr/>
        </p:nvSpPr>
        <p:spPr>
          <a:xfrm>
            <a:off x="4508500" y="1371600"/>
            <a:ext cx="76200" cy="1295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8DAFF1-0E17-94C2-EDA1-1B8E1131607A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找变化方向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6D30D99-46A8-C5C1-FB55-14B28B821E2B}"/>
              </a:ext>
            </a:extLst>
          </p:cNvPr>
          <p:cNvSpPr txBox="1"/>
          <p:nvPr/>
        </p:nvSpPr>
        <p:spPr>
          <a:xfrm>
            <a:off x="46990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协方差矩阵描述两个特征如何共同变化。特征向量给出新坐标轴，特征值表示该方向上变化有多大。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229B1D7-0E0D-CC2E-C311-A75F29709385}"/>
              </a:ext>
            </a:extLst>
          </p:cNvPr>
          <p:cNvSpPr/>
          <p:nvPr/>
        </p:nvSpPr>
        <p:spPr>
          <a:xfrm>
            <a:off x="8280400" y="1371600"/>
            <a:ext cx="2921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49FB38B-1AE5-965B-C396-BCE0325C127C}"/>
              </a:ext>
            </a:extLst>
          </p:cNvPr>
          <p:cNvSpPr/>
          <p:nvPr/>
        </p:nvSpPr>
        <p:spPr>
          <a:xfrm>
            <a:off x="8280400" y="1371600"/>
            <a:ext cx="76200" cy="1295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187BDD2-3DEB-E50A-A6B2-115289C3C293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投影降维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EDA58D0-3479-4882-9D37-C9DBC5BF0300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把样本投影到最大特征值对应的方向，就得到保留主要变化的一维新特征。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7205139-FE1C-6CA0-5CC9-947214D4EA8A}"/>
              </a:ext>
            </a:extLst>
          </p:cNvPr>
          <p:cNvSpPr/>
          <p:nvPr/>
        </p:nvSpPr>
        <p:spPr>
          <a:xfrm>
            <a:off x="1016000" y="3276600"/>
            <a:ext cx="10160000" cy="914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7818F33-6C97-49F2-9323-F20C602706C7}"/>
              </a:ext>
            </a:extLst>
          </p:cNvPr>
          <p:cNvSpPr txBox="1"/>
          <p:nvPr/>
        </p:nvSpPr>
        <p:spPr>
          <a:xfrm>
            <a:off x="1422400" y="3581400"/>
            <a:ext cx="9347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0A7FCC"/>
                </a:solidFill>
                <a:latin typeface="Microsoft YaHei" panose="020B0503020204020204" pitchFamily="34" charset="-122"/>
              </a:rPr>
              <a:t>通俗理解：</a:t>
            </a:r>
            <a:r>
              <a:rPr lang="en-US" altLang="zh-CN" sz="1700" b="1">
                <a:solidFill>
                  <a:srgbClr val="0A7FCC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700" b="1">
                <a:solidFill>
                  <a:srgbClr val="0A7FCC"/>
                </a:solidFill>
                <a:latin typeface="Microsoft YaHei" panose="020B0503020204020204" pitchFamily="34" charset="-122"/>
              </a:rPr>
              <a:t>像是在散点图上找一根尺子，让样本沿这根尺子的展开范围最大。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F177CC5-44D2-FB9F-0D2A-A967C5A2A45B}"/>
              </a:ext>
            </a:extLst>
          </p:cNvPr>
          <p:cNvSpPr txBox="1"/>
          <p:nvPr/>
        </p:nvSpPr>
        <p:spPr>
          <a:xfrm>
            <a:off x="1143000" y="48260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如果男女样本主要沿这根尺子分开，那么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第一主成分就能用于分类。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如果最大变化来自身高体重以外的因素，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可能保留了方差，却没有保留判别信息。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所以实验三要把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、类均值方向、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放在一起比较。</a:t>
            </a:r>
          </a:p>
        </p:txBody>
      </p:sp>
    </p:spTree>
    <p:extLst>
      <p:ext uri="{BB962C8B-B14F-4D97-AF65-F5344CB8AC3E}">
        <p14:creationId xmlns:p14="http://schemas.microsoft.com/office/powerpoint/2010/main" val="2198570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E1EEA31-8D01-C7AB-CE12-63F37C91EA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9100DE-DAB8-C390-14A3-7779E29D5F7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AAC5CB7-0F83-5713-45EB-36F9293ADF29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81BA5C2A-8321-E3A3-EED4-2CBE340D3291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464B7F7-3AFE-43F6-8874-EE2429A78ED9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CD35AF-D374-708F-FAE6-C4E3A3F1E97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实验三设置：二维特征的主方向分析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FB3F07B-CFA1-A498-F3F7-0767E6C4013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648F958-7E80-FA39-4801-A70F0D53400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05BEE1-EC20-104C-71FE-A9CDC417E55A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7EBE404-5A0D-794D-3513-DB72ED9FB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0137"/>
              </p:ext>
            </p:extLst>
          </p:nvPr>
        </p:nvGraphicFramePr>
        <p:xfrm>
          <a:off x="825500" y="1397000"/>
          <a:ext cx="4445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1701470614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1863915323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</a:t>
                      </a: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5132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811356730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71973135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第一主成分解释率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87.52%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613502740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(0.6269, 0.7791)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5490574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(0.6514, 0.7587)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977086229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DCC0780-9611-11D5-0840-C3D9DC835502}"/>
              </a:ext>
            </a:extLst>
          </p:cNvPr>
          <p:cNvSpPr/>
          <p:nvPr/>
        </p:nvSpPr>
        <p:spPr>
          <a:xfrm>
            <a:off x="5778500" y="1333500"/>
            <a:ext cx="52705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E2C1EF8-1068-2655-2625-61D10822C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886" y="1811382"/>
            <a:ext cx="4173729" cy="2981235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17CA5BD-5856-20A0-5F4F-7A102FC114AB}"/>
              </a:ext>
            </a:extLst>
          </p:cNvPr>
          <p:cNvSpPr/>
          <p:nvPr/>
        </p:nvSpPr>
        <p:spPr>
          <a:xfrm>
            <a:off x="1016000" y="4927600"/>
            <a:ext cx="40005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BCB073-16DB-DB93-04D5-4E832B0D19E7}"/>
              </a:ext>
            </a:extLst>
          </p:cNvPr>
          <p:cNvSpPr/>
          <p:nvPr/>
        </p:nvSpPr>
        <p:spPr>
          <a:xfrm>
            <a:off x="1016000" y="49276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4093F6-D96F-6FDE-11F8-D05702A74246}"/>
              </a:ext>
            </a:extLst>
          </p:cNvPr>
          <p:cNvSpPr txBox="1"/>
          <p:nvPr/>
        </p:nvSpPr>
        <p:spPr>
          <a:xfrm>
            <a:off x="1206500" y="5054600"/>
            <a:ext cx="3695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设置说明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3137A94-FEBC-E6C5-919D-AD093CDCBE94}"/>
              </a:ext>
            </a:extLst>
          </p:cNvPr>
          <p:cNvSpPr txBox="1"/>
          <p:nvPr/>
        </p:nvSpPr>
        <p:spPr>
          <a:xfrm>
            <a:off x="1206500" y="5410200"/>
            <a:ext cx="3695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分别使用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第一主成分、类均值差方向、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进行分类比较。</a:t>
            </a:r>
          </a:p>
        </p:txBody>
      </p:sp>
    </p:spTree>
    <p:extLst>
      <p:ext uri="{BB962C8B-B14F-4D97-AF65-F5344CB8AC3E}">
        <p14:creationId xmlns:p14="http://schemas.microsoft.com/office/powerpoint/2010/main" val="2321603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408B23C-E3FB-F807-3542-FF54B9357C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3A85CD-5031-BC70-2227-06048ADD57C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3F6DE89-D3FA-E2AE-A1A0-4A77EAD23D0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8D61A780-715D-6137-A213-B1D9143573CF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732697-E392-5962-0FA0-866C326536BA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2AECE7-FAE6-BCB6-A2D0-81A972C07BAE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实验三结果：投影分布与分类性能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E5EF286-64EC-B4C5-2C3F-1335774793B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B932497-C9F2-5B99-CFAC-58311047F12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3F9680-6778-719F-6391-4AE1DD3E4FEB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ED8A566-ED9D-ABBB-9BDA-01DE38529713}"/>
              </a:ext>
            </a:extLst>
          </p:cNvPr>
          <p:cNvSpPr/>
          <p:nvPr/>
        </p:nvSpPr>
        <p:spPr>
          <a:xfrm>
            <a:off x="825500" y="1397000"/>
            <a:ext cx="5207000" cy="3302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BC627C6-1FF5-2A49-8BB8-B1C278FA9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094" y="1941178"/>
            <a:ext cx="4071812" cy="2213644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A8FB6342-D3AF-C470-13F6-CADA18FBA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989115"/>
              </p:ext>
            </p:extLst>
          </p:nvPr>
        </p:nvGraphicFramePr>
        <p:xfrm>
          <a:off x="6540500" y="1549400"/>
          <a:ext cx="482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199539106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414375038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70813181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7211359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314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0438323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480013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282126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571180604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BF20611B-7C9B-3DA2-7EDC-9EE84C74F2DB}"/>
              </a:ext>
            </a:extLst>
          </p:cNvPr>
          <p:cNvSpPr txBox="1"/>
          <p:nvPr/>
        </p:nvSpPr>
        <p:spPr>
          <a:xfrm>
            <a:off x="6667500" y="4318000"/>
            <a:ext cx="457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第一主成分已经能较好区分男女样本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上略优，体现监督判别方向的优势</a:t>
            </a:r>
          </a:p>
        </p:txBody>
      </p:sp>
    </p:spTree>
    <p:extLst>
      <p:ext uri="{BB962C8B-B14F-4D97-AF65-F5344CB8AC3E}">
        <p14:creationId xmlns:p14="http://schemas.microsoft.com/office/powerpoint/2010/main" val="1449494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FEA5AE-1094-A951-9BF7-75EB9DF791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6FEF30-3C3B-75E3-2F5F-E7FA391B49BF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3D4E2C2-AE7A-6470-8225-ABB97AAE9298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0A25FDD5-A069-28BC-EAB2-55203055DF36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E8F93D-3C9E-9CAC-B53E-8E6D5217D85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B20A2D-F686-B6B3-0B1B-89E05A23607F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实验三分析：最大方差不等于最佳分类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C4DEFC3-8C19-BB1A-924A-5CFFE9241BC1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3617A24-8922-5CC2-F1BF-286DD1D0ED9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1620C0-7CA3-744E-D94E-E10C53408DB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AFDA721-B4DE-B021-E043-69AB08453A17}"/>
              </a:ext>
            </a:extLst>
          </p:cNvPr>
          <p:cNvSpPr/>
          <p:nvPr/>
        </p:nvSpPr>
        <p:spPr>
          <a:xfrm>
            <a:off x="889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CDBB854-0981-B463-5688-D6EC5033F4B5}"/>
              </a:ext>
            </a:extLst>
          </p:cNvPr>
          <p:cNvSpPr/>
          <p:nvPr/>
        </p:nvSpPr>
        <p:spPr>
          <a:xfrm>
            <a:off x="889000" y="152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8CA5AA-37F0-DCF9-7689-7A51633F2CFA}"/>
              </a:ext>
            </a:extLst>
          </p:cNvPr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有效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1F2AD16-83BA-3F27-E597-BE2486090613}"/>
              </a:ext>
            </a:extLst>
          </p:cNvPr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本数据中身高和体重的主要变化方向与性别差异方向接近。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F9CDE26-6780-55F0-59A7-D65B67184EE4}"/>
              </a:ext>
            </a:extLst>
          </p:cNvPr>
          <p:cNvSpPr/>
          <p:nvPr/>
        </p:nvSpPr>
        <p:spPr>
          <a:xfrm>
            <a:off x="4572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C5A578A-AF8D-C02D-C221-0368697CA32B}"/>
              </a:ext>
            </a:extLst>
          </p:cNvPr>
          <p:cNvSpPr/>
          <p:nvPr/>
        </p:nvSpPr>
        <p:spPr>
          <a:xfrm>
            <a:off x="4572000" y="15240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F90A1BF-2470-7E64-DCC7-8A5F4F80033B}"/>
              </a:ext>
            </a:extLst>
          </p:cNvPr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略优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DDB1E1C-63BA-01AC-46CB-681723924886}"/>
              </a:ext>
            </a:extLst>
          </p:cNvPr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直接利用类别标签，目标就是提高类别分离度。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456C92-D3B7-1944-66F7-A8DA17C05EDF}"/>
              </a:ext>
            </a:extLst>
          </p:cNvPr>
          <p:cNvSpPr/>
          <p:nvPr/>
        </p:nvSpPr>
        <p:spPr>
          <a:xfrm>
            <a:off x="8255000" y="1524000"/>
            <a:ext cx="2857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5461C28-0DB0-2B91-5432-44E5B9D39AEB}"/>
              </a:ext>
            </a:extLst>
          </p:cNvPr>
          <p:cNvSpPr/>
          <p:nvPr/>
        </p:nvSpPr>
        <p:spPr>
          <a:xfrm>
            <a:off x="8255000" y="15240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5E21AA-FA40-1B89-C867-B1F30CC76323}"/>
              </a:ext>
            </a:extLst>
          </p:cNvPr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一般规律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0819136-3D6C-A3AF-9381-C1C497934537}"/>
              </a:ext>
            </a:extLst>
          </p:cNvPr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无监督降维需要和监督分类器共同评价。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B46D3AF-6FBA-28F2-EB62-382BBC88D917}"/>
              </a:ext>
            </a:extLst>
          </p:cNvPr>
          <p:cNvSpPr/>
          <p:nvPr/>
        </p:nvSpPr>
        <p:spPr>
          <a:xfrm>
            <a:off x="2032000" y="3429000"/>
            <a:ext cx="812800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EE20716D-ABAE-54BF-647B-2613C126C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979" y="3886445"/>
            <a:ext cx="2522041" cy="13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86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FB95A77-B3E5-1680-FB72-7A42A4836D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6DC7B355-A2D2-90EA-EAD0-6DB47E3AEC39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FCBAC86-D41F-4DCD-7EE9-25B5210741B4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6649B0-1DCE-C30E-D9D5-3B0F8D2434A4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6379A3-CA86-53DD-0EDB-14100BA26755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变换的图像识别应用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F1B469-0D47-8D01-2002-EC7F0BD1E07B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把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从二维样本扩展到高维飞机图像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9E2020A-5D2E-9635-C0E3-7878DD34533C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5048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7BDADE5-E806-3490-1D0B-FEB5D0F5BD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7AD1FD-A800-7F99-5B38-AF6AF9DD486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1F4826F-E1E0-A445-758A-2D1C3B64414B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3764FB8-2D7D-5DAA-EB1A-48A1DA376817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C7B023-EAAD-DD8F-9D93-0F94E5EE1BE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IMAGE RECOGNITION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EDE7695-8EC4-AC3E-CB8F-6C9ECE7BCA6A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实验四理论：高维图像的低维表示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EBE06B9-89AD-05EC-4DE6-BDF24A347D0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FD3653A-F23A-0A3F-5252-D588D6607D19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233B0A-6E0E-21A6-1374-9380530ED32F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6E8E05A-84F6-09A4-67F8-FDF03051CDF9}"/>
              </a:ext>
            </a:extLst>
          </p:cNvPr>
          <p:cNvSpPr/>
          <p:nvPr/>
        </p:nvSpPr>
        <p:spPr>
          <a:xfrm>
            <a:off x="10160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DDCE3C8-6613-B440-B3F6-6C15828B38B3}"/>
              </a:ext>
            </a:extLst>
          </p:cNvPr>
          <p:cNvSpPr txBox="1"/>
          <p:nvPr/>
        </p:nvSpPr>
        <p:spPr>
          <a:xfrm>
            <a:off x="10287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DA3FCB-1F21-AE22-5F54-75FAAF8D65E8}"/>
              </a:ext>
            </a:extLst>
          </p:cNvPr>
          <p:cNvSpPr txBox="1"/>
          <p:nvPr/>
        </p:nvSpPr>
        <p:spPr>
          <a:xfrm>
            <a:off x="15494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图像预处理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2CA9A60-A120-1746-E003-898D7C06D894}"/>
              </a:ext>
            </a:extLst>
          </p:cNvPr>
          <p:cNvSpPr txBox="1"/>
          <p:nvPr/>
        </p:nvSpPr>
        <p:spPr>
          <a:xfrm>
            <a:off x="15494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灰度化、缩放到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32×32</a:t>
            </a:r>
            <a:endParaRPr lang="zh-CN" altLang="en-US" sz="12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07E6AA4-7F1F-E501-0D42-35E910A22881}"/>
              </a:ext>
            </a:extLst>
          </p:cNvPr>
          <p:cNvSpPr/>
          <p:nvPr/>
        </p:nvSpPr>
        <p:spPr>
          <a:xfrm>
            <a:off x="10160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7B75209-898C-F051-5BAF-EACC418BB361}"/>
              </a:ext>
            </a:extLst>
          </p:cNvPr>
          <p:cNvSpPr txBox="1"/>
          <p:nvPr/>
        </p:nvSpPr>
        <p:spPr>
          <a:xfrm>
            <a:off x="10287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DB0FA25-C604-7FCE-5B97-B68381D58EC5}"/>
              </a:ext>
            </a:extLst>
          </p:cNvPr>
          <p:cNvSpPr txBox="1"/>
          <p:nvPr/>
        </p:nvSpPr>
        <p:spPr>
          <a:xfrm>
            <a:off x="15494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向量化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97C0A7-A57D-388B-D827-E0DEA4441C11}"/>
              </a:ext>
            </a:extLst>
          </p:cNvPr>
          <p:cNvSpPr txBox="1"/>
          <p:nvPr/>
        </p:nvSpPr>
        <p:spPr>
          <a:xfrm>
            <a:off x="15494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每张图像展开为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维向量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C48A113-CF64-B1C2-DBD4-4B638D074A7B}"/>
              </a:ext>
            </a:extLst>
          </p:cNvPr>
          <p:cNvSpPr/>
          <p:nvPr/>
        </p:nvSpPr>
        <p:spPr>
          <a:xfrm>
            <a:off x="10160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DDAF99B-3436-39CC-EB11-1CDC403BEDE5}"/>
              </a:ext>
            </a:extLst>
          </p:cNvPr>
          <p:cNvSpPr txBox="1"/>
          <p:nvPr/>
        </p:nvSpPr>
        <p:spPr>
          <a:xfrm>
            <a:off x="10287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0B7118-98F3-B381-6FA1-3E4E33058FD7}"/>
              </a:ext>
            </a:extLst>
          </p:cNvPr>
          <p:cNvSpPr txBox="1"/>
          <p:nvPr/>
        </p:nvSpPr>
        <p:spPr>
          <a:xfrm>
            <a:off x="15494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降维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DE08D2F-E97C-32ED-D7F0-20BD558CC0AF}"/>
              </a:ext>
            </a:extLst>
          </p:cNvPr>
          <p:cNvSpPr txBox="1"/>
          <p:nvPr/>
        </p:nvSpPr>
        <p:spPr>
          <a:xfrm>
            <a:off x="15494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提取前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k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个主成分作为图像特征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EE325A7-95D2-1B05-6A63-5BE2423F833E}"/>
              </a:ext>
            </a:extLst>
          </p:cNvPr>
          <p:cNvSpPr/>
          <p:nvPr/>
        </p:nvSpPr>
        <p:spPr>
          <a:xfrm>
            <a:off x="10160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95A88C1-4B56-9660-BE90-228F70FCAD52}"/>
              </a:ext>
            </a:extLst>
          </p:cNvPr>
          <p:cNvSpPr txBox="1"/>
          <p:nvPr/>
        </p:nvSpPr>
        <p:spPr>
          <a:xfrm>
            <a:off x="10287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F2CB0FE-BAC7-ED6F-F795-4A3F6B1A83CD}"/>
              </a:ext>
            </a:extLst>
          </p:cNvPr>
          <p:cNvSpPr txBox="1"/>
          <p:nvPr/>
        </p:nvSpPr>
        <p:spPr>
          <a:xfrm>
            <a:off x="15494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低维分类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0FF33C9-3002-BF35-4904-D3D5E8082ACB}"/>
              </a:ext>
            </a:extLst>
          </p:cNvPr>
          <p:cNvSpPr txBox="1"/>
          <p:nvPr/>
        </p:nvSpPr>
        <p:spPr>
          <a:xfrm>
            <a:off x="15494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NearestCentroid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对比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5FD88D1-97AB-74D1-409A-AD6140FCD0C3}"/>
              </a:ext>
            </a:extLst>
          </p:cNvPr>
          <p:cNvSpPr/>
          <p:nvPr/>
        </p:nvSpPr>
        <p:spPr>
          <a:xfrm>
            <a:off x="6540500" y="1625600"/>
            <a:ext cx="4000500" cy="8636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938A6725-AAF2-FD3E-2007-175CA0828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621" y="1794851"/>
            <a:ext cx="2394259" cy="525099"/>
          </a:xfrm>
          <a:prstGeom prst="rect">
            <a:avLst/>
          </a:prstGeom>
        </p:spPr>
      </p:pic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629D0362-93C6-F1F2-6B55-8DC07D35B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104122"/>
              </p:ext>
            </p:extLst>
          </p:nvPr>
        </p:nvGraphicFramePr>
        <p:xfrm>
          <a:off x="6540500" y="3048000"/>
          <a:ext cx="4000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9557575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914996996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6551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类别数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41407311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8190167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32270626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 / 16 / 32 / 64 / 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924395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4910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A57800F-E6F1-DBB6-60B9-D719C371C3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42E830-ADE9-BF9B-49C1-87D30508A428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266C59F-8075-A463-4399-5B6D4E42FFD8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B2F00D0-E822-DC9D-FAD5-1FFAA1984D90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0CC46D-A3D2-07B8-6A04-F0C740F2A13E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HIGH-DIMENSIONAL FEATURES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2CE571-D946-8107-C072-8A1FD4D746C2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实验四理论展开：为什么图像识别需要降维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542164E-9A37-D8E7-4BCC-BE4C4EECA715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2F861F1-EE44-8F39-2CBC-803B46C119BD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56867B-E9BE-0517-93B6-9236330FF64C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F72DDBC-8976-7B0B-2880-CF42121AFACD}"/>
              </a:ext>
            </a:extLst>
          </p:cNvPr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A52935-75DB-6FD8-8BAF-A1B94E29AAB6}"/>
              </a:ext>
            </a:extLst>
          </p:cNvPr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C2E40B9-8F5A-F4B1-DEB9-192E61342BC9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维数高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32909D0-AF5A-E2C0-06B5-EE76482EADF1}"/>
              </a:ext>
            </a:extLst>
          </p:cNvPr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32×32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灰度图展开后就是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维。维数越高，距离计算越容易受噪声和无关背景影响。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520691B-5825-028D-C2AB-16DBB4DC5B5B}"/>
              </a:ext>
            </a:extLst>
          </p:cNvPr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250A0BA-16CF-7351-1E7A-71C69D9616D7}"/>
              </a:ext>
            </a:extLst>
          </p:cNvPr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0F97B7-1AB1-EEE4-ECF5-2106B9850780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样本有限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3A817CC-72A3-BE0B-CAD9-590264505B4C}"/>
              </a:ext>
            </a:extLst>
          </p:cNvPr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虽然有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2530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张训练图，但相对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维特征仍不算充分，直接分类容易过拟合。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1FDCD39-84DF-EEA8-8081-D645FF2C792C}"/>
              </a:ext>
            </a:extLst>
          </p:cNvPr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AB28758-B607-E124-C12D-046978BABF03}"/>
              </a:ext>
            </a:extLst>
          </p:cNvPr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1E6397-F33E-495B-7E8F-6FE3A23900FD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的作用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91474B-831C-6BD3-4F3D-FE8B90EFCA17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用较少主成分表示图像，把共同轮廓、明暗结构等主要变化保留下来。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BF54CF2-D112-055C-510E-D96444D12DEE}"/>
              </a:ext>
            </a:extLst>
          </p:cNvPr>
          <p:cNvSpPr/>
          <p:nvPr/>
        </p:nvSpPr>
        <p:spPr>
          <a:xfrm>
            <a:off x="1092200" y="3429000"/>
            <a:ext cx="10033000" cy="9652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E6044AC-D9C3-AFE0-4B6D-2D357D33A0AD}"/>
              </a:ext>
            </a:extLst>
          </p:cNvPr>
          <p:cNvSpPr txBox="1"/>
          <p:nvPr/>
        </p:nvSpPr>
        <p:spPr>
          <a:xfrm>
            <a:off x="1422400" y="3759200"/>
            <a:ext cx="9347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006BB7"/>
                </a:solidFill>
                <a:latin typeface="Microsoft YaHei" panose="020B0503020204020204" pitchFamily="34" charset="-122"/>
              </a:rPr>
              <a:t>从二维身高体重到 </a:t>
            </a:r>
            <a:r>
              <a:rPr lang="en-US" altLang="zh-CN" sz="1700" b="1">
                <a:solidFill>
                  <a:srgbClr val="006BB7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700" b="1">
                <a:solidFill>
                  <a:srgbClr val="006BB7"/>
                </a:solidFill>
                <a:latin typeface="Microsoft YaHei" panose="020B0503020204020204" pitchFamily="34" charset="-122"/>
              </a:rPr>
              <a:t>维图像，本质仍是寻找更适合分类的特征表示。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2CDB3EB-BB1B-A026-C9BF-3007057EE8BA}"/>
              </a:ext>
            </a:extLst>
          </p:cNvPr>
          <p:cNvSpPr txBox="1"/>
          <p:nvPr/>
        </p:nvSpPr>
        <p:spPr>
          <a:xfrm>
            <a:off x="1143000" y="49022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主成分可以看作一组基础图像模式，原图像由这些模式加权组合得到。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保留太少主成分会丢失类别细节；保留太多主成分又可能引入背景和噪声。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因此实验四考察不同主成分数下的识别准确率。</a:t>
            </a:r>
          </a:p>
        </p:txBody>
      </p:sp>
    </p:spTree>
    <p:extLst>
      <p:ext uri="{BB962C8B-B14F-4D97-AF65-F5344CB8AC3E}">
        <p14:creationId xmlns:p14="http://schemas.microsoft.com/office/powerpoint/2010/main" val="3643368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63C6DA1-F41A-5874-33C6-57CD84766C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D2B00F-2C35-8FC6-CCB0-C7F04A30CC1E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6E54CB5-C6DD-E9D2-A927-A66DE0F0505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EB192FDE-4B12-BDB9-C01E-DCDFAC5D259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486919-9391-5B20-460B-384D56566B7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614394-3A38-ABCE-CED9-4CCE92B29A3A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实验四结果：样本图像与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主成分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0948CE7-465B-01FB-30A0-B3EC26E9762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0F8D53E-5E20-1FD4-9F9F-1637AC8489D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45B7C5-28D4-19A2-FD86-06EB7F54AF6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0B6BF41-6DDE-ACAD-52C3-28186C493292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785CE0C-BE07-8A42-0716-78541B329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83" y="2454590"/>
            <a:ext cx="3562835" cy="1694821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610211A-74A8-A131-CE3D-E6659F865018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3CACF8F-4436-7A9B-5821-3EEB29686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482" y="2500362"/>
            <a:ext cx="3562836" cy="160327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277FECA-57C6-9EC7-1A10-31FEB6AA58DA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712F53-F2AD-4C1B-9091-D0FD6BF554C9}"/>
              </a:ext>
            </a:extLst>
          </p:cNvPr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1024→64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8C30E65-9264-CFBE-ABC6-67103C384207}"/>
              </a:ext>
            </a:extLst>
          </p:cNvPr>
          <p:cNvSpPr txBox="1"/>
          <p:nvPr/>
        </p:nvSpPr>
        <p:spPr>
          <a:xfrm>
            <a:off x="1168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维度压缩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5710D9C-E739-C0C0-D2C6-EE03FAE35D3D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67E6F2B-1441-58A2-FC8B-01FD7C2E16FB}"/>
              </a:ext>
            </a:extLst>
          </p:cNvPr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89.88%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30CDAEA-D399-7507-E252-D65AAEA46D06}"/>
              </a:ext>
            </a:extLst>
          </p:cNvPr>
          <p:cNvSpPr txBox="1"/>
          <p:nvPr/>
        </p:nvSpPr>
        <p:spPr>
          <a:xfrm>
            <a:off x="3454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64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维解释方差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9E88E2D-C2A8-E79C-06AC-BECA0BC98E23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F4E9098-B2D7-3213-5801-79FDA93F01CB}"/>
              </a:ext>
            </a:extLst>
          </p:cNvPr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7B045BB-7C12-6ED3-6A2D-662BE1A3E050}"/>
              </a:ext>
            </a:extLst>
          </p:cNvPr>
          <p:cNvSpPr txBox="1"/>
          <p:nvPr/>
        </p:nvSpPr>
        <p:spPr>
          <a:xfrm>
            <a:off x="5740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飞机类别数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18C4355-8B9B-8DAB-2FDC-57DD455A5F32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1306070-7C35-871F-0D83-4591C72BD44F}"/>
              </a:ext>
            </a:extLst>
          </p:cNvPr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636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F49CA16-E5B0-C01A-2826-3DDCC1CA5A08}"/>
              </a:ext>
            </a:extLst>
          </p:cNvPr>
          <p:cNvSpPr txBox="1"/>
          <p:nvPr/>
        </p:nvSpPr>
        <p:spPr>
          <a:xfrm>
            <a:off x="8026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测试图像数</a:t>
            </a:r>
          </a:p>
        </p:txBody>
      </p:sp>
    </p:spTree>
    <p:extLst>
      <p:ext uri="{BB962C8B-B14F-4D97-AF65-F5344CB8AC3E}">
        <p14:creationId xmlns:p14="http://schemas.microsoft.com/office/powerpoint/2010/main" val="2367132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234ECAB-4D89-0C39-B0D0-96E2DCA69E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303D17-5747-685A-B17B-F8F4FE7FC3F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64119E9-5913-3CD7-EDB2-7BE21B7CE9C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E14BB6B-75F0-6F01-8439-AD0193B1E81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A47EB5-F96E-0099-DC06-1DE2D2B6CCCA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977EB9-D6A0-120B-3C23-526D4ABC3F74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实验四结果：主成分数与识别准确率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08F3DC4-E454-E4B2-1066-3C899F6F6352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59921D0-6D89-2686-4D51-C9D644935DA3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5B3547-3EBE-F721-ACD0-670CB1C2D45A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2B25FBD-2BF3-C3BD-4B54-CD5EFAC83D7F}"/>
              </a:ext>
            </a:extLst>
          </p:cNvPr>
          <p:cNvSpPr/>
          <p:nvPr/>
        </p:nvSpPr>
        <p:spPr>
          <a:xfrm>
            <a:off x="825500" y="1397000"/>
            <a:ext cx="5334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B8AC5A6-5E6E-6C30-693B-F9F2D10ED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046" y="1927279"/>
            <a:ext cx="4276908" cy="2749441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510C2B1A-46F8-3E9C-99BE-3B71CA1EF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590473"/>
              </p:ext>
            </p:extLst>
          </p:nvPr>
        </p:nvGraphicFramePr>
        <p:xfrm>
          <a:off x="6667500" y="1587500"/>
          <a:ext cx="4445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50">
                  <a:extLst>
                    <a:ext uri="{9D8B030D-6E8A-4147-A177-3AD203B41FA5}">
                      <a16:colId xmlns:a16="http://schemas.microsoft.com/office/drawing/2014/main" val="1257855890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1382307134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3642553509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374131338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主成分数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14485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质心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20.47%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19.97%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25643391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54.09%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10456681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53.93%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60660402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52.99%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315459432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4148FF2A-4A92-3E4F-82FD-1E909237F483}"/>
              </a:ext>
            </a:extLst>
          </p:cNvPr>
          <p:cNvSpPr txBox="1"/>
          <p:nvPr/>
        </p:nvSpPr>
        <p:spPr>
          <a:xfrm>
            <a:off x="6794500" y="4318000"/>
            <a:ext cx="4318000" cy="91563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明显优于最近质心，说明飞机类别内部变化复杂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主成分数增加到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32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后收益变小，后续成分可能包含背景和噪声</a:t>
            </a:r>
          </a:p>
        </p:txBody>
      </p:sp>
    </p:spTree>
    <p:extLst>
      <p:ext uri="{BB962C8B-B14F-4D97-AF65-F5344CB8AC3E}">
        <p14:creationId xmlns:p14="http://schemas.microsoft.com/office/powerpoint/2010/main" val="8434655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F4D9353-9F03-537D-2B1B-B2E761DF5D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B7671E-757A-1717-74BB-CED5E2277AB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95128E3-E5BF-9E49-9A73-484A6EF850C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018310F-8CA8-E525-DE14-F2B408B1203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1BFC44-4EB5-E54A-8BD8-3C972A881B8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50038C-18E5-18C3-F5DD-BBCF57C36332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实验四分析：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能压缩，但不是完整识别方案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432527B-925C-42F8-1D25-567D3A6DAC2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7DE4560-F289-464C-2B56-A6A76FC5FF17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8A9784-2BB8-40B7-2A88-C8C8A9DC6084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6DA962B-339B-9B5A-1F94-6DB663CD7367}"/>
              </a:ext>
            </a:extLst>
          </p:cNvPr>
          <p:cNvSpPr/>
          <p:nvPr/>
        </p:nvSpPr>
        <p:spPr>
          <a:xfrm>
            <a:off x="952500" y="1397000"/>
            <a:ext cx="53340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1E30BD8-CBA9-EA45-9967-19CD85714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722" y="2248418"/>
            <a:ext cx="2637555" cy="223416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5D94A60-FD11-8A92-C9FC-F2B02D33187A}"/>
              </a:ext>
            </a:extLst>
          </p:cNvPr>
          <p:cNvSpPr/>
          <p:nvPr/>
        </p:nvSpPr>
        <p:spPr>
          <a:xfrm>
            <a:off x="7048500" y="1524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CC5D1F-7377-CC5E-0100-4995910C6602}"/>
              </a:ext>
            </a:extLst>
          </p:cNvPr>
          <p:cNvSpPr/>
          <p:nvPr/>
        </p:nvSpPr>
        <p:spPr>
          <a:xfrm>
            <a:off x="7048500" y="1524000"/>
            <a:ext cx="76200" cy="10160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F728F1C-A42D-2BF1-36FD-582032B4A148}"/>
              </a:ext>
            </a:extLst>
          </p:cNvPr>
          <p:cNvSpPr txBox="1"/>
          <p:nvPr/>
        </p:nvSpPr>
        <p:spPr>
          <a:xfrm>
            <a:off x="7239000" y="165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混淆原因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E18D94A-2D4E-B571-E95A-2AE56B6910AD}"/>
              </a:ext>
            </a:extLst>
          </p:cNvPr>
          <p:cNvSpPr txBox="1"/>
          <p:nvPr/>
        </p:nvSpPr>
        <p:spPr>
          <a:xfrm>
            <a:off x="7239000" y="200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低分辨率灰度图中，部分飞机外形相近，姿态和背景也会干扰。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020325D-1080-9A5B-0C71-5515F9EC0653}"/>
              </a:ext>
            </a:extLst>
          </p:cNvPr>
          <p:cNvSpPr/>
          <p:nvPr/>
        </p:nvSpPr>
        <p:spPr>
          <a:xfrm>
            <a:off x="7048500" y="29845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2FE160-BFBC-E04B-DCC9-A2C824F98AEE}"/>
              </a:ext>
            </a:extLst>
          </p:cNvPr>
          <p:cNvSpPr/>
          <p:nvPr/>
        </p:nvSpPr>
        <p:spPr>
          <a:xfrm>
            <a:off x="7048500" y="2984500"/>
            <a:ext cx="76200" cy="1016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4DA75D2-B843-DD31-558A-962113507E99}"/>
              </a:ext>
            </a:extLst>
          </p:cNvPr>
          <p:cNvSpPr txBox="1"/>
          <p:nvPr/>
        </p:nvSpPr>
        <p:spPr>
          <a:xfrm>
            <a:off x="7239000" y="31115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方法局限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A51BB20-497E-6970-3BBD-389453307090}"/>
              </a:ext>
            </a:extLst>
          </p:cNvPr>
          <p:cNvSpPr txBox="1"/>
          <p:nvPr/>
        </p:nvSpPr>
        <p:spPr>
          <a:xfrm>
            <a:off x="7239000" y="34671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是无监督降维，优先保留总体方差，不保证保留最强判别信息。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D58A2FE-1645-1454-7B2F-D73EFD27F795}"/>
              </a:ext>
            </a:extLst>
          </p:cNvPr>
          <p:cNvSpPr/>
          <p:nvPr/>
        </p:nvSpPr>
        <p:spPr>
          <a:xfrm>
            <a:off x="7048500" y="4445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796CAE1-CFD8-28A6-D808-90F64839BCFC}"/>
              </a:ext>
            </a:extLst>
          </p:cNvPr>
          <p:cNvSpPr/>
          <p:nvPr/>
        </p:nvSpPr>
        <p:spPr>
          <a:xfrm>
            <a:off x="7048500" y="4445000"/>
            <a:ext cx="762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7E768B4-9B7C-DAC8-A24F-5F85E0141A72}"/>
              </a:ext>
            </a:extLst>
          </p:cNvPr>
          <p:cNvSpPr txBox="1"/>
          <p:nvPr/>
        </p:nvSpPr>
        <p:spPr>
          <a:xfrm>
            <a:off x="7239000" y="4572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改进方向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F188748-DFE9-F87B-5F41-467FCADA5B14}"/>
              </a:ext>
            </a:extLst>
          </p:cNvPr>
          <p:cNvSpPr txBox="1"/>
          <p:nvPr/>
        </p:nvSpPr>
        <p:spPr>
          <a:xfrm>
            <a:off x="7239000" y="4927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可结合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HOG/SIFT/ORB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、数据增强或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CNN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提升识别性能。</a:t>
            </a:r>
          </a:p>
        </p:txBody>
      </p:sp>
    </p:spTree>
    <p:extLst>
      <p:ext uri="{BB962C8B-B14F-4D97-AF65-F5344CB8AC3E}">
        <p14:creationId xmlns:p14="http://schemas.microsoft.com/office/powerpoint/2010/main" val="5346507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583DCFB-33BF-1DF2-32EA-EA372B8037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AE9A6DBB-292E-9B06-2B9D-F1CE4E150F67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CA097B5-9B9E-030F-7467-6FED2EC4F526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DA8A49-7AF7-52A9-EEEC-850F4073E35B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1B31FB-02C1-3719-79E4-8A6AFB50F2B0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均值与分级聚类分析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2D5B85-67E1-B7D1-68A8-D4079FC0820A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不使用类别标签，观察身高体重样本的自然结构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55B9D0B-944E-117F-0271-9DEBD79D3035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4438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C4D3AB1-C7C3-E35F-4787-1257E82073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33D275-6E4E-CA2F-BD84-B4A932D8736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8BBCC4C-9F51-A261-B3BC-A89DE85639F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CBB2E2AD-9E84-D68B-6465-45A2785F5397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2B7E60-968F-1E10-EF63-A04FF0455F4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CLUSTERING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BFDB65-F77B-44C5-037A-DF2123650313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实验五理论：从监督分类到无监督聚类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3CDD2E7-C391-2A32-A8C2-239BC7C4006E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5D5D5C7-94C4-909F-5279-8139016CEB3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9A696E-84F1-BB6A-A6FA-AB68D8ABCCA8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B36D9B6-2320-8B17-A75E-D3F82328F372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B351D1-7C4E-FEDA-1A87-E648C903F44D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462696-F521-D5C2-DE52-C3F060C3AC26}"/>
              </a:ext>
            </a:extLst>
          </p:cNvPr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均值聚类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9F4A29B-A167-D3E8-EAE1-5E8C5322FD80}"/>
              </a:ext>
            </a:extLst>
          </p:cNvPr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独立编程实现，通过样本分配和中心更新最小化类内平方误差。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5797F06-4E2E-5EF4-280B-FA43FC6501AE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4EC659-06FB-DC87-7283-F71384D8B070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8AF3561-3809-85B7-C3E3-37ACC7781EBD}"/>
              </a:ext>
            </a:extLst>
          </p:cNvPr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FF9C8D-B77D-EAD8-87AD-168AA8865101}"/>
              </a:ext>
            </a:extLst>
          </p:cNvPr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方法形成层次结构，用树状图观察样本合并过程。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AD46637-5958-E026-DA2C-56562DB2D66D}"/>
              </a:ext>
            </a:extLst>
          </p:cNvPr>
          <p:cNvSpPr/>
          <p:nvPr/>
        </p:nvSpPr>
        <p:spPr>
          <a:xfrm>
            <a:off x="1270000" y="3276600"/>
            <a:ext cx="9652000" cy="990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CFAFC40-AAB5-0D65-5C9D-5F9C8E377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645" y="3510272"/>
            <a:ext cx="1988710" cy="523256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8E5CA776-CCE4-42F0-230A-834E2ACFD885}"/>
              </a:ext>
            </a:extLst>
          </p:cNvPr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聚类不使用性别标签，评价时再与真实标签比较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特征标准化很重要，否则体重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身高尺度会影响距离计算</a:t>
            </a:r>
          </a:p>
        </p:txBody>
      </p:sp>
    </p:spTree>
    <p:extLst>
      <p:ext uri="{BB962C8B-B14F-4D97-AF65-F5344CB8AC3E}">
        <p14:creationId xmlns:p14="http://schemas.microsoft.com/office/powerpoint/2010/main" val="1953402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6237F87-A4D6-43E1-5603-E54D4959F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D9FA74-0332-7911-8F7E-0B8F83F6BD1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3B1EF8A-F3AF-4E5F-AB94-30ADBC4614E6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A7FFC82-4164-8699-534F-9D0C0DFEAB8A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6F68BD-B3E7-A8FA-FDAE-82DAF8A5C8B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UNSUPERVISED LEARNING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329C7C-2431-ED95-37E0-AC7EFD91F5A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实验五理论展开：聚类如何判断样本自然结构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706104B-BD7D-D5EA-176C-12C28C8CBA71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47ED0B7-2F0A-3A2B-2303-34AA74442AF2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14521DC-EF4A-A567-9058-2FDE0CE18C7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BD9C7F6-ABD3-5A01-5ABC-755C953BA408}"/>
              </a:ext>
            </a:extLst>
          </p:cNvPr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A45C6E-35D2-30C8-0DF8-6BDB188AC76E}"/>
              </a:ext>
            </a:extLst>
          </p:cNvPr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4BFE5C4-90C8-226F-6B5E-60645485B5DF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没有标签参与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1339332-E7DE-C833-6386-1581D5A0AC7D}"/>
              </a:ext>
            </a:extLst>
          </p:cNvPr>
          <p:cNvSpPr txBox="1"/>
          <p:nvPr/>
        </p:nvSpPr>
        <p:spPr>
          <a:xfrm>
            <a:off x="9271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聚类阶段不知道样本是男生还是女生，只根据身高体重距离把相似样本放到一起。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44FAA4B-E836-6645-B4D6-0A528E86AB33}"/>
              </a:ext>
            </a:extLst>
          </p:cNvPr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DCB08D-F78E-0B85-F695-A22C14D82668}"/>
              </a:ext>
            </a:extLst>
          </p:cNvPr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A31BEB9-A31B-4965-A1E5-B828D3CFDEC1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均值思想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321A711-F38D-ED39-D0BA-C595EBFF00BA}"/>
              </a:ext>
            </a:extLst>
          </p:cNvPr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反复执行两步：先按最近中心分组，再用每组均值更新中心，直到中心基本不变。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76CE4FC-2907-1320-A473-49C8EC00DDF3}"/>
              </a:ext>
            </a:extLst>
          </p:cNvPr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A1E038-1358-1FBF-A83C-C68F9D25A1F4}"/>
              </a:ext>
            </a:extLst>
          </p:cNvPr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D3AE668-4B82-1DA8-BBD8-CA3122A08B41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分级聚类思想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6448728-35ED-6FA4-79CF-70CE167E80BA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从单个样本或小簇开始逐步合并，形成树状结构，可以观察样本相似性的层次。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A36B26B-CA8C-7DCF-5C77-40E059CAFD99}"/>
              </a:ext>
            </a:extLst>
          </p:cNvPr>
          <p:cNvSpPr/>
          <p:nvPr/>
        </p:nvSpPr>
        <p:spPr>
          <a:xfrm>
            <a:off x="965200" y="3429000"/>
            <a:ext cx="4826000" cy="1168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82B326E-4E1C-531C-5716-B5E500340875}"/>
              </a:ext>
            </a:extLst>
          </p:cNvPr>
          <p:cNvSpPr txBox="1"/>
          <p:nvPr/>
        </p:nvSpPr>
        <p:spPr>
          <a:xfrm>
            <a:off x="1270000" y="3708400"/>
            <a:ext cx="419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：簇内越紧凑，数值越小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F9302CC-1DFF-AC0B-B9BE-453344BE91F7}"/>
              </a:ext>
            </a:extLst>
          </p:cNvPr>
          <p:cNvSpPr txBox="1"/>
          <p:nvPr/>
        </p:nvSpPr>
        <p:spPr>
          <a:xfrm>
            <a:off x="1270000" y="4089400"/>
            <a:ext cx="406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但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越大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通常越小，所以不能只看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，还要结合轮廓系数。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F5F0309-4A4E-F1C5-0E7B-39DBF3207E63}"/>
              </a:ext>
            </a:extLst>
          </p:cNvPr>
          <p:cNvSpPr/>
          <p:nvPr/>
        </p:nvSpPr>
        <p:spPr>
          <a:xfrm>
            <a:off x="6426200" y="3429000"/>
            <a:ext cx="4826000" cy="1168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1458413-E972-2605-0516-5069B5370D50}"/>
              </a:ext>
            </a:extLst>
          </p:cNvPr>
          <p:cNvSpPr txBox="1"/>
          <p:nvPr/>
        </p:nvSpPr>
        <p:spPr>
          <a:xfrm>
            <a:off x="6731000" y="3708400"/>
            <a:ext cx="419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轮廓系数：簇内近、簇间远更好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3F6B5C1-3692-CBD9-90A0-6AB945ED3633}"/>
              </a:ext>
            </a:extLst>
          </p:cNvPr>
          <p:cNvSpPr txBox="1"/>
          <p:nvPr/>
        </p:nvSpPr>
        <p:spPr>
          <a:xfrm>
            <a:off x="6731000" y="4089400"/>
            <a:ext cx="406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ARI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和匹配率用于把聚类结果与真实性别标签作事后比较，评价自然结构是否对应类别。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6195C01-83DC-F7AD-5E6C-AAB306725115}"/>
              </a:ext>
            </a:extLst>
          </p:cNvPr>
          <p:cNvSpPr txBox="1"/>
          <p:nvPr/>
        </p:nvSpPr>
        <p:spPr>
          <a:xfrm>
            <a:off x="1117600" y="50546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本实验重点不是训练分类器，而是观察数据本身是否天然形成两团。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的轮廓系数较高且匹配率较好，说明性别差异确实反映在身高体重结构中。</a:t>
            </a:r>
          </a:p>
        </p:txBody>
      </p:sp>
    </p:spTree>
    <p:extLst>
      <p:ext uri="{BB962C8B-B14F-4D97-AF65-F5344CB8AC3E}">
        <p14:creationId xmlns:p14="http://schemas.microsoft.com/office/powerpoint/2010/main" val="1189605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183A5BC-5EFA-2847-99B9-F4550D77C8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899217-69FE-7122-AC52-32584CACDC5E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D833A75-B0B4-DEC4-DD31-303255B55D0B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EA9901E-F166-0940-DECC-FD4875191B1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06BEDE-30F6-01DB-4B46-76C98416FA8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0D0230-28F2-253B-7069-6CFE79A9041D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实验五设置：两组数据与多种聚类数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C9EF7E7-1A41-2ED8-E97B-33EF0EC2996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138BD47-CC24-FEF7-286A-D9DC1A7E8741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0B9776-32B9-AEA0-8D4D-DBEF497627C7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1177706-379D-C35F-B9C3-4B1F49CBC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909793"/>
              </p:ext>
            </p:extLst>
          </p:nvPr>
        </p:nvGraphicFramePr>
        <p:xfrm>
          <a:off x="889000" y="1397000"/>
          <a:ext cx="5080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99833338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681331819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80339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数据一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28626111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数据二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test2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51588756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身高、体重，先标准化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68952436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均值类别数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98332964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初始值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多个随机种子比较稳定性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198716134"/>
                  </a:ext>
                </a:extLst>
              </a:tr>
            </a:tbl>
          </a:graphicData>
        </a:graphic>
      </p:graphicFrame>
      <p:sp>
        <p:nvSpPr>
          <p:cNvPr id="12" name="椭圆 11">
            <a:extLst>
              <a:ext uri="{FF2B5EF4-FFF2-40B4-BE49-F238E27FC236}">
                <a16:creationId xmlns:a16="http://schemas.microsoft.com/office/drawing/2014/main" id="{BEF66D8B-CE48-FC80-295D-74801CAFAE47}"/>
              </a:ext>
            </a:extLst>
          </p:cNvPr>
          <p:cNvSpPr/>
          <p:nvPr/>
        </p:nvSpPr>
        <p:spPr>
          <a:xfrm>
            <a:off x="69215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F15F20-601A-AE9B-F71D-1EC878A489A3}"/>
              </a:ext>
            </a:extLst>
          </p:cNvPr>
          <p:cNvSpPr txBox="1"/>
          <p:nvPr/>
        </p:nvSpPr>
        <p:spPr>
          <a:xfrm>
            <a:off x="69342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962806-3B40-E6A7-4395-877F2D879688}"/>
              </a:ext>
            </a:extLst>
          </p:cNvPr>
          <p:cNvSpPr txBox="1"/>
          <p:nvPr/>
        </p:nvSpPr>
        <p:spPr>
          <a:xfrm>
            <a:off x="74549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初始化中心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0066F7-64C0-77B0-C57D-3607333DDF08}"/>
              </a:ext>
            </a:extLst>
          </p:cNvPr>
          <p:cNvSpPr txBox="1"/>
          <p:nvPr/>
        </p:nvSpPr>
        <p:spPr>
          <a:xfrm>
            <a:off x="74549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随机选择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个中心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0B01310-4096-9AD7-4F55-9D4430E2C44E}"/>
              </a:ext>
            </a:extLst>
          </p:cNvPr>
          <p:cNvSpPr/>
          <p:nvPr/>
        </p:nvSpPr>
        <p:spPr>
          <a:xfrm>
            <a:off x="69215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7DAECB-7648-9E4C-4E1B-523FF84158D7}"/>
              </a:ext>
            </a:extLst>
          </p:cNvPr>
          <p:cNvSpPr txBox="1"/>
          <p:nvPr/>
        </p:nvSpPr>
        <p:spPr>
          <a:xfrm>
            <a:off x="69342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36987A2-8238-4417-AFC5-0EC176BD09A5}"/>
              </a:ext>
            </a:extLst>
          </p:cNvPr>
          <p:cNvSpPr txBox="1"/>
          <p:nvPr/>
        </p:nvSpPr>
        <p:spPr>
          <a:xfrm>
            <a:off x="74549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样本分配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E37781C-B569-CD6A-1C1A-969CA0D71D8D}"/>
              </a:ext>
            </a:extLst>
          </p:cNvPr>
          <p:cNvSpPr txBox="1"/>
          <p:nvPr/>
        </p:nvSpPr>
        <p:spPr>
          <a:xfrm>
            <a:off x="74549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分配到最近中心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1F363C5-9794-68F1-48EC-9C5E1264D8A7}"/>
              </a:ext>
            </a:extLst>
          </p:cNvPr>
          <p:cNvSpPr/>
          <p:nvPr/>
        </p:nvSpPr>
        <p:spPr>
          <a:xfrm>
            <a:off x="69215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AD5A849-E484-AF6B-2B03-C9173B825BF2}"/>
              </a:ext>
            </a:extLst>
          </p:cNvPr>
          <p:cNvSpPr txBox="1"/>
          <p:nvPr/>
        </p:nvSpPr>
        <p:spPr>
          <a:xfrm>
            <a:off x="69342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5B3153-B596-7CF6-A2C2-47E72FFFA36C}"/>
              </a:ext>
            </a:extLst>
          </p:cNvPr>
          <p:cNvSpPr txBox="1"/>
          <p:nvPr/>
        </p:nvSpPr>
        <p:spPr>
          <a:xfrm>
            <a:off x="74549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中心更新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03F4D0A-D777-2386-8F3B-0851034BA95F}"/>
              </a:ext>
            </a:extLst>
          </p:cNvPr>
          <p:cNvSpPr txBox="1"/>
          <p:nvPr/>
        </p:nvSpPr>
        <p:spPr>
          <a:xfrm>
            <a:off x="74549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计算各簇均值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55881F71-A863-D773-61D4-55AE40EE2B51}"/>
              </a:ext>
            </a:extLst>
          </p:cNvPr>
          <p:cNvSpPr/>
          <p:nvPr/>
        </p:nvSpPr>
        <p:spPr>
          <a:xfrm>
            <a:off x="69215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FA4C1A5-4568-7793-0B18-5D56588658A8}"/>
              </a:ext>
            </a:extLst>
          </p:cNvPr>
          <p:cNvSpPr txBox="1"/>
          <p:nvPr/>
        </p:nvSpPr>
        <p:spPr>
          <a:xfrm>
            <a:off x="69342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06CCC4B-1670-BFAC-BF30-3B5E4485B627}"/>
              </a:ext>
            </a:extLst>
          </p:cNvPr>
          <p:cNvSpPr txBox="1"/>
          <p:nvPr/>
        </p:nvSpPr>
        <p:spPr>
          <a:xfrm>
            <a:off x="74549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指标评估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029FA13-6D55-EFF7-B611-2A490092C7BE}"/>
              </a:ext>
            </a:extLst>
          </p:cNvPr>
          <p:cNvSpPr txBox="1"/>
          <p:nvPr/>
        </p:nvSpPr>
        <p:spPr>
          <a:xfrm>
            <a:off x="74549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、轮廓系数、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ARI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、匹配率</a:t>
            </a:r>
          </a:p>
        </p:txBody>
      </p:sp>
    </p:spTree>
    <p:extLst>
      <p:ext uri="{BB962C8B-B14F-4D97-AF65-F5344CB8AC3E}">
        <p14:creationId xmlns:p14="http://schemas.microsoft.com/office/powerpoint/2010/main" val="3314174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24DC02-AFEF-415C-4A3E-E5D218C444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A84EF3-A528-1181-18CE-A451FA6F68A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E1FE42F-4E80-DAE9-D2D2-E517295ADFB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212B2A79-4278-DBC9-A7F7-44A49508B48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4FCE4E-5C62-D099-76E1-B6B1548E7411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C-MEANS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99A716-9394-455B-716E-5B2ABD73E448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聚类与初始值影响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F8EDE9B-BC88-BD05-1645-6178193A70F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9CEDE89-C069-F64C-AE28-9954AC26F13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C8DF534-78CB-5634-434C-77401E4BD51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D644BFA-B08E-0646-FA30-89E388FE0643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6616EB0-B277-95DD-202C-3DBC48FA1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19" y="1817478"/>
            <a:ext cx="4067762" cy="290554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A0B66E5-0E03-0EEC-6298-2BC393E1F9CB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023F999-E3F3-02A3-79AA-70A546BCE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961454"/>
            <a:ext cx="4071811" cy="261759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33EC63B-4FB7-2D0F-7086-7D1272318AB2}"/>
              </a:ext>
            </a:extLst>
          </p:cNvPr>
          <p:cNvSpPr/>
          <p:nvPr/>
        </p:nvSpPr>
        <p:spPr>
          <a:xfrm>
            <a:off x="1016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C97CF5C-59FF-16E8-0E17-4C5062F6352E}"/>
              </a:ext>
            </a:extLst>
          </p:cNvPr>
          <p:cNvSpPr txBox="1"/>
          <p:nvPr/>
        </p:nvSpPr>
        <p:spPr>
          <a:xfrm>
            <a:off x="1168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85.00%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E330DDC-05D6-456B-A6ED-78FAB0C19500}"/>
              </a:ext>
            </a:extLst>
          </p:cNvPr>
          <p:cNvSpPr txBox="1"/>
          <p:nvPr/>
        </p:nvSpPr>
        <p:spPr>
          <a:xfrm>
            <a:off x="1168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训练集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匹配率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E9B15AB-587C-2611-E7EF-8F6EA40E54DA}"/>
              </a:ext>
            </a:extLst>
          </p:cNvPr>
          <p:cNvSpPr/>
          <p:nvPr/>
        </p:nvSpPr>
        <p:spPr>
          <a:xfrm>
            <a:off x="3302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0A35FD-F2EE-1674-E3D3-07162ED867C9}"/>
              </a:ext>
            </a:extLst>
          </p:cNvPr>
          <p:cNvSpPr txBox="1"/>
          <p:nvPr/>
        </p:nvSpPr>
        <p:spPr>
          <a:xfrm>
            <a:off x="3454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85-87%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6BB0F84-2831-648A-C6D0-0E6BE1B8F22C}"/>
              </a:ext>
            </a:extLst>
          </p:cNvPr>
          <p:cNvSpPr txBox="1"/>
          <p:nvPr/>
        </p:nvSpPr>
        <p:spPr>
          <a:xfrm>
            <a:off x="3454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不同初始值波动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8E330D6-2E7B-F9F8-D424-54A88A7585E4}"/>
              </a:ext>
            </a:extLst>
          </p:cNvPr>
          <p:cNvSpPr/>
          <p:nvPr/>
        </p:nvSpPr>
        <p:spPr>
          <a:xfrm>
            <a:off x="5588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A37EAA-057E-CA8B-9E95-5A2545EA1E43}"/>
              </a:ext>
            </a:extLst>
          </p:cNvPr>
          <p:cNvSpPr txBox="1"/>
          <p:nvPr/>
        </p:nvSpPr>
        <p:spPr>
          <a:xfrm>
            <a:off x="5740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0.5108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156020B-36EE-5528-F974-BDB2E0D49A04}"/>
              </a:ext>
            </a:extLst>
          </p:cNvPr>
          <p:cNvSpPr txBox="1"/>
          <p:nvPr/>
        </p:nvSpPr>
        <p:spPr>
          <a:xfrm>
            <a:off x="5740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轮廓系数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9E9A2E9-3572-431B-E011-666A45312327}"/>
              </a:ext>
            </a:extLst>
          </p:cNvPr>
          <p:cNvSpPr/>
          <p:nvPr/>
        </p:nvSpPr>
        <p:spPr>
          <a:xfrm>
            <a:off x="7874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E43154A-28E4-25C7-66F8-84F5905A94B1}"/>
              </a:ext>
            </a:extLst>
          </p:cNvPr>
          <p:cNvSpPr txBox="1"/>
          <p:nvPr/>
        </p:nvSpPr>
        <p:spPr>
          <a:xfrm>
            <a:off x="8026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0.4850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30A3866-32AB-04CE-549B-2F54B64609B8}"/>
              </a:ext>
            </a:extLst>
          </p:cNvPr>
          <p:cNvSpPr txBox="1"/>
          <p:nvPr/>
        </p:nvSpPr>
        <p:spPr>
          <a:xfrm>
            <a:off x="8026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ARI</a:t>
            </a:r>
            <a:endParaRPr lang="zh-CN" altLang="en-US" sz="12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8330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8FF4B73-4858-A977-BA80-3AB74BCD73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E6152D-CD88-494E-1EA9-83A20B9BB97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673DA9C-B17A-9353-7765-5298A27A2A0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C6329147-0188-48D1-E5EB-7765BE7EFC86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BB4406-252A-368D-4389-394DFD60AA8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MODEL SELECTION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4E529E-46EA-1698-DB99-A935CE767C2F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实验五结果：类别数选择与分级聚类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D51F26D-0388-DCFF-28C6-95655B7A37C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C745451-3C10-B07C-CA05-5CE8B233A312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5251F6-C804-DDDE-8ABE-DC57E80FC37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F4C2441-22E6-4178-3152-7940822F221F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C4AD69E-9806-A90C-34A8-273FF3F0A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961454"/>
            <a:ext cx="4071811" cy="2617593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3B8B89D-FB99-AF83-1602-48EECC07C05F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DC7D5C5-DECB-734F-A4E0-2CADF1C1B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18" y="2424749"/>
            <a:ext cx="3166965" cy="169100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C272AB3-0526-E578-0808-EAC820B430E8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FE0FC7-FE1A-5671-94B4-C412E513AD2E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2A77952-36B2-5857-2549-867C7391B0A1}"/>
              </a:ext>
            </a:extLst>
          </p:cNvPr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类别数判断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7AFF1AF-834B-B940-C693-5A0A092A627A}"/>
              </a:ext>
            </a:extLst>
          </p:cNvPr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随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增大下降，但轮廓系数在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最高，因此两类更合理。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399AEF8-6E36-1D11-CE1A-559A985126C5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38CACE-A7AF-3EA8-F21F-DA5C7D9A4AA6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A2FE57F-E776-80C8-8BA7-6CA06C6B8AA1}"/>
              </a:ext>
            </a:extLst>
          </p:cNvPr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B75191A-3855-78C4-83FC-810ED5FD47DA}"/>
              </a:ext>
            </a:extLst>
          </p:cNvPr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方法匹配率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81.00%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，略低于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均值，但能展示层次结构。</a:t>
            </a:r>
          </a:p>
        </p:txBody>
      </p:sp>
    </p:spTree>
    <p:extLst>
      <p:ext uri="{BB962C8B-B14F-4D97-AF65-F5344CB8AC3E}">
        <p14:creationId xmlns:p14="http://schemas.microsoft.com/office/powerpoint/2010/main" val="23493622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D75326A-452E-1E34-254F-BAFA1A4691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3DAEF2-E704-C74F-69BB-E2510585A939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9507317-13E7-9647-FE97-83DDA0FD14A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ED0784AC-E43F-26A6-E59D-486D7A7FB6D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8C02D1-AC40-BB36-A805-2D344C16869C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COMBINED DATA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72B6AC-36E9-3E52-F58C-C961ECA90354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实验五分析：加入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后结构保持但边界更复杂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50C2A64-F02D-0646-A8D2-A90E89CBBEDC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EF0F258-2DF1-0BFE-C85C-1590F9FB9C29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2513A4-C69A-5741-FB24-0AFDEA705398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90C7DD8-963D-11C9-C817-D28E8FEB5DCF}"/>
              </a:ext>
            </a:extLst>
          </p:cNvPr>
          <p:cNvSpPr/>
          <p:nvPr/>
        </p:nvSpPr>
        <p:spPr>
          <a:xfrm>
            <a:off x="736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56BA17A-D231-63C6-7E44-77861CEE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060" y="1860500"/>
            <a:ext cx="3520580" cy="25147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0A7DD70-93A1-C27D-1B2F-8594F3D8B48F}"/>
              </a:ext>
            </a:extLst>
          </p:cNvPr>
          <p:cNvSpPr/>
          <p:nvPr/>
        </p:nvSpPr>
        <p:spPr>
          <a:xfrm>
            <a:off x="6324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FCC7820-4104-71B5-556D-14D124E7CF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774" y="1841408"/>
            <a:ext cx="3971152" cy="2552884"/>
          </a:xfrm>
          <a:prstGeom prst="rect">
            <a:avLst/>
          </a:prstGeom>
        </p:spPr>
      </p:pic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BE57D732-80D2-1E04-3EE7-E7DDE9FE69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328760"/>
              </p:ext>
            </p:extLst>
          </p:nvPr>
        </p:nvGraphicFramePr>
        <p:xfrm>
          <a:off x="889000" y="5207000"/>
          <a:ext cx="10414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42082171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31573337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4146326118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970715477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76788584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轮廓系数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ARI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匹配率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6217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0.5108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85.00%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7081521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0.5049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0.3789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81.00%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6241014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0.4693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5252068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0.4739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0.4172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82.50%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766319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9682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8D0B018-6164-8D34-D193-1AA3C579D4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3C25D3-AE82-45B0-3184-68556F572B2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854BAB8-F4BC-D461-0E39-BBF1EC72C29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B1DF5BC-5672-F7B8-EACA-93564149BDF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C3F435-23E7-008F-EE4D-98D8DBA78EF8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SYNTHESIS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D72482-1B23-42FD-E576-5AAA58F5694B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五个实验的横向总结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13B476E-305E-417B-DB2B-3A7D93C1D484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EA4EEA9-4134-4C79-E722-DB39485B2446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871A825-5B30-8EDF-38F4-031D85D9FEF9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30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7AD7D16-CD6B-5D05-17FE-2D78443BF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379065"/>
              </p:ext>
            </p:extLst>
          </p:nvPr>
        </p:nvGraphicFramePr>
        <p:xfrm>
          <a:off x="736600" y="1397000"/>
          <a:ext cx="10718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0">
                  <a:extLst>
                    <a:ext uri="{9D8B030D-6E8A-4147-A177-3AD203B41FA5}">
                      <a16:colId xmlns:a16="http://schemas.microsoft.com/office/drawing/2014/main" val="2028297025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2749160776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4253110404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247417618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课程知识点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监督信息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主要目标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923433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后验概率、参数估计、风险决策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最小错误率或最小风险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932732736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 / Parzen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非参数估计、线性判别、留一法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比较概率模型与直接判别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662659362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特征提取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、协方差特征分解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可不使用标签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降维与主方向分析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200909487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图像应用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高维图像特征压缩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验证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图像识别作用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141484992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聚类分析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均值、分级聚类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不使用标签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发现样本自然结构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639528009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540CF50-3587-591A-9088-A44706C3C850}"/>
              </a:ext>
            </a:extLst>
          </p:cNvPr>
          <p:cNvSpPr/>
          <p:nvPr/>
        </p:nvSpPr>
        <p:spPr>
          <a:xfrm>
            <a:off x="1079500" y="5461000"/>
            <a:ext cx="10033000" cy="609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47952D-2CA2-FEDD-73F5-66B545F8A559}"/>
              </a:ext>
            </a:extLst>
          </p:cNvPr>
          <p:cNvSpPr txBox="1"/>
          <p:nvPr/>
        </p:nvSpPr>
        <p:spPr>
          <a:xfrm>
            <a:off x="1397000" y="5664200"/>
            <a:ext cx="9398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主线：从概率决策到线性判别，从监督分类到无监督聚类，从低维特征到高维图像识别。</a:t>
            </a:r>
          </a:p>
        </p:txBody>
      </p:sp>
    </p:spTree>
    <p:extLst>
      <p:ext uri="{BB962C8B-B14F-4D97-AF65-F5344CB8AC3E}">
        <p14:creationId xmlns:p14="http://schemas.microsoft.com/office/powerpoint/2010/main" val="36829705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051C2F2-8343-FBC0-69F5-76793D0D2B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869B68-D39F-0B5F-6D63-76168F0EDD9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A4D9224-351A-D437-ED96-52648C41AC2D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22352E9-44A4-5714-C689-DA5F7638911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9DA987-9597-A9DA-AFD4-747DA7BFACC9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CONCLUSION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750BAF-56CA-C4E6-284B-345EFEA2972B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总体结论与汇报收束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813F804-4DF2-BF97-709C-E5A5ADED0CC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7D5F6E2-70EA-8036-109C-B6EA6225C11D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98D318-D20A-841B-8CC2-0C3B52F7E23A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31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B1B3A7A-A042-81A5-6279-5EFC074C4BF7}"/>
              </a:ext>
            </a:extLst>
          </p:cNvPr>
          <p:cNvSpPr/>
          <p:nvPr/>
        </p:nvSpPr>
        <p:spPr>
          <a:xfrm>
            <a:off x="889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665F29-EBA8-3D80-2553-2463F19C2BD6}"/>
              </a:ext>
            </a:extLst>
          </p:cNvPr>
          <p:cNvSpPr/>
          <p:nvPr/>
        </p:nvSpPr>
        <p:spPr>
          <a:xfrm>
            <a:off x="889000" y="1524000"/>
            <a:ext cx="76200" cy="12065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C79BC63-8727-EAC3-C94E-28EA58615D93}"/>
              </a:ext>
            </a:extLst>
          </p:cNvPr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特征选择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ABF4F2-3E30-3CD7-F9EA-E9DC0F3CF37C}"/>
              </a:ext>
            </a:extLst>
          </p:cNvPr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体重比单特征更稳定；图像任务中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可压缩高维特征。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D3F3F5F-0147-DEE7-E8C9-C3206A13699B}"/>
              </a:ext>
            </a:extLst>
          </p:cNvPr>
          <p:cNvSpPr/>
          <p:nvPr/>
        </p:nvSpPr>
        <p:spPr>
          <a:xfrm>
            <a:off x="4572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05F2A93-0BEA-6DED-C145-A2E7D7B360FF}"/>
              </a:ext>
            </a:extLst>
          </p:cNvPr>
          <p:cNvSpPr/>
          <p:nvPr/>
        </p:nvSpPr>
        <p:spPr>
          <a:xfrm>
            <a:off x="4572000" y="1524000"/>
            <a:ext cx="76200" cy="1206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604D8AF-C632-5064-1B1A-273ECDFB889A}"/>
              </a:ext>
            </a:extLst>
          </p:cNvPr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模型假设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902B880-C07B-5635-46F3-186DE027646F}"/>
              </a:ext>
            </a:extLst>
          </p:cNvPr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正态假设、窗口宽度、线性边界都会影响最终性能。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F005EEB-96B6-1214-6075-A90EE6B00D00}"/>
              </a:ext>
            </a:extLst>
          </p:cNvPr>
          <p:cNvSpPr/>
          <p:nvPr/>
        </p:nvSpPr>
        <p:spPr>
          <a:xfrm>
            <a:off x="8255000" y="1524000"/>
            <a:ext cx="2857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1C50B56-47C3-6CB2-C784-6F838996A4DC}"/>
              </a:ext>
            </a:extLst>
          </p:cNvPr>
          <p:cNvSpPr/>
          <p:nvPr/>
        </p:nvSpPr>
        <p:spPr>
          <a:xfrm>
            <a:off x="8255000" y="1524000"/>
            <a:ext cx="76200" cy="1206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E1985D-5583-2DA6-7B71-D9D4EC4CC47A}"/>
              </a:ext>
            </a:extLst>
          </p:cNvPr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评价指标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1C533F8-3D23-7240-69EA-5556D7539A82}"/>
              </a:ext>
            </a:extLst>
          </p:cNvPr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准确率、错误率、召回率、混淆矩阵和聚类指标需要综合分析。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00EE9B2-A37A-9594-2445-EF85D247AD56}"/>
              </a:ext>
            </a:extLst>
          </p:cNvPr>
          <p:cNvSpPr/>
          <p:nvPr/>
        </p:nvSpPr>
        <p:spPr>
          <a:xfrm>
            <a:off x="1270000" y="3810000"/>
            <a:ext cx="9652000" cy="9652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A1680F6-B1D8-860E-A98A-92B45B7D212E}"/>
              </a:ext>
            </a:extLst>
          </p:cNvPr>
          <p:cNvSpPr txBox="1"/>
          <p:nvPr/>
        </p:nvSpPr>
        <p:spPr>
          <a:xfrm>
            <a:off x="1587500" y="4140200"/>
            <a:ext cx="9017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92400E"/>
                </a:solidFill>
                <a:latin typeface="Microsoft YaHei" panose="020B0503020204020204" pitchFamily="34" charset="-122"/>
              </a:rPr>
              <a:t>核心体会：模式识别方法没有绝对最优，算法选择必须结合数据分布、任务目标和评价指标。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A6A0F56-02B9-87D8-474F-344EFA382685}"/>
              </a:ext>
            </a:extLst>
          </p:cNvPr>
          <p:cNvSpPr txBox="1"/>
          <p:nvPr/>
        </p:nvSpPr>
        <p:spPr>
          <a:xfrm>
            <a:off x="1498600" y="5181600"/>
            <a:ext cx="9271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强调概率决策，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强调判别方向，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强调表示与降维，聚类强调自然结构。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同一数据集上，不同模型的差异主要来自特征表示、概率假设、判别边界和评价目标。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实验设计需要同时报告设置、指标和图形结果，才能解释模型为什么有效或失效。</a:t>
            </a:r>
          </a:p>
        </p:txBody>
      </p:sp>
    </p:spTree>
    <p:extLst>
      <p:ext uri="{BB962C8B-B14F-4D97-AF65-F5344CB8AC3E}">
        <p14:creationId xmlns:p14="http://schemas.microsoft.com/office/powerpoint/2010/main" val="19322769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6A61E34-6AE3-C2CE-1147-60C4EAA03E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8CB6E0-6679-D6B4-934A-385E731E21A9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76189D-14D8-CC77-D1AD-EA42113031B7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E93F2B-36E3-8701-14EB-21C86476A550}"/>
              </a:ext>
            </a:extLst>
          </p:cNvPr>
          <p:cNvSpPr txBox="1"/>
          <p:nvPr/>
        </p:nvSpPr>
        <p:spPr>
          <a:xfrm>
            <a:off x="889000" y="2514600"/>
            <a:ext cx="3810000" cy="7848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5100" b="1">
                <a:solidFill>
                  <a:srgbClr val="FFFFFF"/>
                </a:solidFill>
                <a:latin typeface="Microsoft YaHei" panose="020B0503020204020204" pitchFamily="34" charset="-122"/>
              </a:rPr>
              <a:t>谢谢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038F1C-4ADA-960E-8ABE-794EFCC2A199}"/>
              </a:ext>
            </a:extLst>
          </p:cNvPr>
          <p:cNvSpPr txBox="1"/>
          <p:nvPr/>
        </p:nvSpPr>
        <p:spPr>
          <a:xfrm>
            <a:off x="939800" y="3492500"/>
            <a:ext cx="5588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100">
                <a:solidFill>
                  <a:srgbClr val="CBD5E1"/>
                </a:solidFill>
                <a:latin typeface="Microsoft YaHei" panose="020B0503020204020204" pitchFamily="34" charset="-122"/>
              </a:rPr>
              <a:t>欢迎老师和同学批评指正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3448A90-5903-BEE7-8657-58FE211BE38C}"/>
              </a:ext>
            </a:extLst>
          </p:cNvPr>
          <p:cNvCxnSpPr/>
          <p:nvPr/>
        </p:nvCxnSpPr>
        <p:spPr>
          <a:xfrm>
            <a:off x="939800" y="4140200"/>
            <a:ext cx="2362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699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3499</Words>
  <Application>Microsoft Office PowerPoint</Application>
  <PresentationFormat>自定义</PresentationFormat>
  <Paragraphs>583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3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军 曹</dc:creator>
  <cp:lastModifiedBy>军 曹</cp:lastModifiedBy>
  <cp:revision>1</cp:revision>
  <dcterms:created xsi:type="dcterms:W3CDTF">2026-06-16T20:19:19Z</dcterms:created>
  <dcterms:modified xsi:type="dcterms:W3CDTF">2026-06-16T20:19:57Z</dcterms:modified>
</cp:coreProperties>
</file>