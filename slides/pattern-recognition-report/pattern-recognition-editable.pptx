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2402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</a:rPr>
              <a:t>模式识别课程实验汇报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306324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Bayes 分类器、线性判别、K-L 变换、图像识别与聚类分析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4160520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4160520"/>
            <a:ext cx="73152" cy="6583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4325112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姓名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0392" y="4690872"/>
            <a:ext cx="2816352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请填写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4526280" y="4160520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4160520"/>
            <a:ext cx="73152" cy="6583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4325112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学号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90872" y="4690872"/>
            <a:ext cx="2816352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请填写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8366760" y="4160520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66760" y="4160520"/>
            <a:ext cx="73152" cy="6583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31352" y="4325112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班级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31352" y="4690872"/>
            <a:ext cx="2816352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请填写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汇报大纲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50392"/>
            <a:ext cx="105156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0" y="347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五个实验的统一讲述结构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模式识别课程实验汇报 ·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94360" y="141732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417320"/>
            <a:ext cx="73152" cy="1051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58191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实验一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8952" y="1947672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Bayes 性别分类器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2862072" y="141732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62072" y="1417320"/>
            <a:ext cx="73152" cy="1051560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26664" y="158191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实验二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26664" y="1947672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非参数估计与 Fisher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5129784" y="141732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29784" y="1417320"/>
            <a:ext cx="73152" cy="1051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94376" y="158191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实验三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94376" y="1947672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K-L 特征提取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7397496" y="141732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97496" y="1417320"/>
            <a:ext cx="73152" cy="1051560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62088" y="158191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实验四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62088" y="1947672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K-L 图像识别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9665208" y="141732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65208" y="1417320"/>
            <a:ext cx="73152" cy="1051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29800" y="158191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实验五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829800" y="1947672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聚类分析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1097280" y="32004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97280" y="3200400"/>
            <a:ext cx="73152" cy="1005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61872" y="336499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理论知识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61872" y="373075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结合课程中的概率决策、线性判别、降维和聚类理论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3566160" y="32004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66160" y="3200400"/>
            <a:ext cx="73152" cy="1005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30752" y="336499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实验设置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730752" y="373075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说明数据、特征、模型参数和评价指标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6035040" y="32004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200400"/>
            <a:ext cx="73152" cy="1005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99632" y="336499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3 实验结果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199632" y="373075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展示准确率、错误率、混淆矩阵和可视化结果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8503920" y="32004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503920" y="3200400"/>
            <a:ext cx="73152" cy="1005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68512" y="336499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4 分析总结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668512" y="373075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解释现象并联系模式识别课程知识点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数据与实验环境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50392"/>
            <a:ext cx="105156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模式识别课程实验汇报 · 2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5303520" cy="2057400"/>
        </p:xfrm>
        <a:graphic>
          <a:graphicData uri="http://schemas.openxmlformats.org/drawingml/2006/table">
            <a:tbl>
              <a:tblPr/>
              <a:tblGrid>
                <a:gridCol w="1463040"/>
                <a:gridCol w="2743200"/>
                <a:gridCol w="1097280"/>
              </a:tblGrid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FEMALE / MALE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性别分类、K-L 特征提取、聚类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已使用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test1 / test2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分类器泛化测试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已使用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飞机图像数据集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K-L 图像识别应用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已使用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280160"/>
          <a:ext cx="4754880" cy="2423160"/>
        </p:xfrm>
        <a:graphic>
          <a:graphicData uri="http://schemas.openxmlformats.org/drawingml/2006/table">
            <a:tbl>
              <a:tblPr/>
              <a:tblGrid>
                <a:gridCol w="1554480"/>
                <a:gridCol w="3200400"/>
              </a:tblGrid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Python 3.11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实验主环境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NumPy / SciPy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数值计算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scikit-learn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评估、PCA、分级聚类辅助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Matplotlib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实验图表输出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914400" y="4572000"/>
            <a:ext cx="1014984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14400" y="4572000"/>
            <a:ext cx="73152" cy="868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78992" y="4736592"/>
            <a:ext cx="9857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说明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78992" y="5102352"/>
            <a:ext cx="9857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核心实验均已脚本化执行，输出包括指标 CSV、实验图、LaTeX 报告以及本次汇报 PPT。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0058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766E"/>
                </a:solidFill>
              </a:rPr>
              <a:t>01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58368" y="18288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实验一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94944" y="27706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用身高/体重数据建立 Bayes 性别分类器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94944" y="3657600"/>
            <a:ext cx="2743200" cy="0"/>
          </a:xfrm>
          <a:prstGeom prst="line">
            <a:avLst/>
          </a:prstGeom>
          <a:noFill/>
          <a:ln w="50800">
            <a:solidFill>
              <a:srgbClr val="0F766E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实验一：理论知识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50392"/>
            <a:ext cx="105156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模式识别课程实验汇报 · 3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143000"/>
            <a:ext cx="73152" cy="1005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307592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最小错误率 Bayes 决策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0392" y="1673352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选择后验概率最大的类别：argmax p(x|ωi)P(ωi)。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685800" y="242316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423160"/>
            <a:ext cx="73152" cy="1143000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587752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正态分布参数估计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0392" y="2953512"/>
            <a:ext cx="4919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使用训练样本最大似然估计类别均值和协方差，建立高斯判别函数。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85800" y="3858768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858768"/>
            <a:ext cx="73152" cy="1143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402336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最小风险 Bayes 决策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0392" y="4389120"/>
            <a:ext cx="4919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引入损失函数 λ(αi|ωj)，不再只统计错误个数，而是最小化总体风险。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640080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判别函数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1737360"/>
            <a:ext cx="452628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5E59"/>
                </a:solidFill>
              </a:rPr>
              <a:t>g_i(x) = -1/2 ln|Σ_i| - 1/2(x-μ_i)^TΣ_i^{-1}(x-μ_i) + ln P(ω_i)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46520" y="3429000"/>
            <a:ext cx="438912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参数估计对应课程中的概率密度估计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先验概率体现类别分布假设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风险决策体现不同错误类型的代价差异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实验一：实验设置与实现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50392"/>
            <a:ext cx="105156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模式识别课程实验汇报 · 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77240" y="1143000"/>
            <a:ext cx="457200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训练集：50 个女生、50 个男生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测试集：test1 共 35 个样本，test2 共 300 个样本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特征：身高、体重、身高+体重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先验概率：0.5/0.5、0.75/0.25、0.9/0.1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协方差假设：完整协方差与对角协方差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0" y="1143000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0" y="1143000"/>
            <a:ext cx="73152" cy="777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9632" y="1307592"/>
            <a:ext cx="4462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步骤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99632" y="1673352"/>
            <a:ext cx="4462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读取训练集和测试集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6035040" y="2103120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2103120"/>
            <a:ext cx="73152" cy="777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9632" y="2267712"/>
            <a:ext cx="4462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步骤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99632" y="2633472"/>
            <a:ext cx="4462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估计均值、方差或协方差矩阵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6035040" y="3063240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3063240"/>
            <a:ext cx="73152" cy="777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9632" y="3227832"/>
            <a:ext cx="4462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步骤 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99632" y="3593592"/>
            <a:ext cx="4462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计算 Bayes 判别函数和风险函数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6035040" y="4023360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4023360"/>
            <a:ext cx="73152" cy="777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4187952"/>
            <a:ext cx="4462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步骤 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99632" y="4553712"/>
            <a:ext cx="4462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输出准确率、召回率和混淆矩阵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实验一：数据分布与决策边界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50392"/>
            <a:ext cx="105156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模式识别课程实验汇报 · 5</a:t>
            </a:r>
            <a:endParaRPr lang="en-US" sz="750" dirty="0"/>
          </a:p>
        </p:txBody>
      </p:sp>
      <p:pic>
        <p:nvPicPr>
          <p:cNvPr id="6" name="Image 0" descr="F:\Pattern-Recognition_npu\slides\pattern-recognition-report\figures\experiment1\data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43000"/>
            <a:ext cx="5394960" cy="4297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143000"/>
            <a:ext cx="5394960" cy="4297680"/>
          </a:xfrm>
          <a:prstGeom prst="rect">
            <a:avLst/>
          </a:prstGeom>
          <a:solidFill>
            <a:srgbClr val="000000">
              <a:alpha val="0"/>
            </a:srgbClr>
          </a:solidFill>
          <a:ln w="10160">
            <a:solidFill>
              <a:srgbClr val="CBD5E1"/>
            </a:solidFill>
            <a:prstDash val="solid"/>
          </a:ln>
        </p:spPr>
      </p:sp>
      <p:pic>
        <p:nvPicPr>
          <p:cNvPr id="8" name="Image 1" descr="F:\Pattern-Recognition_npu\slides\pattern-recognition-report\figures\experiment1\bayes_2d_bound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143000"/>
            <a:ext cx="5257800" cy="42976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63640" y="1143000"/>
            <a:ext cx="5257800" cy="4297680"/>
          </a:xfrm>
          <a:prstGeom prst="rect">
            <a:avLst/>
          </a:prstGeom>
          <a:solidFill>
            <a:srgbClr val="000000">
              <a:alpha val="0"/>
            </a:srgbClr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7240" y="562356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男生样本整体身高、体重更高，但边界区域存在重叠，因此分类器无法完全无误。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实验一：结果与分析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50392"/>
            <a:ext cx="105156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模式识别课程实验汇报 · 6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43000"/>
          <a:ext cx="6217920" cy="2240280"/>
        </p:xfrm>
        <a:graphic>
          <a:graphicData uri="http://schemas.openxmlformats.org/drawingml/2006/table">
            <a:tbl>
              <a:tblPr/>
              <a:tblGrid>
                <a:gridCol w="2926080"/>
                <a:gridCol w="1097280"/>
                <a:gridCol w="1097280"/>
                <a:gridCol w="1097280"/>
              </a:tblGrid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训练集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test1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test2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二维 Bayes，完整协方差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88.00%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97.14%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89.33%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二维 Bayes，对角协方差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88.00%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97.14%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90.33%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最小风险 Bayes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84.00%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94.29%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84.33%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Parzen Bayes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87.00%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97.14%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90.33%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kNN，k=5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89.00%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100.00%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90.33%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Image 0" descr="F:\Pattern-Recognition_npu\slides\pattern-recognition-report\figures\experiment1\bayes_test2_confu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280160"/>
            <a:ext cx="3474720" cy="28803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498080" y="1280160"/>
            <a:ext cx="3474720" cy="2880360"/>
          </a:xfrm>
          <a:prstGeom prst="rect">
            <a:avLst/>
          </a:prstGeom>
          <a:solidFill>
            <a:srgbClr val="000000">
              <a:alpha val="0"/>
            </a:srgbClr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22960" y="4069080"/>
            <a:ext cx="566928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两个特征整体优于单个特征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先验概率偏离测试集分布时性能下降明显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非参数方法在 test2 上与参数 Bayes 表现接近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858000" y="4617720"/>
            <a:ext cx="4297680" cy="804672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858000" y="4617720"/>
            <a:ext cx="73152" cy="8046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022592" y="4782312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课程联系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022592" y="5148072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Bayes 决策把概率密度估计、先验知识和损失函数统一到同一判别框架中。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0058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766E"/>
                </a:solidFill>
              </a:rPr>
              <a:t>02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58368" y="18288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实验二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94944" y="27706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非参数估计、Fisher 线性判别与留一法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94944" y="3657600"/>
            <a:ext cx="2743200" cy="0"/>
          </a:xfrm>
          <a:prstGeom prst="line">
            <a:avLst/>
          </a:prstGeom>
          <a:noFill/>
          <a:ln w="50800">
            <a:solidFill>
              <a:srgbClr val="0F766E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实验二：理论知识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50392"/>
            <a:ext cx="105156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模式识别课程实验汇报 · 7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143000"/>
            <a:ext cx="7315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30759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Parzen 窗估计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0392" y="1673352"/>
            <a:ext cx="3090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不假定概率密度形式，用训练样本附近的高斯核叠加估计 p(x|ω)。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434840" y="114300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143000"/>
            <a:ext cx="73152" cy="1325880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130759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Fisher 线性判别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99432" y="1673352"/>
            <a:ext cx="3090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寻找投影方向，使类间离散度相对类内离散度最大。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8183880" y="1143000"/>
            <a:ext cx="2926080" cy="132588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3880" y="1143000"/>
            <a:ext cx="73152" cy="13258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48472" y="130759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留一法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48472" y="1673352"/>
            <a:ext cx="2633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每次留出一个训练样本验证，用于估计泛化误差。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914400" y="3063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Fisher 目标函数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36118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15E59"/>
                </a:solidFill>
              </a:rPr>
              <a:t>J(w)=w^T S_b w / w^T S_w w,    w=S_w^{-1}(μ_1-μ_2)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14400" y="4572000"/>
            <a:ext cx="960120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非参数估计强调样本局部结构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Fisher 强调直接设计判别面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留一法连接训练误差与泛化性能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实验二：决策边界与投影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50392"/>
            <a:ext cx="105156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模式识别课程实验汇报 · 8</a:t>
            </a:r>
            <a:endParaRPr lang="en-US" sz="750" dirty="0"/>
          </a:p>
        </p:txBody>
      </p:sp>
      <p:pic>
        <p:nvPicPr>
          <p:cNvPr id="6" name="Image 0" descr="F:\Pattern-Recognition_npu\slides\pattern-recognition-report\figures\experiment2\fisher_bayes_boundar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43000"/>
            <a:ext cx="5394960" cy="4251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143000"/>
            <a:ext cx="5394960" cy="4251960"/>
          </a:xfrm>
          <a:prstGeom prst="rect">
            <a:avLst/>
          </a:prstGeom>
          <a:solidFill>
            <a:srgbClr val="000000">
              <a:alpha val="0"/>
            </a:srgbClr>
          </a:solidFill>
          <a:ln w="10160">
            <a:solidFill>
              <a:srgbClr val="CBD5E1"/>
            </a:solidFill>
            <a:prstDash val="solid"/>
          </a:ln>
        </p:spPr>
      </p:sp>
      <p:pic>
        <p:nvPicPr>
          <p:cNvPr id="8" name="Image 1" descr="F:\Pattern-Recognition_npu\slides\pattern-recognition-report\figures\experiment2\fisher_projec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143000"/>
            <a:ext cx="5257800" cy="42519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63640" y="1143000"/>
            <a:ext cx="5257800" cy="4251960"/>
          </a:xfrm>
          <a:prstGeom prst="rect">
            <a:avLst/>
          </a:prstGeom>
          <a:solidFill>
            <a:srgbClr val="000000">
              <a:alpha val="0"/>
            </a:srgbClr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7240" y="559612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Bayes 边界可为非线性；Fisher 直接给出线性投影和阈值，模型更简单、解释性更强。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实验二：结果与分析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50392"/>
            <a:ext cx="105156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模式识别课程实验汇报 · 9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34440"/>
          <a:ext cx="10424160" cy="169164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2011680"/>
                <a:gridCol w="2011680"/>
                <a:gridCol w="2011680"/>
              </a:tblGrid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训练错误率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test1 错误率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test2 错误率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留一法错误率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Gaussian Bayes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12.00%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2.86%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10.67%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12.00%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Parzen Bayes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13.00%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2.86%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9.67%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14.00%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Fisher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12.00%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2.86%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9.67%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13.00%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68680" y="3429000"/>
            <a:ext cx="310896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8680" y="3429000"/>
            <a:ext cx="73152" cy="1188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3272" y="3593592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Parzen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33272" y="3959352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不依赖正态分布假设，但对窗口宽度和样本规模敏感。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4526280" y="3429000"/>
            <a:ext cx="310896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26280" y="3429000"/>
            <a:ext cx="73152" cy="1188720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90872" y="3593592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Fisher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690872" y="3959352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不估计概率密度，直接优化线性可分性。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8183880" y="3429000"/>
            <a:ext cx="310896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183880" y="3429000"/>
            <a:ext cx="73152" cy="11887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48472" y="3593592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留一法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348472" y="3959352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结果与 test2 更接近，能较稳健估计泛化误差。</a:t>
            </a:r>
            <a:endParaRPr lang="en-US" sz="10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0058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766E"/>
                </a:solidFill>
              </a:rPr>
              <a:t>03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58368" y="18288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实验三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94944" y="27706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K-L 变换进行特征提取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94944" y="3657600"/>
            <a:ext cx="2743200" cy="0"/>
          </a:xfrm>
          <a:prstGeom prst="line">
            <a:avLst/>
          </a:prstGeom>
          <a:noFill/>
          <a:ln w="50800">
            <a:solidFill>
              <a:srgbClr val="0F766E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实验三：理论知识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50392"/>
            <a:ext cx="105156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模式识别课程实验汇报 ·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31520" y="1143000"/>
            <a:ext cx="438912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143000"/>
            <a:ext cx="73152" cy="1234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307592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K-L / PCA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6112" y="1673352"/>
            <a:ext cx="4096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对协方差矩阵特征分解，寻找最大方差方向，是无监督特征提取方法。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5486400" y="1143000"/>
            <a:ext cx="438912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0" y="1143000"/>
            <a:ext cx="73152" cy="1234440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50992" y="1307592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Fisher 对比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50992" y="1673352"/>
            <a:ext cx="4096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Fisher 使用类别标签，目标是增强类别可分性。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960120" y="30632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15E59"/>
                </a:solidFill>
              </a:rPr>
              <a:t>Σu_i = λ_i u_i,     z_i = u_i^T(x-μ)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914400" y="4160520"/>
            <a:ext cx="9601200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 保留总体方差最大的信息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最大方差方向不一定等于最佳分类方向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本数据中二者比较接近，因此 PCA 分类效果较好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实验三：实验设置与投影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50392"/>
            <a:ext cx="105156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模式识别课程实验汇报 · 11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43000"/>
          <a:ext cx="4389120" cy="251460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</a:tblGrid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数值/说明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FEMALE + MALE，共 100 个训练样本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特征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身高、体重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第一主成分解释率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87.52%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PC1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(0.6269, 0.7791)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类均值方向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(0.6514, 0.7587)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Image 0" descr="F:\Pattern-Recognition_npu\slides\pattern-recognition-report\figures\experiment3\kl_dire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51560"/>
            <a:ext cx="5440680" cy="39319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0" y="1051560"/>
            <a:ext cx="5440680" cy="3931920"/>
          </a:xfrm>
          <a:prstGeom prst="rect">
            <a:avLst/>
          </a:prstGeom>
          <a:solidFill>
            <a:srgbClr val="000000">
              <a:alpha val="0"/>
            </a:srgbClr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577840" y="52120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主成分方向与类均值差方向接近，说明身高和体重的主要变化也与性别差异相关。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实验三：结果与分析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50392"/>
            <a:ext cx="105156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模式识别课程实验汇报 · 12</a:t>
            </a:r>
            <a:endParaRPr lang="en-US" sz="750" dirty="0"/>
          </a:p>
        </p:txBody>
      </p:sp>
      <p:pic>
        <p:nvPicPr>
          <p:cNvPr id="6" name="Image 0" descr="F:\Pattern-Recognition_npu\slides\pattern-recognition-report\figures\experiment3\pca_proj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43000"/>
            <a:ext cx="5120640" cy="3337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143000"/>
            <a:ext cx="5120640" cy="3337560"/>
          </a:xfrm>
          <a:prstGeom prst="rect">
            <a:avLst/>
          </a:prstGeom>
          <a:solidFill>
            <a:srgbClr val="000000">
              <a:alpha val="0"/>
            </a:srgbClr>
          </a:solidFill>
          <a:ln w="10160">
            <a:solidFill>
              <a:srgbClr val="CBD5E1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234440"/>
          <a:ext cx="4983480" cy="2240280"/>
        </p:xfrm>
        <a:graphic>
          <a:graphicData uri="http://schemas.openxmlformats.org/drawingml/2006/table">
            <a:tbl>
              <a:tblPr/>
              <a:tblGrid>
                <a:gridCol w="2194560"/>
                <a:gridCol w="914400"/>
                <a:gridCol w="914400"/>
                <a:gridCol w="914400"/>
              </a:tblGrid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训练集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test1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test2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K-L PCA 第一主成分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86.00%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100.00%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89.67%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类均值方向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86.00%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100.00%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89.67%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Fisher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88.00%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97.14%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90.33%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Gaussian Bayes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88.00%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97.14%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89.33%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263640" y="3977640"/>
            <a:ext cx="4754880" cy="1325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K-L 适合降维和特征提取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Fisher 使用标签，在 test2 上略优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当主方差方向与类别差异一致时，PCA 也有较好分类效果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0058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766E"/>
                </a:solidFill>
              </a:rPr>
              <a:t>04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58368" y="18288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实验四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94944" y="27706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K-L 变换在飞机图像识别中的应用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94944" y="3657600"/>
            <a:ext cx="2743200" cy="0"/>
          </a:xfrm>
          <a:prstGeom prst="line">
            <a:avLst/>
          </a:prstGeom>
          <a:noFill/>
          <a:ln w="50800">
            <a:solidFill>
              <a:srgbClr val="0F766E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实验四：理论知识与设置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50392"/>
            <a:ext cx="105156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模式识别课程实验汇报 · 13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143000"/>
            <a:ext cx="73152" cy="1051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307592"/>
            <a:ext cx="4462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图像向量化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0392" y="1673352"/>
            <a:ext cx="4462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灰度图缩放为 32×32，再展开为 1024 维向量。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685800" y="251460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514600"/>
            <a:ext cx="73152" cy="1051560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679192"/>
            <a:ext cx="4462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K-L 图像特征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0392" y="3044952"/>
            <a:ext cx="4462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学习训练图像的主要变化方向，类似“特征脸”思想。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85800" y="388620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886200"/>
            <a:ext cx="73152" cy="10515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4050792"/>
            <a:ext cx="4462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低维识别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0392" y="4416552"/>
            <a:ext cx="4462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将图像投影到 PCA 空间后，用最近质心和 1NN 分类。</a:t>
            </a:r>
            <a:endParaRPr lang="en-US" sz="102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280160"/>
          <a:ext cx="4480560" cy="2697480"/>
        </p:xfrm>
        <a:graphic>
          <a:graphicData uri="http://schemas.openxmlformats.org/drawingml/2006/table">
            <a:tbl>
              <a:tblPr/>
              <a:tblGrid>
                <a:gridCol w="1554480"/>
                <a:gridCol w="2926080"/>
              </a:tblGrid>
              <a:tr h="4495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 类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2530 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636 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主成分数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8、16、32、64、128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 维解释率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89.88%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实验四：样本与主成分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50392"/>
            <a:ext cx="105156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模式识别课程实验汇报 · 14</a:t>
            </a:r>
            <a:endParaRPr lang="en-US" sz="750" dirty="0"/>
          </a:p>
        </p:txBody>
      </p:sp>
      <p:pic>
        <p:nvPicPr>
          <p:cNvPr id="6" name="Image 0" descr="F:\Pattern-Recognition_npu\slides\pattern-recognition-report\figures\experiment4\sample_ima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43000"/>
            <a:ext cx="5394960" cy="4251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143000"/>
            <a:ext cx="5394960" cy="4251960"/>
          </a:xfrm>
          <a:prstGeom prst="rect">
            <a:avLst/>
          </a:prstGeom>
          <a:solidFill>
            <a:srgbClr val="000000">
              <a:alpha val="0"/>
            </a:srgbClr>
          </a:solidFill>
          <a:ln w="10160">
            <a:solidFill>
              <a:srgbClr val="CBD5E1"/>
            </a:solidFill>
            <a:prstDash val="solid"/>
          </a:ln>
        </p:spPr>
      </p:sp>
      <p:pic>
        <p:nvPicPr>
          <p:cNvPr id="8" name="Image 1" descr="F:\Pattern-Recognition_npu\slides\pattern-recognition-report\figures\experiment4\pca_compon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143000"/>
            <a:ext cx="5257800" cy="42519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63640" y="1143000"/>
            <a:ext cx="5257800" cy="4251960"/>
          </a:xfrm>
          <a:prstGeom prst="rect">
            <a:avLst/>
          </a:prstGeom>
          <a:solidFill>
            <a:srgbClr val="000000">
              <a:alpha val="0"/>
            </a:srgbClr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7240" y="5596128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PCA 主成分提取到外形、亮度和纹理等主要变化，但其中也会包含背景和姿态信息。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实验四：结果与分析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50392"/>
            <a:ext cx="105156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模式识别课程实验汇报 · 15</a:t>
            </a:r>
            <a:endParaRPr lang="en-US" sz="7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43000"/>
          <a:ext cx="5166360" cy="2057400"/>
        </p:xfrm>
        <a:graphic>
          <a:graphicData uri="http://schemas.openxmlformats.org/drawingml/2006/table">
            <a:tbl>
              <a:tblPr/>
              <a:tblGrid>
                <a:gridCol w="2240280"/>
                <a:gridCol w="1005840"/>
                <a:gridCol w="914400"/>
                <a:gridCol w="10058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主成分数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训练集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测试集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PCA+NearestCentroid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20.47%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19.97%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PCA+1NN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100.00%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54.09%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PCA+1NN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100.00%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53.93%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PCA+1NN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128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100.00%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52.99%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Image 0" descr="F:\Pattern-Recognition_npu\slides\pattern-recognition-report\figures\experiment4\accuracy_vs_compon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143000"/>
            <a:ext cx="5074920" cy="32461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263640" y="1143000"/>
            <a:ext cx="5074920" cy="3246120"/>
          </a:xfrm>
          <a:prstGeom prst="rect">
            <a:avLst/>
          </a:prstGeom>
          <a:solidFill>
            <a:srgbClr val="000000">
              <a:alpha val="0"/>
            </a:srgbClr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22960" y="3794760"/>
            <a:ext cx="484632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1NN 明显优于最近质心，说明类内变化复杂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主成分过多会保留背景和噪声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 可有效压缩特征，但单独使用不足以高精度图像分类</a:t>
            </a:r>
            <a:endParaRPr lang="en-US" sz="1400" dirty="0"/>
          </a:p>
        </p:txBody>
      </p:sp>
      <p:pic>
        <p:nvPicPr>
          <p:cNvPr id="10" name="Image 1" descr="F:\Pattern-Recognition_npu\slides\pattern-recognition-report\figures\experiment4\confusion_matri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4434840"/>
            <a:ext cx="3474720" cy="132588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903720" y="4434840"/>
            <a:ext cx="3474720" cy="1325880"/>
          </a:xfrm>
          <a:prstGeom prst="rect">
            <a:avLst/>
          </a:prstGeom>
          <a:solidFill>
            <a:srgbClr val="000000">
              <a:alpha val="0"/>
            </a:srgbClr>
          </a:solidFill>
          <a:ln w="1016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0058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766E"/>
                </a:solidFill>
              </a:rPr>
              <a:t>05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58368" y="18288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实验五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94944" y="27706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C 均值与分级聚类分析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94944" y="3657600"/>
            <a:ext cx="2743200" cy="0"/>
          </a:xfrm>
          <a:prstGeom prst="line">
            <a:avLst/>
          </a:prstGeom>
          <a:noFill/>
          <a:ln w="50800">
            <a:solidFill>
              <a:srgbClr val="0F766E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实验五：理论知识与设置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50392"/>
            <a:ext cx="105156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模式识别课程实验汇报 · 16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143000"/>
            <a:ext cx="73152" cy="1234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307592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 均值聚类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0392" y="1673352"/>
            <a:ext cx="4553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即 k-means，通过样本分配和中心更新迭代最小化类内平方误差。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685800" y="2651760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651760"/>
            <a:ext cx="73152" cy="1234440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816352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分级聚类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0392" y="3182112"/>
            <a:ext cx="4553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逐步合并或分裂样本簇，形成层次结构，可用树状图观察。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85800" y="4160520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4160520"/>
            <a:ext cx="73152" cy="12344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4325112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课程联系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0392" y="4690872"/>
            <a:ext cx="4553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从监督分类过渡到无监督学习，关注样本自然结构。</a:t>
            </a:r>
            <a:endParaRPr lang="en-US" sz="102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280160"/>
          <a:ext cx="4480560" cy="2697480"/>
        </p:xfrm>
        <a:graphic>
          <a:graphicData uri="http://schemas.openxmlformats.org/drawingml/2006/table">
            <a:tbl>
              <a:tblPr/>
              <a:tblGrid>
                <a:gridCol w="1463040"/>
                <a:gridCol w="3017520"/>
              </a:tblGrid>
              <a:tr h="4495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数据一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FEMALE + MALE，100 个样本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训练集 + test2，400 个样本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身高、体重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预处理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标准化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2、3、4、5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实验五：C 均值聚类结果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50392"/>
            <a:ext cx="105156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模式识别课程实验汇报 · 17</a:t>
            </a:r>
            <a:endParaRPr lang="en-US" sz="750" dirty="0"/>
          </a:p>
        </p:txBody>
      </p:sp>
      <p:pic>
        <p:nvPicPr>
          <p:cNvPr id="6" name="Image 0" descr="F:\Pattern-Recognition_npu\slides\pattern-recognition-report\figures\experiment5\cmeans_train_2clust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43000"/>
            <a:ext cx="5257800" cy="4023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143000"/>
            <a:ext cx="5257800" cy="4023360"/>
          </a:xfrm>
          <a:prstGeom prst="rect">
            <a:avLst/>
          </a:prstGeom>
          <a:solidFill>
            <a:srgbClr val="000000">
              <a:alpha val="0"/>
            </a:srgbClr>
          </a:solidFill>
          <a:ln w="10160">
            <a:solidFill>
              <a:srgbClr val="CBD5E1"/>
            </a:solidFill>
            <a:prstDash val="solid"/>
          </a:ln>
        </p:spPr>
      </p:sp>
      <p:pic>
        <p:nvPicPr>
          <p:cNvPr id="8" name="Image 1" descr="F:\Pattern-Recognition_npu\slides\pattern-recognition-report\figures\experiment5\init_vari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143000"/>
            <a:ext cx="5074920" cy="40233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63640" y="1143000"/>
            <a:ext cx="5074920" cy="4023360"/>
          </a:xfrm>
          <a:prstGeom prst="rect">
            <a:avLst/>
          </a:prstGeom>
          <a:solidFill>
            <a:srgbClr val="000000">
              <a:alpha val="0"/>
            </a:srgbClr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7240" y="5440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训练集取 C=2 时，与真实性别标签的最佳匹配率约为 85.00%；不同初始值下约在 85.00% 到 87.00% 之间波动。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实验五：类别数选择与分级聚类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50392"/>
            <a:ext cx="105156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模式识别课程实验汇报 · 18</a:t>
            </a:r>
            <a:endParaRPr lang="en-US" sz="750" dirty="0"/>
          </a:p>
        </p:txBody>
      </p:sp>
      <p:pic>
        <p:nvPicPr>
          <p:cNvPr id="6" name="Image 0" descr="F:\Pattern-Recognition_npu\slides\pattern-recognition-report\figures\experiment5\cmeans_k_metrics_t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43000"/>
            <a:ext cx="5257800" cy="3977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143000"/>
            <a:ext cx="5257800" cy="3977640"/>
          </a:xfrm>
          <a:prstGeom prst="rect">
            <a:avLst/>
          </a:prstGeom>
          <a:solidFill>
            <a:srgbClr val="000000">
              <a:alpha val="0"/>
            </a:srgbClr>
          </a:solidFill>
          <a:ln w="10160">
            <a:solidFill>
              <a:srgbClr val="CBD5E1"/>
            </a:solidFill>
            <a:prstDash val="solid"/>
          </a:ln>
        </p:spPr>
      </p:sp>
      <p:pic>
        <p:nvPicPr>
          <p:cNvPr id="8" name="Image 1" descr="F:\Pattern-Recognition_npu\slides\pattern-recognition-report\figures\experiment5\hierarchical_dendrogram_t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143000"/>
            <a:ext cx="5074920" cy="39776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63640" y="1143000"/>
            <a:ext cx="5074920" cy="3977640"/>
          </a:xfrm>
          <a:prstGeom prst="rect">
            <a:avLst/>
          </a:prstGeom>
          <a:solidFill>
            <a:srgbClr val="000000">
              <a:alpha val="0"/>
            </a:srgbClr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68680" y="5349240"/>
            <a:ext cx="475488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68680" y="5349240"/>
            <a:ext cx="73152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033272" y="5513832"/>
            <a:ext cx="4462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C=2 更合理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33272" y="5879592"/>
            <a:ext cx="4462272" cy="-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轮廓系数最高，继续增加类别数虽降低 SSE，但解释性下降。</a:t>
            </a:r>
            <a:endParaRPr lang="en-US" sz="1020" dirty="0"/>
          </a:p>
        </p:txBody>
      </p:sp>
      <p:sp>
        <p:nvSpPr>
          <p:cNvPr id="14" name="Shape 10"/>
          <p:cNvSpPr/>
          <p:nvPr/>
        </p:nvSpPr>
        <p:spPr>
          <a:xfrm>
            <a:off x="6355080" y="5349240"/>
            <a:ext cx="475488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55080" y="5349240"/>
            <a:ext cx="73152" cy="502920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19672" y="5513832"/>
            <a:ext cx="4462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Ward 聚类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519672" y="5879592"/>
            <a:ext cx="4462272" cy="-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不依赖随机初始中心，可观察层次关系。</a:t>
            </a:r>
            <a:endParaRPr lang="en-US" sz="10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实验五：加入 test2 后的变化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50392"/>
            <a:ext cx="105156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模式识别课程实验汇报 · 19</a:t>
            </a:r>
            <a:endParaRPr lang="en-US" sz="750" dirty="0"/>
          </a:p>
        </p:txBody>
      </p:sp>
      <p:pic>
        <p:nvPicPr>
          <p:cNvPr id="6" name="Image 0" descr="F:\Pattern-Recognition_npu\slides\pattern-recognition-report\figures\experiment5\cmeans_combined_2clust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43000"/>
            <a:ext cx="5257800" cy="3977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143000"/>
            <a:ext cx="5257800" cy="3977640"/>
          </a:xfrm>
          <a:prstGeom prst="rect">
            <a:avLst/>
          </a:prstGeom>
          <a:solidFill>
            <a:srgbClr val="000000">
              <a:alpha val="0"/>
            </a:srgbClr>
          </a:solidFill>
          <a:ln w="10160">
            <a:solidFill>
              <a:srgbClr val="CBD5E1"/>
            </a:solidFill>
            <a:prstDash val="solid"/>
          </a:ln>
        </p:spPr>
      </p:sp>
      <p:pic>
        <p:nvPicPr>
          <p:cNvPr id="8" name="Image 1" descr="F:\Pattern-Recognition_npu\slides\pattern-recognition-report\figures\experiment5\cmeans_k_metrics_combin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143000"/>
            <a:ext cx="5074920" cy="39776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63640" y="1143000"/>
            <a:ext cx="5074920" cy="3977640"/>
          </a:xfrm>
          <a:prstGeom prst="rect">
            <a:avLst/>
          </a:prstGeom>
          <a:solidFill>
            <a:srgbClr val="000000">
              <a:alpha val="0"/>
            </a:srgbClr>
          </a:solidFill>
          <a:ln w="10160">
            <a:solidFill>
              <a:srgbClr val="CBD5E1"/>
            </a:solidFill>
            <a:prstDash val="solid"/>
          </a:ln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5349240"/>
          <a:ext cx="10378440" cy="777240"/>
        </p:xfrm>
        <a:graphic>
          <a:graphicData uri="http://schemas.openxmlformats.org/drawingml/2006/table">
            <a:tbl>
              <a:tblPr/>
              <a:tblGrid>
                <a:gridCol w="1828800"/>
                <a:gridCol w="2560320"/>
                <a:gridCol w="1554480"/>
                <a:gridCol w="1371600"/>
                <a:gridCol w="1645920"/>
              </a:tblGrid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轮廓系数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ARI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性别匹配率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训练集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 均值，2 类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0.5108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0.4850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85.00%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训练集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Ward，2 类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0.5049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0.3789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81.00%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训练集+test2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 均值，2 类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0.4850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0.4693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84.50%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训练集+test2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Ward，2 类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0.4739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0.4172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82.50%</a:t>
                      </a:r>
                      <a:endParaRPr lang="en-US" sz="7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五个实验的横向关系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50392"/>
            <a:ext cx="105156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模式识别课程实验汇报 · 20</a:t>
            </a:r>
            <a:endParaRPr lang="en-US" sz="7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43000"/>
          <a:ext cx="10744200" cy="3794760"/>
        </p:xfrm>
        <a:graphic>
          <a:graphicData uri="http://schemas.openxmlformats.org/drawingml/2006/table">
            <a:tbl>
              <a:tblPr/>
              <a:tblGrid>
                <a:gridCol w="1554480"/>
                <a:gridCol w="3657600"/>
                <a:gridCol w="1828800"/>
                <a:gridCol w="3703320"/>
              </a:tblGrid>
              <a:tr h="632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实验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课程知识点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监督信息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主要目标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Bayes 分类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后验概率、参数估计、风险决策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使用标签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最小错误率或最小风险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Fisher / Parzen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非参数估计、线性判别、留一法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使用标签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比较概率模型与直接判别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K-L 特征提取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PCA、协方差特征分解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可不使用标签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降维与主方向分析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K-L 图像应用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高维图像特征压缩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使用标签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 PCA 图像识别作用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聚类分析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 均值、分级聚类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不使用标签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发现样本自然结构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143000" y="5394960"/>
            <a:ext cx="9692640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43000" y="5394960"/>
            <a:ext cx="73152" cy="548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07592" y="5559552"/>
            <a:ext cx="9400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主线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07592" y="5925312"/>
            <a:ext cx="9400032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从概率决策到线性判别，从监督分类到无监督聚类，从低维特征到高维图像识别。</a:t>
            </a:r>
            <a:endParaRPr lang="en-US" sz="10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总体结论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50392"/>
            <a:ext cx="105156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模式识别课程实验汇报 · 21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68680" y="1234440"/>
            <a:ext cx="4937760" cy="3200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3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特征选择会直接影响分类器性能</a:t>
            </a:r>
            <a:endParaRPr lang="en-US" sz="1350" dirty="0"/>
          </a:p>
          <a:p>
            <a:r>
              <a:rPr lang="en-US" sz="13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先验概率和损失函数体现任务背景</a:t>
            </a:r>
            <a:endParaRPr lang="en-US" sz="1350" dirty="0"/>
          </a:p>
          <a:p>
            <a:r>
              <a:rPr lang="en-US" sz="13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非参数方法灵活，但依赖样本规模和超参数</a:t>
            </a:r>
            <a:endParaRPr lang="en-US" sz="1350" dirty="0"/>
          </a:p>
          <a:p>
            <a:r>
              <a:rPr lang="en-US" sz="13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K-L 适合降维，不一定最适合分类</a:t>
            </a:r>
            <a:endParaRPr lang="en-US" sz="1350" dirty="0"/>
          </a:p>
          <a:p>
            <a:r>
              <a:rPr lang="en-US" sz="13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聚类能揭示结构，但解释需要结合真实标签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325880"/>
            <a:ext cx="448056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3640" y="1325880"/>
            <a:ext cx="73152" cy="1005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8232" y="1490472"/>
            <a:ext cx="4187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核心体会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28232" y="1856232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模式识别方法没有绝对最优，算法选择必须结合数据分布、任务目标和评价指标。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6263640" y="2788920"/>
            <a:ext cx="448056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2788920"/>
            <a:ext cx="73152" cy="1005840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2953512"/>
            <a:ext cx="4187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汇报落点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28232" y="3319272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五个实验分别覆盖分类、估计、降维、图像识别和聚类，形成完整的方法链条。</a:t>
            </a:r>
            <a:endParaRPr lang="en-US" sz="102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4231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</a:rPr>
              <a:t>谢谢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77240" y="33375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欢迎老师和同学批评指正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" y="3977640"/>
            <a:ext cx="2560320" cy="0"/>
          </a:xfrm>
          <a:prstGeom prst="line">
            <a:avLst/>
          </a:prstGeom>
          <a:noFill/>
          <a:ln w="50800">
            <a:solidFill>
              <a:srgbClr val="0F766E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NPU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模式识别课程实验汇报</dc:title>
  <dc:subject>模式识别课程实验汇报</dc:subject>
  <dc:creator>Pattern Recognition Coursework</dc:creator>
  <cp:lastModifiedBy>Pattern Recognition Coursework</cp:lastModifiedBy>
  <cp:revision>1</cp:revision>
  <dcterms:created xsi:type="dcterms:W3CDTF">2026-06-16T15:02:36Z</dcterms:created>
  <dcterms:modified xsi:type="dcterms:W3CDTF">2026-06-16T15:02:36Z</dcterms:modified>
</cp:coreProperties>
</file>